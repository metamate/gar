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03" r:id="rId29"/>
    <p:sldId id="257" r:id="rId7"/>
    <p:sldId id="258" r:id="rId8"/>
    <p:sldId id="259" r:id="rId9"/>
    <p:sldId id="295" r:id="rId54"/>
    <p:sldId id="297" r:id="rId56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88" r:id="rId38"/>
    <p:sldId id="289" r:id="rId39"/>
    <p:sldId id="290" r:id="rId40"/>
    <p:sldId id="298" r:id="rId57"/>
    <p:sldId id="299" r:id="rId58"/>
    <p:sldId id="300" r:id="rId59"/>
    <p:sldId id="301" r:id="rId6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91" r:id="rId41"/>
    <p:sldId id="292" r:id="rId42"/>
    <p:sldId id="293" r:id="rId52"/>
    <p:sldId id="302" r:id="rId30"/>
    <p:sldId id="294" r:id="rId53"/>
    <p:sldId id="296" r:id="rId55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29" Type="http://schemas.openxmlformats.org/officeDocument/2006/relationships/slide" Target="slides/slide2.xml"/><Relationship Id="rId30" Type="http://schemas.openxmlformats.org/officeDocument/2006/relationships/slide" Target="slides/slide34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17.xml"/><Relationship Id="rId39" Type="http://schemas.openxmlformats.org/officeDocument/2006/relationships/slide" Target="slides/slide18.xml"/><Relationship Id="rId40" Type="http://schemas.openxmlformats.org/officeDocument/2006/relationships/slide" Target="slides/slide19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33.xml"/><Relationship Id="rId53" Type="http://schemas.openxmlformats.org/officeDocument/2006/relationships/slide" Target="slides/slide35.xml"/><Relationship Id="rId54" Type="http://schemas.openxmlformats.org/officeDocument/2006/relationships/slide" Target="slides/slide6.xml"/><Relationship Id="rId55" Type="http://schemas.openxmlformats.org/officeDocument/2006/relationships/slide" Target="slides/slide36.xml"/><Relationship Id="rId56" Type="http://schemas.openxmlformats.org/officeDocument/2006/relationships/slide" Target="slides/slide7.xml"/><Relationship Id="rId57" Type="http://schemas.openxmlformats.org/officeDocument/2006/relationships/slide" Target="slides/slide20.xml"/><Relationship Id="rId58" Type="http://schemas.openxmlformats.org/officeDocument/2006/relationships/slide" Target="slides/slide21.xml"/><Relationship Id="rId59" Type="http://schemas.openxmlformats.org/officeDocument/2006/relationships/slide" Target="slides/slide22.xml"/><Relationship Id="rId6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Snake. The main topic: assets as data.</a:t>
            </a:r>
          </a:p>
          <a:p>
            <a:r>
              <a:t>Start by playing the finished game, Snake9,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Snake9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assets as data. The art, the animations and the room are described in XML, and the code only reads them.</a:t>
            </a:r>
          </a:p>
          <a:p>
            <a:r>
              <a:t>Then movement on a fixed tick, and input as actions.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gar-games/03-snake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a24a6071b_1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a24a6071b_1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Many small images: a texture switch for every draw. One atlas: one texture, many regions. Fewer switches, faster drawing, one file to manage.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cbd7a28ff6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cbd7a28ff6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whole game’s art in one image.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cb92a6f95e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cb92a6f95e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region: a rectangle inside the atlas, with a name. We no longer reference a Texture2D directly; we ask the atlas for a region.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b92a6f95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cb92a6f95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Snake0 and Snake1 side by side (a diff tool, or two editor panes), then run Snake1.</a:t>
            </a:r>
          </a:p>
          <a:p>
            <a:r>
              <a:t>- the hardcoded rectangles become names in atlas-definition.xml</a:t>
            </a:r>
          </a:p>
          <a:p>
            <a:r>
              <a:t>- TextureAtlas.FromFile reads the XML</a:t>
            </a:r>
          </a:p>
          <a:p>
            <a:r>
              <a:t>- Game1 asks for regions by name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cbd7a28ff6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cbd7a28ff6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sprite: a region plus how to draw it (rotation, scale, colour, origin). Point at the labels on the picture.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cbd7a28ff6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cbd7a28ff6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Snake1 and Snake2 side by side (a diff tool, or two editor panes), then run Snake2.</a:t>
            </a:r>
          </a:p>
          <a:p>
            <a:r>
              <a:t>- the Sprite class in GMDCore</a:t>
            </a:r>
          </a:p>
          <a:p>
            <a:r>
              <a:t>- drawing through a sprite instead of the region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ca047858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ca047858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Where art comes from: draw it yourself (Aseprite is a good pixel editor), or use free packs with a clear licence.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ca24a6071b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ca24a6071b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animation: a list of regions and a delay. The bottom bat cycles through the three above.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cb92a6f95e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cb92a6f95e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Snake2 and Snake3 side by side (a diff tool, or two editor panes), then run Snake3.</a:t>
            </a:r>
          </a:p>
          <a:p>
            <a:r>
              <a:t>- the Animations section of the XML</a:t>
            </a:r>
          </a:p>
          <a:p>
            <a:r>
              <a:t>- AnimatedSprite advancing frames with elapsed time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Snake. Ask who has played it, and what they remember of how it plays.</a:t>
            </a:r>
          </a:p>
          <a:p>
            <a:r>
              <a:t>Today we build the parts that matter for the architecture, not the whole game.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Groups and a concept before session 04, a repository from gar-starter, and a first architecture sketch.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For fast students: pull the tick timer out into a reusable FixedTimer in GMDCore.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Snake5 and Snake7 side by side (a diff tool, or two editor panes), then run Snake7.</a:t>
            </a:r>
          </a:p>
          <a:p>
            <a:r>
              <a:t>- Snake5: the tick accumulator</a:t>
            </a:r>
          </a:p>
          <a:p>
            <a:r>
              <a:t>- Snake6: GameController</a:t>
            </a:r>
          </a:p>
          <a:p>
            <a:r>
              <a:t>- Snake7: the queue of turns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game asks for Up, never for W. The keys live in one place, GameController.</a:t>
            </a:r>
          </a:p>
          <a:p>
            <a:r>
              <a:t>Ask: what changes to support a gamepad? Answer: only GameController.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snake moves one cell per tick, however fast the game runs. The accumulator collects real time.</a:t>
            </a:r>
          </a:p>
          <a:p>
            <a:r>
              <a:t>Ask: why subtract the tick, not reset to zero? Answer: the leftover time carries over, so ticks stay even.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Why prefer a texture atlas over many individual image files?</a:t>
            </a:r>
          </a:p>
          <a:p>
            <a:r>
              <a:t>A: Drawing from one texture lets SpriteBatch batch many sprites into few draw calls. Switching textures between draws breaks the batch and costs performance.</a:t>
            </a:r>
          </a:p>
          <a:p/>
          <a:p>
            <a:r>
              <a:t>Q: Why subtract the tick duration from the accumulator instead of resetting it to zero?</a:t>
            </a:r>
          </a:p>
          <a:p>
            <a:r>
              <a:t>A: The leftover time carries over to the next tick. Resetting it would throw away a bit of time every tick, so the ticks would drift and depend on the frame rate.</a:t>
            </a:r>
          </a:p>
          <a:p/>
          <a:p>
            <a:r>
              <a:t>Q: What problems come from reading the keyboard directly inside gameplay code?</a:t>
            </a:r>
          </a:p>
          <a:p>
            <a:r>
              <a:t>A: Keys are hardcoded throughout the game, so rebinding, supporting a gamepad or letting an AI drive the same entity means editing gameplay code in many places.</a:t>
            </a:r>
          </a:p>
          <a:p/>
          <a:p>
            <a:r>
              <a:t>Q: Why check a buffered turn against the last buffered direction?</a:t>
            </a:r>
          </a:p>
          <a:p>
            <a:r>
              <a:t>A: The snake only turns on the next tick. Checking against its current direction would allow two quick turns that together reverse it into its own neck.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Act it out: press Up then Left quickly between two ticks. Keep only the last key and the Up is lost.</a:t>
            </a:r>
          </a:p>
          <a:p>
            <a:r>
              <a:t>Queue them instead, at most two. Same idea as a jump pressed just before landing.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 the three questions on the right, and let the class answer each.</a:t>
            </a:r>
          </a:p>
          <a:p>
            <a:r>
              <a:t>Answer: none of them need C#. A faster bat is a delay, an extra frame is a Frame line, a new room is the tilemap file.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Follow the pipeline left to right. The new part: all steps share one Content project.</a:t>
            </a:r>
          </a:p>
          <a:p>
            <a:r>
              <a:t>Show Builder.cs: PNGs become textures, XML is copied as it is.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cb190ae9b0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cb190ae9b0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Three levels: distance, shapes (boxes, circles), polygons. Use the simplest that looks right.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ca24a6071b_1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3ca24a6071b_1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question: why not Vector2.Distance? Answer: it takes a square root. Compare squared distances instead: same answer, cheaper.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ca24a6071b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3ca24a6071b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Circles or rectangles? Circles for round and rotating things; rectangles for boxes and tiles. Pick per object.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b190ae9b0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b190ae9b0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Detection says they touch; response says what happens: block, trigger, or bounce (Vector2.Reflect).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cb190ae9b0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3cb190ae9b0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pair: n(n−1)/2 checks. 100 objects, 4,950 checks a frame. Broad phase first (cheap, rough), narrow phase only for candidates.</a:t>
            </a:r>
          </a:p>
          <a:p>
            <a:r>
              <a:t>Vampire Survivors comes back to this with a grid.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c8f6ac40ed_0_1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3c8f6ac40ed_0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Rectangles: MonoGame has Intersects. Circles: we add a Circle struct to GMDCore.</a:t>
            </a:r>
          </a:p>
          <a:p>
            <a:r>
              <a:t>Ask the question. Answer: squaring is cheap, square roots are not, and the comparison gives the same result.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cbd7a28ff6_0_1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3cbd7a28ff6_0_1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Snake8 and Snake9 side by side (a diff tool, or two editor panes), then run Snake9.</a:t>
            </a:r>
          </a:p>
          <a:p>
            <a:r>
              <a:t>- eating the bat grows the snake</a:t>
            </a:r>
          </a:p>
          <a:p>
            <a:r>
              <a:t>- hitting itself or a wall ends the game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cb92a6f95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cb92a6f95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tileset: an image cut into equal tiles, numbered left to right, top to bottom.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cb92a6f95e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cb92a6f95e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numbers in the middle are the room. Find tile 6 (the torch) and tile 9 (the floor) together.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cb92a6f95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3cb92a6f95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Snake3 and Snake4 side by side (a diff tool, or two editor panes), then run Snake4.</a:t>
            </a:r>
          </a:p>
          <a:p>
            <a:r>
              <a:t>- tilemap-definition.xml</a:t>
            </a:r>
          </a:p>
          <a:p>
            <a:r>
              <a:t>- Tilemap.FromFile</a:t>
            </a:r>
          </a:p>
          <a:p>
            <a:r>
              <a:t>- change one number, rebuild, and watch the room change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cb92a6f95e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3cb92a6f95e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the beetle is drawn in the atlas but not described. Two regions and an animation in the XML, then one line of C# (the animation name), then a new room layout.</a:t>
            </a:r>
          </a:p>
          <a:p>
            <a:r>
              <a:t>Ask afterwards: how much C# did you change? One string. And for a beetle next to the bat? A lot: Game1 handles the bat by name (its collisions, its bounces). That is the next architecture problem, not a data one.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Snake9. Ask for the speed-up exercise: where does that rule belong? In the snake, or in the game?</a:t>
            </a:r>
          </a:p>
          <a:p>
            <a:r>
              <a:t>Gamepad: a press needs last frame’s state, so it goes through a GamePadInfo in GMDCore. In the game, only GameController changes. Geometry Wars has a finished GamePadInfo to compare with.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gif"/><Relationship Id="rId3" Type="http://schemas.openxmlformats.org/officeDocument/2006/relationships/notesSlide" Target="../notesSlides/notesSlide1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3-snake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github.com/Metamate/gmd2-snake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4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4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4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4" Type="http://schemas.openxmlformats.org/officeDocument/2006/relationships/image" Target="../media/image13.gif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4" Type="http://schemas.openxmlformats.org/officeDocument/2006/relationships/image" Target="../media/image14.png"/><Relationship Id="rId5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Relationship Id="rId4" Type="http://schemas.openxmlformats.org/officeDocument/2006/relationships/image" Target="../media/image17.png"/><Relationship Id="rId5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docs.monogame.net/api/Microsoft.Xna.Framework.Vector2.html#Microsoft_Xna_Framework_Vector2_Distance_Microsoft_Xna_Framework_Vector2_Microsoft_Xna_Framework_Vector2_" TargetMode="External"/><Relationship Id="rId4" Type="http://schemas.openxmlformats.org/officeDocument/2006/relationships/image" Target="../media/image2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3.png"/><Relationship Id="rId4" Type="http://schemas.openxmlformats.org/officeDocument/2006/relationships/hyperlink" Target="https://docs.monogame.net/api/Microsoft.Xna.Framework.Vector2.html#Microsoft_Xna_Framework_Vector2_Reflect_Microsoft_Xna_Framework_Vector2_Microsoft_Xna_Framework_Vector2_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0.png"/><Relationship Id="rId4" Type="http://schemas.openxmlformats.org/officeDocument/2006/relationships/image" Target="../media/image16.png"/><Relationship Id="rId5" Type="http://schemas.openxmlformats.org/officeDocument/2006/relationships/image" Target="../media/image2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docs.monogame.net/api/Microsoft.Xna.Framework.Rectangle.html#Microsoft_Xna_Framework_Rectangle_Intersects_Microsoft_Xna_Framework_Rectangle_" TargetMode="External"/><Relationship Id="rId4" Type="http://schemas.openxmlformats.org/officeDocument/2006/relationships/hyperlink" Target="https://docs.monogame.net/api/Microsoft.Xna.Framework.Rectangle.html#Microsoft_Xna_Framework_Rectangle_Contains_Microsoft_Xna_Framework_Rectangle_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www.mapeditor.org/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github.com/Metamate/gmd2-snake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03: Snake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Snake</a:t>
            </a:r>
            <a:endParaRPr/>
          </a:p>
        </p:txBody>
      </p:sp>
      <p:pic>
        <p:nvPicPr>
          <p:cNvPr id="3" name="Picture 2" descr="snak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960120"/>
            <a:ext cx="36576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Snake goes back to Blockade (Gremlin, 1976). Image: Ustone07, CC BY-SA 3.0, via Wikimedia Commons.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snake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6087" y="1626274"/>
            <a:ext cx="5451825" cy="306665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Assets as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Atlases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Sprites &amp; Animation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Fixed-Tick Movement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Input as Actions &amp; Buffering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03-snake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(Snake0 to Snake9),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Content Builder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Content project, shared by every step. Builder.cs decides what happens to each file.</a:t>
            </a:r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411480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Content/Assets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images, XML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2304288" y="203454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2560320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Builder.cs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rules, in C#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4453127" y="203454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ounded Rectangle 62"/>
          <p:cNvSpPr/>
          <p:nvPr/>
        </p:nvSpPr>
        <p:spPr>
          <a:xfrm>
            <a:off x="4709159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The content builder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runs on build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601967" y="203454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6857999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bin/.../Content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.xnb files, XML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11480" y="2697480"/>
            <a:ext cx="8321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PNG images become textures (magenta is see-through). XML definitions are copied as they are.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Assets as Data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XML describes the assets; the code only reads it.</a:t>
            </a:r>
            <a:endParaRPr/>
          </a:p>
        </p:txBody>
      </p:sp>
      <p:sp>
        <p:nvSpPr>
          <p:cNvPr id="295" name="Rectangle 294"/>
          <p:cNvSpPr/>
          <p:nvPr/>
        </p:nvSpPr>
        <p:spPr>
          <a:xfrm>
            <a:off x="411480" y="1371600"/>
            <a:ext cx="4937760" cy="2377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100">
                <a:solidFill>
                  <a:srgbClr val="DEE2E6"/>
                </a:solidFill>
                <a:latin typeface="Consolas"/>
              </a:rPr>
              <a:t>&lt;Region name="bat-1" x="20" y="0" width="20" height="20"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&lt;Region name="bat-2" x="20" y="20" width="20" height="20"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&lt;Region name="bat-3" x="40" y="0" width="20" height="20"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&lt;Animation name="bat-animation" delay="200"&gt;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    &lt;Frame region="bat-1"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    &lt;Frame region="bat-2"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    &lt;Frame region="bat-1"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    &lt;Frame region="bat-3"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&lt;/Animation&gt;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5577840" y="1463040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DEE2E6"/>
                </a:solidFill>
              </a:rPr>
              <a:t>A faster bat?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An extra frame?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A new room?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Which of these need a C# change?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Texture Rendering</a:t>
            </a:r>
            <a:endParaRPr/>
          </a:p>
        </p:txBody>
      </p:sp>
      <p:pic>
        <p:nvPicPr>
          <p:cNvPr id="64" name="Picture 73" descr="bat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02325" y="1969050"/>
            <a:ext cx="450000" cy="450000"/>
          </a:xfrm>
          <a:prstGeom prst="rect">
            <a:avLst/>
          </a:prstGeom>
        </p:spPr>
      </p:pic>
      <p:pic>
        <p:nvPicPr>
          <p:cNvPr id="65" name="Picture 73" descr="snak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125" y="1969050"/>
            <a:ext cx="450000" cy="450000"/>
          </a:xfrm>
          <a:prstGeom prst="rect">
            <a:avLst/>
          </a:prstGeom>
        </p:spPr>
      </p:pic>
      <p:pic>
        <p:nvPicPr>
          <p:cNvPr id="66" name="Picture 73" descr="snake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6726" y="1969050"/>
            <a:ext cx="450000" cy="450000"/>
          </a:xfrm>
          <a:prstGeom prst="rect">
            <a:avLst/>
          </a:prstGeom>
        </p:spPr>
      </p:pic>
      <p:pic>
        <p:nvPicPr>
          <p:cNvPr id="67" name="Picture 73" descr="snake_atla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64642" y="1560179"/>
            <a:ext cx="1348766" cy="2023149"/>
          </a:xfrm>
          <a:prstGeom prst="rect">
            <a:avLst/>
          </a:prstGeom>
        </p:spPr>
      </p:pic>
      <p:pic>
        <p:nvPicPr>
          <p:cNvPr id="68" name="Picture 73" descr="flo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84887" y="1969050"/>
            <a:ext cx="450000" cy="450000"/>
          </a:xfrm>
          <a:prstGeom prst="rect">
            <a:avLst/>
          </a:prstGeom>
        </p:spPr>
      </p:pic>
      <p:sp>
        <p:nvSpPr>
          <p:cNvPr id="69" name="Google Shape;69;p13"/>
          <p:cNvSpPr txBox="1"/>
          <p:nvPr/>
        </p:nvSpPr>
        <p:spPr>
          <a:xfrm>
            <a:off x="3607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snake1.png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0" name="Google Shape;70;p13"/>
          <p:cNvSpPr txBox="1"/>
          <p:nvPr/>
        </p:nvSpPr>
        <p:spPr>
          <a:xfrm>
            <a:off x="10763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snake2.png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1" name="Google Shape;71;p13"/>
          <p:cNvSpPr txBox="1"/>
          <p:nvPr/>
        </p:nvSpPr>
        <p:spPr>
          <a:xfrm>
            <a:off x="17919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bat1.png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2" name="Google Shape;72;p13"/>
          <p:cNvSpPr txBox="1"/>
          <p:nvPr/>
        </p:nvSpPr>
        <p:spPr>
          <a:xfrm>
            <a:off x="2574501" y="2439050"/>
            <a:ext cx="6912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floor.png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3" name="Google Shape;73;p13"/>
          <p:cNvSpPr txBox="1"/>
          <p:nvPr/>
        </p:nvSpPr>
        <p:spPr>
          <a:xfrm>
            <a:off x="5703625" y="3645825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atlas</a:t>
            </a: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Atlas</a:t>
            </a:r>
            <a:endParaRPr/>
          </a:p>
        </p:txBody>
      </p:sp>
      <p:pic>
        <p:nvPicPr>
          <p:cNvPr id="79" name="Picture 79" descr="snake_atl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7617" y="1560179"/>
            <a:ext cx="1348766" cy="202314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Region</a:t>
            </a:r>
            <a:endParaRPr/>
          </a:p>
        </p:txBody>
      </p:sp>
      <p:pic>
        <p:nvPicPr>
          <p:cNvPr id="85" name="Picture 87" descr="snake_atl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7617" y="1560179"/>
            <a:ext cx="1348766" cy="2023149"/>
          </a:xfrm>
          <a:prstGeom prst="rect">
            <a:avLst/>
          </a:prstGeom>
        </p:spPr>
      </p:pic>
      <p:sp>
        <p:nvSpPr>
          <p:cNvPr id="86" name="Google Shape;86;p15"/>
          <p:cNvSpPr/>
          <p:nvPr/>
        </p:nvSpPr>
        <p:spPr>
          <a:xfrm>
            <a:off x="3872328" y="1534890"/>
            <a:ext cx="387769" cy="387769"/>
          </a:xfrm>
          <a:prstGeom prst="rect">
            <a:avLst/>
          </a:prstGeom>
          <a:noFill/>
          <a:ln cap="flat" cmpd="sng" w="190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87" name="Google Shape;87;p15"/>
          <p:cNvCxnSpPr>
            <a:endCxn id="86" idx="0"/>
          </p:cNvCxnSpPr>
          <p:nvPr/>
        </p:nvCxnSpPr>
        <p:spPr>
          <a:xfrm>
            <a:off x="3571128" y="1084290"/>
            <a:ext cx="435300" cy="4506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Texture Atlas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3" name="Google Shape;93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 sz="2900">
              <a:latin typeface="VT323"/>
              <a:ea typeface="VT323"/>
              <a:cs typeface="VT323"/>
              <a:sym typeface="VT323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Snake0 → Snake1: from hardcoded rectangles to a texture atlas</a:t>
            </a:r>
            <a:endParaRPr sz="18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Sprites</a:t>
            </a:r>
            <a:endParaRPr/>
          </a:p>
        </p:txBody>
      </p:sp>
      <p:sp>
        <p:nvSpPr>
          <p:cNvPr id="99" name="Google Shape;99;p17"/>
          <p:cNvSpPr txBox="1"/>
          <p:nvPr>
            <p:ph idx="1" type="body"/>
          </p:nvPr>
        </p:nvSpPr>
        <p:spPr>
          <a:xfrm>
            <a:off x="311700" y="885950"/>
            <a:ext cx="2205000" cy="3024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(region)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Rotation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Scale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Color mask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Origin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 effects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Layer depth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Width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Height</a:t>
            </a:r>
            <a:endParaRPr/>
          </a:p>
        </p:txBody>
      </p:sp>
      <p:pic>
        <p:nvPicPr>
          <p:cNvPr id="100" name="Picture 105" descr="snake_spr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0408050">
            <a:off x="3478224" y="1282475"/>
            <a:ext cx="2187550" cy="2187550"/>
          </a:xfrm>
          <a:prstGeom prst="rect">
            <a:avLst/>
          </a:prstGeom>
        </p:spPr>
      </p:pic>
      <p:sp>
        <p:nvSpPr>
          <p:cNvPr id="101" name="Google Shape;101;p17"/>
          <p:cNvSpPr txBox="1"/>
          <p:nvPr/>
        </p:nvSpPr>
        <p:spPr>
          <a:xfrm>
            <a:off x="6336200" y="975875"/>
            <a:ext cx="14313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CenterOrigin()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2" name="Google Shape;102;p17"/>
          <p:cNvSpPr txBox="1"/>
          <p:nvPr/>
        </p:nvSpPr>
        <p:spPr>
          <a:xfrm>
            <a:off x="6076775" y="3378325"/>
            <a:ext cx="26211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Draw(Spritebatch, Vector2)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103" name="Google Shape;103;p17"/>
          <p:cNvCxnSpPr>
            <a:stCxn id="100" idx="1"/>
            <a:endCxn id="99" idx="3"/>
          </p:cNvCxnSpPr>
          <p:nvPr/>
        </p:nvCxnSpPr>
        <p:spPr>
          <a:xfrm rot="10800000">
            <a:off x="2516713" y="2398435"/>
            <a:ext cx="1026600" cy="3495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4" name="Google Shape;104;p17"/>
          <p:cNvCxnSpPr>
            <a:stCxn id="100" idx="3"/>
            <a:endCxn id="101" idx="1"/>
          </p:cNvCxnSpPr>
          <p:nvPr/>
        </p:nvCxnSpPr>
        <p:spPr>
          <a:xfrm flipH="1" rot="10800000">
            <a:off x="5600684" y="1186164"/>
            <a:ext cx="735600" cy="8184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5" name="Google Shape;105;p17"/>
          <p:cNvCxnSpPr>
            <a:stCxn id="100" idx="2"/>
            <a:endCxn id="102" idx="1"/>
          </p:cNvCxnSpPr>
          <p:nvPr/>
        </p:nvCxnSpPr>
        <p:spPr>
          <a:xfrm>
            <a:off x="4943684" y="3404935"/>
            <a:ext cx="1133100" cy="1836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Sprite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11" name="Google Shape;111;p1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Snake2: sprites</a:t>
            </a:r>
            <a:endParaRPr sz="18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 Art</a:t>
            </a:r>
            <a:endParaRPr/>
          </a:p>
        </p:txBody>
      </p:sp>
      <p:pic>
        <p:nvPicPr>
          <p:cNvPr id="117" name="Google Shape;11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8300" y="1156538"/>
            <a:ext cx="5867400" cy="3362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Animation</a:t>
            </a:r>
            <a:endParaRPr/>
          </a:p>
        </p:txBody>
      </p:sp>
      <p:pic>
        <p:nvPicPr>
          <p:cNvPr id="123" name="Picture 123" descr="bat_animatio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7500" y="857240"/>
            <a:ext cx="3429000" cy="3429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Animation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Snake3: animated sprites</a:t>
            </a:r>
            <a:endParaRPr sz="18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Tileset</a:t>
            </a:r>
            <a:endParaRPr/>
          </a:p>
        </p:txBody>
      </p:sp>
      <p:pic>
        <p:nvPicPr>
          <p:cNvPr id="266" name="Picture 267" descr="snake_tiles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0287" y="1247650"/>
            <a:ext cx="3048000" cy="3048000"/>
          </a:xfrm>
          <a:prstGeom prst="rect">
            <a:avLst/>
          </a:prstGeom>
        </p:spPr>
      </p:pic>
      <p:pic>
        <p:nvPicPr>
          <p:cNvPr id="267" name="Picture 267" descr="snake_tileset_labell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2312" y="1247650"/>
            <a:ext cx="3048000" cy="304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Room: A Tilemap</a:t>
            </a:r>
            <a:endParaRPr/>
          </a:p>
        </p:txBody>
      </p:sp>
      <p:pic>
        <p:nvPicPr>
          <p:cNvPr id="273" name="Picture 275" descr="snake_tileset_labell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950" y="1528500"/>
            <a:ext cx="2725150" cy="2725150"/>
          </a:xfrm>
          <a:prstGeom prst="rect">
            <a:avLst/>
          </a:prstGeom>
        </p:spPr>
      </p:pic>
      <p:sp>
        <p:nvSpPr>
          <p:cNvPr id="274" name="Google Shape;274;p42"/>
          <p:cNvSpPr txBox="1"/>
          <p:nvPr>
            <p:ph idx="4294967295" type="body"/>
          </p:nvPr>
        </p:nvSpPr>
        <p:spPr>
          <a:xfrm>
            <a:off x="3749613" y="2239625"/>
            <a:ext cx="1183800" cy="13029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15</a:t>
            </a:r>
            <a:endParaRPr/>
          </a:p>
        </p:txBody>
      </p:sp>
      <p:pic>
        <p:nvPicPr>
          <p:cNvPr id="275" name="Picture 275" descr="snake_roo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23925" y="1114550"/>
            <a:ext cx="3397050" cy="33970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Tilemap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1" name="Google Shape;281;p4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Snake4: the room, drawn from tilemap-definition.xml</a:t>
            </a:r>
            <a:endParaRPr sz="18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Fixed-Tick Movement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snake jumps one cell at a time, however fast the game runs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accumulator collects real time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Move once for every full tick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Subtract, don’t reset: leftover time carries over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Pong’s fixed timestep, in practice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TimeSpan TickDuration 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TimeSpan.FromMilliseconds(200);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Update(GameTime gameTime)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_elapsed += gameTime.ElapsedGameTime;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while (_elapsed &gt;= TickDuration)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_elapsed -= TickDuration;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Move();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Input as Actions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Snake5 reads the keys directly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Keys are hardwired to what they do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GameController maps keys to actions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game asks for “up”, never for W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controls live in one place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Sokoban goes one step further: actions become objects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static class GameController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static bool Up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WasPressed(Keys.W) ||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WasPressed(Keys.Up);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Down, Left, Right...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In the game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 (GameController.Up)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_snake.Turn(Direction.Up);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Input Buffering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snake acts once per tick; the player can press twice between two ticks.</a:t>
            </a:r>
            <a:endParaRPr/>
          </a:p>
        </p:txBody>
      </p:sp>
      <p:cxnSp>
        <p:nvCxnSpPr>
          <p:cNvPr id="295" name="Connector 294"/>
          <p:cNvCxnSpPr/>
          <p:nvPr/>
        </p:nvCxnSpPr>
        <p:spPr>
          <a:xfrm>
            <a:off x="548640" y="2011680"/>
            <a:ext cx="795528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6" name="Rectangle 295"/>
          <p:cNvSpPr/>
          <p:nvPr/>
        </p:nvSpPr>
        <p:spPr>
          <a:xfrm>
            <a:off x="1051560" y="1783080"/>
            <a:ext cx="91440" cy="457200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640080" y="2286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tick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7452359" y="1783080"/>
            <a:ext cx="91440" cy="457200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7040879" y="2286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tick</a:t>
            </a:r>
          </a:p>
        </p:txBody>
      </p:sp>
      <p:sp>
        <p:nvSpPr>
          <p:cNvPr id="300" name="Rounded Rectangle 299"/>
          <p:cNvSpPr/>
          <p:nvPr/>
        </p:nvSpPr>
        <p:spPr>
          <a:xfrm>
            <a:off x="2880360" y="1325880"/>
            <a:ext cx="82296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Up</a:t>
            </a:r>
          </a:p>
        </p:txBody>
      </p:sp>
      <p:cxnSp>
        <p:nvCxnSpPr>
          <p:cNvPr id="301" name="Connector 300"/>
          <p:cNvCxnSpPr/>
          <p:nvPr/>
        </p:nvCxnSpPr>
        <p:spPr>
          <a:xfrm>
            <a:off x="3291840" y="1755648"/>
            <a:ext cx="0" cy="2103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4709159" y="1325880"/>
            <a:ext cx="82296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Left</a:t>
            </a:r>
          </a:p>
        </p:txBody>
      </p:sp>
      <p:cxnSp>
        <p:nvCxnSpPr>
          <p:cNvPr id="303" name="Connector 302"/>
          <p:cNvCxnSpPr/>
          <p:nvPr/>
        </p:nvCxnSpPr>
        <p:spPr>
          <a:xfrm>
            <a:off x="5120640" y="1755648"/>
            <a:ext cx="0" cy="2103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TextBox 303"/>
          <p:cNvSpPr txBox="1"/>
          <p:nvPr/>
        </p:nvSpPr>
        <p:spPr>
          <a:xfrm>
            <a:off x="548640" y="274320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EE2E6"/>
                </a:solidFill>
              </a:rPr>
              <a:t>Keep only the last key:</a:t>
            </a:r>
          </a:p>
          <a:p>
            <a:pPr algn="l"/>
            <a:r>
              <a:rPr sz="1500" b="1" i="0">
                <a:solidFill>
                  <a:srgbClr val="DEE2E6"/>
                </a:solidFill>
              </a:rPr>
              <a:t>Left overwrites Up, and the turn is lost.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4572000" y="274320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EE2E6"/>
                </a:solidFill>
              </a:rPr>
              <a:t>Queue them (at most two):</a:t>
            </a:r>
          </a:p>
          <a:p>
            <a:pPr algn="l"/>
            <a:r>
              <a:rPr sz="1500" b="1" i="0">
                <a:solidFill>
                  <a:srgbClr val="DEE2E6"/>
                </a:solidFill>
              </a:rPr>
              <a:t>Up on this tick, Left on the next.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548640" y="3749039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The same trick lets a jump pressed just before landing still count.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Movement &amp; Input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Snake5 → Snake6 → Snake7: ticks, actions and buffering</a:t>
            </a:r>
            <a:endParaRPr sz="18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14" name="Google Shape;214;p34"/>
          <p:cNvSpPr txBox="1"/>
          <p:nvPr>
            <p:ph idx="1" type="body"/>
          </p:nvPr>
        </p:nvSpPr>
        <p:spPr>
          <a:xfrm>
            <a:off x="311700" y="890825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Distance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Shape-based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AABB, Circles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Complex polygon checks</a:t>
            </a:r>
            <a:endParaRPr/>
          </a:p>
        </p:txBody>
      </p:sp>
      <p:pic>
        <p:nvPicPr>
          <p:cNvPr id="215" name="Google Shape;215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95325" y="2235425"/>
            <a:ext cx="3810000" cy="2571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Circle Collision Detection</a:t>
            </a:r>
            <a:endParaRPr/>
          </a:p>
        </p:txBody>
      </p:sp>
      <p:sp>
        <p:nvSpPr>
          <p:cNvPr id="221" name="Google Shape;221;p35"/>
          <p:cNvSpPr txBox="1"/>
          <p:nvPr>
            <p:ph idx="1" type="body"/>
          </p:nvPr>
        </p:nvSpPr>
        <p:spPr>
          <a:xfrm>
            <a:off x="5979175" y="629300"/>
            <a:ext cx="2290500" cy="4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Why not </a:t>
            </a:r>
            <a:r>
              <a:rPr lang="en" u="sng">
                <a:solidFill>
                  <a:schemeClr val="hlink"/>
                </a:solidFill>
                <a:hlinkClick r:id="rId3"/>
              </a:rPr>
              <a:t>Vector2.Distance</a:t>
            </a:r>
            <a:r>
              <a:rPr lang="en"/>
              <a:t>?</a:t>
            </a:r>
            <a:endParaRPr/>
          </a:p>
        </p:txBody>
      </p:sp>
      <p:sp>
        <p:nvSpPr>
          <p:cNvPr id="222" name="Google Shape;222;p35"/>
          <p:cNvSpPr txBox="1"/>
          <p:nvPr>
            <p:ph idx="2" type="body"/>
          </p:nvPr>
        </p:nvSpPr>
        <p:spPr>
          <a:xfrm>
            <a:off x="2441649" y="1152475"/>
            <a:ext cx="6351900" cy="373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c^2 = 25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r^2 = 100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The circles overlap because 100 is greater than 25.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23" name="Google Shape;223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00" y="2014863"/>
            <a:ext cx="1926775" cy="20060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24" name="Google Shape;224;p35"/>
          <p:cNvCxnSpPr>
            <a:stCxn id="221" idx="2"/>
          </p:cNvCxnSpPr>
          <p:nvPr/>
        </p:nvCxnSpPr>
        <p:spPr>
          <a:xfrm flipH="1">
            <a:off x="5147125" y="1030100"/>
            <a:ext cx="1977300" cy="15969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30" name="Google Shape;230;p36"/>
          <p:cNvSpPr/>
          <p:nvPr/>
        </p:nvSpPr>
        <p:spPr>
          <a:xfrm>
            <a:off x="4946325" y="2352464"/>
            <a:ext cx="1582500" cy="1037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31" name="Google Shape;231;p36"/>
          <p:cNvSpPr/>
          <p:nvPr/>
        </p:nvSpPr>
        <p:spPr>
          <a:xfrm>
            <a:off x="2615175" y="2288264"/>
            <a:ext cx="1165800" cy="11658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Response</a:t>
            </a:r>
            <a:endParaRPr/>
          </a:p>
        </p:txBody>
      </p:sp>
      <p:sp>
        <p:nvSpPr>
          <p:cNvPr id="237" name="Google Shape;237;p3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Blocking to prevent objects from overlapping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Triggering events when objects collide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Bouncing to reflect objects off surfaces</a:t>
            </a:r>
            <a:endParaRPr/>
          </a:p>
        </p:txBody>
      </p:sp>
      <p:pic>
        <p:nvPicPr>
          <p:cNvPr id="238" name="Google Shape;238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58937" y="2195425"/>
            <a:ext cx="3426125" cy="19513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37"/>
          <p:cNvSpPr txBox="1"/>
          <p:nvPr/>
        </p:nvSpPr>
        <p:spPr>
          <a:xfrm>
            <a:off x="3894900" y="4363700"/>
            <a:ext cx="13173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rgbClr val="4A86E8"/>
                </a:solidFill>
                <a:latin typeface="Roboto"/>
                <a:ea typeface="Roboto"/>
                <a:cs typeface="Roboto"/>
                <a:sym typeface="Roboto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Vector2.Reflect</a:t>
            </a:r>
            <a:endParaRPr sz="1300">
              <a:solidFill>
                <a:srgbClr val="1F1F1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Collision Performance</a:t>
            </a:r>
            <a:endParaRPr/>
          </a:p>
        </p:txBody>
      </p:sp>
      <p:sp>
        <p:nvSpPr>
          <p:cNvPr id="245" name="Google Shape;245;p38"/>
          <p:cNvSpPr txBox="1"/>
          <p:nvPr>
            <p:ph idx="1" type="body"/>
          </p:nvPr>
        </p:nvSpPr>
        <p:spPr>
          <a:xfrm>
            <a:off x="311700" y="885950"/>
            <a:ext cx="8520600" cy="131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 is (often) the most expensive operation in a game engine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</a:t>
            </a:r>
            <a:r>
              <a:rPr lang="en"/>
              <a:t> * (n - 1) / 2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100 objects =&gt; 100 * 99 / 2 = 4950 collision checks </a:t>
            </a:r>
            <a:r>
              <a:rPr lang="en" u="sng"/>
              <a:t>every frame</a:t>
            </a:r>
            <a:endParaRPr u="sng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Broad phase &amp; Narrow phase</a:t>
            </a:r>
            <a:endParaRPr/>
          </a:p>
        </p:txBody>
      </p:sp>
      <p:pic>
        <p:nvPicPr>
          <p:cNvPr id="246" name="Google Shape;246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8200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25347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3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52495" y="2359000"/>
            <a:ext cx="2493306" cy="26318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Refactoring Collisions to GMDCore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4" name="Google Shape;254;p3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checks rectangles for us; circles we add to GMDCore.</a:t>
            </a:r>
            <a:endParaRPr/>
          </a:p>
        </p:txBody>
      </p:sp>
      <p:sp>
        <p:nvSpPr>
          <p:cNvPr id="255" name="Rectangle 254"/>
          <p:cNvSpPr/>
          <p:nvPr/>
        </p:nvSpPr>
        <p:spPr>
          <a:xfrm>
            <a:off x="548640" y="1417320"/>
            <a:ext cx="8046720" cy="173736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bool hit = a.Intersects(b);            // Rectangle: AABB, built in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public readonly record struct Circle   // GMDCore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{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public bool Intersects(Circle other) =&gt; ...   // squared distances, no square root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}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compare squared distances?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Collision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60" name="Google Shape;26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Snake8 → Snake9: eating, growing and game over</a:t>
            </a:r>
            <a:endParaRPr sz="18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Data, Not Code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7" name="Google Shape;287;p44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beetle is in the atlas image, but not in the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Describe it in atlas-definition.xml: two regions, one animation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enemy a beetle; then change the room in tilemap-definition.xml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much C# did you change? And for a beetle next to the bat?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Snake9,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Speed up: make the tick shorter every time the snake eats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does that rule belong?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New input: the D-pad, through a GamePadInfo in GMDCore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Pause: while paused, the snake doesn’t move and turns aren’t buffered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Refactor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tick timer lives in the Snake class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 it into a reusable FixedTimer class in GMDCore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calls back on every tick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it for the snake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prefer a texture atlas over many individual image files?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subtract the tick duration from the accumulator instead of resetting 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problems come from reading the keyboard inside gameplay code?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check a buffered turn against the last buffered direction?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assets and settings are hardcoded, and could live in data files?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the actions in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them separately from the keys and buttons that trigger them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happen on a fixed tick?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Form groups of 1–3 students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Think of a game you want to create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Take inspiration from classic games!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Be mindful of scope (creep)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Get it started in your own time, before session 04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Game concept, repository setup and a first architecture sketch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Your repository starts from the gar-starter template on GitHub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