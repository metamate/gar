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95" r:id="rId54"/>
    <p:sldId id="297" r:id="rId56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88" r:id="rId38"/>
    <p:sldId id="289" r:id="rId39"/>
    <p:sldId id="290" r:id="rId40"/>
    <p:sldId id="298" r:id="rId57"/>
    <p:sldId id="299" r:id="rId58"/>
    <p:sldId id="300" r:id="rId59"/>
    <p:sldId id="301" r:id="rId6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91" r:id="rId41"/>
    <p:sldId id="292" r:id="rId42"/>
    <p:sldId id="293" r:id="rId52"/>
    <p:sldId id="294" r:id="rId53"/>
    <p:sldId id="296" r:id="rId55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39.xml"/><Relationship Id="rId53" Type="http://schemas.openxmlformats.org/officeDocument/2006/relationships/slide" Target="slides/slide40.xml"/><Relationship Id="rId54" Type="http://schemas.openxmlformats.org/officeDocument/2006/relationships/slide" Target="slides/slide5.xml"/><Relationship Id="rId55" Type="http://schemas.openxmlformats.org/officeDocument/2006/relationships/slide" Target="slides/slide41.xml"/><Relationship Id="rId56" Type="http://schemas.openxmlformats.org/officeDocument/2006/relationships/slide" Target="slides/slide42.xml"/><Relationship Id="rId57" Type="http://schemas.openxmlformats.org/officeDocument/2006/relationships/slide" Target="slides/slide43.xml"/><Relationship Id="rId58" Type="http://schemas.openxmlformats.org/officeDocument/2006/relationships/slide" Target="slides/slide44.xml"/><Relationship Id="rId59" Type="http://schemas.openxmlformats.org/officeDocument/2006/relationships/slide" Target="slides/slide45.xml"/><Relationship Id="rId60" Type="http://schemas.openxmlformats.org/officeDocument/2006/relationships/slide" Target="slides/slide4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a24a6071b_1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a24a6071b_1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cbd7a28ff6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cbd7a28ff6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cb92a6f95e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cb92a6f95e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</a:t>
            </a:r>
            <a:r>
              <a:rPr lang="en"/>
              <a:t>no longer reference a Texture2D directly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b92a6f95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cb92a6f95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cbd7a28ff6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cbd7a28ff6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cbd7a28ff6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cbd7a28ff6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ca047858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ca047858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ca24a6071b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ca24a6071b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cb92a6f95e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cb92a6f95e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cb190ae9b0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cb190ae9b0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ca24a6071b_1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3ca24a6071b_1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ca24a6071b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3ca24a6071b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Circle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Better for round objects like balls and coins.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More accurate for rotating objects.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simpler check for overlap than rectangles.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Rectangle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Great for walls, platforms, and most game objects.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Easy to visualize and debug.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Works well with tile-based games.</a:t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b190ae9b0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b190ae9b0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cb190ae9b0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3cb190ae9b0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Broad &amp; Narrow phase</a:t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c8f6ac40ed_0_1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3c8f6ac40ed_0_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Nominal vs. structural typing (records)</a:t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cbd7a28ff6_0_1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3cbd7a28ff6_0_1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Nominal vs. structural typing (records)</a:t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cb92a6f95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cb92a6f95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cb92a6f95e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cb92a6f95e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cb92a6f95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3cb92a6f95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cb92a6f95e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3cb92a6f95e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md2-snake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github.com/Metamate/gmd2-snake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gi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docs.monogame.net/api/Microsoft.Xna.Framework.Vector2.html#Microsoft_Xna_Framework_Vector2_Distance_Microsoft_Xna_Framework_Vector2_Microsoft_Xna_Framework_Vector2_" TargetMode="External"/><Relationship Id="rId4" Type="http://schemas.openxmlformats.org/officeDocument/2006/relationships/image" Target="../media/image2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3.png"/><Relationship Id="rId4" Type="http://schemas.openxmlformats.org/officeDocument/2006/relationships/hyperlink" Target="https://docs.monogame.net/api/Microsoft.Xna.Framework.Vector2.html#Microsoft_Xna_Framework_Vector2_Reflect_Microsoft_Xna_Framework_Vector2_Microsoft_Xna_Framework_Vector2_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0.png"/><Relationship Id="rId4" Type="http://schemas.openxmlformats.org/officeDocument/2006/relationships/image" Target="../media/image16.png"/><Relationship Id="rId5" Type="http://schemas.openxmlformats.org/officeDocument/2006/relationships/image" Target="../media/image2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docs.monogame.net/api/Microsoft.Xna.Framework.Rectangle.html#Microsoft_Xna_Framework_Rectangle_Intersects_Microsoft_Xna_Framework_Rectangle_" TargetMode="External"/><Relationship Id="rId4" Type="http://schemas.openxmlformats.org/officeDocument/2006/relationships/hyperlink" Target="https://docs.monogame.net/api/Microsoft.Xna.Framework.Rectangle.html#Microsoft_Xna_Framework_Rectangle_Contains_Microsoft_Xna_Framework_Rectangle_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www.mapeditor.org/" TargetMode="External"/><Relationship Id="rId4" Type="http://schemas.openxmlformats.org/officeDocument/2006/relationships/image" Target="../media/image2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github.com/Metamate/gmd2-snake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03: Snake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46087" y="1531275"/>
            <a:ext cx="5451825" cy="32566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Assets as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Atlases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Sprites &amp; Animation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Fixed-Tick Movement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Input as Actions &amp; Buffering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Source code for today’s game can be found here: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https://github.com/Metamate/gmd2-snake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is built up in steps: Snake0 → Snake9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step is a separate project that adds one concept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Compare neighbouring steps to see exactly what changed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Snake9 is the finished game, and the starting point for the exercises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Content Builder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same content builder as in Pong and Flappy Bird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But here, all steps share one Content project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Content/Assets: the raw images and XML definitions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Content/Builder/Builder.cs: the build rules, in C#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rules decide how each asset is processed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PNG images are built into textures (magenta = transparent)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XML definitions are copied as they are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Texture Rendering</a:t>
            </a:r>
            <a:endParaRPr/>
          </a:p>
        </p:txBody>
      </p:sp>
      <p:pic>
        <p:nvPicPr>
          <p:cNvPr id="64" name="Google Shape;64;p13"/>
          <p:cNvPicPr preferRelativeResize="0"/>
          <p:nvPr/>
        </p:nvPicPr>
        <p:blipFill rotWithShape="1">
          <a:blip r:embed="rId3">
            <a:alphaModFix/>
          </a:blip>
          <a:srcRect b="80434" l="13614" r="79962" t="0"/>
          <a:stretch/>
        </p:blipFill>
        <p:spPr>
          <a:xfrm>
            <a:off x="2015375" y="2043200"/>
            <a:ext cx="223900" cy="395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3"/>
          <p:cNvPicPr preferRelativeResize="0"/>
          <p:nvPr/>
        </p:nvPicPr>
        <p:blipFill rotWithShape="1">
          <a:blip r:embed="rId3">
            <a:alphaModFix/>
          </a:blip>
          <a:srcRect b="80434" l="0" r="93577" t="0"/>
          <a:stretch/>
        </p:blipFill>
        <p:spPr>
          <a:xfrm>
            <a:off x="584175" y="2043200"/>
            <a:ext cx="223900" cy="395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3"/>
          <p:cNvPicPr preferRelativeResize="0"/>
          <p:nvPr/>
        </p:nvPicPr>
        <p:blipFill rotWithShape="1">
          <a:blip r:embed="rId3">
            <a:alphaModFix/>
          </a:blip>
          <a:srcRect b="80434" l="7433" r="86143" t="0"/>
          <a:stretch/>
        </p:blipFill>
        <p:spPr>
          <a:xfrm>
            <a:off x="1299776" y="2043200"/>
            <a:ext cx="223900" cy="395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7" name="Google Shape;67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96100" y="1560179"/>
            <a:ext cx="3485850" cy="202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13"/>
          <p:cNvPicPr preferRelativeResize="0"/>
          <p:nvPr/>
        </p:nvPicPr>
        <p:blipFill rotWithShape="1">
          <a:blip r:embed="rId3">
            <a:alphaModFix/>
          </a:blip>
          <a:srcRect b="29607" l="84686" r="8891" t="59340"/>
          <a:stretch/>
        </p:blipFill>
        <p:spPr>
          <a:xfrm>
            <a:off x="2797937" y="2129314"/>
            <a:ext cx="223900" cy="223625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3"/>
          <p:cNvSpPr txBox="1"/>
          <p:nvPr/>
        </p:nvSpPr>
        <p:spPr>
          <a:xfrm>
            <a:off x="3607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mario1.png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0" name="Google Shape;70;p13"/>
          <p:cNvSpPr txBox="1"/>
          <p:nvPr/>
        </p:nvSpPr>
        <p:spPr>
          <a:xfrm>
            <a:off x="10763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mario2.png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1" name="Google Shape;71;p13"/>
          <p:cNvSpPr txBox="1"/>
          <p:nvPr/>
        </p:nvSpPr>
        <p:spPr>
          <a:xfrm>
            <a:off x="17919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mario3.png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2" name="Google Shape;72;p13"/>
          <p:cNvSpPr txBox="1"/>
          <p:nvPr/>
        </p:nvSpPr>
        <p:spPr>
          <a:xfrm>
            <a:off x="2574501" y="2439050"/>
            <a:ext cx="6912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ground1</a:t>
            </a: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3" name="Google Shape;73;p13"/>
          <p:cNvSpPr txBox="1"/>
          <p:nvPr/>
        </p:nvSpPr>
        <p:spPr>
          <a:xfrm>
            <a:off x="5703625" y="3645825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atlas</a:t>
            </a: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Atlas</a:t>
            </a:r>
            <a:endParaRPr/>
          </a:p>
        </p:txBody>
      </p:sp>
      <p:pic>
        <p:nvPicPr>
          <p:cNvPr id="79" name="Google Shape;79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29075" y="1560179"/>
            <a:ext cx="3485850" cy="2023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Region</a:t>
            </a:r>
            <a:endParaRPr/>
          </a:p>
        </p:txBody>
      </p:sp>
      <p:pic>
        <p:nvPicPr>
          <p:cNvPr id="85" name="Google Shape;85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29075" y="1560179"/>
            <a:ext cx="3485850" cy="202315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5"/>
          <p:cNvSpPr/>
          <p:nvPr/>
        </p:nvSpPr>
        <p:spPr>
          <a:xfrm>
            <a:off x="2812073" y="1527475"/>
            <a:ext cx="268200" cy="433500"/>
          </a:xfrm>
          <a:prstGeom prst="rect">
            <a:avLst/>
          </a:prstGeom>
          <a:noFill/>
          <a:ln cap="flat" cmpd="sng" w="190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87" name="Google Shape;87;p15"/>
          <p:cNvCxnSpPr>
            <a:endCxn id="86" idx="0"/>
          </p:cNvCxnSpPr>
          <p:nvPr/>
        </p:nvCxnSpPr>
        <p:spPr>
          <a:xfrm>
            <a:off x="2510873" y="1076875"/>
            <a:ext cx="435300" cy="4506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Texture Atlas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3" name="Google Shape;93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 sz="2900">
              <a:latin typeface="VT323"/>
              <a:ea typeface="VT323"/>
              <a:cs typeface="VT323"/>
              <a:sym typeface="VT323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Snake0 → Snake1: from hardcoded rectangles to a texture atlas</a:t>
            </a:r>
            <a:endParaRPr sz="18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Sprites</a:t>
            </a:r>
            <a:endParaRPr/>
          </a:p>
        </p:txBody>
      </p:sp>
      <p:sp>
        <p:nvSpPr>
          <p:cNvPr id="99" name="Google Shape;99;p17"/>
          <p:cNvSpPr txBox="1"/>
          <p:nvPr>
            <p:ph idx="1" type="body"/>
          </p:nvPr>
        </p:nvSpPr>
        <p:spPr>
          <a:xfrm>
            <a:off x="311700" y="885950"/>
            <a:ext cx="2205000" cy="3024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(region)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Rotation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Scale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Color mask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Origin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 effects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Layer depth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Width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Height</a:t>
            </a:r>
            <a:endParaRPr/>
          </a:p>
        </p:txBody>
      </p:sp>
      <p:pic>
        <p:nvPicPr>
          <p:cNvPr id="100" name="Google Shape;100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1191950">
            <a:off x="3478224" y="1282475"/>
            <a:ext cx="2187550" cy="218755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7"/>
          <p:cNvSpPr txBox="1"/>
          <p:nvPr/>
        </p:nvSpPr>
        <p:spPr>
          <a:xfrm>
            <a:off x="6336200" y="975875"/>
            <a:ext cx="14313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CenterOrigin()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2" name="Google Shape;102;p17"/>
          <p:cNvSpPr txBox="1"/>
          <p:nvPr/>
        </p:nvSpPr>
        <p:spPr>
          <a:xfrm>
            <a:off x="6076775" y="3378325"/>
            <a:ext cx="26211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Draw(Spritebatch, Vector2)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103" name="Google Shape;103;p17"/>
          <p:cNvCxnSpPr>
            <a:stCxn id="100" idx="1"/>
            <a:endCxn id="99" idx="3"/>
          </p:cNvCxnSpPr>
          <p:nvPr/>
        </p:nvCxnSpPr>
        <p:spPr>
          <a:xfrm rot="10800000">
            <a:off x="2516713" y="2398435"/>
            <a:ext cx="1026600" cy="3495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4" name="Google Shape;104;p17"/>
          <p:cNvCxnSpPr>
            <a:stCxn id="100" idx="3"/>
            <a:endCxn id="101" idx="1"/>
          </p:cNvCxnSpPr>
          <p:nvPr/>
        </p:nvCxnSpPr>
        <p:spPr>
          <a:xfrm flipH="1" rot="10800000">
            <a:off x="5600684" y="1186164"/>
            <a:ext cx="735600" cy="8184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5" name="Google Shape;105;p17"/>
          <p:cNvCxnSpPr>
            <a:stCxn id="100" idx="2"/>
            <a:endCxn id="102" idx="1"/>
          </p:cNvCxnSpPr>
          <p:nvPr/>
        </p:nvCxnSpPr>
        <p:spPr>
          <a:xfrm>
            <a:off x="4943684" y="3404935"/>
            <a:ext cx="1133100" cy="1836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Sprite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11" name="Google Shape;111;p1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Snake2: sprites</a:t>
            </a:r>
            <a:endParaRPr sz="18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 Art</a:t>
            </a:r>
            <a:endParaRPr/>
          </a:p>
        </p:txBody>
      </p:sp>
      <p:pic>
        <p:nvPicPr>
          <p:cNvPr id="117" name="Google Shape;11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8300" y="1156538"/>
            <a:ext cx="5867400" cy="3362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Animation</a:t>
            </a:r>
            <a:endParaRPr/>
          </a:p>
        </p:txBody>
      </p:sp>
      <p:pic>
        <p:nvPicPr>
          <p:cNvPr id="123" name="Google Shape;123;p20" title="bat-animation-exampl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57500" y="857240"/>
            <a:ext cx="3429000" cy="3429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Animation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Snake3: animated sprites</a:t>
            </a:r>
            <a:endParaRPr sz="180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14" name="Google Shape;214;p34"/>
          <p:cNvSpPr txBox="1"/>
          <p:nvPr>
            <p:ph idx="1" type="body"/>
          </p:nvPr>
        </p:nvSpPr>
        <p:spPr>
          <a:xfrm>
            <a:off x="311700" y="890825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Distance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Shape-based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AABB, Circles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Complex polygon checks</a:t>
            </a:r>
            <a:endParaRPr/>
          </a:p>
        </p:txBody>
      </p:sp>
      <p:pic>
        <p:nvPicPr>
          <p:cNvPr id="215" name="Google Shape;215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95325" y="2235425"/>
            <a:ext cx="3810000" cy="2571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Circle Collision Detection</a:t>
            </a:r>
            <a:endParaRPr/>
          </a:p>
        </p:txBody>
      </p:sp>
      <p:sp>
        <p:nvSpPr>
          <p:cNvPr id="221" name="Google Shape;221;p35"/>
          <p:cNvSpPr txBox="1"/>
          <p:nvPr>
            <p:ph idx="1" type="body"/>
          </p:nvPr>
        </p:nvSpPr>
        <p:spPr>
          <a:xfrm>
            <a:off x="5979175" y="629300"/>
            <a:ext cx="2290500" cy="4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Why not </a:t>
            </a:r>
            <a:r>
              <a:rPr lang="en" u="sng">
                <a:solidFill>
                  <a:schemeClr val="hlink"/>
                </a:solidFill>
                <a:hlinkClick r:id="rId3"/>
              </a:rPr>
              <a:t>Vector2.Distance</a:t>
            </a:r>
            <a:r>
              <a:rPr lang="en"/>
              <a:t>?</a:t>
            </a:r>
            <a:endParaRPr/>
          </a:p>
        </p:txBody>
      </p:sp>
      <p:sp>
        <p:nvSpPr>
          <p:cNvPr id="222" name="Google Shape;222;p35"/>
          <p:cNvSpPr txBox="1"/>
          <p:nvPr>
            <p:ph idx="2" type="body"/>
          </p:nvPr>
        </p:nvSpPr>
        <p:spPr>
          <a:xfrm>
            <a:off x="2441649" y="1152475"/>
            <a:ext cx="6351900" cy="373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c^2 = 25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r^2 = 100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The circles overlap because 100 is greater than 25.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23" name="Google Shape;223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00" y="2014863"/>
            <a:ext cx="1926775" cy="20060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24" name="Google Shape;224;p35"/>
          <p:cNvCxnSpPr>
            <a:stCxn id="221" idx="2"/>
          </p:cNvCxnSpPr>
          <p:nvPr/>
        </p:nvCxnSpPr>
        <p:spPr>
          <a:xfrm flipH="1">
            <a:off x="5147125" y="1030100"/>
            <a:ext cx="1977300" cy="15969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30" name="Google Shape;230;p36"/>
          <p:cNvSpPr/>
          <p:nvPr/>
        </p:nvSpPr>
        <p:spPr>
          <a:xfrm>
            <a:off x="4946325" y="2352464"/>
            <a:ext cx="1582500" cy="10374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31" name="Google Shape;231;p36"/>
          <p:cNvSpPr/>
          <p:nvPr/>
        </p:nvSpPr>
        <p:spPr>
          <a:xfrm>
            <a:off x="2615175" y="2288264"/>
            <a:ext cx="1165800" cy="11658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Response</a:t>
            </a:r>
            <a:endParaRPr/>
          </a:p>
        </p:txBody>
      </p:sp>
      <p:sp>
        <p:nvSpPr>
          <p:cNvPr id="237" name="Google Shape;237;p3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Blocking to prevent objects from overlapping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Triggering events when objects collide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Bouncing to reflect objects off surfaces</a:t>
            </a:r>
            <a:endParaRPr/>
          </a:p>
        </p:txBody>
      </p:sp>
      <p:pic>
        <p:nvPicPr>
          <p:cNvPr id="238" name="Google Shape;238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58937" y="2195425"/>
            <a:ext cx="3426125" cy="19513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37"/>
          <p:cNvSpPr txBox="1"/>
          <p:nvPr/>
        </p:nvSpPr>
        <p:spPr>
          <a:xfrm>
            <a:off x="3894900" y="4363700"/>
            <a:ext cx="13173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rgbClr val="4A86E8"/>
                </a:solidFill>
                <a:latin typeface="Roboto"/>
                <a:ea typeface="Roboto"/>
                <a:cs typeface="Roboto"/>
                <a:sym typeface="Roboto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Vector2.Reflect</a:t>
            </a:r>
            <a:endParaRPr sz="1300">
              <a:solidFill>
                <a:srgbClr val="1F1F1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Collision Performance</a:t>
            </a:r>
            <a:endParaRPr/>
          </a:p>
        </p:txBody>
      </p:sp>
      <p:sp>
        <p:nvSpPr>
          <p:cNvPr id="245" name="Google Shape;245;p38"/>
          <p:cNvSpPr txBox="1"/>
          <p:nvPr>
            <p:ph idx="1" type="body"/>
          </p:nvPr>
        </p:nvSpPr>
        <p:spPr>
          <a:xfrm>
            <a:off x="311700" y="885950"/>
            <a:ext cx="8520600" cy="131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 is (often) the most expensive operation in a game engine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</a:t>
            </a:r>
            <a:r>
              <a:rPr lang="en"/>
              <a:t> * (n - 1) / 2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100 objects =&gt; 100 * 99 / 2 = 4950 collision checks </a:t>
            </a:r>
            <a:r>
              <a:rPr lang="en" u="sng"/>
              <a:t>every frame</a:t>
            </a:r>
            <a:endParaRPr u="sng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Broad phase &amp; Narrow phase</a:t>
            </a:r>
            <a:endParaRPr/>
          </a:p>
        </p:txBody>
      </p:sp>
      <p:pic>
        <p:nvPicPr>
          <p:cNvPr id="246" name="Google Shape;246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8200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25347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3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52495" y="2359000"/>
            <a:ext cx="2493306" cy="26318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Refactoring Collisions to GMDCore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4" name="Google Shape;254;p3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No need to add basic AABB collision detection to our library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Rectangle.Intersects(Rectangle)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Provided by MonoGame</a:t>
            </a:r>
            <a:endParaRPr/>
          </a:p>
          <a:p>
            <a:pPr indent="-304800" lvl="2" marL="13716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performs an an AABB collision check for us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u="sng">
                <a:solidFill>
                  <a:schemeClr val="hlink"/>
                </a:solidFill>
                <a:hlinkClick r:id="rId4"/>
              </a:rPr>
              <a:t>Rectangle.Contains()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Checks if Rectangle/Vector2/Point is contained within the Rectangle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No Circles though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 a Circle struct to GMDCore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 an Intersects(Ci</a:t>
            </a:r>
            <a:r>
              <a:rPr lang="en"/>
              <a:t>rcl</a:t>
            </a:r>
            <a:r>
              <a:rPr lang="en"/>
              <a:t>e) method for other Circles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Collision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60" name="Google Shape;26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Snake8 → Snake9: eating, growing and game over</a:t>
            </a:r>
            <a:endParaRPr sz="180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Tileset</a:t>
            </a:r>
            <a:endParaRPr/>
          </a:p>
        </p:txBody>
      </p:sp>
      <p:pic>
        <p:nvPicPr>
          <p:cNvPr id="266" name="Google Shape;266;p41"/>
          <p:cNvPicPr preferRelativeResize="0"/>
          <p:nvPr/>
        </p:nvPicPr>
        <p:blipFill rotWithShape="1">
          <a:blip r:embed="rId3">
            <a:alphaModFix/>
          </a:blip>
          <a:srcRect b="0" l="0" r="54225" t="0"/>
          <a:stretch/>
        </p:blipFill>
        <p:spPr>
          <a:xfrm>
            <a:off x="1238250" y="1247650"/>
            <a:ext cx="3052075" cy="304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7" name="Google Shape;267;p41"/>
          <p:cNvPicPr preferRelativeResize="0"/>
          <p:nvPr/>
        </p:nvPicPr>
        <p:blipFill rotWithShape="1">
          <a:blip r:embed="rId3">
            <a:alphaModFix/>
          </a:blip>
          <a:srcRect b="0" l="54225" r="0" t="0"/>
          <a:stretch/>
        </p:blipFill>
        <p:spPr>
          <a:xfrm>
            <a:off x="5040275" y="1247650"/>
            <a:ext cx="3052075" cy="304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Room: A Tilemap</a:t>
            </a:r>
            <a:endParaRPr/>
          </a:p>
        </p:txBody>
      </p:sp>
      <p:pic>
        <p:nvPicPr>
          <p:cNvPr id="273" name="Google Shape;273;p42"/>
          <p:cNvPicPr preferRelativeResize="0"/>
          <p:nvPr/>
        </p:nvPicPr>
        <p:blipFill rotWithShape="1">
          <a:blip r:embed="rId3">
            <a:alphaModFix/>
          </a:blip>
          <a:srcRect b="16166" l="0" r="59830" t="16280"/>
          <a:stretch/>
        </p:blipFill>
        <p:spPr>
          <a:xfrm>
            <a:off x="633950" y="1516225"/>
            <a:ext cx="2725150" cy="2749700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p42"/>
          <p:cNvSpPr txBox="1"/>
          <p:nvPr>
            <p:ph idx="4294967295" type="body"/>
          </p:nvPr>
        </p:nvSpPr>
        <p:spPr>
          <a:xfrm>
            <a:off x="3749613" y="2239625"/>
            <a:ext cx="1183800" cy="13029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15</a:t>
            </a:r>
            <a:endParaRPr/>
          </a:p>
        </p:txBody>
      </p:sp>
      <p:pic>
        <p:nvPicPr>
          <p:cNvPr id="275" name="Google Shape;275;p42"/>
          <p:cNvPicPr preferRelativeResize="0"/>
          <p:nvPr/>
        </p:nvPicPr>
        <p:blipFill rotWithShape="1">
          <a:blip r:embed="rId3">
            <a:alphaModFix/>
          </a:blip>
          <a:srcRect b="7917" l="49925" r="0" t="8478"/>
          <a:stretch/>
        </p:blipFill>
        <p:spPr>
          <a:xfrm>
            <a:off x="5323925" y="1111575"/>
            <a:ext cx="3397050" cy="3403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Tilemap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1" name="Google Shape;281;p4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Snake4: the room, drawn from tilemap-definition.xml</a:t>
            </a:r>
            <a:endParaRPr sz="180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Data, Not Code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7" name="Google Shape;287;p44"/>
          <p:cNvSpPr txBox="1"/>
          <p:nvPr>
            <p:ph idx="1" type="body"/>
          </p:nvPr>
        </p:nvSpPr>
        <p:spPr>
          <a:xfrm>
            <a:off x="311700" y="885950"/>
            <a:ext cx="8520600" cy="124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second enemy with its own animation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New regions and an animation in atlas-definition.xml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Change the room layout in tilemap-definition.xml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much C# did you need to change?</a:t>
            </a:r>
            <a:endParaRPr/>
          </a:p>
        </p:txBody>
      </p:sp>
      <p:pic>
        <p:nvPicPr>
          <p:cNvPr id="288" name="Google Shape;288;p4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04288" y="2252475"/>
            <a:ext cx="5135416" cy="270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Snake9,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Speed up: make the tick shorter every time the snake eats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does that rule belong?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New input: add gamepad support by changing only GameController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Pause: while paused, the snake doesn’t move and turns aren’t buffered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Refactor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tick timer lives in the Snake class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 it into a reusable FixedTimer class in GMDCore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calls back on every tick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it for the snake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assets and settings are hardcoded, and could live in data files?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the actions in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them separately from the keys and buttons that trigger them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in your game happen on a fixed tick?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Form groups of 1–3 students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Think of a game you want to create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Take inspiration from classic games!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Be mindful of scope (creep)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Get it started in your own time, before session 04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Game concept, repository setup and a first architecture sketch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Your repository starts from the gar-starter template on GitHub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Assets as Data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XML files describe the assets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part of the image is the snake, how the bat’s animation runs, which tile goes where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 can change without the code changing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new frame, a faster animation or a new room: edit a file, not C#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Artists and designers can work without touching the code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code gets smaller and more general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Fixed-Tick Movement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snake jumps one cell at a time, however fast the game runs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accumulator collects real time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Move once for every full tick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Subtract, don’t reset: leftover time carries over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Pong’s fixed timestep, in practice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TimeSpan TickDuration 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TimeSpan.FromMilliseconds(200);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Update(GameTime gameTime)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_elapsed += gameTime.ElapsedGameTime;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while (_elapsed &gt;= TickDuration)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_elapsed -= TickDuration;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Move();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Input as Actions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Snake5 reads the keys directly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Keys are hardwired to what they do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GameController maps keys to actions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game asks for “up”, never for W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controls live in one place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Sokoban goes one step further: actions become objects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static class GameController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static bool Up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WasPressed(Keys.W) ||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WasPressed(Keys.Up);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Down, Left, Right...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In the game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 (GameController.Up)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_snake.Turn(Direction.Up);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Input Buffering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Input happens every frame, but the snake acts on a tick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Up, then Left between two ticks: the second press overwrites the first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Queue the turns, and use one per tick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Check each turn against the last queued direction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Keep the queue short: two turns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Common in games: a jump pressed just before landing still counts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Movement &amp; Input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Snake5 → Snake6 → Snake7: ticks, actions and buffering</a:t>
            </a:r>
            <a:endParaRPr sz="18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