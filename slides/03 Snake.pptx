
<file path=[Content_Types].xml><?xml version="1.0" encoding="utf-8"?>
<Types xmlns="http://schemas.openxmlformats.org/package/2006/content-types">
  <Default Extension="fntdata" ContentType="application/x-fontdata"/>
  <Default Extension="gif" ContentType="image/gif"/>
  <Default Extension="png" ContentType="image/png"/>
  <Default Extension="rels" ContentType="application/vnd.openxmlformats-package.relationships+xml"/>
  <Default Extension="xml" ContentType="application/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5" r:id="rId4"/>
  </p:sldMasterIdLst>
  <p:notesMasterIdLst>
    <p:notesMasterId r:id="rId5"/>
  </p:notesMasterIdLst>
  <p:sldIdLst>
    <p:sldId id="256" r:id="rId6"/>
    <p:sldId id="303" r:id="rId29"/>
    <p:sldId id="257" r:id="rId7"/>
    <p:sldId id="258" r:id="rId8"/>
    <p:sldId id="259" r:id="rId9"/>
    <p:sldId id="295" r:id="rId54"/>
    <p:sldId id="297" r:id="rId56"/>
    <p:sldId id="260" r:id="rId10"/>
    <p:sldId id="261" r:id="rId11"/>
    <p:sldId id="262" r:id="rId12"/>
    <p:sldId id="263" r:id="rId13"/>
    <p:sldId id="308" r:id="rId24"/>
    <p:sldId id="264" r:id="rId14"/>
    <p:sldId id="265" r:id="rId15"/>
    <p:sldId id="307" r:id="rId25"/>
    <p:sldId id="266" r:id="rId16"/>
    <p:sldId id="267" r:id="rId17"/>
    <p:sldId id="268" r:id="rId18"/>
    <p:sldId id="306" r:id="rId26"/>
    <p:sldId id="288" r:id="rId38"/>
    <p:sldId id="289" r:id="rId39"/>
    <p:sldId id="290" r:id="rId40"/>
    <p:sldId id="305" r:id="rId27"/>
    <p:sldId id="298" r:id="rId57"/>
    <p:sldId id="299" r:id="rId58"/>
    <p:sldId id="300" r:id="rId59"/>
    <p:sldId id="301" r:id="rId60"/>
    <p:sldId id="304" r:id="rId28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91" r:id="rId41"/>
    <p:sldId id="292" r:id="rId42"/>
    <p:sldId id="293" r:id="rId52"/>
    <p:sldId id="302" r:id="rId30"/>
    <p:sldId id="294" r:id="rId53"/>
  </p:sldIdLst>
  <p:sldSz cy="5143500" cx="9144000"/>
  <p:notesSz cx="6858000" cy="9144000"/>
  <p:embeddedFontLst>
    <p:embeddedFont>
      <p:font typeface="Roboto"/>
      <p:regular r:id="rId43"/>
      <p:bold r:id="rId44"/>
      <p:italic r:id="rId45"/>
      <p:boldItalic r:id="rId46"/>
    </p:embeddedFont>
    <p:embeddedFont>
      <p:font typeface="VT323"/>
      <p:regular r:id="rId47"/>
    </p:embeddedFont>
    <p:embeddedFont>
      <p:font typeface="Roboto Light"/>
      <p:regular r:id="rId48"/>
      <p:bold r:id="rId49"/>
      <p:italic r:id="rId50"/>
      <p:boldItalic r:id="rId51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9" Type="http://schemas.openxmlformats.org/officeDocument/2006/relationships/slide" Target="slides/slide5.xml"/><Relationship Id="rId10" Type="http://schemas.openxmlformats.org/officeDocument/2006/relationships/slide" Target="slides/slide8.xml"/><Relationship Id="rId11" Type="http://schemas.openxmlformats.org/officeDocument/2006/relationships/slide" Target="slides/slide9.xml"/><Relationship Id="rId12" Type="http://schemas.openxmlformats.org/officeDocument/2006/relationships/slide" Target="slides/slide10.xml"/><Relationship Id="rId13" Type="http://schemas.openxmlformats.org/officeDocument/2006/relationships/slide" Target="slides/slide11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6.xml"/><Relationship Id="rId17" Type="http://schemas.openxmlformats.org/officeDocument/2006/relationships/slide" Target="slides/slide17.xml"/><Relationship Id="rId18" Type="http://schemas.openxmlformats.org/officeDocument/2006/relationships/slide" Target="slides/slide18.xml"/><Relationship Id="rId24" Type="http://schemas.openxmlformats.org/officeDocument/2006/relationships/slide" Target="slides/slide12.xml"/><Relationship Id="rId25" Type="http://schemas.openxmlformats.org/officeDocument/2006/relationships/slide" Target="slides/slide15.xml"/><Relationship Id="rId26" Type="http://schemas.openxmlformats.org/officeDocument/2006/relationships/slide" Target="slides/slide19.xml"/><Relationship Id="rId27" Type="http://schemas.openxmlformats.org/officeDocument/2006/relationships/slide" Target="slides/slide23.xml"/><Relationship Id="rId28" Type="http://schemas.openxmlformats.org/officeDocument/2006/relationships/slide" Target="slides/slide28.xml"/><Relationship Id="rId29" Type="http://schemas.openxmlformats.org/officeDocument/2006/relationships/slide" Target="slides/slide2.xml"/><Relationship Id="rId30" Type="http://schemas.openxmlformats.org/officeDocument/2006/relationships/slide" Target="slides/slide39.xml"/><Relationship Id="rId31" Type="http://schemas.openxmlformats.org/officeDocument/2006/relationships/slide" Target="slides/slide29.xml"/><Relationship Id="rId32" Type="http://schemas.openxmlformats.org/officeDocument/2006/relationships/slide" Target="slides/slide30.xml"/><Relationship Id="rId33" Type="http://schemas.openxmlformats.org/officeDocument/2006/relationships/slide" Target="slides/slide31.xml"/><Relationship Id="rId34" Type="http://schemas.openxmlformats.org/officeDocument/2006/relationships/slide" Target="slides/slide32.xml"/><Relationship Id="rId35" Type="http://schemas.openxmlformats.org/officeDocument/2006/relationships/slide" Target="slides/slide33.xml"/><Relationship Id="rId36" Type="http://schemas.openxmlformats.org/officeDocument/2006/relationships/slide" Target="slides/slide34.xml"/><Relationship Id="rId37" Type="http://schemas.openxmlformats.org/officeDocument/2006/relationships/slide" Target="slides/slide35.xml"/><Relationship Id="rId38" Type="http://schemas.openxmlformats.org/officeDocument/2006/relationships/slide" Target="slides/slide20.xml"/><Relationship Id="rId39" Type="http://schemas.openxmlformats.org/officeDocument/2006/relationships/slide" Target="slides/slide21.xml"/><Relationship Id="rId40" Type="http://schemas.openxmlformats.org/officeDocument/2006/relationships/slide" Target="slides/slide22.xml"/><Relationship Id="rId41" Type="http://schemas.openxmlformats.org/officeDocument/2006/relationships/slide" Target="slides/slide36.xml"/><Relationship Id="rId42" Type="http://schemas.openxmlformats.org/officeDocument/2006/relationships/slide" Target="slides/slide37.xml"/><Relationship Id="rId43" Type="http://schemas.openxmlformats.org/officeDocument/2006/relationships/font" Target="fonts/Roboto-regular.fntdata"/><Relationship Id="rId44" Type="http://schemas.openxmlformats.org/officeDocument/2006/relationships/font" Target="fonts/Roboto-bold.fntdata"/><Relationship Id="rId45" Type="http://schemas.openxmlformats.org/officeDocument/2006/relationships/font" Target="fonts/Roboto-italic.fntdata"/><Relationship Id="rId46" Type="http://schemas.openxmlformats.org/officeDocument/2006/relationships/font" Target="fonts/Roboto-boldItalic.fntdata"/><Relationship Id="rId47" Type="http://schemas.openxmlformats.org/officeDocument/2006/relationships/font" Target="fonts/VT323-regular.fntdata"/><Relationship Id="rId48" Type="http://schemas.openxmlformats.org/officeDocument/2006/relationships/font" Target="fonts/RobotoLight-regular.fntdata"/><Relationship Id="rId49" Type="http://schemas.openxmlformats.org/officeDocument/2006/relationships/font" Target="fonts/RobotoLight-bold.fntdata"/><Relationship Id="rId50" Type="http://schemas.openxmlformats.org/officeDocument/2006/relationships/font" Target="fonts/RobotoLight-italic.fntdata"/><Relationship Id="rId51" Type="http://schemas.openxmlformats.org/officeDocument/2006/relationships/font" Target="fonts/RobotoLight-boldItalic.fntdata"/><Relationship Id="rId52" Type="http://schemas.openxmlformats.org/officeDocument/2006/relationships/slide" Target="slides/slide38.xml"/><Relationship Id="rId53" Type="http://schemas.openxmlformats.org/officeDocument/2006/relationships/slide" Target="slides/slide40.xml"/><Relationship Id="rId54" Type="http://schemas.openxmlformats.org/officeDocument/2006/relationships/slide" Target="slides/slide6.xml"/><Relationship Id="rId56" Type="http://schemas.openxmlformats.org/officeDocument/2006/relationships/slide" Target="slides/slide7.xml"/><Relationship Id="rId57" Type="http://schemas.openxmlformats.org/officeDocument/2006/relationships/slide" Target="slides/slide24.xml"/><Relationship Id="rId58" Type="http://schemas.openxmlformats.org/officeDocument/2006/relationships/slide" Target="slides/slide25.xml"/><Relationship Id="rId59" Type="http://schemas.openxmlformats.org/officeDocument/2006/relationships/slide" Target="slides/slide26.xml"/><Relationship Id="rId60" Type="http://schemas.openxmlformats.org/officeDocument/2006/relationships/slide" Target="slides/slide2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7" name="Google Shape;37;p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Welcome. Today we build Snake. The main topic: assets as data.</a:t>
            </a:r>
          </a:p>
          <a:p>
            <a:r>
              <a:t>Start by playing the finished game, Snake9, before any code.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g3c8f6ac40ed_0_13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3" name="Google Shape;43;g3c8f6ac40ed_0_13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Run Snake9 and play it for a minute.</a:t>
            </a:r>
          </a:p>
          <a:p>
            <a:r>
              <a:t>Ask: what would you need to build this? Collect answers on the board, and come back to them at the end.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7" name="Shape 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Google Shape;48;g3c8f6ac40ed_0_13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9" name="Google Shape;49;g3c8f6ac40ed_0_13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Today’s main topic is assets as data. The art, the animations and the room are described in XML, and the code only reads them.</a:t>
            </a:r>
          </a:p>
          <a:p>
            <a:r>
              <a:t>Then movement on a fixed tick, and input as actions.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g3ca5c6b6b8b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5" name="Google Shape;55;g3ca5c6b6b8b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Open gar-games/03-snake live. Show the README: the step table, the code map, how to run a step.</a:t>
            </a:r>
          </a:p>
          <a:p>
            <a:r>
              <a:t>Say: the site explains the ideas, the README helps you find them in the code, the slides are for today.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g3ca24a6071b_1_3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1" name="Google Shape;61;g3ca24a6071b_1_3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Many small images: a texture switch for every draw. One atlas: one texture, many regions. Fewer switches, faster drawing, one file to manage.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g3cbd7a28ff6_0_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6" name="Google Shape;76;g3cbd7a28ff6_0_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The whole game’s art in one image.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g3cb92a6f95e_0_4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2" name="Google Shape;82;g3cb92a6f95e_0_4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A region: a rectangle inside the atlas, with a name. We no longer reference a Texture2D directly; we ask the atlas for a region.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8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g3cb92a6f95e_0_3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0" name="Google Shape;90;g3cb92a6f95e_0_3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Demo: open Snake0 and Snake1 side by side (a diff tool, or two editor panes), then run Snake1.</a:t>
            </a:r>
          </a:p>
          <a:p>
            <a:r>
              <a:t>- the hardcoded rectangles become names in atlas-definition.xml</a:t>
            </a:r>
          </a:p>
          <a:p>
            <a:r>
              <a:t>- TextureAtlas.FromFile reads the XML</a:t>
            </a:r>
          </a:p>
          <a:p>
            <a:r>
              <a:t>- Game1 asks for regions by name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g3cbd7a28ff6_0_2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6" name="Google Shape;96;g3cbd7a28ff6_0_2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A sprite: a region plus how to draw it (rotation, scale, colour, origin). Point at the labels on the picture.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g3cbd7a28ff6_0_2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8" name="Google Shape;108;g3cbd7a28ff6_0_2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Demo: open Snake1 and Snake2 side by side (a diff tool, or two editor panes), then run Snake2.</a:t>
            </a:r>
          </a:p>
          <a:p>
            <a:r>
              <a:t>- the Sprite class in GARCore</a:t>
            </a:r>
          </a:p>
          <a:p>
            <a:r>
              <a:t>- drawing through a sprite instead of the region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g3ca04785841_0_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4" name="Google Shape;114;g3ca04785841_0_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Where art comes from: draw it yourself (Aseprite is a good pixel editor), or use free packs with a clear licence.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g3ca24a6071b_1_4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0" name="Google Shape;120;g3ca24a6071b_1_4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An animation: a list of regions and a delay. The bottom mouse cycles through the three above.</a:t>
            </a: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g3cb92a6f95e_0_2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6" name="Google Shape;126;g3cb92a6f95e_0_2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Demo: open Snake2 and Snake3 side by side (a diff tool, or two editor panes), then run Snake3.</a:t>
            </a:r>
          </a:p>
          <a:p>
            <a:r>
              <a:t>- the Animations section of the XML</a:t>
            </a:r>
          </a:p>
          <a:p>
            <a:r>
              <a:t>- AnimatedSprite advancing frames with elapsed time</a:t>
            </a: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Pairs, about 7 minutes. Speed: TickDuration in Snake. Keys: GameController only.</a:t>
            </a:r>
          </a:p>
          <a:p>
            <a:r>
              <a:t>If there is time: press two turns within one tick in Snake6, then in Snake7, and compare.</a:t>
            </a: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The original: Snake. Ask who has played it, and what they remember of how it plays.</a:t>
            </a:r>
          </a:p>
          <a:p>
            <a:r>
              <a:t>Today we build the parts that matter for the architecture.</a:t>
            </a:r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Give the project groups five minutes with these questions.</a:t>
            </a:r>
          </a:p>
          <a:p>
            <a:r>
              <a:t>Ask two groups to share one answer each, and push them to name actual classes and files.</a:t>
            </a:r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For fast students: pull the tick timer out into a reusable FixedTimer in GARCore.</a:t>
            </a:r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Demo: open Snake5 and Snake7 side by side (a diff tool, or two editor panes), then run Snake7.</a:t>
            </a:r>
          </a:p>
          <a:p>
            <a:r>
              <a:t>- Snake5: the tick accumulator</a:t>
            </a:r>
          </a:p>
          <a:p>
            <a:r>
              <a:t>- Snake6: GameController</a:t>
            </a:r>
          </a:p>
          <a:p>
            <a:r>
              <a:t>- Snake7: the queue of turns</a:t>
            </a:r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The game asks for Up, never for W. The keys live in one place, GameController.</a:t>
            </a:r>
          </a:p>
          <a:p>
            <a:r>
              <a:t>Ask: what changes to support a gamepad? Answer: only GameController.</a:t>
            </a:r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The snake moves one cell per tick, however fast the game runs. The accumulator collects real time.</a:t>
            </a:r>
          </a:p>
          <a:p>
            <a:r>
              <a:t>Ask: why subtract the tick, not reset to zero? Answer: the leftover time carries over, so ticks stay even.</a:t>
            </a:r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Ask one question at a time. Pairs discuss for a minute, then take two or three answers.</a:t>
            </a:r>
          </a:p>
          <a:p>
            <a:r>
              <a:t>Expected answers (from the course site):</a:t>
            </a:r>
          </a:p>
          <a:p/>
          <a:p>
            <a:r>
              <a:t>Q: Why prefer a texture atlas over many individual image files?</a:t>
            </a:r>
          </a:p>
          <a:p>
            <a:r>
              <a:t>A: Drawing from one texture lets SpriteBatch batch many sprites into few draw calls. Switching textures between draws breaks the batch and costs performance.</a:t>
            </a:r>
          </a:p>
          <a:p/>
          <a:p>
            <a:r>
              <a:t>Q: Why subtract the tick duration from the accumulator instead of resetting it to zero?</a:t>
            </a:r>
          </a:p>
          <a:p>
            <a:r>
              <a:t>A: The leftover time carries over to the next tick. Resetting it would throw away a bit of time every tick, so the ticks would drift and depend on the frame rate.</a:t>
            </a:r>
          </a:p>
          <a:p/>
          <a:p>
            <a:r>
              <a:t>Q: What problems come from reading the keyboard directly inside gameplay code?</a:t>
            </a:r>
          </a:p>
          <a:p>
            <a:r>
              <a:t>A: Keys are hardcoded throughout the game, so rebinding, supporting a gamepad or letting an AI drive the same entity means editing gameplay code in many places.</a:t>
            </a:r>
          </a:p>
          <a:p/>
          <a:p>
            <a:r>
              <a:t>Q: Why check a buffered turn against the last buffered direction?</a:t>
            </a:r>
          </a:p>
          <a:p>
            <a:r>
              <a:t>A: The snake only turns on the next tick. Checking against its current direction would allow two quick turns that together reverse it into its own neck.</a:t>
            </a: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Act it out: press Up then Left quickly between two ticks. Keep only the last key and the Up is lost.</a:t>
            </a:r>
          </a:p>
          <a:p>
            <a:r>
              <a:t>Queue them instead, at most two. Same idea as a jump pressed just before landing.</a:t>
            </a:r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Read the three questions on the right, and let the class answer each.</a:t>
            </a:r>
          </a:p>
          <a:p>
            <a:r>
              <a:t>Answer: none of them need C#. A faster mouse is a delay, an extra frame is a Frame line, a new room is the tilemap file.</a:t>
            </a:r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Follow the pipeline left to right. The new part: all steps share one Content project.</a:t>
            </a:r>
          </a:p>
          <a:p>
            <a:r>
              <a:t>Show Builder.cs: PNGs become textures, XML is copied as it is.</a:t>
            </a: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9" name="Shape 2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0" name="Google Shape;210;g3cb190ae9b0_0_3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1" name="Google Shape;211;g3cb190ae9b0_0_3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Three levels: distance, shapes (boxes, circles), polygons. Use the simplest that looks right.</a:t>
            </a: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g3ca24a6071b_1_5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8" name="Google Shape;218;g3ca24a6071b_1_5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Ask the question: why not Vector2.Distance? Answer: it takes a square root. Compare squared distances instead: same answer, cheaper.</a:t>
            </a:r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g3ca24a6071b_1_9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27" name="Google Shape;227;g3ca24a6071b_1_9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Circles or rectangles? Circles for round and rotating things; rectangles for boxes and tiles. Pick per object.</a:t>
            </a:r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2" name="Shape 2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3" name="Google Shape;233;g3cb190ae9b0_0_2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34" name="Google Shape;234;g3cb190ae9b0_0_2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Detection says they touch; response says what happens: block, trigger, or bounce (Vector2.Reflect).</a:t>
            </a:r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0" name="Shape 2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1" name="Google Shape;241;g3cb190ae9b0_0_1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2" name="Google Shape;242;g3cb190ae9b0_0_1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Every pair: n(n−1)/2 checks. 100 objects, 4,950 checks a frame. Broad phase first (cheap, rough), narrow phase only for candidates.</a:t>
            </a:r>
          </a:p>
          <a:p>
            <a:r>
              <a:t>Vampire Survivors comes back to this with a grid.</a:t>
            </a:r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9" name="Shape 2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0" name="Google Shape;250;g3c8f6ac40ed_0_1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51" name="Google Shape;251;g3c8f6ac40ed_0_1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Rectangles: MonoGame has Intersects. Circles: we add a Circle struct to GARCore.</a:t>
            </a:r>
          </a:p>
          <a:p>
            <a:r>
              <a:t>Ask the question. Answer: squaring is cheap, square roots are not, and the comparison gives the same result.</a:t>
            </a:r>
          </a:p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5" name="Shape 2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" name="Google Shape;256;g3cbd7a28ff6_0_16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57" name="Google Shape;257;g3cbd7a28ff6_0_16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Demo: open Snake8 and Snake9 side by side (a diff tool, or two editor panes), then run Snake9.</a:t>
            </a:r>
          </a:p>
          <a:p>
            <a:r>
              <a:t>- eating the mouse grows the snake</a:t>
            </a:r>
          </a:p>
          <a:p>
            <a:r>
              <a:t>- hitting itself or a wall ends the game</a:t>
            </a:r>
          </a:p>
        </p:txBody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g3cb92a6f95e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63" name="Google Shape;263;g3cb92a6f95e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A tileset: an image cut into equal tiles, numbered left to right, top to bottom.</a:t>
            </a:r>
          </a:p>
        </p:txBody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8" name="Shape 2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9" name="Google Shape;269;g3cb92a6f95e_0_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70" name="Google Shape;270;g3cb92a6f95e_0_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The numbers in the middle are the room. Find tile 6 (the torch) and tile 9 (the floor) together.</a:t>
            </a:r>
          </a:p>
        </p:txBody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6" name="Shape 2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7" name="Google Shape;277;g3cb92a6f95e_0_1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78" name="Google Shape;278;g3cb92a6f95e_0_1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Demo: open Snake3 and Snake4 side by side (a diff tool, or two editor panes), then run Snake4.</a:t>
            </a:r>
          </a:p>
          <a:p>
            <a:r>
              <a:t>- tilemap-definition.xml</a:t>
            </a:r>
          </a:p>
          <a:p>
            <a:r>
              <a:t>- Tilemap.FromFile</a:t>
            </a:r>
          </a:p>
          <a:p>
            <a:r>
              <a:t>- change one number, rebuild, and watch the room change</a:t>
            </a:r>
          </a:p>
        </p:txBody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2" name="Shape 2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3" name="Google Shape;283;g3cb92a6f95e_0_5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84" name="Google Shape;284;g3cb92a6f95e_0_5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Exercise: the beetle is drawn in the atlas but not described. Two regions and an animation in the XML, then one line of C# (the animation name).</a:t>
            </a:r>
          </a:p>
          <a:p>
            <a:r>
              <a:t>Ask afterwards: how much C# did you change? One string. And for a beetle next to the mouse? A lot: Game1 handles the mouse by name (its collisions, its bounces). Data can’t fix that; it’s the next architecture problem.</a:t>
            </a:r>
          </a:p>
        </p:txBody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9" name="Shape 2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0" name="Google Shape;290;g3cbd7a28ff6_0_16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91" name="Google Shape;291;g3cbd7a28ff6_0_16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Start from Snake9. Ask for the speed-up exercise: where does that rule belong? In the snake, or in the game?</a:t>
            </a:r>
          </a:p>
          <a:p>
            <a:r>
              <a:t>Gamepad: a press needs last frame’s state, so it goes through a GamePadInfo in GARCore. In the game, only GameController changes. Geometry Wars has a finished GamePadInfo to compare with.</a:t>
            </a:r>
          </a:p>
        </p:txBody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Pairs, about 5 minutes, in Snake4.</a:t>
            </a:r>
          </a:p>
          <a:p>
            <a:r>
              <a:t>Answer for the 20: the tileset has 16 tiles (0 to 15), so the game fails when it draws the room. Same lesson as the misspelled region: data errors appear at runtime.</a:t>
            </a:r>
          </a:p>
        </p:txBody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Pairs, about 5 minutes, in Snake3. The delay attribute and one more Frame line. Ask afterwards: how much C# did you change? None.</a:t>
            </a:r>
          </a:p>
        </p:txBody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Pairs, about 5 minutes. The rotation speed is a constant at the top of Game1; the scale is set in LoadContent.</a:t>
            </a:r>
          </a:p>
          <a:p>
            <a:r>
              <a:t>Answer: without CenterOrigin the mouse spins around its top-left corner, because the origin is where rotation and scale start from.</a:t>
            </a:r>
          </a:p>
        </p:txBody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Pairs, about 5 minutes, in Snake1. Moving the mouse-1 rectangle is enough; no C#.</a:t>
            </a:r>
          </a:p>
          <a:p>
            <a:r>
              <a:t>Ask about the misspelling. Answer: the game stops at start-up (the atlas looks names up in a dictionary). A mistake in data only shows up when the game runs.</a:t>
            </a:r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5" name="Google Shape;15;p3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8" name="Google Shape;18;p4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30200" lvl="0" marL="457200">
              <a:spcBef>
                <a:spcPts val="0"/>
              </a:spcBef>
              <a:spcAft>
                <a:spcPts val="0"/>
              </a:spcAft>
              <a:buSzPts val="16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885950"/>
            <a:ext cx="39999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886075"/>
            <a:ext cx="39999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 (code)">
  <p:cSld name="TITLE_AND_TWO_COLUMNS_1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" type="body"/>
          </p:nvPr>
        </p:nvSpPr>
        <p:spPr>
          <a:xfrm>
            <a:off x="311700" y="885950"/>
            <a:ext cx="39999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8" name="Google Shape;28;p6"/>
          <p:cNvSpPr txBox="1"/>
          <p:nvPr>
            <p:ph idx="2" type="body"/>
          </p:nvPr>
        </p:nvSpPr>
        <p:spPr>
          <a:xfrm>
            <a:off x="4832400" y="886075"/>
            <a:ext cx="3999900" cy="4023300"/>
          </a:xfrm>
          <a:prstGeom prst="rect">
            <a:avLst/>
          </a:prstGeom>
          <a:solidFill>
            <a:schemeClr val="dk2"/>
          </a:solidFill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9" name="Google Shape;29;p6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7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32" name="Google Shape;32;p7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33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rgbClr val="212529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300"/>
              <a:buFont typeface="VT323"/>
              <a:buNone/>
              <a:defRPr sz="3300">
                <a:solidFill>
                  <a:schemeClr val="accent1"/>
                </a:solidFill>
                <a:latin typeface="VT323"/>
                <a:ea typeface="VT323"/>
                <a:cs typeface="VT323"/>
                <a:sym typeface="VT323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302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Roboto Light"/>
              <a:buChar char="●"/>
              <a:defRPr sz="1600">
                <a:solidFill>
                  <a:schemeClr val="dk1"/>
                </a:solidFill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3175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400"/>
              <a:buFont typeface="Roboto Light"/>
              <a:buChar char="○"/>
              <a:defRPr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3048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■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3048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●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3048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○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3048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■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6pPr>
            <a:lvl7pPr indent="-3048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●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7pPr>
            <a:lvl8pPr indent="-3048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○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8pPr>
            <a:lvl9pPr indent="-3048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■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 algn="r">
              <a:buNone/>
              <a:defRPr sz="1000">
                <a:solidFill>
                  <a:schemeClr val="lt1"/>
                </a:solidFill>
              </a:defRPr>
            </a:lvl1pPr>
            <a:lvl2pPr lvl="1" algn="r">
              <a:buNone/>
              <a:defRPr sz="1000">
                <a:solidFill>
                  <a:schemeClr val="lt1"/>
                </a:solidFill>
              </a:defRPr>
            </a:lvl2pPr>
            <a:lvl3pPr lvl="2" algn="r">
              <a:buNone/>
              <a:defRPr sz="1000">
                <a:solidFill>
                  <a:schemeClr val="lt1"/>
                </a:solidFill>
              </a:defRPr>
            </a:lvl3pPr>
            <a:lvl4pPr lvl="3" algn="r">
              <a:buNone/>
              <a:defRPr sz="1000">
                <a:solidFill>
                  <a:schemeClr val="lt1"/>
                </a:solidFill>
              </a:defRPr>
            </a:lvl4pPr>
            <a:lvl5pPr lvl="4" algn="r">
              <a:buNone/>
              <a:defRPr sz="1000">
                <a:solidFill>
                  <a:schemeClr val="lt1"/>
                </a:solidFill>
              </a:defRPr>
            </a:lvl5pPr>
            <a:lvl6pPr lvl="5" algn="r">
              <a:buNone/>
              <a:defRPr sz="1000">
                <a:solidFill>
                  <a:schemeClr val="lt1"/>
                </a:solidFill>
              </a:defRPr>
            </a:lvl6pPr>
            <a:lvl7pPr lvl="6" algn="r">
              <a:buNone/>
              <a:defRPr sz="1000">
                <a:solidFill>
                  <a:schemeClr val="lt1"/>
                </a:solidFill>
              </a:defRPr>
            </a:lvl7pPr>
            <a:lvl8pPr lvl="7" algn="r">
              <a:buNone/>
              <a:defRPr sz="1000">
                <a:solidFill>
                  <a:schemeClr val="lt1"/>
                </a:solidFill>
              </a:defRPr>
            </a:lvl8pPr>
            <a:lvl9pPr lvl="8" algn="r">
              <a:buNone/>
              <a:defRPr sz="1000">
                <a:solidFill>
                  <a:schemeClr val="lt1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1.gif"/><Relationship Id="rId3" Type="http://schemas.openxmlformats.org/officeDocument/2006/relationships/notesSlide" Target="../notesSlides/notesSlide15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2.gif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Relationship Id="rId3" Type="http://schemas.openxmlformats.org/officeDocument/2006/relationships/hyperlink" Target="https://github.com/Metamate/gar-games/tree/main/03-snake" TargetMode="Externa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Relationship Id="rId3" Type="http://schemas.openxmlformats.org/officeDocument/2006/relationships/hyperlink" Target="https://github.com/Metamate/gmd2-snake" TargetMode="Externa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4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5.xml"/><Relationship Id="rId6" Type="http://schemas.openxmlformats.org/officeDocument/2006/relationships/image" Target="../media/image9.png"/><Relationship Id="rId7" Type="http://schemas.openxmlformats.org/officeDocument/2006/relationships/image" Target="../media/image8.png"/><Relationship Id="rId8" Type="http://schemas.openxmlformats.org/officeDocument/2006/relationships/image" Target="../media/image7.png"/><Relationship Id="rId9" Type="http://schemas.openxmlformats.org/officeDocument/2006/relationships/image" Target="../media/image4.png"/><Relationship Id="rId11" Type="http://schemas.openxmlformats.org/officeDocument/2006/relationships/image" Target="../media/image1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6.xml"/><Relationship Id="rId4" Type="http://schemas.openxmlformats.org/officeDocument/2006/relationships/image" Target="../media/image1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7.xml"/><Relationship Id="rId4" Type="http://schemas.openxmlformats.org/officeDocument/2006/relationships/image" Target="../media/image13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Relationship Id="rId4" Type="http://schemas.openxmlformats.org/officeDocument/2006/relationships/image" Target="../media/image14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0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11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2.xml"/><Relationship Id="rId4" Type="http://schemas.openxmlformats.org/officeDocument/2006/relationships/image" Target="../media/image17.gif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3.xml"/><Relationship Id="rId3" Type="http://schemas.openxmlformats.org/officeDocument/2006/relationships/image" Target="../media/image25.png"/><Relationship Id="rId6" Type="http://schemas.openxmlformats.org/officeDocument/2006/relationships/image" Target="../media/image27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4.xml"/><Relationship Id="rId3" Type="http://schemas.openxmlformats.org/officeDocument/2006/relationships/image" Target="../media/image27.png"/><Relationship Id="rId6" Type="http://schemas.openxmlformats.org/officeDocument/2006/relationships/image" Target="../media/image28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5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8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21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20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3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Relationship Id="rId3" Type="http://schemas.openxmlformats.org/officeDocument/2006/relationships/image" Target="../media/image15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27.xml"/><Relationship Id="rId3" Type="http://schemas.openxmlformats.org/officeDocument/2006/relationships/hyperlink" Target="https://docs.monogame.net/api/Microsoft.Xna.Framework.Vector2.html#Microsoft_Xna_Framework_Vector2_Distance_Microsoft_Xna_Framework_Vector2_Microsoft_Xna_Framework_Vector2_" TargetMode="External"/><Relationship Id="rId4" Type="http://schemas.openxmlformats.org/officeDocument/2006/relationships/image" Target="../media/image26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9.xml"/><Relationship Id="rId3" Type="http://schemas.openxmlformats.org/officeDocument/2006/relationships/image" Target="../media/image23.png"/><Relationship Id="rId4" Type="http://schemas.openxmlformats.org/officeDocument/2006/relationships/hyperlink" Target="https://docs.monogame.net/api/Microsoft.Xna.Framework.Vector2.html#Microsoft_Xna_Framework_Vector2_Reflect_Microsoft_Xna_Framework_Vector2_Microsoft_Xna_Framework_Vector2_" TargetMode="Externa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Relationship Id="rId3" Type="http://schemas.openxmlformats.org/officeDocument/2006/relationships/image" Target="../media/image20.png"/><Relationship Id="rId4" Type="http://schemas.openxmlformats.org/officeDocument/2006/relationships/image" Target="../media/image16.png"/><Relationship Id="rId5" Type="http://schemas.openxmlformats.org/officeDocument/2006/relationships/image" Target="../media/image22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1.xml"/><Relationship Id="rId3" Type="http://schemas.openxmlformats.org/officeDocument/2006/relationships/hyperlink" Target="https://docs.monogame.net/api/Microsoft.Xna.Framework.Rectangle.html#Microsoft_Xna_Framework_Rectangle_Intersects_Microsoft_Xna_Framework_Rectangle_" TargetMode="External"/><Relationship Id="rId4" Type="http://schemas.openxmlformats.org/officeDocument/2006/relationships/hyperlink" Target="https://docs.monogame.net/api/Microsoft.Xna.Framework.Rectangle.html#Microsoft_Xna_Framework_Rectangle_Contains_Microsoft_Xna_Framework_Rectangle_" TargetMode="Externa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2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6.xml"/><Relationship Id="rId3" Type="http://schemas.openxmlformats.org/officeDocument/2006/relationships/hyperlink" Target="https://www.mapeditor.org/" TargetMode="Externa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8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9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GAR</a:t>
            </a:r>
            <a:endParaRPr/>
          </a:p>
        </p:txBody>
      </p:sp>
      <p:sp>
        <p:nvSpPr>
          <p:cNvPr id="40" name="Google Shape;40;p9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Session 03: Snake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1700" y="195615"/>
            <a:ext cx="8520600" cy="572700"/>
          </a:xfrm>
        </p:spPr>
        <p:txBody>
          <a:bodyPr/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Snake</a:t>
            </a:r>
            <a:endParaRPr/>
          </a:p>
        </p:txBody>
      </p:sp>
      <p:pic>
        <p:nvPicPr>
          <p:cNvPr id="3" name="Picture 2" descr="snake.gif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0" y="960120"/>
            <a:ext cx="3657600" cy="36576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4736592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9AA3AB"/>
                </a:solidFill>
              </a:rPr>
              <a:t>Snake goes back to Blockade (Gremlin, 1976). Image: Ustone07, CC BY-SA 3.0, via Wikimedia Commons.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0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Today’s Goal</a:t>
            </a:r>
            <a:endParaRPr/>
          </a:p>
        </p:txBody>
      </p:sp>
      <p:pic>
        <p:nvPicPr>
          <p:cNvPr id="46" name="Picture 46" descr="snake.gif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46087" y="1626274"/>
            <a:ext cx="5451824" cy="3066651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1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Today’s Topics</a:t>
            </a:r>
            <a:endParaRPr/>
          </a:p>
        </p:txBody>
      </p:sp>
      <p:sp>
        <p:nvSpPr>
          <p:cNvPr id="52" name="Google Shape;52;p11"/>
          <p:cNvSpPr txBox="1"/>
          <p:nvPr>
            <p:ph idx="1" type="body"/>
          </p:nvPr>
        </p:nvSpPr>
        <p:spPr>
          <a:xfrm>
            <a:off x="311700" y="885950"/>
            <a:ext cx="8520600" cy="244144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b="1"/>
              <a:t>Main topic: Assets as data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Assets as Data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Texture Atlases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Sprites &amp; Animation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Fixed-Tick Movement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Input as Actions &amp; Buffering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6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Google Shape;57;p12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Source Code</a:t>
            </a:r>
            <a:endParaRPr/>
          </a:p>
        </p:txBody>
      </p:sp>
      <p:sp>
        <p:nvSpPr>
          <p:cNvPr id="58" name="Google Shape;58;p12"/>
          <p:cNvSpPr txBox="1"/>
          <p:nvPr>
            <p:ph idx="1" type="body"/>
          </p:nvPr>
        </p:nvSpPr>
        <p:spPr>
          <a:xfrm>
            <a:off x="311700" y="885950"/>
            <a:ext cx="8520600" cy="1289304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github.com/Metamate/gar-games, folder 03-snake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Its README: the steps (Snake0 to Snake9), where things are in the code, how to run it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The course site: today’s concepts in full, the exercises, and questions to check yourself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6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Google Shape;57;p12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The Content Builder</a:t>
            </a:r>
            <a:endParaRPr/>
          </a:p>
        </p:txBody>
      </p:sp>
      <p:sp>
        <p:nvSpPr>
          <p:cNvPr id="58" name="Google Shape;58;p12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One Content project, shared by every step. Builder.cs decides what happens to each file.</a:t>
            </a:r>
            <a:endParaRPr/>
          </a:p>
        </p:txBody>
      </p:sp>
      <p:sp>
        <p:nvSpPr>
          <p:cNvPr id="59" name="Rounded Rectangle 58"/>
          <p:cNvSpPr/>
          <p:nvPr/>
        </p:nvSpPr>
        <p:spPr>
          <a:xfrm>
            <a:off x="411480" y="1600200"/>
            <a:ext cx="1874519" cy="86868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1">
                <a:solidFill>
                  <a:srgbClr val="DEE2E6"/>
                </a:solidFill>
              </a:rPr>
              <a:t>Content/Assets</a:t>
            </a:r>
          </a:p>
          <a:p>
            <a:pPr algn="ctr"/>
            <a:r>
              <a:rPr sz="1200" b="0">
                <a:solidFill>
                  <a:srgbClr val="9AA3AB"/>
                </a:solidFill>
              </a:rPr>
              <a:t>images, XML</a:t>
            </a:r>
          </a:p>
        </p:txBody>
      </p:sp>
      <p:cxnSp>
        <p:nvCxnSpPr>
          <p:cNvPr id="60" name="Connector 59"/>
          <p:cNvCxnSpPr/>
          <p:nvPr/>
        </p:nvCxnSpPr>
        <p:spPr>
          <a:xfrm>
            <a:off x="2304288" y="2034540"/>
            <a:ext cx="237744" cy="0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" name="Rounded Rectangle 60"/>
          <p:cNvSpPr/>
          <p:nvPr/>
        </p:nvSpPr>
        <p:spPr>
          <a:xfrm>
            <a:off x="2560320" y="1600200"/>
            <a:ext cx="1874519" cy="86868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 w="25400">
            <a:solidFill>
              <a:srgbClr val="D45D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1">
                <a:solidFill>
                  <a:srgbClr val="DEE2E6"/>
                </a:solidFill>
              </a:rPr>
              <a:t>Builder.cs</a:t>
            </a:r>
          </a:p>
          <a:p>
            <a:pPr algn="ctr"/>
            <a:r>
              <a:rPr sz="1200" b="0">
                <a:solidFill>
                  <a:srgbClr val="9AA3AB"/>
                </a:solidFill>
              </a:rPr>
              <a:t>rules, in C#</a:t>
            </a:r>
          </a:p>
        </p:txBody>
      </p:sp>
      <p:cxnSp>
        <p:nvCxnSpPr>
          <p:cNvPr id="62" name="Connector 61"/>
          <p:cNvCxnSpPr/>
          <p:nvPr/>
        </p:nvCxnSpPr>
        <p:spPr>
          <a:xfrm>
            <a:off x="4453127" y="2034540"/>
            <a:ext cx="237745" cy="0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3" name="Rounded Rectangle 62"/>
          <p:cNvSpPr/>
          <p:nvPr/>
        </p:nvSpPr>
        <p:spPr>
          <a:xfrm>
            <a:off x="4709159" y="1600200"/>
            <a:ext cx="1874519" cy="86868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1">
                <a:solidFill>
                  <a:srgbClr val="DEE2E6"/>
                </a:solidFill>
              </a:rPr>
              <a:t>The content builder</a:t>
            </a:r>
          </a:p>
          <a:p>
            <a:pPr algn="ctr"/>
            <a:r>
              <a:rPr sz="1200" b="0">
                <a:solidFill>
                  <a:srgbClr val="9AA3AB"/>
                </a:solidFill>
              </a:rPr>
              <a:t>runs on build</a:t>
            </a:r>
          </a:p>
        </p:txBody>
      </p:sp>
      <p:cxnSp>
        <p:nvCxnSpPr>
          <p:cNvPr id="64" name="Connector 63"/>
          <p:cNvCxnSpPr/>
          <p:nvPr/>
        </p:nvCxnSpPr>
        <p:spPr>
          <a:xfrm>
            <a:off x="6601967" y="2034540"/>
            <a:ext cx="237745" cy="0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5" name="Rounded Rectangle 64"/>
          <p:cNvSpPr/>
          <p:nvPr/>
        </p:nvSpPr>
        <p:spPr>
          <a:xfrm>
            <a:off x="6857999" y="1600200"/>
            <a:ext cx="1874519" cy="86868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1">
                <a:solidFill>
                  <a:srgbClr val="DEE2E6"/>
                </a:solidFill>
              </a:rPr>
              <a:t>bin/.../Content</a:t>
            </a:r>
          </a:p>
          <a:p>
            <a:pPr algn="ctr"/>
            <a:r>
              <a:rPr sz="1200" b="0">
                <a:solidFill>
                  <a:srgbClr val="9AA3AB"/>
                </a:solidFill>
              </a:rPr>
              <a:t>.xnb files, XML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11480" y="2697480"/>
            <a:ext cx="83210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9AA3AB"/>
                </a:solidFill>
              </a:rPr>
              <a:t>PNG images become textures (magenta is see-through). XML definitions are copied as they are.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93" name="Google Shape;293;p4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Assets as Data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94" name="Google Shape;294;p45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The XML describes the assets; the code only reads it.</a:t>
            </a:r>
            <a:endParaRPr/>
          </a:p>
        </p:txBody>
      </p:sp>
      <p:sp>
        <p:nvSpPr>
          <p:cNvPr id="295" name="Rectangle 294"/>
          <p:cNvSpPr/>
          <p:nvPr/>
        </p:nvSpPr>
        <p:spPr>
          <a:xfrm>
            <a:off x="411480" y="1371600"/>
            <a:ext cx="4937760" cy="2377440"/>
          </a:xfrm>
          <a:prstGeom prst="rect">
            <a:avLst/>
          </a:prstGeom>
          <a:solidFill>
            <a:srgbClr val="1719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73152"/>
          <a:lstStyle/>
          <a:p>
            <a:pPr algn="l"/>
            <a:r>
              <a:rPr sz="1300" b="0">
                <a:solidFill>
                  <a:srgbClr val="DEE2E6"/>
                </a:solidFill>
              </a:rPr>
              <a:t/>
            </a:r>
            <a:r>
              <a:rPr sz="1000">
                <a:solidFill>
                  <a:srgbClr val="DEE2E6"/>
                </a:solidFill>
                <a:latin typeface="Consolas"/>
              </a:rPr>
              <a:t>&lt;Region name="mouse-1" x="20" y="0" width="20" height="20" /&gt;</a:t>
            </a:r>
          </a:p>
          <a:p>
            <a:pPr algn="l"/>
            <a:r>
              <a:rPr sz="1000">
                <a:solidFill>
                  <a:srgbClr val="DEE2E6"/>
                </a:solidFill>
                <a:latin typeface="Consolas"/>
              </a:rPr>
              <a:t>&lt;Region name="mouse-2" x="20" y="20" width="20" height="20" /&gt;</a:t>
            </a:r>
          </a:p>
          <a:p>
            <a:pPr algn="l"/>
            <a:r>
              <a:rPr sz="1000">
                <a:solidFill>
                  <a:srgbClr val="DEE2E6"/>
                </a:solidFill>
                <a:latin typeface="Consolas"/>
              </a:rPr>
              <a:t>&lt;Region name="mouse-3" x="40" y="0" width="20" height="20" /&gt;</a:t>
            </a:r>
          </a:p>
          <a:p>
            <a:pPr algn="l"/>
            <a:r>
              <a:rPr sz="1000">
                <a:solidFill>
                  <a:srgbClr val="DEE2E6"/>
                </a:solidFill>
                <a:latin typeface="Consolas"/>
              </a:rPr>
              <a:t> </a:t>
            </a:r>
          </a:p>
          <a:p>
            <a:pPr algn="l"/>
            <a:r>
              <a:rPr sz="1000">
                <a:solidFill>
                  <a:srgbClr val="DEE2E6"/>
                </a:solidFill>
                <a:latin typeface="Consolas"/>
              </a:rPr>
              <a:t>&lt;Animation name="mouse-animation" delay="200"&gt;</a:t>
            </a:r>
          </a:p>
          <a:p>
            <a:pPr algn="l"/>
            <a:r>
              <a:rPr sz="1000">
                <a:solidFill>
                  <a:srgbClr val="DEE2E6"/>
                </a:solidFill>
                <a:latin typeface="Consolas"/>
              </a:rPr>
              <a:t>    &lt;Frame region="mouse-1" /&gt;</a:t>
            </a:r>
          </a:p>
          <a:p>
            <a:pPr algn="l"/>
            <a:r>
              <a:rPr sz="1000">
                <a:solidFill>
                  <a:srgbClr val="DEE2E6"/>
                </a:solidFill>
                <a:latin typeface="Consolas"/>
              </a:rPr>
              <a:t>    &lt;Frame region="mouse-2" /&gt;</a:t>
            </a:r>
          </a:p>
          <a:p>
            <a:pPr algn="l"/>
            <a:r>
              <a:rPr sz="1000">
                <a:solidFill>
                  <a:srgbClr val="DEE2E6"/>
                </a:solidFill>
                <a:latin typeface="Consolas"/>
              </a:rPr>
              <a:t>    &lt;Frame region="mouse-1" /&gt;</a:t>
            </a:r>
          </a:p>
          <a:p>
            <a:pPr algn="l"/>
            <a:r>
              <a:rPr sz="1000">
                <a:solidFill>
                  <a:srgbClr val="DEE2E6"/>
                </a:solidFill>
                <a:latin typeface="Consolas"/>
              </a:rPr>
              <a:t>    &lt;Frame region="mouse-3" /&gt;</a:t>
            </a:r>
          </a:p>
          <a:p>
            <a:pPr algn="l"/>
            <a:r>
              <a:rPr sz="1000">
                <a:solidFill>
                  <a:srgbClr val="DEE2E6"/>
                </a:solidFill>
                <a:latin typeface="Consolas"/>
              </a:rPr>
              <a:t>&lt;/Animation&gt;</a:t>
            </a:r>
          </a:p>
        </p:txBody>
      </p:sp>
      <p:sp>
        <p:nvSpPr>
          <p:cNvPr id="296" name="TextBox 295"/>
          <p:cNvSpPr txBox="1"/>
          <p:nvPr/>
        </p:nvSpPr>
        <p:spPr>
          <a:xfrm>
            <a:off x="5577840" y="1463040"/>
            <a:ext cx="320040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DEE2E6"/>
                </a:solidFill>
              </a:rPr>
              <a:t>A faster mouse?</a:t>
            </a:r>
          </a:p>
          <a:p>
            <a:pPr algn="l"/>
            <a:r>
              <a:rPr sz="1700" b="1" i="0">
                <a:solidFill>
                  <a:srgbClr val="DEE2E6"/>
                </a:solidFill>
              </a:rPr>
              <a:t/>
            </a:r>
          </a:p>
          <a:p>
            <a:pPr algn="l"/>
            <a:r>
              <a:rPr sz="1700" b="1" i="0">
                <a:solidFill>
                  <a:srgbClr val="DEE2E6"/>
                </a:solidFill>
              </a:rPr>
              <a:t>An extra frame?</a:t>
            </a:r>
          </a:p>
          <a:p>
            <a:pPr algn="l"/>
            <a:r>
              <a:rPr sz="1700" b="1" i="0">
                <a:solidFill>
                  <a:srgbClr val="DEE2E6"/>
                </a:solidFill>
              </a:rPr>
              <a:t/>
            </a:r>
          </a:p>
          <a:p>
            <a:pPr algn="l"/>
            <a:r>
              <a:rPr sz="1700" b="1" i="0">
                <a:solidFill>
                  <a:srgbClr val="DEE2E6"/>
                </a:solidFill>
              </a:rPr>
              <a:t>A new room?</a:t>
            </a:r>
          </a:p>
          <a:p>
            <a:pPr algn="l"/>
            <a:r>
              <a:rPr sz="1700" b="1" i="0">
                <a:solidFill>
                  <a:srgbClr val="DEE2E6"/>
                </a:solidFill>
              </a:rPr>
              <a:t/>
            </a:r>
          </a:p>
          <a:p>
            <a:pPr algn="l"/>
            <a:r>
              <a:rPr sz="1700" b="1" i="0">
                <a:solidFill>
                  <a:srgbClr val="DEE2E6"/>
                </a:solidFill>
              </a:rPr>
              <a:t>Which of these need a C# change?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13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Optimizing Texture Rendering</a:t>
            </a:r>
            <a:endParaRPr/>
          </a:p>
        </p:txBody>
      </p:sp>
      <p:pic>
        <p:nvPicPr>
          <p:cNvPr id="64" name="Picture 73" descr="mouse1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902325" y="1969050"/>
            <a:ext cx="450000" cy="450000"/>
          </a:xfrm>
          <a:prstGeom prst="rect">
            <a:avLst/>
          </a:prstGeom>
        </p:spPr>
      </p:pic>
      <p:pic>
        <p:nvPicPr>
          <p:cNvPr id="65" name="Picture 73" descr="snake1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71125" y="1969050"/>
            <a:ext cx="450000" cy="450000"/>
          </a:xfrm>
          <a:prstGeom prst="rect">
            <a:avLst/>
          </a:prstGeom>
        </p:spPr>
      </p:pic>
      <p:pic>
        <p:nvPicPr>
          <p:cNvPr id="66" name="Picture 73" descr="snake2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186726" y="1969050"/>
            <a:ext cx="450000" cy="450000"/>
          </a:xfrm>
          <a:prstGeom prst="rect">
            <a:avLst/>
          </a:prstGeom>
        </p:spPr>
      </p:pic>
      <p:pic>
        <p:nvPicPr>
          <p:cNvPr id="67" name="Picture 73" descr="atlas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5364642" y="1560179"/>
            <a:ext cx="1348766" cy="2023149"/>
          </a:xfrm>
          <a:prstGeom prst="rect">
            <a:avLst/>
          </a:prstGeom>
        </p:spPr>
      </p:pic>
      <p:pic>
        <p:nvPicPr>
          <p:cNvPr id="68" name="Picture 73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684887" y="1969050"/>
            <a:ext cx="450000" cy="450000"/>
          </a:xfrm>
          <a:prstGeom prst="rect">
            <a:avLst/>
          </a:prstGeom>
        </p:spPr>
      </p:pic>
      <p:sp>
        <p:nvSpPr>
          <p:cNvPr id="69" name="Google Shape;69;p13"/>
          <p:cNvSpPr txBox="1"/>
          <p:nvPr/>
        </p:nvSpPr>
        <p:spPr>
          <a:xfrm>
            <a:off x="360725" y="2439050"/>
            <a:ext cx="670800" cy="323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>
                <a:solidFill>
                  <a:schemeClr val="dk1"/>
                </a:solidFill>
                <a:latin typeface="VT323"/>
                <a:ea typeface="VT323"/>
                <a:cs typeface="VT323"/>
                <a:sym typeface="VT323"/>
              </a:rPr>
              <a:t>snake1.png</a:t>
            </a:r>
            <a:endParaRPr sz="900">
              <a:solidFill>
                <a:schemeClr val="dk1"/>
              </a:solidFill>
              <a:latin typeface="VT323"/>
              <a:ea typeface="VT323"/>
              <a:cs typeface="VT323"/>
              <a:sym typeface="VT323"/>
            </a:endParaRPr>
          </a:p>
        </p:txBody>
      </p:sp>
      <p:sp>
        <p:nvSpPr>
          <p:cNvPr id="70" name="Google Shape;70;p13"/>
          <p:cNvSpPr txBox="1"/>
          <p:nvPr/>
        </p:nvSpPr>
        <p:spPr>
          <a:xfrm>
            <a:off x="1076325" y="2439050"/>
            <a:ext cx="670800" cy="323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>
                <a:solidFill>
                  <a:schemeClr val="dk1"/>
                </a:solidFill>
                <a:latin typeface="VT323"/>
                <a:ea typeface="VT323"/>
                <a:cs typeface="VT323"/>
                <a:sym typeface="VT323"/>
              </a:rPr>
              <a:t>snake2.png</a:t>
            </a:r>
            <a:endParaRPr sz="900">
              <a:solidFill>
                <a:schemeClr val="dk1"/>
              </a:solidFill>
              <a:latin typeface="VT323"/>
              <a:ea typeface="VT323"/>
              <a:cs typeface="VT323"/>
              <a:sym typeface="VT323"/>
            </a:endParaRPr>
          </a:p>
        </p:txBody>
      </p:sp>
      <p:sp>
        <p:nvSpPr>
          <p:cNvPr id="71" name="Google Shape;71;p13"/>
          <p:cNvSpPr txBox="1"/>
          <p:nvPr/>
        </p:nvSpPr>
        <p:spPr>
          <a:xfrm>
            <a:off x="1791925" y="2439050"/>
            <a:ext cx="670800" cy="323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>
                <a:solidFill>
                  <a:schemeClr val="dk1"/>
                </a:solidFill>
                <a:latin typeface="VT323"/>
                <a:ea typeface="VT323"/>
                <a:cs typeface="VT323"/>
                <a:sym typeface="VT323"/>
              </a:rPr>
              <a:t>mouse1.png</a:t>
            </a:r>
            <a:endParaRPr sz="900">
              <a:solidFill>
                <a:schemeClr val="dk1"/>
              </a:solidFill>
              <a:latin typeface="VT323"/>
              <a:ea typeface="VT323"/>
              <a:cs typeface="VT323"/>
              <a:sym typeface="VT323"/>
            </a:endParaRPr>
          </a:p>
        </p:txBody>
      </p:sp>
      <p:sp>
        <p:nvSpPr>
          <p:cNvPr id="72" name="Google Shape;72;p13"/>
          <p:cNvSpPr txBox="1"/>
          <p:nvPr/>
        </p:nvSpPr>
        <p:spPr>
          <a:xfrm>
            <a:off x="2574501" y="2439050"/>
            <a:ext cx="691200" cy="323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>
                <a:solidFill>
                  <a:schemeClr val="dk1"/>
                </a:solidFill>
                <a:latin typeface="VT323"/>
                <a:ea typeface="VT323"/>
                <a:cs typeface="VT323"/>
                <a:sym typeface="VT323"/>
              </a:rPr>
              <a:t>grass.png</a:t>
            </a:r>
            <a:endParaRPr sz="900">
              <a:solidFill>
                <a:schemeClr val="dk1"/>
              </a:solidFill>
              <a:latin typeface="VT323"/>
              <a:ea typeface="VT323"/>
              <a:cs typeface="VT323"/>
              <a:sym typeface="VT323"/>
            </a:endParaRPr>
          </a:p>
        </p:txBody>
      </p:sp>
      <p:sp>
        <p:nvSpPr>
          <p:cNvPr id="73" name="Google Shape;73;p13"/>
          <p:cNvSpPr txBox="1"/>
          <p:nvPr/>
        </p:nvSpPr>
        <p:spPr>
          <a:xfrm>
            <a:off x="5703625" y="3645825"/>
            <a:ext cx="670800" cy="323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>
                <a:solidFill>
                  <a:schemeClr val="dk1"/>
                </a:solidFill>
                <a:latin typeface="VT323"/>
                <a:ea typeface="VT323"/>
                <a:cs typeface="VT323"/>
                <a:sym typeface="VT323"/>
              </a:rPr>
              <a:t>atlas</a:t>
            </a:r>
            <a:r>
              <a:rPr lang="en" sz="900">
                <a:solidFill>
                  <a:schemeClr val="dk1"/>
                </a:solidFill>
                <a:latin typeface="VT323"/>
                <a:ea typeface="VT323"/>
                <a:cs typeface="VT323"/>
                <a:sym typeface="VT323"/>
              </a:rPr>
              <a:t>.png</a:t>
            </a:r>
            <a:endParaRPr sz="900">
              <a:solidFill>
                <a:schemeClr val="dk1"/>
              </a:solidFill>
              <a:latin typeface="VT323"/>
              <a:ea typeface="VT323"/>
              <a:cs typeface="VT323"/>
              <a:sym typeface="VT323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4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Texture Atlas</a:t>
            </a:r>
            <a:endParaRPr/>
          </a:p>
        </p:txBody>
      </p:sp>
      <p:pic>
        <p:nvPicPr>
          <p:cNvPr id="79" name="Picture 79" descr="atla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97617" y="1560179"/>
            <a:ext cx="1348766" cy="2023149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Texture Region</a:t>
            </a:r>
            <a:endParaRPr/>
          </a:p>
        </p:txBody>
      </p:sp>
      <p:pic>
        <p:nvPicPr>
          <p:cNvPr id="85" name="Picture 87" descr="atlas_regio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97617" y="1560179"/>
            <a:ext cx="1348766" cy="2023149"/>
          </a:xfrm>
          <a:prstGeom prst="rect">
            <a:avLst/>
          </a:prstGeom>
        </p:spPr>
      </p:pic>
      <p:sp>
        <p:nvSpPr>
          <p:cNvPr id="86" name="Google Shape;86;p15"/>
          <p:cNvSpPr/>
          <p:nvPr/>
        </p:nvSpPr>
        <p:spPr>
          <a:xfrm>
            <a:off x="3872328" y="1534890"/>
            <a:ext cx="387769" cy="387769"/>
          </a:xfrm>
          <a:prstGeom prst="rect">
            <a:avLst/>
          </a:prstGeom>
          <a:noFill/>
          <a:ln cap="flat" cmpd="sng" w="19050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>
              <a:latin typeface="Roboto Light"/>
              <a:ea typeface="Roboto Light"/>
              <a:cs typeface="Roboto Light"/>
              <a:sym typeface="Roboto Light"/>
            </a:endParaRPr>
          </a:p>
        </p:txBody>
      </p:sp>
      <p:cxnSp>
        <p:nvCxnSpPr>
          <p:cNvPr id="87" name="Google Shape;87;p15"/>
          <p:cNvCxnSpPr>
            <a:endCxn id="86" idx="0"/>
          </p:cNvCxnSpPr>
          <p:nvPr/>
        </p:nvCxnSpPr>
        <p:spPr>
          <a:xfrm>
            <a:off x="3571128" y="1084290"/>
            <a:ext cx="435300" cy="450600"/>
          </a:xfrm>
          <a:prstGeom prst="straightConnector1">
            <a:avLst/>
          </a:prstGeom>
          <a:noFill/>
          <a:ln cap="flat" cmpd="sng" w="9525">
            <a:solidFill>
              <a:schemeClr val="accent6"/>
            </a:solidFill>
            <a:prstDash val="solid"/>
            <a:round/>
            <a:headEnd len="med" w="med" type="none"/>
            <a:tailEnd len="med" w="med" type="triangle"/>
          </a:ln>
        </p:spPr>
      </p:cxn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6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Texture Atlas Implementation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93" name="Google Shape;93;p16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1200"/>
              </a:spcAft>
              <a:buNone/>
            </a:pPr>
            <a:r>
              <a:rPr lang="en" sz="2900">
                <a:latin typeface="VT323"/>
                <a:ea typeface="VT323"/>
                <a:cs typeface="VT323"/>
                <a:sym typeface="VT323"/>
              </a:rPr>
              <a:t>DEMO!</a:t>
            </a:r>
            <a:endParaRPr sz="2900">
              <a:latin typeface="VT323"/>
              <a:ea typeface="VT323"/>
              <a:cs typeface="VT323"/>
              <a:sym typeface="VT323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/>
              <a:t>Snake0 → Snake1: from hardcoded rectangles to a texture atlas</a:t>
            </a:r>
            <a:endParaRPr sz="18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Try It: Regions by Name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11700" y="885950"/>
            <a:ext cx="8520600" cy="1289304"/>
          </a:xfrm>
        </p:spPr>
        <p:txBody>
          <a:bodyPr/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In Snake1, only atlas-definition.xml changes: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Draw the mouse with its second frame (x 20, y 20)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Then misspell mouse-1 in the XML. What happens, and when?</a:t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17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Sprites</a:t>
            </a:r>
            <a:endParaRPr/>
          </a:p>
        </p:txBody>
      </p:sp>
      <p:sp>
        <p:nvSpPr>
          <p:cNvPr id="99" name="Google Shape;99;p17"/>
          <p:cNvSpPr txBox="1"/>
          <p:nvPr>
            <p:ph idx="1" type="body"/>
          </p:nvPr>
        </p:nvSpPr>
        <p:spPr>
          <a:xfrm>
            <a:off x="311700" y="885950"/>
            <a:ext cx="2205000" cy="3024900"/>
          </a:xfrm>
          <a:prstGeom prst="rect">
            <a:avLst/>
          </a:prstGeom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Texture (region)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Rotation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Scale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Color mask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Origin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Sprite effects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Layer depth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Width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Height</a:t>
            </a:r>
            <a:endParaRPr/>
          </a:p>
        </p:txBody>
      </p:sp>
      <p:pic>
        <p:nvPicPr>
          <p:cNvPr id="100" name="Picture 105" descr="spri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478224" y="1282475"/>
            <a:ext cx="2187550" cy="2187550"/>
          </a:xfrm>
          <a:prstGeom prst="rect">
            <a:avLst/>
          </a:prstGeom>
        </p:spPr>
      </p:pic>
      <p:sp>
        <p:nvSpPr>
          <p:cNvPr id="101" name="Google Shape;101;p17"/>
          <p:cNvSpPr txBox="1"/>
          <p:nvPr/>
        </p:nvSpPr>
        <p:spPr>
          <a:xfrm>
            <a:off x="6336200" y="975875"/>
            <a:ext cx="1431300" cy="42030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>
                <a:solidFill>
                  <a:schemeClr val="dk1"/>
                </a:solidFill>
                <a:latin typeface="Roboto Light"/>
                <a:ea typeface="Roboto Light"/>
                <a:cs typeface="Roboto Light"/>
                <a:sym typeface="Roboto Light"/>
              </a:rPr>
              <a:t>CenterOrigin()</a:t>
            </a:r>
            <a:endParaRPr sz="1600">
              <a:solidFill>
                <a:schemeClr val="dk1"/>
              </a:solidFill>
              <a:latin typeface="Roboto Light"/>
              <a:ea typeface="Roboto Light"/>
              <a:cs typeface="Roboto Light"/>
              <a:sym typeface="Roboto Light"/>
            </a:endParaRPr>
          </a:p>
        </p:txBody>
      </p:sp>
      <p:sp>
        <p:nvSpPr>
          <p:cNvPr id="102" name="Google Shape;102;p17"/>
          <p:cNvSpPr txBox="1"/>
          <p:nvPr/>
        </p:nvSpPr>
        <p:spPr>
          <a:xfrm>
            <a:off x="6076775" y="3378325"/>
            <a:ext cx="2621100" cy="42030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>
                <a:solidFill>
                  <a:schemeClr val="dk1"/>
                </a:solidFill>
                <a:latin typeface="Roboto Light"/>
                <a:ea typeface="Roboto Light"/>
                <a:cs typeface="Roboto Light"/>
                <a:sym typeface="Roboto Light"/>
              </a:rPr>
              <a:t>Draw(Spritebatch, Vector2)</a:t>
            </a:r>
            <a:endParaRPr sz="1600">
              <a:solidFill>
                <a:schemeClr val="dk1"/>
              </a:solidFill>
              <a:latin typeface="Roboto Light"/>
              <a:ea typeface="Roboto Light"/>
              <a:cs typeface="Roboto Light"/>
              <a:sym typeface="Roboto Light"/>
            </a:endParaRPr>
          </a:p>
        </p:txBody>
      </p:sp>
      <p:cxnSp>
        <p:nvCxnSpPr>
          <p:cNvPr id="103" name="Google Shape;103;p17"/>
          <p:cNvCxnSpPr>
            <a:stCxn id="100" idx="1"/>
            <a:endCxn id="99" idx="3"/>
          </p:cNvCxnSpPr>
          <p:nvPr/>
        </p:nvCxnSpPr>
        <p:spPr>
          <a:xfrm rot="10800000">
            <a:off x="2516713" y="2398435"/>
            <a:ext cx="1026600" cy="34950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104" name="Google Shape;104;p17"/>
          <p:cNvCxnSpPr>
            <a:stCxn id="100" idx="3"/>
            <a:endCxn id="101" idx="1"/>
          </p:cNvCxnSpPr>
          <p:nvPr/>
        </p:nvCxnSpPr>
        <p:spPr>
          <a:xfrm flipH="1" rot="10800000">
            <a:off x="5600684" y="1186164"/>
            <a:ext cx="735600" cy="81840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105" name="Google Shape;105;p17"/>
          <p:cNvCxnSpPr>
            <a:stCxn id="100" idx="2"/>
            <a:endCxn id="102" idx="1"/>
          </p:cNvCxnSpPr>
          <p:nvPr/>
        </p:nvCxnSpPr>
        <p:spPr>
          <a:xfrm>
            <a:off x="4943684" y="3404935"/>
            <a:ext cx="1133100" cy="18360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8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Sprite Implementation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111" name="Google Shape;111;p18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1200"/>
              </a:spcAft>
              <a:buNone/>
            </a:pPr>
            <a:r>
              <a:rPr lang="en" sz="2900">
                <a:latin typeface="VT323"/>
                <a:ea typeface="VT323"/>
                <a:cs typeface="VT323"/>
                <a:sym typeface="VT323"/>
              </a:rPr>
              <a:t>DEMO!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/>
              <a:t>Snake2: sprites</a:t>
            </a:r>
            <a:endParaRPr sz="18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Try It: A Sprite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11700" y="885950"/>
            <a:ext cx="8520600" cy="1289304"/>
          </a:xfrm>
        </p:spPr>
        <p:txBody>
          <a:bodyPr/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In Snake2: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Make the mouse bigger, and spin it the other way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Then remove CenterOrigin(). What changes, and why?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19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Sprite Art</a:t>
            </a:r>
            <a:endParaRPr/>
          </a:p>
        </p:txBody>
      </p:sp>
      <p:pic>
        <p:nvPicPr>
          <p:cNvPr id="117" name="Google Shape;117;p19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638300" y="1156538"/>
            <a:ext cx="5867400" cy="33623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1" name="Shape 1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" name="Google Shape;122;p20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Animation</a:t>
            </a:r>
            <a:endParaRPr/>
          </a:p>
        </p:txBody>
      </p:sp>
      <p:pic>
        <p:nvPicPr>
          <p:cNvPr id="123" name="Picture 123" descr="animation.gif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857500" y="857240"/>
            <a:ext cx="3429000" cy="342900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21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Animation Implementation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129" name="Google Shape;129;p21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1200"/>
              </a:spcAft>
              <a:buNone/>
            </a:pPr>
            <a:r>
              <a:rPr lang="en" sz="2900">
                <a:latin typeface="VT323"/>
                <a:ea typeface="VT323"/>
                <a:cs typeface="VT323"/>
                <a:sym typeface="VT323"/>
              </a:rPr>
              <a:t>DEMO!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/>
              <a:t>Snake3: animated sprites</a:t>
            </a:r>
            <a:endParaRPr sz="180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Try It: Animation Speed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11700" y="885950"/>
            <a:ext cx="8520600" cy="1289304"/>
          </a:xfrm>
        </p:spPr>
        <p:txBody>
          <a:bodyPr/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In the XML only: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Make the mouse’s tail wiggle twice as fast, and the snake breathe slower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Give the mouse’s animation one more frame</a:t>
            </a:r>
            <a:endParaRPr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64" name="Shape 2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5" name="Google Shape;265;p41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Tileset</a:t>
            </a:r>
            <a:endParaRPr/>
          </a:p>
        </p:txBody>
      </p:sp>
      <p:pic>
        <p:nvPicPr>
          <p:cNvPr id="266" name="Picture 267" descr="tilese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40287" y="1247650"/>
            <a:ext cx="3048000" cy="3048000"/>
          </a:xfrm>
          <a:prstGeom prst="rect">
            <a:avLst/>
          </a:prstGeom>
        </p:spPr>
      </p:pic>
      <p:pic>
        <p:nvPicPr>
          <p:cNvPr id="267" name="Picture 267" descr="tileset_numbers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042312" y="1247650"/>
            <a:ext cx="3048000" cy="304800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1" name="Shape 2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2" name="Google Shape;272;p42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The Room: A Tilemap</a:t>
            </a:r>
            <a:endParaRPr/>
          </a:p>
        </p:txBody>
      </p:sp>
      <p:pic>
        <p:nvPicPr>
          <p:cNvPr id="273" name="Picture 275" descr="tileset_number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3950" y="1528500"/>
            <a:ext cx="2725150" cy="2725150"/>
          </a:xfrm>
          <a:prstGeom prst="rect">
            <a:avLst/>
          </a:prstGeom>
        </p:spPr>
      </p:pic>
      <p:sp>
        <p:nvSpPr>
          <p:cNvPr id="274" name="Google Shape;274;p42"/>
          <p:cNvSpPr txBox="1"/>
          <p:nvPr>
            <p:ph idx="4294967295" type="body"/>
          </p:nvPr>
        </p:nvSpPr>
        <p:spPr>
          <a:xfrm>
            <a:off x="3749613" y="2239625"/>
            <a:ext cx="1183800" cy="1302900"/>
          </a:xfrm>
          <a:prstGeom prst="rect">
            <a:avLst/>
          </a:prstGeom>
          <a:solidFill>
            <a:schemeClr val="dk2"/>
          </a:solidFill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00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01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02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01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03</a:t>
            </a:r>
            <a:endParaRPr sz="1000">
              <a:solidFill>
                <a:srgbClr val="B5CEA8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04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05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06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05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07</a:t>
            </a:r>
            <a:endParaRPr sz="1000">
              <a:solidFill>
                <a:srgbClr val="B5CEA8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08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09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10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09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11</a:t>
            </a:r>
            <a:endParaRPr sz="1000">
              <a:solidFill>
                <a:srgbClr val="B5CEA8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04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09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09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09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07</a:t>
            </a:r>
            <a:endParaRPr sz="1000">
              <a:solidFill>
                <a:srgbClr val="B5CEA8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12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13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14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13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15</a:t>
            </a:r>
            <a:endParaRPr/>
          </a:p>
        </p:txBody>
      </p:sp>
      <p:pic>
        <p:nvPicPr>
          <p:cNvPr id="275" name="Picture 275" descr="room_tiles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323925" y="1114550"/>
            <a:ext cx="3397050" cy="339705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9" name="Shape 2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0" name="Google Shape;280;p43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Tilemap Implementation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81" name="Google Shape;281;p43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1200"/>
              </a:spcAft>
              <a:buNone/>
            </a:pPr>
            <a:r>
              <a:rPr lang="en" sz="2900">
                <a:latin typeface="VT323"/>
                <a:ea typeface="VT323"/>
                <a:cs typeface="VT323"/>
                <a:sym typeface="VT323"/>
              </a:rPr>
              <a:t>DEMO!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/>
              <a:t>Snake4: the room, drawn from tilemap-definition.xml</a:t>
            </a:r>
            <a:endParaRPr sz="180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Try It: A New Room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11700" y="885950"/>
            <a:ext cx="8520600" cy="1289304"/>
          </a:xfrm>
        </p:spPr>
        <p:txBody>
          <a:bodyPr/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In tilemap-definition.xml: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Rearrange the room: move the torches, add cracks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Then put a 20 in it. What happens, and when?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40" name="Google Shape;140;p23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Fixed-Tick Movement</a:t>
            </a:r>
            <a:endParaRPr/>
          </a:p>
        </p:txBody>
      </p:sp>
      <p:sp>
        <p:nvSpPr>
          <p:cNvPr id="293" name="Google Shape;293;p45"/>
          <p:cNvSpPr txBox="1"/>
          <p:nvPr>
            <p:ph type="title"/>
          </p:nvPr>
        </p:nvSpPr>
        <p:spPr>
          <a:xfrm>
            <a:off x="311700" y="1152475"/>
            <a:ext cx="3700000" cy="350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A snake jumps one cell at a time, however fast the game runs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An accumulator collects real time</a:t>
            </a:r>
            <a:endParaRPr/>
          </a:p>
          <a:p>
            <a:pPr indent="-317500" lvl="1" marL="914400" rtl="0" algn="l">
              <a:buClr>
                <a:srgbClr val="6C757D"/>
              </a:buClr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>
                <a:solidFill>
                  <a:srgbClr val="6C757D"/>
                </a:solidFill>
              </a:rPr>
              <a:t>Move once for every full tick</a:t>
            </a:r>
            <a:endParaRPr/>
          </a:p>
          <a:p>
            <a:pPr indent="-317500" lvl="1" marL="914400" rtl="0" algn="l">
              <a:buClr>
                <a:srgbClr val="6C757D"/>
              </a:buClr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>
                <a:solidFill>
                  <a:srgbClr val="6C757D"/>
                </a:solidFill>
              </a:rPr>
              <a:t>Subtract, don’t reset: leftover time carries over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Pong’s fixed timestep, in practice</a:t>
            </a:r>
            <a:endParaRPr/>
          </a:p>
        </p:txBody>
      </p:sp>
      <p:sp>
        <p:nvSpPr>
          <p:cNvPr id="141" name="Google Shape;141;p23"/>
          <p:cNvSpPr txBox="1"/>
          <p:nvPr>
            <p:ph idx="2" type="body"/>
          </p:nvPr>
        </p:nvSpPr>
        <p:spPr>
          <a:xfrm>
            <a:off x="4150000" y="1152475"/>
            <a:ext cx="4750000" cy="360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TimeSpan TickDuration =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TimeSpan.FromMilliseconds(200);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/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public void Update(GameTime gameTime)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{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_elapsed += gameTime.ElapsedGameTime;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while (_elapsed &gt;= TickDuration)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{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_elapsed -= TickDuration;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Move();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}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}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40" name="Google Shape;140;p23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Input as Actions</a:t>
            </a:r>
            <a:endParaRPr/>
          </a:p>
        </p:txBody>
      </p:sp>
      <p:sp>
        <p:nvSpPr>
          <p:cNvPr id="293" name="Google Shape;293;p45"/>
          <p:cNvSpPr txBox="1"/>
          <p:nvPr>
            <p:ph type="title"/>
          </p:nvPr>
        </p:nvSpPr>
        <p:spPr>
          <a:xfrm>
            <a:off x="311700" y="1152475"/>
            <a:ext cx="3700000" cy="350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Snake5 reads the keys directly</a:t>
            </a:r>
            <a:endParaRPr/>
          </a:p>
          <a:p>
            <a:pPr indent="-317500" lvl="1" marL="914400" rtl="0" algn="l">
              <a:buClr>
                <a:srgbClr val="6C757D"/>
              </a:buClr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>
                <a:solidFill>
                  <a:srgbClr val="6C757D"/>
                </a:solidFill>
              </a:rPr>
              <a:t>Keys are hardwired to what they do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A GameController maps keys to actions</a:t>
            </a:r>
            <a:endParaRPr/>
          </a:p>
          <a:p>
            <a:pPr indent="-317500" lvl="1" marL="914400" rtl="0" algn="l">
              <a:buClr>
                <a:srgbClr val="6C757D"/>
              </a:buClr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>
                <a:solidFill>
                  <a:srgbClr val="6C757D"/>
                </a:solidFill>
              </a:rPr>
              <a:t>The game asks for “up”, never for W</a:t>
            </a:r>
            <a:endParaRPr/>
          </a:p>
          <a:p>
            <a:pPr indent="-317500" lvl="1" marL="914400" rtl="0" algn="l">
              <a:buClr>
                <a:srgbClr val="6C757D"/>
              </a:buClr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>
                <a:solidFill>
                  <a:srgbClr val="6C757D"/>
                </a:solidFill>
              </a:rPr>
              <a:t>The controls live in one place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Sokoban goes one step further: actions become objects</a:t>
            </a:r>
            <a:endParaRPr/>
          </a:p>
        </p:txBody>
      </p:sp>
      <p:sp>
        <p:nvSpPr>
          <p:cNvPr id="141" name="Google Shape;141;p23"/>
          <p:cNvSpPr txBox="1"/>
          <p:nvPr>
            <p:ph idx="2" type="body"/>
          </p:nvPr>
        </p:nvSpPr>
        <p:spPr>
          <a:xfrm>
            <a:off x="4150000" y="1152475"/>
            <a:ext cx="4750000" cy="360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public static class GameController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{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public static bool Up =&gt;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WasPressed(Keys.W) ||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WasPressed(Keys.Up);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// Down, Left, Right...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}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/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// In the game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if (GameController.Up)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_snake.Turn(Direction.Up);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93" name="Google Shape;293;p4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Input Buffering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94" name="Google Shape;294;p45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The snake acts once per tick; the player can press twice between two ticks.</a:t>
            </a:r>
            <a:endParaRPr/>
          </a:p>
        </p:txBody>
      </p:sp>
      <p:cxnSp>
        <p:nvCxnSpPr>
          <p:cNvPr id="295" name="Connector 294"/>
          <p:cNvCxnSpPr/>
          <p:nvPr/>
        </p:nvCxnSpPr>
        <p:spPr>
          <a:xfrm>
            <a:off x="548640" y="2011680"/>
            <a:ext cx="7955280" cy="0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6" name="Rectangle 295"/>
          <p:cNvSpPr/>
          <p:nvPr/>
        </p:nvSpPr>
        <p:spPr>
          <a:xfrm>
            <a:off x="1051560" y="1783080"/>
            <a:ext cx="91440" cy="457200"/>
          </a:xfrm>
          <a:prstGeom prst="rect">
            <a:avLst/>
          </a:prstGeom>
          <a:solidFill>
            <a:srgbClr val="D45D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0">
                <a:solidFill>
                  <a:srgbClr val="DEE2E6"/>
                </a:solidFill>
              </a:rPr>
              <a:t/>
            </a:r>
          </a:p>
        </p:txBody>
      </p:sp>
      <p:sp>
        <p:nvSpPr>
          <p:cNvPr id="297" name="TextBox 296"/>
          <p:cNvSpPr txBox="1"/>
          <p:nvPr/>
        </p:nvSpPr>
        <p:spPr>
          <a:xfrm>
            <a:off x="640080" y="228600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9AA3AB"/>
                </a:solidFill>
              </a:rPr>
              <a:t>tick</a:t>
            </a:r>
          </a:p>
        </p:txBody>
      </p:sp>
      <p:sp>
        <p:nvSpPr>
          <p:cNvPr id="298" name="Rectangle 297"/>
          <p:cNvSpPr/>
          <p:nvPr/>
        </p:nvSpPr>
        <p:spPr>
          <a:xfrm>
            <a:off x="7452359" y="1783080"/>
            <a:ext cx="91440" cy="457200"/>
          </a:xfrm>
          <a:prstGeom prst="rect">
            <a:avLst/>
          </a:prstGeom>
          <a:solidFill>
            <a:srgbClr val="D45D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0">
                <a:solidFill>
                  <a:srgbClr val="DEE2E6"/>
                </a:solidFill>
              </a:rPr>
              <a:t/>
            </a:r>
          </a:p>
        </p:txBody>
      </p:sp>
      <p:sp>
        <p:nvSpPr>
          <p:cNvPr id="299" name="TextBox 298"/>
          <p:cNvSpPr txBox="1"/>
          <p:nvPr/>
        </p:nvSpPr>
        <p:spPr>
          <a:xfrm>
            <a:off x="7040879" y="228600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9AA3AB"/>
                </a:solidFill>
              </a:rPr>
              <a:t>tick</a:t>
            </a:r>
          </a:p>
        </p:txBody>
      </p:sp>
      <p:sp>
        <p:nvSpPr>
          <p:cNvPr id="300" name="Rounded Rectangle 299"/>
          <p:cNvSpPr/>
          <p:nvPr/>
        </p:nvSpPr>
        <p:spPr>
          <a:xfrm>
            <a:off x="2880360" y="1325880"/>
            <a:ext cx="822960" cy="41148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1">
                <a:solidFill>
                  <a:srgbClr val="DEE2E6"/>
                </a:solidFill>
              </a:rPr>
              <a:t>Up</a:t>
            </a:r>
          </a:p>
        </p:txBody>
      </p:sp>
      <p:cxnSp>
        <p:nvCxnSpPr>
          <p:cNvPr id="301" name="Connector 300"/>
          <p:cNvCxnSpPr/>
          <p:nvPr/>
        </p:nvCxnSpPr>
        <p:spPr>
          <a:xfrm>
            <a:off x="3291840" y="1755648"/>
            <a:ext cx="0" cy="210312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2" name="Rounded Rectangle 301"/>
          <p:cNvSpPr/>
          <p:nvPr/>
        </p:nvSpPr>
        <p:spPr>
          <a:xfrm>
            <a:off x="4709159" y="1325880"/>
            <a:ext cx="822960" cy="41148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1">
                <a:solidFill>
                  <a:srgbClr val="DEE2E6"/>
                </a:solidFill>
              </a:rPr>
              <a:t>Left</a:t>
            </a:r>
          </a:p>
        </p:txBody>
      </p:sp>
      <p:cxnSp>
        <p:nvCxnSpPr>
          <p:cNvPr id="303" name="Connector 302"/>
          <p:cNvCxnSpPr/>
          <p:nvPr/>
        </p:nvCxnSpPr>
        <p:spPr>
          <a:xfrm>
            <a:off x="5120640" y="1755648"/>
            <a:ext cx="0" cy="210312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4" name="TextBox 303"/>
          <p:cNvSpPr txBox="1"/>
          <p:nvPr/>
        </p:nvSpPr>
        <p:spPr>
          <a:xfrm>
            <a:off x="548640" y="2743200"/>
            <a:ext cx="3840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DEE2E6"/>
                </a:solidFill>
              </a:rPr>
              <a:t>Keep only the last key:</a:t>
            </a:r>
          </a:p>
          <a:p>
            <a:pPr algn="l"/>
            <a:r>
              <a:rPr sz="1500" b="1" i="0">
                <a:solidFill>
                  <a:srgbClr val="DEE2E6"/>
                </a:solidFill>
              </a:rPr>
              <a:t>Left overwrites Up, and the turn is lost.</a:t>
            </a:r>
          </a:p>
        </p:txBody>
      </p:sp>
      <p:sp>
        <p:nvSpPr>
          <p:cNvPr id="305" name="TextBox 304"/>
          <p:cNvSpPr txBox="1"/>
          <p:nvPr/>
        </p:nvSpPr>
        <p:spPr>
          <a:xfrm>
            <a:off x="4572000" y="2743200"/>
            <a:ext cx="40233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DEE2E6"/>
                </a:solidFill>
              </a:rPr>
              <a:t>Queue them (at most two):</a:t>
            </a:r>
          </a:p>
          <a:p>
            <a:pPr algn="l"/>
            <a:r>
              <a:rPr sz="1500" b="1" i="0">
                <a:solidFill>
                  <a:srgbClr val="DEE2E6"/>
                </a:solidFill>
              </a:rPr>
              <a:t>Up on this tick, Left on the next.</a:t>
            </a:r>
          </a:p>
        </p:txBody>
      </p:sp>
      <p:sp>
        <p:nvSpPr>
          <p:cNvPr id="306" name="TextBox 305"/>
          <p:cNvSpPr txBox="1"/>
          <p:nvPr/>
        </p:nvSpPr>
        <p:spPr>
          <a:xfrm>
            <a:off x="548640" y="3749039"/>
            <a:ext cx="8046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9AA3AB"/>
                </a:solidFill>
              </a:rPr>
              <a:t>The same trick lets a jump pressed just before landing still count.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28" name="Google Shape;128;p21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Movement &amp; Input Implementation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129" name="Google Shape;129;p21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1200"/>
              </a:spcAft>
              <a:buNone/>
            </a:pPr>
            <a:r>
              <a:rPr lang="en" sz="2900">
                <a:latin typeface="VT323"/>
                <a:ea typeface="VT323"/>
                <a:cs typeface="VT323"/>
                <a:sym typeface="VT323"/>
              </a:rPr>
              <a:t>DEMO!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/>
              <a:t>Snake5 → Snake6 → Snake7: ticks, actions and buffering</a:t>
            </a:r>
            <a:endParaRPr sz="180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Try It: Ticks and Keys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11700" y="885950"/>
            <a:ext cx="8520600" cy="1673352"/>
          </a:xfrm>
        </p:spPr>
        <p:txBody>
          <a:bodyPr/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In Snake7: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Make the snake twice as fast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Add I, J, K and L as a third set of keys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Which file did each change need?</a:t>
            </a:r>
            <a:endParaRPr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2" name="Shape 2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3" name="Google Shape;213;p34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Collision Detection</a:t>
            </a:r>
            <a:endParaRPr/>
          </a:p>
        </p:txBody>
      </p:sp>
      <p:sp>
        <p:nvSpPr>
          <p:cNvPr id="214" name="Google Shape;214;p34"/>
          <p:cNvSpPr txBox="1"/>
          <p:nvPr>
            <p:ph idx="1" type="body"/>
          </p:nvPr>
        </p:nvSpPr>
        <p:spPr>
          <a:xfrm>
            <a:off x="311700" y="890825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Distance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Shape-based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AABB, Circles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Complex polygon checks</a:t>
            </a:r>
            <a:endParaRPr/>
          </a:p>
        </p:txBody>
      </p:sp>
      <p:pic>
        <p:nvPicPr>
          <p:cNvPr id="215" name="Google Shape;215;p3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795325" y="2235425"/>
            <a:ext cx="3810000" cy="25717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9" name="Shape 2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0" name="Google Shape;220;p3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Circle Collision Detection</a:t>
            </a:r>
            <a:endParaRPr/>
          </a:p>
        </p:txBody>
      </p:sp>
      <p:sp>
        <p:nvSpPr>
          <p:cNvPr id="221" name="Google Shape;221;p35"/>
          <p:cNvSpPr txBox="1"/>
          <p:nvPr>
            <p:ph idx="1" type="body"/>
          </p:nvPr>
        </p:nvSpPr>
        <p:spPr>
          <a:xfrm>
            <a:off x="5979175" y="629300"/>
            <a:ext cx="2290500" cy="400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200"/>
              </a:spcAft>
              <a:buNone/>
            </a:pPr>
            <a:r>
              <a:rPr lang="en"/>
              <a:t>Why not </a:t>
            </a:r>
            <a:r>
              <a:rPr lang="en" u="sng">
                <a:solidFill>
                  <a:schemeClr val="hlink"/>
                </a:solidFill>
                <a:hlinkClick r:id="rId3"/>
              </a:rPr>
              <a:t>Vector2.Distance</a:t>
            </a:r>
            <a:r>
              <a:rPr lang="en"/>
              <a:t>?</a:t>
            </a:r>
            <a:endParaRPr/>
          </a:p>
        </p:txBody>
      </p:sp>
      <p:sp>
        <p:nvSpPr>
          <p:cNvPr id="222" name="Google Shape;222;p35"/>
          <p:cNvSpPr txBox="1"/>
          <p:nvPr>
            <p:ph idx="2" type="body"/>
          </p:nvPr>
        </p:nvSpPr>
        <p:spPr>
          <a:xfrm>
            <a:off x="2441649" y="1152475"/>
            <a:ext cx="6351900" cy="3730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Vector2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circle1Position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new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8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,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10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Vector2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circle2Position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new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5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,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6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float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circle1Radius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5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float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circle2Radius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5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6A9955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// c^2 = 25</a:t>
            </a:r>
            <a:endParaRPr sz="1000">
              <a:solidFill>
                <a:srgbClr val="6A9955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float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distanceSquared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Vector2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DCDCAA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DistanceSquared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circle1Position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,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circle2Position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6A9955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// r^2 = 100</a:t>
            </a:r>
            <a:endParaRPr sz="1000">
              <a:solidFill>
                <a:srgbClr val="6A9955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float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radiiSquared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(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circle1Radius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+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circle2Radius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*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(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circle1Radius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+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circle2Radius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6A9955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// The circles overlap because 100 is greater than 25.</a:t>
            </a:r>
            <a:endParaRPr sz="1000">
              <a:solidFill>
                <a:srgbClr val="6A9955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586C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if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(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radiiSquared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&gt;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distanceSquared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{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</p:txBody>
      </p:sp>
      <p:pic>
        <p:nvPicPr>
          <p:cNvPr id="223" name="Google Shape;223;p35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311700" y="2014863"/>
            <a:ext cx="1926775" cy="2006025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224" name="Google Shape;224;p35"/>
          <p:cNvCxnSpPr>
            <a:stCxn id="221" idx="2"/>
          </p:cNvCxnSpPr>
          <p:nvPr/>
        </p:nvCxnSpPr>
        <p:spPr>
          <a:xfrm flipH="1">
            <a:off x="5147125" y="1030100"/>
            <a:ext cx="1977300" cy="1596900"/>
          </a:xfrm>
          <a:prstGeom prst="straightConnector1">
            <a:avLst/>
          </a:prstGeom>
          <a:noFill/>
          <a:ln cap="flat" cmpd="sng" w="9525">
            <a:solidFill>
              <a:schemeClr val="accent6"/>
            </a:solidFill>
            <a:prstDash val="solid"/>
            <a:round/>
            <a:headEnd len="med" w="med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36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Collision Detection</a:t>
            </a:r>
            <a:endParaRPr/>
          </a:p>
        </p:txBody>
      </p:sp>
      <p:sp>
        <p:nvSpPr>
          <p:cNvPr id="230" name="Google Shape;230;p36"/>
          <p:cNvSpPr/>
          <p:nvPr/>
        </p:nvSpPr>
        <p:spPr>
          <a:xfrm>
            <a:off x="4946325" y="2352464"/>
            <a:ext cx="1582500" cy="1037400"/>
          </a:xfrm>
          <a:prstGeom prst="rect">
            <a:avLst/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>
              <a:latin typeface="Roboto Light"/>
              <a:ea typeface="Roboto Light"/>
              <a:cs typeface="Roboto Light"/>
              <a:sym typeface="Roboto Light"/>
            </a:endParaRPr>
          </a:p>
        </p:txBody>
      </p:sp>
      <p:sp>
        <p:nvSpPr>
          <p:cNvPr id="231" name="Google Shape;231;p36"/>
          <p:cNvSpPr/>
          <p:nvPr/>
        </p:nvSpPr>
        <p:spPr>
          <a:xfrm>
            <a:off x="2615175" y="2288264"/>
            <a:ext cx="1165800" cy="1165800"/>
          </a:xfrm>
          <a:prstGeom prst="ellipse">
            <a:avLst/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>
              <a:latin typeface="Roboto Light"/>
              <a:ea typeface="Roboto Light"/>
              <a:cs typeface="Roboto Light"/>
              <a:sym typeface="Roboto Light"/>
            </a:endParaRP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37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Collision Response</a:t>
            </a:r>
            <a:endParaRPr/>
          </a:p>
        </p:txBody>
      </p:sp>
      <p:sp>
        <p:nvSpPr>
          <p:cNvPr id="237" name="Google Shape;237;p37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Blocking to prevent objects from overlapping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Triggering events when objects collide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Bouncing to reflect objects off surfaces</a:t>
            </a:r>
            <a:endParaRPr/>
          </a:p>
        </p:txBody>
      </p:sp>
      <p:pic>
        <p:nvPicPr>
          <p:cNvPr id="238" name="Google Shape;238;p3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858937" y="2195425"/>
            <a:ext cx="3426125" cy="1951300"/>
          </a:xfrm>
          <a:prstGeom prst="rect">
            <a:avLst/>
          </a:prstGeom>
          <a:noFill/>
          <a:ln>
            <a:noFill/>
          </a:ln>
        </p:spPr>
      </p:pic>
      <p:sp>
        <p:nvSpPr>
          <p:cNvPr id="239" name="Google Shape;239;p37"/>
          <p:cNvSpPr txBox="1"/>
          <p:nvPr/>
        </p:nvSpPr>
        <p:spPr>
          <a:xfrm>
            <a:off x="3894900" y="4363700"/>
            <a:ext cx="1317300" cy="324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 u="sng">
                <a:solidFill>
                  <a:srgbClr val="4A86E8"/>
                </a:solidFill>
                <a:latin typeface="Roboto"/>
                <a:ea typeface="Roboto"/>
                <a:cs typeface="Roboto"/>
                <a:sym typeface="Roboto"/>
                <a:hlinkClick r:id="rId4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Vector2.Reflect</a:t>
            </a:r>
            <a:endParaRPr sz="1300">
              <a:solidFill>
                <a:srgbClr val="1F1F1F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38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Optimizing Collision Performance</a:t>
            </a:r>
            <a:endParaRPr/>
          </a:p>
        </p:txBody>
      </p:sp>
      <p:sp>
        <p:nvSpPr>
          <p:cNvPr id="245" name="Google Shape;245;p38"/>
          <p:cNvSpPr txBox="1"/>
          <p:nvPr>
            <p:ph idx="1" type="body"/>
          </p:nvPr>
        </p:nvSpPr>
        <p:spPr>
          <a:xfrm>
            <a:off x="311700" y="885950"/>
            <a:ext cx="8520600" cy="1318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Collision Detection is (often) the most expensive operation in a game engine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n</a:t>
            </a:r>
            <a:r>
              <a:rPr lang="en"/>
              <a:t> * (n - 1) / 2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100 objects =&gt; 100 * 99 / 2 = 4950 collision checks </a:t>
            </a:r>
            <a:r>
              <a:rPr lang="en" u="sng"/>
              <a:t>every frame</a:t>
            </a:r>
            <a:endParaRPr u="sng"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Broad phase &amp; Narrow phase</a:t>
            </a:r>
            <a:endParaRPr/>
          </a:p>
        </p:txBody>
      </p:sp>
      <p:pic>
        <p:nvPicPr>
          <p:cNvPr id="246" name="Google Shape;246;p3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98200" y="2359000"/>
            <a:ext cx="2493568" cy="26321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47" name="Google Shape;247;p38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3325347" y="2359000"/>
            <a:ext cx="2493568" cy="26321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48" name="Google Shape;248;p38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5952495" y="2359000"/>
            <a:ext cx="2493306" cy="263182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2" name="Shape 2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3" name="Google Shape;253;p39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Refactoring Collisions to GARCore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54" name="Google Shape;254;p39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MonoGame checks rectangles for us; circles we add to GARCore.</a:t>
            </a:r>
            <a:endParaRPr/>
          </a:p>
        </p:txBody>
      </p:sp>
      <p:sp>
        <p:nvSpPr>
          <p:cNvPr id="255" name="Rectangle 254"/>
          <p:cNvSpPr/>
          <p:nvPr/>
        </p:nvSpPr>
        <p:spPr>
          <a:xfrm>
            <a:off x="548640" y="1417320"/>
            <a:ext cx="8046720" cy="1737360"/>
          </a:xfrm>
          <a:prstGeom prst="rect">
            <a:avLst/>
          </a:prstGeom>
          <a:solidFill>
            <a:srgbClr val="1719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73152"/>
          <a:lstStyle/>
          <a:p>
            <a:pPr algn="l"/>
            <a:r>
              <a:rPr sz="1400" b="0">
                <a:solidFill>
                  <a:srgbClr val="DEE2E6"/>
                </a:solidFill>
              </a:rPr>
              <a:t/>
            </a:r>
            <a:r>
              <a:rPr sz="1200">
                <a:solidFill>
                  <a:srgbClr val="DEE2E6"/>
                </a:solidFill>
                <a:latin typeface="Consolas"/>
              </a:rPr>
              <a:t>bool hit = a.Intersects(b);            // Rectangle: AABB, built in</a:t>
            </a:r>
          </a:p>
          <a:p>
            <a:pPr algn="l"/>
            <a:r>
              <a:rPr sz="1200">
                <a:solidFill>
                  <a:srgbClr val="DEE2E6"/>
                </a:solidFill>
                <a:latin typeface="Consolas"/>
              </a:rPr>
              <a:t> </a:t>
            </a:r>
          </a:p>
          <a:p>
            <a:pPr algn="l"/>
            <a:r>
              <a:rPr sz="1200">
                <a:solidFill>
                  <a:srgbClr val="DEE2E6"/>
                </a:solidFill>
                <a:latin typeface="Consolas"/>
              </a:rPr>
              <a:t>public readonly record struct Circle   // GARCore</a:t>
            </a:r>
          </a:p>
          <a:p>
            <a:pPr algn="l"/>
            <a:r>
              <a:rPr sz="1200">
                <a:solidFill>
                  <a:srgbClr val="DEE2E6"/>
                </a:solidFill>
                <a:latin typeface="Consolas"/>
              </a:rPr>
              <a:t>{</a:t>
            </a:r>
          </a:p>
          <a:p>
            <a:pPr algn="l"/>
            <a:r>
              <a:rPr sz="1200">
                <a:solidFill>
                  <a:srgbClr val="DEE2E6"/>
                </a:solidFill>
                <a:latin typeface="Consolas"/>
              </a:rPr>
              <a:t>    public bool Intersects(Circle other) =&gt; ...   // squared distances, no square root</a:t>
            </a:r>
          </a:p>
          <a:p>
            <a:pPr algn="l"/>
            <a:r>
              <a:rPr sz="1200">
                <a:solidFill>
                  <a:srgbClr val="DEE2E6"/>
                </a:solidFill>
                <a:latin typeface="Consolas"/>
              </a:rPr>
              <a:t>}</a:t>
            </a:r>
          </a:p>
        </p:txBody>
      </p:sp>
      <p:sp>
        <p:nvSpPr>
          <p:cNvPr id="256" name="TextBox 255"/>
          <p:cNvSpPr txBox="1"/>
          <p:nvPr/>
        </p:nvSpPr>
        <p:spPr>
          <a:xfrm>
            <a:off x="457200" y="338328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DEE2E6"/>
                </a:solidFill>
              </a:rPr>
              <a:t>Why compare squared distances?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8" name="Shape 2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9" name="Google Shape;259;p40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Collision Implementation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60" name="Google Shape;260;p40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1200"/>
              </a:spcAft>
              <a:buNone/>
            </a:pPr>
            <a:r>
              <a:rPr lang="en" sz="2900">
                <a:latin typeface="VT323"/>
                <a:ea typeface="VT323"/>
                <a:cs typeface="VT323"/>
                <a:sym typeface="VT323"/>
              </a:rPr>
              <a:t>DEMO!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/>
              <a:t>Snake8 → Snake9: eating, growing and game over</a:t>
            </a:r>
            <a:endParaRPr sz="180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85" name="Shape 2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6" name="Google Shape;286;p44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Exercise: A Beetle From Data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87" name="Google Shape;287;p44"/>
          <p:cNvSpPr txBox="1"/>
          <p:nvPr>
            <p:ph idx="1" type="body"/>
          </p:nvPr>
        </p:nvSpPr>
        <p:spPr>
          <a:xfrm>
            <a:off x="311700" y="885950"/>
            <a:ext cx="8520600" cy="1673352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 beetle is in the atlas image, but not in the data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Describe it in atlas-definition.xml: two regions, one animation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Make the enemy a beetle: which line of C# changes?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How much C# did you change? And for a beetle next to the mouse?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2" name="Shape 2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3" name="Google Shape;293;p4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Exercises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94" name="Google Shape;294;p45"/>
          <p:cNvSpPr txBox="1"/>
          <p:nvPr>
            <p:ph idx="1" type="body"/>
          </p:nvPr>
        </p:nvSpPr>
        <p:spPr>
          <a:xfrm>
            <a:off x="311700" y="885950"/>
            <a:ext cx="8520600" cy="2057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Start from Snake9, the finished game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Speed up: make the tick shorter every time the snake eats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Where does that rule belong?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New input: the D-pad, through a GamePadInfo in GARCore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Pause: while paused, the snake doesn’t move and turns aren’t buffered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2" name="Shape 2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3" name="Google Shape;293;p4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Exercise: Refactor (Stretch)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94" name="Google Shape;294;p45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The tick timer lives in the Snake class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Move it into a reusable FixedTimer class in GARCore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It calls back on every tick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Use it for the snake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Check Yourself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11700" y="885950"/>
            <a:ext cx="8520600" cy="1719072"/>
          </a:xfrm>
        </p:spPr>
        <p:txBody>
          <a:bodyPr/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Why prefer a texture atlas over many individual image files?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Why subtract the tick duration from the accumulator instead of resetting it?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What problems come from reading the keyboard inside gameplay code?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Why check a buffered turn against the last buffered direction?</a:t>
            </a:r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3182112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9AA3AB"/>
                </a:solidFill>
              </a:rPr>
              <a:t>The answers, and more questions, are on the course site.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2" name="Shape 2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3" name="Google Shape;293;p4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Apply It to Your Project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94" name="Google Shape;294;p45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Which assets and settings are hardcoded, and could live in data files?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What are the actions in your game?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List them separately from the keys and buttons that trigger them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Does anything in your game happen on a fixed tick?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GMD">
  <a:themeElements>
    <a:clrScheme name="Simple Light">
      <a:dk1>
        <a:srgbClr val="DEE2E6"/>
      </a:dk1>
      <a:lt1>
        <a:srgbClr val="818387"/>
      </a:lt1>
      <a:dk2>
        <a:srgbClr val="1F1F1F"/>
      </a:dk2>
      <a:lt2>
        <a:srgbClr val="DEE2E6"/>
      </a:lt2>
      <a:accent1>
        <a:srgbClr val="D45D35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4A86E8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