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95" r:id="rId54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52"/>
    <p:sldId id="294" r:id="rId53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
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font" Target="fonts/Roboto-bold.fntdata"/><Relationship Id="rId43" Type="http://schemas.openxmlformats.org/officeDocument/2006/relationships/font" Target="fonts/Roboto-regular.fntdata"/><Relationship Id="rId46" Type="http://schemas.openxmlformats.org/officeDocument/2006/relationships/font" Target="fonts/Roboto-boldItalic.fntdata"/><Relationship Id="rId45" Type="http://schemas.openxmlformats.org/officeDocument/2006/relationships/font" Target="fonts/Roboto-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font" Target="fonts/RobotoLight-regular.fntdata"/><Relationship Id="rId47" Type="http://schemas.openxmlformats.org/officeDocument/2006/relationships/font" Target="fonts/VT323-regular.fntdata"/><Relationship Id="rId49" Type="http://schemas.openxmlformats.org/officeDocument/2006/relationships/font" Target="fonts/RobotoLight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font" Target="fonts/RobotoLight-boldItalic.fntdata"/><Relationship Id="rId50" Type="http://schemas.openxmlformats.org/officeDocument/2006/relationships/font" Target="fonts/RobotoLight-italic.fntdata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  <Relationship Id="rId52" Type="http://schemas.openxmlformats.org/officeDocument/2006/relationships/slide" Target="slides/slide38.xml"/>
  <Relationship Id="rId53" Type="http://schemas.openxmlformats.org/officeDocument/2006/relationships/slide" Target="slides/slide39.xml"/>
  <Relationship Id="rId54" Type="http://schemas.openxmlformats.org/officeDocument/2006/relationships/slide" Target="slides/slide40.xml"/>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a24a6071b_1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a24a6071b_1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cbd7a28ff6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cbd7a28ff6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cb92a6f95e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cb92a6f95e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</a:t>
            </a:r>
            <a:r>
              <a:rPr lang="en"/>
              <a:t>no longer reference a Texture2D directly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b92a6f95e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b92a6f95e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3cbd7a28ff6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3cbd7a28ff6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cbd7a28ff6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cbd7a28ff6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ca047858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ca047858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ca24a6071b_1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ca24a6071b_1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cb92a6f95e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cb92a6f95e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954230080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954230080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is a behavioral design pattern that turns a request into a stand-alone object that contains all information about the request. This transformation lets you pass requests as a method arguments, delay or queue a request’s execution, and support undoable operations.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cbd7a28ff6_0_1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cbd7a28ff6_0_1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cbd7a28ff6_0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cbd7a28ff6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3cbd7a28ff6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3cbd7a28ff6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cb190ae9b0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cb190ae9b0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cbd7a28ff6_0_1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cbd7a28ff6_0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cbd7a28ff6_0_1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cbd7a28ff6_0_1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cb190ae9b0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cb190ae9b0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cbd7a28ff6_0_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cbd7a28ff6_0_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cbd7a28ff6_0_1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cbd7a28ff6_0_1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cbd7a28ff6_0_7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cbd7a28ff6_0_7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cb190ae9b0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cb190ae9b0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ca24a6071b_1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ca24a6071b_1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ca24a6071b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ca24a6071b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Circle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Better for round objects like balls and coins.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More accurate for rotating objects.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simpler check for overlap than rectangles.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Rectangle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Great for walls, platforms, and most game objects.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Easy to visualize and debug.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Works well with tile-based games.</a:t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b190ae9b0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b190ae9b0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cb190ae9b0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cb190ae9b0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Broad &amp; Narrow phase</a:t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c8f6ac40ed_0_1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c8f6ac40ed_0_1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Nominal vs. structural typing (records)</a:t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cbd7a28ff6_0_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cbd7a28ff6_0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Nominal vs. structural typing (records)</a:t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cb92a6f95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cb92a6f95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cb92a6f95e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cb92a6f95e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cb92a6f95e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cb92a6f95e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cb92a6f95e_0_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3cb92a6f95e_0_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md2-snake" TargetMode="Externa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gif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1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Relationship Id="rId4" Type="http://schemas.openxmlformats.org/officeDocument/2006/relationships/image" Target="../media/image13.png"/><Relationship Id="rId5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5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docs.monogame.net/api/Microsoft.Xna.Framework.Vector2.html#Microsoft_Xna_Framework_Vector2_Distance_Microsoft_Xna_Framework_Vector2_Microsoft_Xna_Framework_Vector2_" TargetMode="External"/><Relationship Id="rId4" Type="http://schemas.openxmlformats.org/officeDocument/2006/relationships/image" Target="../media/image2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3.png"/><Relationship Id="rId4" Type="http://schemas.openxmlformats.org/officeDocument/2006/relationships/hyperlink" Target="https://docs.monogame.net/api/Microsoft.Xna.Framework.Vector2.html#Microsoft_Xna_Framework_Vector2_Reflect_Microsoft_Xna_Framework_Vector2_Microsoft_Xna_Framework_Vector2_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0.png"/><Relationship Id="rId4" Type="http://schemas.openxmlformats.org/officeDocument/2006/relationships/image" Target="../media/image16.png"/><Relationship Id="rId5" Type="http://schemas.openxmlformats.org/officeDocument/2006/relationships/image" Target="../media/image22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docs.monogame.net/api/Microsoft.Xna.Framework.Rectangle.html#Microsoft_Xna_Framework_Rectangle_Intersects_Microsoft_Xna_Framework_Rectangle_" TargetMode="External"/><Relationship Id="rId4" Type="http://schemas.openxmlformats.org/officeDocument/2006/relationships/hyperlink" Target="https://docs.monogame.net/api/Microsoft.Xna.Framework.Rectangle.html#Microsoft_Xna_Framework_Rectangle_Contains_Microsoft_Xna_Framework_Rectangle_" TargetMode="Externa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8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4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www.mapeditor.org/" TargetMode="External"/><Relationship Id="rId4" Type="http://schemas.openxmlformats.org/officeDocument/2006/relationships/image" Target="../media/image25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snake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03: Snake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46087" y="1531275"/>
            <a:ext cx="5451825" cy="32566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Atlases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Sprites &amp; Animation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Command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Tilemaps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https://github.com/Metamate/gmd2-snake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is built up in steps: Snake0 → Snake8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is a separate project that adds one concept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Snake8 is the finished game, and the starting point for the exercises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Texture Rendering</a:t>
            </a:r>
            <a:endParaRPr/>
          </a:p>
        </p:txBody>
      </p:sp>
      <p:pic>
        <p:nvPicPr>
          <p:cNvPr id="64" name="Google Shape;64;p13"/>
          <p:cNvPicPr preferRelativeResize="0"/>
          <p:nvPr/>
        </p:nvPicPr>
        <p:blipFill rotWithShape="1">
          <a:blip r:embed="rId3">
            <a:alphaModFix/>
          </a:blip>
          <a:srcRect b="80434" l="13614" r="79962" t="0"/>
          <a:stretch/>
        </p:blipFill>
        <p:spPr>
          <a:xfrm>
            <a:off x="2015375" y="2043200"/>
            <a:ext cx="223900" cy="39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3"/>
          <p:cNvPicPr preferRelativeResize="0"/>
          <p:nvPr/>
        </p:nvPicPr>
        <p:blipFill rotWithShape="1">
          <a:blip r:embed="rId3">
            <a:alphaModFix/>
          </a:blip>
          <a:srcRect b="80434" l="0" r="93577" t="0"/>
          <a:stretch/>
        </p:blipFill>
        <p:spPr>
          <a:xfrm>
            <a:off x="584175" y="2043200"/>
            <a:ext cx="223900" cy="39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3"/>
          <p:cNvPicPr preferRelativeResize="0"/>
          <p:nvPr/>
        </p:nvPicPr>
        <p:blipFill rotWithShape="1">
          <a:blip r:embed="rId3">
            <a:alphaModFix/>
          </a:blip>
          <a:srcRect b="80434" l="7433" r="86143" t="0"/>
          <a:stretch/>
        </p:blipFill>
        <p:spPr>
          <a:xfrm>
            <a:off x="1299776" y="2043200"/>
            <a:ext cx="223900" cy="39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7" name="Google Shape;67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96100" y="1560179"/>
            <a:ext cx="3485850" cy="202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13"/>
          <p:cNvPicPr preferRelativeResize="0"/>
          <p:nvPr/>
        </p:nvPicPr>
        <p:blipFill rotWithShape="1">
          <a:blip r:embed="rId3">
            <a:alphaModFix/>
          </a:blip>
          <a:srcRect b="29607" l="84686" r="8891" t="59340"/>
          <a:stretch/>
        </p:blipFill>
        <p:spPr>
          <a:xfrm>
            <a:off x="2797937" y="2129314"/>
            <a:ext cx="223900" cy="223625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3"/>
          <p:cNvSpPr txBox="1"/>
          <p:nvPr/>
        </p:nvSpPr>
        <p:spPr>
          <a:xfrm>
            <a:off x="3607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mario1.png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0" name="Google Shape;70;p13"/>
          <p:cNvSpPr txBox="1"/>
          <p:nvPr/>
        </p:nvSpPr>
        <p:spPr>
          <a:xfrm>
            <a:off x="10763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mario2.png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1" name="Google Shape;71;p13"/>
          <p:cNvSpPr txBox="1"/>
          <p:nvPr/>
        </p:nvSpPr>
        <p:spPr>
          <a:xfrm>
            <a:off x="1791925" y="2439050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mario3.png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2" name="Google Shape;72;p13"/>
          <p:cNvSpPr txBox="1"/>
          <p:nvPr/>
        </p:nvSpPr>
        <p:spPr>
          <a:xfrm>
            <a:off x="2574501" y="2439050"/>
            <a:ext cx="6912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ground1</a:t>
            </a: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  <p:sp>
        <p:nvSpPr>
          <p:cNvPr id="73" name="Google Shape;73;p13"/>
          <p:cNvSpPr txBox="1"/>
          <p:nvPr/>
        </p:nvSpPr>
        <p:spPr>
          <a:xfrm>
            <a:off x="5703625" y="3645825"/>
            <a:ext cx="670800" cy="32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atlas</a:t>
            </a:r>
            <a:r>
              <a:rPr lang="en" sz="900">
                <a:solidFill>
                  <a:schemeClr val="dk1"/>
                </a:solidFill>
                <a:latin typeface="VT323"/>
                <a:ea typeface="VT323"/>
                <a:cs typeface="VT323"/>
                <a:sym typeface="VT323"/>
              </a:rPr>
              <a:t>.png</a:t>
            </a:r>
            <a:endParaRPr sz="900">
              <a:solidFill>
                <a:schemeClr val="dk1"/>
              </a:solidFill>
              <a:latin typeface="VT323"/>
              <a:ea typeface="VT323"/>
              <a:cs typeface="VT323"/>
              <a:sym typeface="VT323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Atlas</a:t>
            </a:r>
            <a:endParaRPr/>
          </a:p>
        </p:txBody>
      </p:sp>
      <p:pic>
        <p:nvPicPr>
          <p:cNvPr id="79" name="Google Shape;79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29075" y="1560179"/>
            <a:ext cx="3485850" cy="2023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Texture Region</a:t>
            </a:r>
            <a:endParaRPr/>
          </a:p>
        </p:txBody>
      </p:sp>
      <p:pic>
        <p:nvPicPr>
          <p:cNvPr id="85" name="Google Shape;8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29075" y="1560179"/>
            <a:ext cx="3485850" cy="202315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5"/>
          <p:cNvSpPr/>
          <p:nvPr/>
        </p:nvSpPr>
        <p:spPr>
          <a:xfrm>
            <a:off x="2812073" y="1527475"/>
            <a:ext cx="268200" cy="433500"/>
          </a:xfrm>
          <a:prstGeom prst="rect">
            <a:avLst/>
          </a:prstGeom>
          <a:noFill/>
          <a:ln cap="flat" cmpd="sng" w="190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87" name="Google Shape;87;p15"/>
          <p:cNvCxnSpPr>
            <a:endCxn id="86" idx="0"/>
          </p:cNvCxnSpPr>
          <p:nvPr/>
        </p:nvCxnSpPr>
        <p:spPr>
          <a:xfrm>
            <a:off x="2510873" y="1076875"/>
            <a:ext cx="435300" cy="4506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Texture Atlas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93" name="Google Shape;93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 sz="2900">
              <a:latin typeface="VT323"/>
              <a:ea typeface="VT323"/>
              <a:cs typeface="VT323"/>
              <a:sym typeface="VT323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Snake0 → Snake1: from hardcoded rectangles to a texture atlas</a:t>
            </a:r>
            <a:endParaRPr sz="1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Sprites</a:t>
            </a:r>
            <a:endParaRPr/>
          </a:p>
        </p:txBody>
      </p:sp>
      <p:sp>
        <p:nvSpPr>
          <p:cNvPr id="99" name="Google Shape;99;p17"/>
          <p:cNvSpPr txBox="1"/>
          <p:nvPr>
            <p:ph idx="1" type="body"/>
          </p:nvPr>
        </p:nvSpPr>
        <p:spPr>
          <a:xfrm>
            <a:off x="311700" y="885950"/>
            <a:ext cx="2205000" cy="30249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Texture (region)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Rotation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Scale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Color mask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Origin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Sprite effects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Layer depth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Width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Height</a:t>
            </a:r>
            <a:endParaRPr/>
          </a:p>
        </p:txBody>
      </p:sp>
      <p:pic>
        <p:nvPicPr>
          <p:cNvPr id="100" name="Google Shape;100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1191950">
            <a:off x="3478224" y="1282475"/>
            <a:ext cx="2187550" cy="218755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7"/>
          <p:cNvSpPr txBox="1"/>
          <p:nvPr/>
        </p:nvSpPr>
        <p:spPr>
          <a:xfrm>
            <a:off x="6336200" y="975875"/>
            <a:ext cx="14313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CenterOrigin()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2" name="Google Shape;102;p17"/>
          <p:cNvSpPr txBox="1"/>
          <p:nvPr/>
        </p:nvSpPr>
        <p:spPr>
          <a:xfrm>
            <a:off x="6076775" y="3378325"/>
            <a:ext cx="2621100" cy="42030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Draw(Spritebatch, Vector2)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cxnSp>
        <p:nvCxnSpPr>
          <p:cNvPr id="103" name="Google Shape;103;p17"/>
          <p:cNvCxnSpPr>
            <a:stCxn id="100" idx="1"/>
            <a:endCxn id="99" idx="3"/>
          </p:cNvCxnSpPr>
          <p:nvPr/>
        </p:nvCxnSpPr>
        <p:spPr>
          <a:xfrm rot="10800000">
            <a:off x="2516713" y="2398435"/>
            <a:ext cx="1026600" cy="3495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4" name="Google Shape;104;p17"/>
          <p:cNvCxnSpPr>
            <a:stCxn id="100" idx="3"/>
            <a:endCxn id="101" idx="1"/>
          </p:cNvCxnSpPr>
          <p:nvPr/>
        </p:nvCxnSpPr>
        <p:spPr>
          <a:xfrm flipH="1" rot="10800000">
            <a:off x="5600684" y="1186164"/>
            <a:ext cx="735600" cy="8184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5" name="Google Shape;105;p17"/>
          <p:cNvCxnSpPr>
            <a:stCxn id="100" idx="2"/>
            <a:endCxn id="102" idx="1"/>
          </p:cNvCxnSpPr>
          <p:nvPr/>
        </p:nvCxnSpPr>
        <p:spPr>
          <a:xfrm>
            <a:off x="4943684" y="3404935"/>
            <a:ext cx="1133100" cy="1836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Sprite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1" name="Google Shape;111;p1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Snake2: sprites</a:t>
            </a:r>
            <a:endParaRPr sz="18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 Art</a:t>
            </a:r>
            <a:endParaRPr/>
          </a:p>
        </p:txBody>
      </p:sp>
      <p:pic>
        <p:nvPicPr>
          <p:cNvPr id="117" name="Google Shape;11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38300" y="1156538"/>
            <a:ext cx="5867400" cy="3362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Animation</a:t>
            </a:r>
            <a:endParaRPr/>
          </a:p>
        </p:txBody>
      </p:sp>
      <p:pic>
        <p:nvPicPr>
          <p:cNvPr id="123" name="Google Shape;123;p20" title="bat-animation-exampl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57500" y="857240"/>
            <a:ext cx="3429000" cy="3429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Animation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Snake3: animated sprites</a:t>
            </a:r>
            <a:endParaRPr sz="18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</a:t>
            </a:r>
            <a:endParaRPr/>
          </a:p>
        </p:txBody>
      </p:sp>
      <p:pic>
        <p:nvPicPr>
          <p:cNvPr id="135" name="Google Shape;135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15688" y="813790"/>
            <a:ext cx="6512616" cy="4070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Problem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832400" y="1782800"/>
            <a:ext cx="3999900" cy="178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BUTTON_X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Jump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BUTTON_Y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FireGun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BUTTON_A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SwapWeapon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BUTTON_B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Lurch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569CD6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142" name="Google Shape;142;p23"/>
          <p:cNvPicPr preferRelativeResize="0"/>
          <p:nvPr/>
        </p:nvPicPr>
        <p:blipFill rotWithShape="1">
          <a:blip r:embed="rId3">
            <a:alphaModFix/>
          </a:blip>
          <a:srcRect b="0" l="8498" r="28649" t="0"/>
          <a:stretch/>
        </p:blipFill>
        <p:spPr>
          <a:xfrm>
            <a:off x="144975" y="1782788"/>
            <a:ext cx="4512576" cy="22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Solution</a:t>
            </a:r>
            <a:endParaRPr/>
          </a:p>
        </p:txBody>
      </p:sp>
      <p:pic>
        <p:nvPicPr>
          <p:cNvPr id="148" name="Google Shape;148;p24"/>
          <p:cNvPicPr preferRelativeResize="0"/>
          <p:nvPr/>
        </p:nvPicPr>
        <p:blipFill rotWithShape="1">
          <a:blip r:embed="rId3">
            <a:alphaModFix/>
          </a:blip>
          <a:srcRect b="0" l="6367" r="5074" t="0"/>
          <a:stretch/>
        </p:blipFill>
        <p:spPr>
          <a:xfrm>
            <a:off x="1126375" y="1319825"/>
            <a:ext cx="6993449" cy="267295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24"/>
          <p:cNvSpPr txBox="1"/>
          <p:nvPr/>
        </p:nvSpPr>
        <p:spPr>
          <a:xfrm>
            <a:off x="2684550" y="4402100"/>
            <a:ext cx="3774900" cy="492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rPr>
              <a:t>“A command is a reified method call.”</a:t>
            </a:r>
            <a:endParaRPr sz="1600">
              <a:solidFill>
                <a:schemeClr val="dk1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Solution</a:t>
            </a:r>
            <a:endParaRPr/>
          </a:p>
        </p:txBody>
      </p:sp>
      <p:pic>
        <p:nvPicPr>
          <p:cNvPr id="155" name="Google Shape;155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1613" y="824490"/>
            <a:ext cx="8140770" cy="40703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Solution</a:t>
            </a:r>
            <a:endParaRPr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11700" y="1463400"/>
            <a:ext cx="3039000" cy="11082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interface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3564450" y="1463400"/>
            <a:ext cx="5139600" cy="313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FireCommand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LurchCommand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SwapCommand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569CD6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BUTTON_X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BUTTON_Y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BUTTON_A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ButtonA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isPressed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ButtonB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63" name="Google Shape;163;p26"/>
          <p:cNvSpPr txBox="1"/>
          <p:nvPr>
            <p:ph idx="1" type="body"/>
          </p:nvPr>
        </p:nvSpPr>
        <p:spPr>
          <a:xfrm>
            <a:off x="311700" y="2749300"/>
            <a:ext cx="3039000" cy="18480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JumpCommand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 :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ICommand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Execute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</a:t>
            </a:r>
            <a:endParaRPr/>
          </a:p>
        </p:txBody>
      </p:sp>
      <p:pic>
        <p:nvPicPr>
          <p:cNvPr id="169" name="Google Shape;16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2011440"/>
            <a:ext cx="8839199" cy="16148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</a:t>
            </a:r>
            <a:endParaRPr/>
          </a:p>
        </p:txBody>
      </p:sp>
      <p:pic>
        <p:nvPicPr>
          <p:cNvPr id="175" name="Google Shape;175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428340"/>
            <a:ext cx="8839201" cy="22868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Command Pattern: Usage</a:t>
            </a:r>
            <a:endParaRPr/>
          </a:p>
        </p:txBody>
      </p:sp>
      <p:sp>
        <p:nvSpPr>
          <p:cNvPr id="181" name="Google Shape;181;p29"/>
          <p:cNvSpPr txBox="1"/>
          <p:nvPr>
            <p:ph idx="1" type="body"/>
          </p:nvPr>
        </p:nvSpPr>
        <p:spPr>
          <a:xfrm>
            <a:off x="311700" y="885950"/>
            <a:ext cx="1263900" cy="104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Input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Undo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Redo</a:t>
            </a:r>
            <a:endParaRPr/>
          </a:p>
        </p:txBody>
      </p:sp>
      <p:pic>
        <p:nvPicPr>
          <p:cNvPr id="182" name="Google Shape;182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24950" y="322075"/>
            <a:ext cx="3864576" cy="21738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3175" y="2765500"/>
            <a:ext cx="3864576" cy="2173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2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924950" y="2765501"/>
            <a:ext cx="3864576" cy="21738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Adding Undo/Redo Functionality</a:t>
            </a:r>
            <a:endParaRPr/>
          </a:p>
        </p:txBody>
      </p:sp>
      <p:pic>
        <p:nvPicPr>
          <p:cNvPr id="190" name="Google Shape;190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723652"/>
            <a:ext cx="8839204" cy="16961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Adding Undo/Redo Functionality</a:t>
            </a:r>
            <a:endParaRPr/>
          </a:p>
        </p:txBody>
      </p:sp>
      <p:pic>
        <p:nvPicPr>
          <p:cNvPr id="196" name="Google Shape;196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27287" y="1418650"/>
            <a:ext cx="4289425" cy="3101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1" name="Google Shape;201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64150" y="1958750"/>
            <a:ext cx="7015700" cy="1753925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Adding Undo/Redo Functionality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Command Pattern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Snake4 → Snake5 → Snake6: polling, commands, undo/redo</a:t>
            </a:r>
            <a:endParaRPr sz="18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14" name="Google Shape;214;p34"/>
          <p:cNvSpPr txBox="1"/>
          <p:nvPr>
            <p:ph idx="1" type="body"/>
          </p:nvPr>
        </p:nvSpPr>
        <p:spPr>
          <a:xfrm>
            <a:off x="311700" y="890825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Distance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Shape-based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AABB, Circles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 polygon checks</a:t>
            </a:r>
            <a:endParaRPr/>
          </a:p>
        </p:txBody>
      </p:sp>
      <p:pic>
        <p:nvPicPr>
          <p:cNvPr id="215" name="Google Shape;215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95325" y="2235425"/>
            <a:ext cx="3810000" cy="2571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Circle Collision Detection</a:t>
            </a:r>
            <a:endParaRPr/>
          </a:p>
        </p:txBody>
      </p:sp>
      <p:sp>
        <p:nvSpPr>
          <p:cNvPr id="221" name="Google Shape;221;p35"/>
          <p:cNvSpPr txBox="1"/>
          <p:nvPr>
            <p:ph idx="1" type="body"/>
          </p:nvPr>
        </p:nvSpPr>
        <p:spPr>
          <a:xfrm>
            <a:off x="5979175" y="629300"/>
            <a:ext cx="2290500" cy="4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Why not </a:t>
            </a:r>
            <a:r>
              <a:rPr lang="en" u="sng">
                <a:solidFill>
                  <a:schemeClr val="hlink"/>
                </a:solidFill>
                <a:hlinkClick r:id="rId3"/>
              </a:rPr>
              <a:t>Vector2.Distance</a:t>
            </a:r>
            <a:r>
              <a:rPr lang="en"/>
              <a:t>?</a:t>
            </a:r>
            <a:endParaRPr/>
          </a:p>
        </p:txBody>
      </p:sp>
      <p:sp>
        <p:nvSpPr>
          <p:cNvPr id="222" name="Google Shape;222;p35"/>
          <p:cNvSpPr txBox="1"/>
          <p:nvPr>
            <p:ph idx="2" type="body"/>
          </p:nvPr>
        </p:nvSpPr>
        <p:spPr>
          <a:xfrm>
            <a:off x="2441649" y="1152475"/>
            <a:ext cx="6351900" cy="373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c^2 = 25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r^2 = 100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*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circle1Radius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circle2Radius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The circles overlap because 100 is greater than 25.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radiiSquared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distanceSquared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223" name="Google Shape;223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00" y="2014863"/>
            <a:ext cx="1926775" cy="20060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4" name="Google Shape;224;p35"/>
          <p:cNvCxnSpPr>
            <a:stCxn id="221" idx="2"/>
          </p:cNvCxnSpPr>
          <p:nvPr/>
        </p:nvCxnSpPr>
        <p:spPr>
          <a:xfrm flipH="1">
            <a:off x="5147125" y="1030100"/>
            <a:ext cx="1977300" cy="1596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Detection</a:t>
            </a:r>
            <a:endParaRPr/>
          </a:p>
        </p:txBody>
      </p:sp>
      <p:sp>
        <p:nvSpPr>
          <p:cNvPr id="230" name="Google Shape;230;p36"/>
          <p:cNvSpPr/>
          <p:nvPr/>
        </p:nvSpPr>
        <p:spPr>
          <a:xfrm>
            <a:off x="4946325" y="2352464"/>
            <a:ext cx="1582500" cy="1037400"/>
          </a:xfrm>
          <a:prstGeom prst="rect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31" name="Google Shape;231;p36"/>
          <p:cNvSpPr/>
          <p:nvPr/>
        </p:nvSpPr>
        <p:spPr>
          <a:xfrm>
            <a:off x="2615175" y="2288264"/>
            <a:ext cx="1165800" cy="1165800"/>
          </a:xfrm>
          <a:prstGeom prst="ellipse">
            <a:avLst/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37" name="Google Shape;237;p3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Blocking to prevent objects from overlapping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Triggering events when objects collide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Bouncing to reflect objects off surfaces</a:t>
            </a:r>
            <a:endParaRPr/>
          </a:p>
        </p:txBody>
      </p:sp>
      <p:pic>
        <p:nvPicPr>
          <p:cNvPr id="238" name="Google Shape;238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58937" y="2195425"/>
            <a:ext cx="3426125" cy="1951300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37"/>
          <p:cNvSpPr txBox="1"/>
          <p:nvPr/>
        </p:nvSpPr>
        <p:spPr>
          <a:xfrm>
            <a:off x="3894900" y="4363700"/>
            <a:ext cx="1317300" cy="3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rgbClr val="4A86E8"/>
                </a:solidFill>
                <a:latin typeface="Roboto"/>
                <a:ea typeface="Roboto"/>
                <a:cs typeface="Roboto"/>
                <a:sym typeface="Roboto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Vector2.Reflect</a:t>
            </a:r>
            <a:endParaRPr sz="1300">
              <a:solidFill>
                <a:srgbClr val="1F1F1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Optimizing Collision Performance</a:t>
            </a:r>
            <a:endParaRPr/>
          </a:p>
        </p:txBody>
      </p:sp>
      <p:sp>
        <p:nvSpPr>
          <p:cNvPr id="245" name="Google Shape;245;p38"/>
          <p:cNvSpPr txBox="1"/>
          <p:nvPr>
            <p:ph idx="1" type="body"/>
          </p:nvPr>
        </p:nvSpPr>
        <p:spPr>
          <a:xfrm>
            <a:off x="311700" y="885950"/>
            <a:ext cx="8520600" cy="1318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Collision Detection is (often) the most expensive operation in a game engine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</a:t>
            </a:r>
            <a:r>
              <a:rPr lang="en"/>
              <a:t> * (n - 1) / 2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100 objects =&gt; 100 * 99 / 2 = 4950 collision checks </a:t>
            </a:r>
            <a:r>
              <a:rPr lang="en" u="sng"/>
              <a:t>every frame</a:t>
            </a:r>
            <a:endParaRPr u="sng"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Broad phase &amp; Narrow phase</a:t>
            </a:r>
            <a:endParaRPr/>
          </a:p>
        </p:txBody>
      </p:sp>
      <p:pic>
        <p:nvPicPr>
          <p:cNvPr id="246" name="Google Shape;246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8200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325347" y="2359000"/>
            <a:ext cx="2493568" cy="2632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952495" y="2359000"/>
            <a:ext cx="2493306" cy="26318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Refactoring Collisions to GMDCore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4" name="Google Shape;254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 need to add basic AABB collision detection to our library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Rectangle.Intersects(Rectangle)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Provided by MonoGame</a:t>
            </a:r>
            <a:endParaRPr/>
          </a:p>
          <a:p>
            <a:pPr indent="-304800" lvl="2" marL="13716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performs an an AABB collision check for us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u="sng">
                <a:solidFill>
                  <a:schemeClr val="hlink"/>
                </a:solidFill>
                <a:hlinkClick r:id="rId4"/>
              </a:rPr>
              <a:t>Rectangle.Contains()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Checks if Rectangle/Vector2/Point is contained within the Rectangle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No Circles though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 a Circle struct to GMDCore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 an Intersects(Ci</a:t>
            </a:r>
            <a:r>
              <a:rPr lang="en"/>
              <a:t>rcl</a:t>
            </a:r>
            <a:r>
              <a:rPr lang="en"/>
              <a:t>e) method for other Circles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Collision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60" name="Google Shape;260;p4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Snake7: circle collision and bouncing</a:t>
            </a:r>
            <a:endParaRPr sz="18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</a:t>
            </a:r>
            <a:endParaRPr/>
          </a:p>
        </p:txBody>
      </p:sp>
      <p:pic>
        <p:nvPicPr>
          <p:cNvPr id="266" name="Google Shape;266;p41"/>
          <p:cNvPicPr preferRelativeResize="0"/>
          <p:nvPr/>
        </p:nvPicPr>
        <p:blipFill rotWithShape="1">
          <a:blip r:embed="rId3">
            <a:alphaModFix/>
          </a:blip>
          <a:srcRect b="0" l="0" r="54225" t="0"/>
          <a:stretch/>
        </p:blipFill>
        <p:spPr>
          <a:xfrm>
            <a:off x="1238250" y="1247650"/>
            <a:ext cx="3052075" cy="304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41"/>
          <p:cNvPicPr preferRelativeResize="0"/>
          <p:nvPr/>
        </p:nvPicPr>
        <p:blipFill rotWithShape="1">
          <a:blip r:embed="rId3">
            <a:alphaModFix/>
          </a:blip>
          <a:srcRect b="0" l="54225" r="0" t="0"/>
          <a:stretch/>
        </p:blipFill>
        <p:spPr>
          <a:xfrm>
            <a:off x="5040275" y="1247650"/>
            <a:ext cx="3052075" cy="304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</a:t>
            </a:r>
            <a:endParaRPr/>
          </a:p>
        </p:txBody>
      </p:sp>
      <p:pic>
        <p:nvPicPr>
          <p:cNvPr id="273" name="Google Shape;273;p42"/>
          <p:cNvPicPr preferRelativeResize="0"/>
          <p:nvPr/>
        </p:nvPicPr>
        <p:blipFill rotWithShape="1">
          <a:blip r:embed="rId3">
            <a:alphaModFix/>
          </a:blip>
          <a:srcRect b="16166" l="0" r="59830" t="16280"/>
          <a:stretch/>
        </p:blipFill>
        <p:spPr>
          <a:xfrm>
            <a:off x="633950" y="1516225"/>
            <a:ext cx="2725150" cy="2749700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42"/>
          <p:cNvSpPr txBox="1"/>
          <p:nvPr>
            <p:ph idx="4294967295" type="body"/>
          </p:nvPr>
        </p:nvSpPr>
        <p:spPr>
          <a:xfrm>
            <a:off x="3749613" y="2239625"/>
            <a:ext cx="1183800" cy="13029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15</a:t>
            </a:r>
            <a:endParaRPr/>
          </a:p>
        </p:txBody>
      </p:sp>
      <p:pic>
        <p:nvPicPr>
          <p:cNvPr id="275" name="Google Shape;275;p42"/>
          <p:cNvPicPr preferRelativeResize="0"/>
          <p:nvPr/>
        </p:nvPicPr>
        <p:blipFill rotWithShape="1">
          <a:blip r:embed="rId3">
            <a:alphaModFix/>
          </a:blip>
          <a:srcRect b="7917" l="49925" r="0" t="8478"/>
          <a:stretch/>
        </p:blipFill>
        <p:spPr>
          <a:xfrm>
            <a:off x="5323925" y="1111575"/>
            <a:ext cx="3397050" cy="3403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Tilemap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1" name="Google Shape;281;p4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Snake8: tilemap and walls</a:t>
            </a:r>
            <a:endParaRPr sz="180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Custom Tilemap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7" name="Google Shape;287;p44"/>
          <p:cNvSpPr txBox="1"/>
          <p:nvPr>
            <p:ph idx="1" type="body"/>
          </p:nvPr>
        </p:nvSpPr>
        <p:spPr>
          <a:xfrm>
            <a:off x="311700" y="885950"/>
            <a:ext cx="8520600" cy="124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Find (or create) a custom tilemap and apply it to the snake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will need</a:t>
            </a:r>
            <a:endParaRPr/>
          </a:p>
          <a:p>
            <a:pPr indent="-304800" lvl="2" marL="13716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Texture (atlas)</a:t>
            </a:r>
            <a:endParaRPr/>
          </a:p>
          <a:p>
            <a:pPr indent="-304800" lvl="2" marL="13716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Tilemap definition (xml-file)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Feel free to change the sprites and animations as well!</a:t>
            </a:r>
            <a:endParaRPr/>
          </a:p>
        </p:txBody>
      </p:sp>
      <p:pic>
        <p:nvPicPr>
          <p:cNvPr id="288" name="Google Shape;288;p4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04288" y="2252475"/>
            <a:ext cx="5135416" cy="2703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Classic Snake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Snake8,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tail that grows every time the snake eats the bat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the snake move continuously on a timer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Currently, movement only happens when a key is pressed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Continuous movement makes undo/redo pointless: remove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Colliding with the tail or a wall ends the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score that increments every time the snake eats the bat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Commands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eating a bat reverse the controls for five seconds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Swap the commands, without touching the Snake class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input buffering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quick Up-then-Left between two ticks shouldn’t lose the second key press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Queue direction commands and consume one per tick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Stretch: replay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Record every executed command with its tick number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After game over, replay the run from the start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are the actions in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List them separately from the keys and buttons that trigger them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Would your game benefit from rebinding, undo or replays?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Content Builder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New in MonoGame 3.8.5: no .mgcb file and no MGCB Editor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steps share one Content project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Content/Assets: the raw images and XML definitions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Content/Builder/Builder.cs: the build rules, in C#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rules decide how each asset is processed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PNG images are built into textures (magenta = transparent)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XML definitions are copied as they are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game project imports Content/BuildContent.targets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Building a step also builds its content, so Content.Load works as before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