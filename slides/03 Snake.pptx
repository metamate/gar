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303" r:id="rId29"/>
    <p:sldId id="257" r:id="rId7"/>
    <p:sldId id="258" r:id="rId8"/>
    <p:sldId id="259" r:id="rId9"/>
    <p:sldId id="295" r:id="rId54"/>
    <p:sldId id="297" r:id="rId56"/>
    <p:sldId id="260" r:id="rId10"/>
    <p:sldId id="261" r:id="rId11"/>
    <p:sldId id="262" r:id="rId12"/>
    <p:sldId id="263" r:id="rId13"/>
    <p:sldId id="308" r:id="rId24"/>
    <p:sldId id="264" r:id="rId14"/>
    <p:sldId id="265" r:id="rId15"/>
    <p:sldId id="307" r:id="rId25"/>
    <p:sldId id="266" r:id="rId16"/>
    <p:sldId id="267" r:id="rId17"/>
    <p:sldId id="268" r:id="rId18"/>
    <p:sldId id="306" r:id="rId26"/>
    <p:sldId id="288" r:id="rId38"/>
    <p:sldId id="289" r:id="rId39"/>
    <p:sldId id="290" r:id="rId40"/>
    <p:sldId id="305" r:id="rId27"/>
    <p:sldId id="298" r:id="rId57"/>
    <p:sldId id="309" r:id="rId55"/>
    <p:sldId id="299" r:id="rId58"/>
    <p:sldId id="300" r:id="rId59"/>
    <p:sldId id="301" r:id="rId60"/>
    <p:sldId id="304" r:id="rId28"/>
    <p:sldId id="281" r:id="rId31"/>
    <p:sldId id="282" r:id="rId32"/>
    <p:sldId id="283" r:id="rId33"/>
    <p:sldId id="284" r:id="rId34"/>
    <p:sldId id="285" r:id="rId35"/>
    <p:sldId id="310" r:id="rId23"/>
    <p:sldId id="286" r:id="rId36"/>
    <p:sldId id="287" r:id="rId37"/>
    <p:sldId id="291" r:id="rId41"/>
    <p:sldId id="292" r:id="rId42"/>
    <p:sldId id="293" r:id="rId52"/>
    <p:sldId id="302" r:id="rId30"/>
    <p:sldId id="294" r:id="rId53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VT323"/>
      <p:regular r:id="rId47"/>
    </p:embeddedFont>
    <p:embeddedFont>
      <p:font typeface="Roboto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23" Type="http://schemas.openxmlformats.org/officeDocument/2006/relationships/slide" Target="slides/slide42.xml"/><Relationship Id="rId24" Type="http://schemas.openxmlformats.org/officeDocument/2006/relationships/slide" Target="slides/slide12.xml"/><Relationship Id="rId25" Type="http://schemas.openxmlformats.org/officeDocument/2006/relationships/slide" Target="slides/slide15.xml"/><Relationship Id="rId26" Type="http://schemas.openxmlformats.org/officeDocument/2006/relationships/slide" Target="slides/slide19.xml"/><Relationship Id="rId27" Type="http://schemas.openxmlformats.org/officeDocument/2006/relationships/slide" Target="slides/slide23.xml"/><Relationship Id="rId28" Type="http://schemas.openxmlformats.org/officeDocument/2006/relationships/slide" Target="slides/slide29.xml"/><Relationship Id="rId29" Type="http://schemas.openxmlformats.org/officeDocument/2006/relationships/slide" Target="slides/slide2.xml"/><Relationship Id="rId30" Type="http://schemas.openxmlformats.org/officeDocument/2006/relationships/slide" Target="slides/slide40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font" Target="fonts/Roboto-regular.fntdata"/><Relationship Id="rId44" Type="http://schemas.openxmlformats.org/officeDocument/2006/relationships/font" Target="fonts/Roboto-bold.fntdata"/><Relationship Id="rId45" Type="http://schemas.openxmlformats.org/officeDocument/2006/relationships/font" Target="fonts/Roboto-italic.fntdata"/><Relationship Id="rId46" Type="http://schemas.openxmlformats.org/officeDocument/2006/relationships/font" Target="fonts/Roboto-boldItalic.fntdata"/><Relationship Id="rId47" Type="http://schemas.openxmlformats.org/officeDocument/2006/relationships/font" Target="fonts/VT323-regular.fntdata"/><Relationship Id="rId48" Type="http://schemas.openxmlformats.org/officeDocument/2006/relationships/font" Target="fonts/RobotoLight-regular.fntdata"/><Relationship Id="rId49" Type="http://schemas.openxmlformats.org/officeDocument/2006/relationships/font" Target="fonts/RobotoLight-bold.fntdata"/><Relationship Id="rId50" Type="http://schemas.openxmlformats.org/officeDocument/2006/relationships/font" Target="fonts/RobotoLight-italic.fntdata"/><Relationship Id="rId51" Type="http://schemas.openxmlformats.org/officeDocument/2006/relationships/font" Target="fonts/RobotoLight-boldItalic.fntdata"/><Relationship Id="rId52" Type="http://schemas.openxmlformats.org/officeDocument/2006/relationships/slide" Target="slides/slide39.xml"/><Relationship Id="rId53" Type="http://schemas.openxmlformats.org/officeDocument/2006/relationships/slide" Target="slides/slide41.xml"/><Relationship Id="rId54" Type="http://schemas.openxmlformats.org/officeDocument/2006/relationships/slide" Target="slides/slide6.xml"/><Relationship Id="rId55" Type="http://schemas.openxmlformats.org/officeDocument/2006/relationships/slide" Target="slides/slide25.xml"/><Relationship Id="rId56" Type="http://schemas.openxmlformats.org/officeDocument/2006/relationships/slide" Target="slides/slide7.xml"/><Relationship Id="rId57" Type="http://schemas.openxmlformats.org/officeDocument/2006/relationships/slide" Target="slides/slide24.xml"/><Relationship Id="rId58" Type="http://schemas.openxmlformats.org/officeDocument/2006/relationships/slide" Target="slides/slide26.xml"/><Relationship Id="rId59" Type="http://schemas.openxmlformats.org/officeDocument/2006/relationships/slide" Target="slides/slide27.xml"/><Relationship Id="rId60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Snake. The main topic: assets as data.</a:t>
            </a:r>
          </a:p>
          <a:p>
            <a:r>
              <a:t>Start by playing the finished game, Snake9,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f6ac40e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c8f6ac40e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Snake9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8f6ac40e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8f6ac40e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Today’s main topic is assets as data. The art, the animations and the room are described in XML, and the code only reads them.</a:t>
            </a:r>
          </a:p>
          <a:p>
            <a:r>
              <a:t>Then movement on a fixed tick, and input as actions.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a5c6b6b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a5c6b6b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gar-games/03-snake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24a6071b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a24a6071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Many small images: a texture switch for every draw. One atlas: one texture, many regions. Fewer switches, faster drawing, one file to manage.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bd7a28f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bd7a28f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whole game’s art in one image.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b92a6f95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b92a6f95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region: a rectangle inside the atlas, with a name. We no longer reference a Texture2D directly; we ask the atlas for a region.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b92a6f95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b92a6f95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Snake0 and Snake1 side by side (a diff tool, or two editor panes), then run Snake1.</a:t>
            </a:r>
          </a:p>
          <a:p>
            <a:r>
              <a:t>- the hardcoded rectangles become names in atlas-definition.xml</a:t>
            </a:r>
          </a:p>
          <a:p>
            <a:r>
              <a:t>- TextureAtlas.FromFile reads the XML</a:t>
            </a:r>
          </a:p>
          <a:p>
            <a:r>
              <a:t>- Game1 asks for regions by name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bd7a28ff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bd7a28ff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sprite: a region plus how to draw it (rotation, scale, colour, origin). Point at the labels on the picture.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d7a28f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d7a28f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Snake1 and Snake2 side by side (a diff tool, or two editor panes), then run Snake2.</a:t>
            </a:r>
          </a:p>
          <a:p>
            <a:r>
              <a:t>- the Sprite class in GARCore</a:t>
            </a:r>
          </a:p>
          <a:p>
            <a:r>
              <a:t>- drawing through a sprite instead of the region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a047858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a047858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Where art comes from: draw it yourself (Aseprite is a good pixel editor), or use free packs with a clear licence.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a24a6071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a24a6071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An animation: a list of regions and a delay. The head at the bottom plays the frames above: five with its eyes open, one with them closed, so it blinks.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2a6f95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2a6f95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Snake2 and Snake3 side by side (a diff tool, or two editor panes), then run Snake3.</a:t>
            </a:r>
          </a:p>
          <a:p>
            <a:r>
              <a:t>- the Animations section of the XML</a:t>
            </a:r>
          </a:p>
          <a:p>
            <a:r>
              <a:t>- AnimatedSprite advancing frames with elapsed time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7 minutes. Speed: TickDuration in Snake. Keys: GameController only.</a:t>
            </a:r>
          </a:p>
          <a:p>
            <a:r>
              <a:t>If there is time: press two turns within one tick in Snake6, then in Snake7, and compare.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original: Snake. Ask who has played it, and what they remember of how it plays.</a:t>
            </a:r>
          </a:p>
          <a:p>
            <a:r>
              <a:t>Today we build the parts that matter for the architecture.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project groups five minutes with these questions.</a:t>
            </a:r>
          </a:p>
          <a:p>
            <a:r>
              <a:t>Ask two groups to share one answer each, and push them to name actual classes and files.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Frames are uneven; the accumulator collects their time. Every time it passes a tick, the snake moves once and one tick is subtracted.</a:t>
            </a:r>
          </a:p>
          <a:p>
            <a:r>
              <a:t>Ask: what happens on a long frame? Answer: two moves in one frame, so the snake keeps its speed.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fast students: pull the tick timer out into a reusable FixedTimer in GARCore.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open Snake5 and Snake7 side by side (a diff tool, or two editor panes), then run Snake7.</a:t>
            </a:r>
          </a:p>
          <a:p>
            <a:r>
              <a:t>- Snake5: the tick accumulator</a:t>
            </a:r>
          </a:p>
          <a:p>
            <a:r>
              <a:t>- Snake6: GameController</a:t>
            </a:r>
          </a:p>
          <a:p>
            <a:r>
              <a:t>- Snake7: the queue of turns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game asks for Up, never for W. The keys live in one place, GameController.</a:t>
            </a:r>
          </a:p>
          <a:p>
            <a:r>
              <a:t>Ask: what changes to support a gamepad? Answer: only GameController.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snake moves one cell per tick, however fast the game runs. The accumulator collects real time.</a:t>
            </a:r>
          </a:p>
          <a:p>
            <a:r>
              <a:t>Ask: why subtract the tick, not reset to zero? Answer: the leftover time carries over, so ticks stay even.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Why prefer a texture atlas over many individual image files?</a:t>
            </a:r>
          </a:p>
          <a:p>
            <a:r>
              <a:t>A: Drawing from one texture lets SpriteBatch batch many sprites into few draw calls. Switching textures between draws breaks the batch and costs performance.</a:t>
            </a:r>
          </a:p>
          <a:p/>
          <a:p>
            <a:r>
              <a:t>Q: Why subtract the tick duration from the accumulator instead of resetting it to zero?</a:t>
            </a:r>
          </a:p>
          <a:p>
            <a:r>
              <a:t>A: The leftover time carries over to the next tick. Resetting it would throw away a bit of time every tick, so the ticks would drift and depend on the frame rate.</a:t>
            </a:r>
          </a:p>
          <a:p/>
          <a:p>
            <a:r>
              <a:t>Q: What problems come from reading the keyboard directly inside gameplay code?</a:t>
            </a:r>
          </a:p>
          <a:p>
            <a:r>
              <a:t>A: Keys are hardcoded throughout the game, so rebinding, supporting a gamepad or letting an AI drive the same entity means editing gameplay code in many places.</a:t>
            </a:r>
          </a:p>
          <a:p/>
          <a:p>
            <a:r>
              <a:t>Q: Why check a buffered turn against the last buffered direction?</a:t>
            </a:r>
          </a:p>
          <a:p>
            <a:r>
              <a:t>A: The snake only turns on the next tick. Checking against its current direction would allow two quick turns that together reverse it into its own neck.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it out: press Up then Left quickly between two ticks. Keep only the last key and the Up is lost.</a:t>
            </a:r>
          </a:p>
          <a:p>
            <a:r>
              <a:t>Queue them instead, at most two. Same idea as a jump pressed just before landing.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three questions on the right, and let the class answer each.</a:t>
            </a:r>
          </a:p>
          <a:p>
            <a:r>
              <a:t>Answer: none of them need C#. A faster animation is a delay, an extra frame is a Frame line, a new room is the tilemap file.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pipeline left to right. The new part: all steps share one Content project.</a:t>
            </a:r>
          </a:p>
          <a:p>
            <a:r>
              <a:t>Show Builder.cs: PNGs become textures, XML is copied as it is.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b190ae9b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b190ae9b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levels: distance, shapes (boxes, circles), polygons. Use the simplest that looks right.</a:t>
            </a:r>
          </a:p>
          <a:p>
            <a:r>
              <a:t>AABB, Circles</a:t>
            </a:r>
          </a:p>
          <a:p>
            <a:r>
              <a:t>Complex polygon checks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a24a6071b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a24a6071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 the question: why not Vector2.Distance? Answer: it takes a square root. Compare squared distances instead: same answer, cheaper.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a24a6071b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a24a6071b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Circles or rectangles? Circles for round and rotating things; rectangles for boxes and tiles. Pick per object.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b190ae9b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b190ae9b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Detection says they touch; response says what happens: block, trigger, or bounce (Vector2.Reflect).</a:t>
            </a:r>
          </a:p>
          <a:p>
            <a:r>
              <a:t>Blocking to prevent objects from overlapping</a:t>
            </a:r>
          </a:p>
          <a:p>
            <a:r>
              <a:t>Triggering events when objects collide</a:t>
            </a:r>
          </a:p>
          <a:p>
            <a:r>
              <a:t>Bouncing to reflect objects off surfaces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b190ae9b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b190ae9b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pair: n(n−1)/2 checks. 100 objects, 4,950 checks a frame. Broad phase first (cheap, rough), narrow phase only for candidates.</a:t>
            </a:r>
          </a:p>
          <a:p>
            <a:r>
              <a:t>Vampire Survivors comes back to this with a grid.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8f6ac40e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8f6ac40e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Rectangles: MonoGame has Intersects. Circles: we add a Circle struct to GARCore.</a:t>
            </a:r>
          </a:p>
          <a:p>
            <a:r>
              <a:t>Ask the question. Answer: squaring is cheap, square roots are not, and the comparison gives the same result.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bd7a28ff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bd7a28ff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Snake8 and Snake9 side by side (a diff tool, or two editor panes), then run Snake9.</a:t>
            </a:r>
          </a:p>
          <a:p>
            <a:r>
              <a:t>- eating the food grows the snake and adds a point</a:t>
            </a:r>
          </a:p>
          <a:p>
            <a:r>
              <a:t>- hitting itself or a wall ends the game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b92a6f9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b92a6f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tileset: an image cut into equal tiles, numbered left to right, top to bottom.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b92a6f95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b92a6f9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numbers in the middle are the room. Find tile 4 (the floor) and the four corners together.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b92a6f95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b92a6f95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Snake3 and Snake4 side by side (a diff tool, or two editor panes), then run Snake4.</a:t>
            </a:r>
          </a:p>
          <a:p>
            <a:r>
              <a:t>- tilemap-definition.xml</a:t>
            </a:r>
          </a:p>
          <a:p>
            <a:r>
              <a:t>- Tilemap.FromFile</a:t>
            </a:r>
          </a:p>
          <a:p>
            <a:r>
              <a:t>- change one number, rebuild, and watch the room change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b92a6f95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b92a6f95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the bug is drawn in the atlas but not described. Two regions and an animation in the XML, then one line of C# (the animation name).</a:t>
            </a:r>
          </a:p>
          <a:p>
            <a:r>
              <a:t>Ask afterwards: how much C# did you change? One string. And for a bug next to the food? A lot: Game1 handles the food by name (its field, its respawn, its collision). Data can’t fix that; it’s the next architecture problem.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bd7a28ff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bd7a28ff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Start from Snake9. Ask for the speed-up exercise: where does that rule belong? In the snake, or in the game?</a:t>
            </a:r>
          </a:p>
          <a:p>
            <a:r>
              <a:t>Gamepad: a press needs last frame’s state, so it goes through a GamePadInfo in GARCore. In the game, only GameController changes. Geometry Wars has a finished GamePadInfo to compare with.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minutes, in Snake4.</a:t>
            </a:r>
          </a:p>
          <a:p>
            <a:r>
              <a:t>The new wall doesn’t stop the snake: the tilemap is only a picture, and the room’s Rectangle decides. Answer for the 9: the tileset has 9 tiles (0 to 8), so the game fails when it draws the room. Same lesson as the misspelled region: data errors appear at runtime.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minutes, in Snake3. The delay attribute and one more Frame line. Ask afterwards: how much C# did you change? None.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The rotation speed is a constant at the top of Game1; the scale is set in LoadContent.</a:t>
            </a:r>
          </a:p>
          <a:p>
            <a:r>
              <a:t>Answer: without CenterOrigin the head spins around its top-left corner, because the origin is where rotation and scale start from.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minutes, in Snake1. Moving the food-1 rectangle is enough; no C#.</a:t>
            </a:r>
          </a:p>
          <a:p>
            <a:r>
              <a:t>Ask about the misspelling. Answer: the game stops at start-up (the atlas looks names up in a dictionary). A mistake in data only shows up when the game runs.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broad phase is cheap and rough: boxes around the shapes, and only pairs whose boxes overlap go on.</a:t>
            </a:r>
          </a:p>
          <a:p>
            <a:r>
              <a:t>The narrow phase runs the exact check on those pairs only. Vampire Survivors builds a broad phase, with a grid.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3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Metamate/gar-games/tree/main/03-snak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Metamate/gmd2-snak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1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4" Type="http://schemas.openxmlformats.org/officeDocument/2006/relationships/image" Target="../media/image29.png"/><Relationship Id="rId5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monogame.net/api/Microsoft.Xna.Framework.Vector2.html#Microsoft_Xna_Framework_Vector2_Distance_Microsoft_Xna_Framework_Vector2_Microsoft_Xna_Framework_Vector2_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4" Type="http://schemas.openxmlformats.org/officeDocument/2006/relationships/hyperlink" Target="https://docs.monogame.net/api/Microsoft.Xna.Framework.Vector2.html#Microsoft_Xna_Framework_Vector2_Reflect_Microsoft_Xna_Framework_Vector2_Microsoft_Xna_Framework_Vector2_" TargetMode="External"/><Relationship Id="rId5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monogame.net/api/Microsoft.Xna.Framework.Rectangle.html#Microsoft_Xna_Framework_Rectangle_Intersects_Microsoft_Xna_Framework_Rectangle_" TargetMode="External"/><Relationship Id="rId4" Type="http://schemas.openxmlformats.org/officeDocument/2006/relationships/hyperlink" Target="https://docs.monogame.net/api/Microsoft.Xna.Framework.Rectangle.html#Microsoft_Xna_Framework_Rectangle_Contains_Microsoft_Xna_Framework_Rectangle_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mapeditor.org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03: Snake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5615"/>
            <a:ext cx="8520600" cy="572700"/>
          </a:xfrm>
        </p:spPr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</a:t>
            </a:r>
            <a:endParaRPr/>
          </a:p>
        </p:txBody>
      </p:sp>
      <p:pic>
        <p:nvPicPr>
          <p:cNvPr id="3" name="Picture 2" descr="snak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Snake goes back to Blockade (Gremlin, 1976). Image: Ustone07, CC BY-SA 3.0, via Wikimedia Commons.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46" name="Picture 46" descr="snak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087" y="1626274"/>
            <a:ext cx="5451824" cy="30666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885950"/>
            <a:ext cx="8520600" cy="244144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Main topic: Assets as data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Assets as Data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Texture Atlases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Sprites &amp; Animation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Tilemaps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Fixed-Tick Movement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Input as Actions &amp; Buffering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Collision Detection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03-snake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(Snake0 to Snake9),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Content Builder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One Content project, shared by every step. Builder.cs decides what happens to each file.</a:t>
            </a:r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11480" y="160020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Content/Assets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images, XML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304288" y="203454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560320" y="160020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Builder.cs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rules, in C#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453127" y="2034540"/>
            <a:ext cx="237745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709159" y="160020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The content builder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runs on build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601967" y="2034540"/>
            <a:ext cx="237745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857999" y="160020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bin/.../Content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.xnb files, XML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26974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PNG images become textures (magenta is see-through). XML definitions are copied as they 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Assets as Data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XML describes the assets; the code only reads it.</a:t>
            </a:r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411480" y="1371600"/>
            <a:ext cx="4937760" cy="237744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300" b="0">
                <a:solidFill>
                  <a:srgbClr val="DEE2E6"/>
                </a:solidFill>
              </a:rPr>
              <a:t>&lt;Region name="head-1" x="8" y="0" width="7" height="7"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&lt;Region name="head-2" x="16" y="0" width="7" height="7"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&lt;Animation name="head-animation" delay="250"&gt;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    &lt;Frame region="head-1"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    &lt;Frame region="head-1"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    &lt;Frame region="head-1"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    &lt;Frame region="head-1"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    &lt;Frame region="head-1"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    &lt;Frame region="head-2" /&gt;</a:t>
            </a:r>
          </a:p>
          <a:p>
            <a:pPr algn="l"/>
            <a:r>
              <a:rPr sz="1300" b="0">
                <a:solidFill>
                  <a:srgbClr val="DEE2E6"/>
                </a:solidFill>
              </a:rPr>
              <a:t>&lt;/Animation&gt;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577840" y="14630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EE2E6"/>
                </a:solidFill>
              </a:rPr>
              <a:t>A faster animation?</a:t>
            </a:r>
          </a:p>
          <a:p>
            <a:pPr algn="l"/>
            <a:r>
              <a:rPr sz="1700" b="1" i="0">
                <a:solidFill>
                  <a:srgbClr val="DEE2E6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DEE2E6"/>
                </a:solidFill>
              </a:rPr>
              <a:t>An extra frame?</a:t>
            </a:r>
          </a:p>
          <a:p>
            <a:pPr algn="l"/>
            <a:r>
              <a:rPr sz="1700" b="1" i="0">
                <a:solidFill>
                  <a:srgbClr val="DEE2E6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DEE2E6"/>
                </a:solidFill>
              </a:rPr>
              <a:t>A new room?</a:t>
            </a:r>
          </a:p>
          <a:p>
            <a:pPr algn="l"/>
            <a:r>
              <a:rPr sz="1700" b="1" i="0">
                <a:solidFill>
                  <a:srgbClr val="DEE2E6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DEE2E6"/>
                </a:solidFill>
              </a:rPr>
              <a:t>Which of these need a C# change?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Texture Rendering</a:t>
            </a:r>
            <a:endParaRPr/>
          </a:p>
        </p:txBody>
      </p:sp>
      <p:pic>
        <p:nvPicPr>
          <p:cNvPr id="64" name="Picture 73" descr="single_food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2325" y="1969050"/>
            <a:ext cx="450000" cy="450000"/>
          </a:xfrm>
          <a:prstGeom prst="rect">
            <a:avLst/>
          </a:prstGeom>
        </p:spPr>
      </p:pic>
      <p:pic>
        <p:nvPicPr>
          <p:cNvPr id="65" name="Picture 73" descr="single_bo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25" y="1969050"/>
            <a:ext cx="450000" cy="450000"/>
          </a:xfrm>
          <a:prstGeom prst="rect">
            <a:avLst/>
          </a:prstGeom>
        </p:spPr>
      </p:pic>
      <p:pic>
        <p:nvPicPr>
          <p:cNvPr id="66" name="Picture 73" descr="single_hea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26" y="1969050"/>
            <a:ext cx="450000" cy="450000"/>
          </a:xfrm>
          <a:prstGeom prst="rect">
            <a:avLst/>
          </a:prstGeom>
        </p:spPr>
      </p:pic>
      <p:pic>
        <p:nvPicPr>
          <p:cNvPr id="67" name="Picture 73" descr="atl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1737360"/>
            <a:ext cx="2926080" cy="1828800"/>
          </a:xfrm>
          <a:prstGeom prst="rect">
            <a:avLst/>
          </a:prstGeom>
        </p:spPr>
      </p:pic>
      <p:pic>
        <p:nvPicPr>
          <p:cNvPr id="68" name="Picture 73" descr="single_digi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887" y="1969050"/>
            <a:ext cx="450000" cy="450000"/>
          </a:xfrm>
          <a:prstGeom prst="rect">
            <a:avLst/>
          </a:prstGeom>
        </p:spPr>
      </p:pic>
      <p:sp>
        <p:nvSpPr>
          <p:cNvPr id="69" name="Google Shape;69;p13"/>
          <p:cNvSpPr txBox="1"/>
          <p:nvPr/>
        </p:nvSpPr>
        <p:spPr>
          <a:xfrm>
            <a:off x="284645" y="2439050"/>
            <a:ext cx="82296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body.png</a:t>
            </a:r>
            <a:endParaRPr sz="9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000246" y="2439050"/>
            <a:ext cx="82296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head1.png</a:t>
            </a:r>
            <a:endParaRPr sz="9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715845" y="2439050"/>
            <a:ext cx="82296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food1.png</a:t>
            </a:r>
            <a:endParaRPr sz="9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498407" y="2439050"/>
            <a:ext cx="82296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digit0.png</a:t>
            </a:r>
            <a:endParaRPr sz="9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699640" y="3657600"/>
            <a:ext cx="670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atlas</a:t>
            </a:r>
            <a:r>
              <a:rPr lang="en" sz="9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.png</a:t>
            </a:r>
            <a:endParaRPr sz="9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Texture Atlas</a:t>
            </a:r>
            <a:endParaRPr/>
          </a:p>
        </p:txBody>
      </p:sp>
      <p:pic>
        <p:nvPicPr>
          <p:cNvPr id="79" name="Picture 79" descr="at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258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Texture Region</a:t>
            </a:r>
            <a:endParaRPr/>
          </a:p>
        </p:txBody>
      </p:sp>
      <p:pic>
        <p:nvPicPr>
          <p:cNvPr id="85" name="Picture 87" descr="at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25880"/>
            <a:ext cx="3657600" cy="2286000"/>
          </a:xfrm>
          <a:prstGeom prst="rect">
            <a:avLst/>
          </a:prstGeom>
        </p:spPr>
      </p:pic>
      <p:sp>
        <p:nvSpPr>
          <p:cNvPr id="86" name="Google Shape;86;p15"/>
          <p:cNvSpPr/>
          <p:nvPr/>
        </p:nvSpPr>
        <p:spPr>
          <a:xfrm>
            <a:off x="3172968" y="1298448"/>
            <a:ext cx="454914" cy="454914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7" name="Google Shape;87;p15"/>
          <p:cNvCxnSpPr>
            <a:endCxn id="86" idx="0"/>
          </p:cNvCxnSpPr>
          <p:nvPr/>
        </p:nvCxnSpPr>
        <p:spPr>
          <a:xfrm>
            <a:off x="2737668" y="847848"/>
            <a:ext cx="435300" cy="450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Texture Atlas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 sz="2900">
              <a:latin typeface="VT323"/>
              <a:ea typeface="VT323"/>
              <a:cs typeface="VT323"/>
              <a:sym typeface="VT32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Snake0 → Snake1: from hardcoded rectangles to a texture atlas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Regions by Name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Snake1, only atlas-definition.xml changes: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Draw the food with its second frame (x 32, y 0)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 misspell food-1 in the XML. What happens, and when?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Sprites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885950"/>
            <a:ext cx="2205000" cy="3024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Texture (region)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Rotation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Scale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Color mask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Origin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Sprite effects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Layer depth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Width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Height</a:t>
            </a:r>
            <a:endParaRPr/>
          </a:p>
        </p:txBody>
      </p:sp>
      <p:pic>
        <p:nvPicPr>
          <p:cNvPr id="100" name="Picture 105" descr="spr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224" y="1282475"/>
            <a:ext cx="2187550" cy="2187550"/>
          </a:xfrm>
          <a:prstGeom prst="rect">
            <a:avLst/>
          </a:prstGeom>
        </p:spPr>
      </p:pic>
      <p:sp>
        <p:nvSpPr>
          <p:cNvPr id="101" name="Google Shape;101;p17"/>
          <p:cNvSpPr txBox="1"/>
          <p:nvPr/>
        </p:nvSpPr>
        <p:spPr>
          <a:xfrm>
            <a:off x="6336200" y="975875"/>
            <a:ext cx="1431300" cy="42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CenterOrigin()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076775" y="3378325"/>
            <a:ext cx="2621100" cy="42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Draw(Spritebatch, Vector2)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03" name="Google Shape;103;p17"/>
          <p:cNvCxnSpPr>
            <a:stCxn id="100" idx="1"/>
            <a:endCxn id="99" idx="3"/>
          </p:cNvCxnSpPr>
          <p:nvPr/>
        </p:nvCxnSpPr>
        <p:spPr>
          <a:xfrm rot="10800000">
            <a:off x="2516713" y="2398435"/>
            <a:ext cx="1026600" cy="34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>
            <a:stCxn id="100" idx="3"/>
            <a:endCxn id="101" idx="1"/>
          </p:cNvCxnSpPr>
          <p:nvPr/>
        </p:nvCxnSpPr>
        <p:spPr>
          <a:xfrm flipH="1" rot="10800000">
            <a:off x="5600684" y="1186164"/>
            <a:ext cx="735600" cy="81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>
            <a:stCxn id="100" idx="2"/>
            <a:endCxn id="102" idx="1"/>
          </p:cNvCxnSpPr>
          <p:nvPr/>
        </p:nvCxnSpPr>
        <p:spPr>
          <a:xfrm>
            <a:off x="4943684" y="3404935"/>
            <a:ext cx="1133100" cy="18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Sprite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Snake2: sprites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Sprite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Snake2: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head bigger, and spin it the other way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 remove CenterOrigin(). What changes, and why?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Sprite Art</a:t>
            </a:r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EE2E6"/>
                </a:solidFill>
              </a:rPr>
              <a:t>Draw it yourself, in a pixel editor such as Aseprite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AA3AB"/>
                </a:solidFill>
              </a:rPr>
              <a:t>Or use a free pack with a clear licence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Animation</a:t>
            </a:r>
            <a:endParaRPr/>
          </a:p>
        </p:txBody>
      </p:sp>
      <p:pic>
        <p:nvPicPr>
          <p:cNvPr id="123" name="Picture 122" descr="ani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1051560"/>
            <a:ext cx="8503920" cy="3188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Animation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Snake3: animated sprites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Animation Speed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the XML only: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food pulse twice as fast, and the head blink less often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 the food’s animation one more frame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Tileset</a:t>
            </a:r>
            <a:endParaRPr/>
          </a:p>
        </p:txBody>
      </p:sp>
      <p:pic>
        <p:nvPicPr>
          <p:cNvPr id="266" name="Picture 267" descr="tile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287" y="1247650"/>
            <a:ext cx="3048000" cy="3048000"/>
          </a:xfrm>
          <a:prstGeom prst="rect">
            <a:avLst/>
          </a:prstGeom>
        </p:spPr>
      </p:pic>
      <p:pic>
        <p:nvPicPr>
          <p:cNvPr id="267" name="Picture 267" descr="tileset_numb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12" y="1247650"/>
            <a:ext cx="3048000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Room: A Tilemap</a:t>
            </a:r>
            <a:endParaRPr/>
          </a:p>
        </p:txBody>
      </p:sp>
      <p:pic>
        <p:nvPicPr>
          <p:cNvPr id="273" name="Picture 275" descr="tileset_numb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50" y="1528500"/>
            <a:ext cx="2725150" cy="2725150"/>
          </a:xfrm>
          <a:prstGeom prst="rect">
            <a:avLst/>
          </a:prstGeom>
        </p:spPr>
      </p:pic>
      <p:sp>
        <p:nvSpPr>
          <p:cNvPr id="274" name="Google Shape;274;p42"/>
          <p:cNvSpPr txBox="1"/>
          <p:nvPr>
            <p:ph idx="4294967295" type="body"/>
          </p:nvPr>
        </p:nvSpPr>
        <p:spPr>
          <a:xfrm>
            <a:off x="3749613" y="2239625"/>
            <a:ext cx="1183800" cy="13029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00 01 01 01 02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03 04 04 04 05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03 04 04 04 05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06 07 07 07 08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5" name="Picture 275" descr="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925" y="1454255"/>
            <a:ext cx="3397050" cy="271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Tilemap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Snake4: the room, drawn from tilemap-definition.xml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New Room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tilemap-definition.xml: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Rearrange the room: draw a wall across the middle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 put a 9 in it. What happens, and when?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Fixed-Tick Movement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snake jumps one cell at a time, however fast the game runs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An accumulator collects real time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Move once for every full tick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Subtract, don’t reset: leftover time carries over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Pong’s fixed timestep, in practice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TimeSpan TickDuration =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TimeSpan.FromMilliseconds(100);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void Update(GameTime gameTime)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_elapsed += gameTime.ElapsedGameTime;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while (_elapsed &gt;= TickDuration)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_elapsed -= TickDuration;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Move();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Accumulator</a:t>
            </a:r>
            <a:endParaRPr/>
          </a:p>
        </p:txBody>
      </p:sp>
      <p:pic>
        <p:nvPicPr>
          <p:cNvPr id="3" name="Picture 2" descr="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1" y="1051560"/>
            <a:ext cx="8423237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as Actions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Snake5 reads the keys directly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Keys are hardwired to what they do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GameController maps keys to actions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 game asks for “up”, never for W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 controls live in one place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Sokoban goes one step further: actions become objects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static class GameController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static bool Up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WasPressed(Keys.W) ||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WasPressed(Keys.Up);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// Down, Left, Right...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In the game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if (GameController.Up)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_snake.Turn(Direction.Up);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Input Buffering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snake acts once per tick; the player can press twice between two ticks.</a:t>
            </a:r>
            <a:endParaRPr/>
          </a:p>
        </p:txBody>
      </p:sp>
      <p:cxnSp>
        <p:nvCxnSpPr>
          <p:cNvPr id="295" name="Connector 294"/>
          <p:cNvCxnSpPr/>
          <p:nvPr/>
        </p:nvCxnSpPr>
        <p:spPr>
          <a:xfrm>
            <a:off x="548640" y="2011680"/>
            <a:ext cx="7955280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Rectangle 295"/>
          <p:cNvSpPr/>
          <p:nvPr/>
        </p:nvSpPr>
        <p:spPr>
          <a:xfrm>
            <a:off x="1051560" y="1783080"/>
            <a:ext cx="91440" cy="457200"/>
          </a:xfrm>
          <a:prstGeom prst="rect">
            <a:avLst/>
          </a:prstGeom>
          <a:solidFill>
            <a:srgbClr val="D45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400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3AB"/>
                </a:solidFill>
              </a:rPr>
              <a:t>tick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452359" y="1783080"/>
            <a:ext cx="91440" cy="457200"/>
          </a:xfrm>
          <a:prstGeom prst="rect">
            <a:avLst/>
          </a:prstGeom>
          <a:solidFill>
            <a:srgbClr val="D45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7040879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3AB"/>
                </a:solidFill>
              </a:rPr>
              <a:t>tick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2880360" y="1325880"/>
            <a:ext cx="82296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Up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3291840" y="1755648"/>
            <a:ext cx="0" cy="210312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ounded Rectangle 301"/>
          <p:cNvSpPr/>
          <p:nvPr/>
        </p:nvSpPr>
        <p:spPr>
          <a:xfrm>
            <a:off x="4709159" y="1325880"/>
            <a:ext cx="822960" cy="411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Left</a:t>
            </a:r>
          </a:p>
        </p:txBody>
      </p:sp>
      <p:cxnSp>
        <p:nvCxnSpPr>
          <p:cNvPr id="303" name="Connector 302"/>
          <p:cNvCxnSpPr/>
          <p:nvPr/>
        </p:nvCxnSpPr>
        <p:spPr>
          <a:xfrm>
            <a:off x="5120640" y="1755648"/>
            <a:ext cx="0" cy="210312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548640" y="27432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EE2E6"/>
                </a:solidFill>
              </a:rPr>
              <a:t>Keep only the last key:</a:t>
            </a:r>
          </a:p>
          <a:p>
            <a:pPr algn="l"/>
            <a:r>
              <a:rPr sz="1500" b="1" i="0">
                <a:solidFill>
                  <a:srgbClr val="DEE2E6"/>
                </a:solidFill>
              </a:rPr>
              <a:t>Left overwrites Up, and the turn is lost.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572000" y="27432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EE2E6"/>
                </a:solidFill>
              </a:rPr>
              <a:t>Queue them (at most two):</a:t>
            </a:r>
          </a:p>
          <a:p>
            <a:pPr algn="l"/>
            <a:r>
              <a:rPr sz="1500" b="1" i="0">
                <a:solidFill>
                  <a:srgbClr val="DEE2E6"/>
                </a:solidFill>
              </a:rPr>
              <a:t>Up on this tick, Left on the next.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The same trick lets a jump pressed just before landing still count.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Movement &amp; Input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Snake5 → Snake6 → Snake7: ticks, actions and buffering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Ticks and Keys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Snake7: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snake twice as fast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Add I, J, K and L as a third set of keys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file did each change need?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Detection</a:t>
            </a:r>
            <a:endParaRPr/>
          </a:p>
        </p:txBody>
      </p:sp>
      <p:pic>
        <p:nvPicPr>
          <p:cNvPr id="214" name="Picture 213" descr="cir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1051560"/>
            <a:ext cx="850392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Circle Collision Detection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5979175" y="629300"/>
            <a:ext cx="2290500" cy="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not </a:t>
            </a:r>
            <a:r>
              <a:rPr lang="en" u="sng">
                <a:solidFill>
                  <a:schemeClr val="hlink"/>
                </a:solidFill>
                <a:hlinkClick r:id="rId3"/>
              </a:rPr>
              <a:t>Vector2.Distance</a:t>
            </a:r>
            <a:r>
              <a:rPr lang="en"/>
              <a:t>?</a:t>
            </a:r>
            <a:endParaRPr/>
          </a:p>
        </p:txBody>
      </p:sp>
      <p:sp>
        <p:nvSpPr>
          <p:cNvPr id="222" name="Google Shape;222;p35"/>
          <p:cNvSpPr txBox="1"/>
          <p:nvPr>
            <p:ph idx="2" type="body"/>
          </p:nvPr>
        </p:nvSpPr>
        <p:spPr>
          <a:xfrm>
            <a:off x="2441649" y="1152475"/>
            <a:ext cx="6351900" cy="3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circle1Position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circle2Position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circle1Radius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circle2Radius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c^2 = 25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distanceSquared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DistanceSquared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circle1Position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circle2Position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r^2 = 100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radiiSquared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circle1Radius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circle2Radius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circle1Radius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circle2Radius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The circles overlap because 100 is greater than 25.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radiiSquared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distanceSquared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4" name="Google Shape;224;p35"/>
          <p:cNvCxnSpPr>
            <a:stCxn id="221" idx="2"/>
          </p:cNvCxnSpPr>
          <p:nvPr/>
        </p:nvCxnSpPr>
        <p:spPr>
          <a:xfrm flipH="1">
            <a:off x="5147125" y="1030100"/>
            <a:ext cx="1977300" cy="1596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Detection</a:t>
            </a:r>
            <a:endParaRPr/>
          </a:p>
        </p:txBody>
      </p:sp>
      <p:sp>
        <p:nvSpPr>
          <p:cNvPr id="230" name="Google Shape;230;p36"/>
          <p:cNvSpPr/>
          <p:nvPr/>
        </p:nvSpPr>
        <p:spPr>
          <a:xfrm>
            <a:off x="4946325" y="2352464"/>
            <a:ext cx="1582500" cy="103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2615175" y="2288264"/>
            <a:ext cx="1165800" cy="116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Response</a:t>
            </a:r>
            <a:endParaRPr/>
          </a:p>
        </p:txBody>
      </p:sp>
      <p:pic>
        <p:nvPicPr>
          <p:cNvPr id="237" name="Picture 236" descr="respon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1051560"/>
            <a:ext cx="850392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Collision Performance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885950"/>
            <a:ext cx="8520600" cy="13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Collision Detection is (often) the most expensive operation in a game engine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lang="en"/>
              <a:t> * (n - 1) /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objects =&gt; 100 * 99 / 2 = 4950 collision checks </a:t>
            </a:r>
            <a:r>
              <a:rPr lang="en" u="sng"/>
              <a:t>every frame</a:t>
            </a:r>
            <a:endParaRPr u="sng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Broad phase &amp; Narrow phase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Refactoring Collisions to GARCore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MonoGame checks rectangles for us; circles we add to GARCore.</a:t>
            </a:r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48640" y="1417320"/>
            <a:ext cx="8046720" cy="173736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DEE2E6"/>
                </a:solidFill>
                <a:latin typeface="Consolas"/>
              </a:rPr>
              <a:t>bool hit = a.Intersects(b);            // Rectangle: AABB, built in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public readonly record struct Circle   // GARCore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public bool Intersects(Circle other) =&gt; ...   // squared distances, no square root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}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Why compare squared distances?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Collision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Snake8 → Snake9: eating, growing and game over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Exercise: A Bug From Data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885950"/>
            <a:ext cx="8520600" cy="167335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bug is in the atlas image, but not in the data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Describe it in atlas-definition.xml: two regions, one animation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the snake eat a bug: which line of C# changes?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much C# did you change? And for a bug next to the food?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Snake9, the finished game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Speed up: make the tick shorter every time the snake eats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does that rule belong?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New input: the D-pad, through a GamePadInfo in GARCore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Pause: while paused, the snake doesn’t move and turns aren’t buffered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Exercise: Refactor (Stretch)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tick timer lives in the Snake class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Move it into a reusable FixedTimer class in GARCore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calls back on every tick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it for the snake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71907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prefer a texture atlas over many individual image files?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subtract the tick duration from the accumulator instead of resetting it?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problems come from reading the keyboard inside gameplay code?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check a buffered turn against the last buffered direction?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Apply It to Your Project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assets and settings are hardcoded, and could live in data files?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are the actions in your game?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 them separately from the keys and buttons that trigger them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Does anything in your game happen on a fixed tick?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 Phase and Narrow Phase</a:t>
            </a:r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051560"/>
            <a:ext cx="8503920" cy="377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