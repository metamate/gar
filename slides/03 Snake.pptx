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5" r:id="rId54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52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54" Type="http://schemas.openxmlformats.org/officeDocument/2006/relationships/slide" Target="slides/slide5.xml"/><Relationship Id="rId55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</a:t>
            </a:r>
            <a:r>
              <a:rPr lang="en"/>
              <a:t>no longer reference a Texture2D directly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54230080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54230080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is a behavioral design pattern that turns a request into a stand-alone object that contains all information about the request. This transformation lets you pass requests as a method arguments, delay or queue a request’s execution, and support undoable operations.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cbd7a28ff6_0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cbd7a28ff6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cbd7a28ff6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cbd7a28ff6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cbd7a28ff6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cbd7a28ff6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cb190ae9b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cb190ae9b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cbd7a28ff6_0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cbd7a28ff6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cbd7a28ff6_0_1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cbd7a28ff6_0_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cb190ae9b0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cb190ae9b0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cbd7a28ff6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cbd7a28ff6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cbd7a28ff6_0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cbd7a28ff6_0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cbd7a28ff6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cbd7a28ff6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Better for round objects like balls and coins.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accurate for rotating objects.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simpler check for overlap than rectangles.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Rectangle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Great for walls, platforms, and most game objects.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Easy to visualize and debug.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Works well with tile-based games.</a:t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Broad &amp; Narrow phase</a:t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Nominal vs. structural typing (records)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Nominal vs. structural typing (records)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md2-snake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Relationship Id="rId4" Type="http://schemas.openxmlformats.org/officeDocument/2006/relationships/image" Target="../media/image13.png"/><Relationship Id="rId5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Relationship Id="rId4" Type="http://schemas.openxmlformats.org/officeDocument/2006/relationships/image" Target="../media/image2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6087" y="1531275"/>
            <a:ext cx="5451825" cy="3256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Command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https://github.com/Metamate/gmd2-snake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Snake0 → Snake8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Snake8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content builder as in Pong and Flappy 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But here, all steps share one Content project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Content/Assets: the raw images and XML definitions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Content/Builder/Builder.cs: the build rules, in C#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rules decide how each asset is processed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PNG images are built into textures (magenta = transparent)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XML definitions are copied as they are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Google Shape;64;p13"/>
          <p:cNvPicPr preferRelativeResize="0"/>
          <p:nvPr/>
        </p:nvPicPr>
        <p:blipFill rotWithShape="1">
          <a:blip r:embed="rId3">
            <a:alphaModFix/>
          </a:blip>
          <a:srcRect b="80434" l="13614" r="79962" t="0"/>
          <a:stretch/>
        </p:blipFill>
        <p:spPr>
          <a:xfrm>
            <a:off x="2015375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 rotWithShape="1">
          <a:blip r:embed="rId3">
            <a:alphaModFix/>
          </a:blip>
          <a:srcRect b="80434" l="0" r="93577" t="0"/>
          <a:stretch/>
        </p:blipFill>
        <p:spPr>
          <a:xfrm>
            <a:off x="584175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 rotWithShape="1">
          <a:blip r:embed="rId3">
            <a:alphaModFix/>
          </a:blip>
          <a:srcRect b="80434" l="7433" r="86143" t="0"/>
          <a:stretch/>
        </p:blipFill>
        <p:spPr>
          <a:xfrm>
            <a:off x="1299776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6100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3"/>
          <p:cNvPicPr preferRelativeResize="0"/>
          <p:nvPr/>
        </p:nvPicPr>
        <p:blipFill rotWithShape="1">
          <a:blip r:embed="rId3">
            <a:alphaModFix/>
          </a:blip>
          <a:srcRect b="29607" l="84686" r="8891" t="59340"/>
          <a:stretch/>
        </p:blipFill>
        <p:spPr>
          <a:xfrm>
            <a:off x="2797937" y="2129314"/>
            <a:ext cx="223900" cy="223625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mario3.png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ground1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Google Shape;79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9075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Google Shape;8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9075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5"/>
          <p:cNvSpPr/>
          <p:nvPr/>
        </p:nvSpPr>
        <p:spPr>
          <a:xfrm>
            <a:off x="2812073" y="1527475"/>
            <a:ext cx="268200" cy="433500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2510873" y="1076875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Google Shape;10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1191950">
            <a:off x="3478224" y="1282475"/>
            <a:ext cx="2187550" cy="2187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Google Shape;123;p20" title="bat-animation-exampl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35" name="Google Shape;13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15688" y="813790"/>
            <a:ext cx="6512616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Problem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832400" y="1782800"/>
            <a:ext cx="3999900" cy="178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BUTTON_X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Jump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BUTTON_Y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FireGun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BUTTON_A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SwapWeapon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BUTTON_B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Lurch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42" name="Google Shape;142;p23"/>
          <p:cNvPicPr preferRelativeResize="0"/>
          <p:nvPr/>
        </p:nvPicPr>
        <p:blipFill rotWithShape="1">
          <a:blip r:embed="rId3">
            <a:alphaModFix/>
          </a:blip>
          <a:srcRect b="0" l="8498" r="28649" t="0"/>
          <a:stretch/>
        </p:blipFill>
        <p:spPr>
          <a:xfrm>
            <a:off x="144975" y="1782788"/>
            <a:ext cx="4512576" cy="22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pic>
        <p:nvPicPr>
          <p:cNvPr id="148" name="Google Shape;148;p24"/>
          <p:cNvPicPr preferRelativeResize="0"/>
          <p:nvPr/>
        </p:nvPicPr>
        <p:blipFill rotWithShape="1">
          <a:blip r:embed="rId3">
            <a:alphaModFix/>
          </a:blip>
          <a:srcRect b="0" l="6367" r="5074" t="0"/>
          <a:stretch/>
        </p:blipFill>
        <p:spPr>
          <a:xfrm>
            <a:off x="1126375" y="1319825"/>
            <a:ext cx="6993449" cy="267295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4"/>
          <p:cNvSpPr txBox="1"/>
          <p:nvPr/>
        </p:nvSpPr>
        <p:spPr>
          <a:xfrm>
            <a:off x="2684550" y="4402100"/>
            <a:ext cx="3774900" cy="4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“A command is a reified method call.”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pic>
        <p:nvPicPr>
          <p:cNvPr id="155" name="Google Shape;15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613" y="824490"/>
            <a:ext cx="8140770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11700" y="1463400"/>
            <a:ext cx="3039000" cy="11082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3564450" y="1463400"/>
            <a:ext cx="5139600" cy="313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FireCommand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LurchCommand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SwapCommand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569CD6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63" name="Google Shape;163;p26"/>
          <p:cNvSpPr txBox="1"/>
          <p:nvPr>
            <p:ph idx="1" type="body"/>
          </p:nvPr>
        </p:nvSpPr>
        <p:spPr>
          <a:xfrm>
            <a:off x="311700" y="2749300"/>
            <a:ext cx="3039000" cy="1848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: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69" name="Google Shape;16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011440"/>
            <a:ext cx="8839199" cy="16148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75" name="Google Shape;175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28340"/>
            <a:ext cx="8839201" cy="2286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Usage</a:t>
            </a:r>
            <a:endParaRPr/>
          </a:p>
        </p:txBody>
      </p:sp>
      <p:sp>
        <p:nvSpPr>
          <p:cNvPr id="181" name="Google Shape;181;p29"/>
          <p:cNvSpPr txBox="1"/>
          <p:nvPr>
            <p:ph idx="1" type="body"/>
          </p:nvPr>
        </p:nvSpPr>
        <p:spPr>
          <a:xfrm>
            <a:off x="311700" y="885950"/>
            <a:ext cx="1263900" cy="104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Undo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Redo</a:t>
            </a:r>
            <a:endParaRPr/>
          </a:p>
        </p:txBody>
      </p:sp>
      <p:pic>
        <p:nvPicPr>
          <p:cNvPr id="182" name="Google Shape;182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4950" y="322075"/>
            <a:ext cx="3864576" cy="2173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3175" y="2765500"/>
            <a:ext cx="3864576" cy="2173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24950" y="2765501"/>
            <a:ext cx="3864576" cy="2173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  <p:pic>
        <p:nvPicPr>
          <p:cNvPr id="190" name="Google Shape;19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723652"/>
            <a:ext cx="8839204" cy="16961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  <p:pic>
        <p:nvPicPr>
          <p:cNvPr id="196" name="Google Shape;196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7287" y="1418650"/>
            <a:ext cx="4289425" cy="310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4150" y="1958750"/>
            <a:ext cx="7015700" cy="1753925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Command Pattern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 → Snake5 → Snake6: polling, commands, undo/redo</a:t>
            </a:r>
            <a:endParaRPr sz="18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GMDCore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 need to add basic AABB collision detection to our library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Rectangle.Intersects(Rectangle)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Provided by MonoGame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performs an an AABB collision check for us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u="sng">
                <a:solidFill>
                  <a:schemeClr val="hlink"/>
                </a:solidFill>
                <a:hlinkClick r:id="rId4"/>
              </a:rPr>
              <a:t>Rectangle.Contains()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Checks if Rectangle/Vector2/Point is contained within the Rectangle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 Circles though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 Circle struct to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an Intersects(Ci</a:t>
            </a:r>
            <a:r>
              <a:rPr lang="en"/>
              <a:t>rcl</a:t>
            </a:r>
            <a:r>
              <a:rPr lang="en"/>
              <a:t>e) method for other Circles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Snake7: circle collision and bouncing</a:t>
            </a:r>
            <a:endParaRPr sz="18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Google Shape;266;p41"/>
          <p:cNvPicPr preferRelativeResize="0"/>
          <p:nvPr/>
        </p:nvPicPr>
        <p:blipFill rotWithShape="1">
          <a:blip r:embed="rId3">
            <a:alphaModFix/>
          </a:blip>
          <a:srcRect b="0" l="0" r="54225" t="0"/>
          <a:stretch/>
        </p:blipFill>
        <p:spPr>
          <a:xfrm>
            <a:off x="1238250" y="1247650"/>
            <a:ext cx="3052075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41"/>
          <p:cNvPicPr preferRelativeResize="0"/>
          <p:nvPr/>
        </p:nvPicPr>
        <p:blipFill rotWithShape="1">
          <a:blip r:embed="rId3">
            <a:alphaModFix/>
          </a:blip>
          <a:srcRect b="0" l="54225" r="0" t="0"/>
          <a:stretch/>
        </p:blipFill>
        <p:spPr>
          <a:xfrm>
            <a:off x="5040275" y="1247650"/>
            <a:ext cx="3052075" cy="304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</a:t>
            </a:r>
            <a:endParaRPr/>
          </a:p>
        </p:txBody>
      </p:sp>
      <p:pic>
        <p:nvPicPr>
          <p:cNvPr id="273" name="Google Shape;273;p42"/>
          <p:cNvPicPr preferRelativeResize="0"/>
          <p:nvPr/>
        </p:nvPicPr>
        <p:blipFill rotWithShape="1">
          <a:blip r:embed="rId3">
            <a:alphaModFix/>
          </a:blip>
          <a:srcRect b="16166" l="0" r="59830" t="16280"/>
          <a:stretch/>
        </p:blipFill>
        <p:spPr>
          <a:xfrm>
            <a:off x="633950" y="1516225"/>
            <a:ext cx="2725150" cy="274970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Google Shape;275;p42"/>
          <p:cNvPicPr preferRelativeResize="0"/>
          <p:nvPr/>
        </p:nvPicPr>
        <p:blipFill rotWithShape="1">
          <a:blip r:embed="rId3">
            <a:alphaModFix/>
          </a:blip>
          <a:srcRect b="7917" l="49925" r="0" t="8478"/>
          <a:stretch/>
        </p:blipFill>
        <p:spPr>
          <a:xfrm>
            <a:off x="5323925" y="1111575"/>
            <a:ext cx="3397050" cy="340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Snake8: tilemap and walls</a:t>
            </a:r>
            <a:endParaRPr sz="18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Custom Tilemap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24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(or create) a custom tilemap and apply it to the snake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will need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Texture (atlas)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Tilemap definition (xml-file)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Feel free to change the sprites and animations as well!</a:t>
            </a:r>
            <a:endParaRPr/>
          </a:p>
        </p:txBody>
      </p:sp>
      <p:pic>
        <p:nvPicPr>
          <p:cNvPr id="288" name="Google Shape;288;p4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04288" y="2252475"/>
            <a:ext cx="5135416" cy="270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Classic Snake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Snake8,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tail that grows every time the snake eats the bat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move continuously on a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Currently, movement only happens when a key is pressed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Continuous movement makes undo/redo pointless: remove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Colliding with the tail or a wall ends the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score that increments every time the snake eats the bat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Commands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eating a bat reverse the controls for five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Swap the commands, without touching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input buffering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quick Up-then-Left between two ticks shouldn’t lose the second key press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Queue direction commands and consume one per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Stretch: replay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Record every executed command with its tick number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After game over, replay the run from the start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rebinding, undo or replays?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Session: Project Kick-Off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Form groups of 1–3 students before next session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Think of a game you want to create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Take inspiration from classic games!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 mindful of scope (creep)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session is dedicated to getting your project started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Game concept, repository setup and a first architecture sketch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Your repository starts from the gar-starter template on GitHub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