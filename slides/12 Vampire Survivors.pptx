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323" r:id="rId33"/>
    <p:sldId id="298" r:id="rId57"/>
    <p:sldId id="320" r:id="rId36"/>
    <p:sldId id="299" r:id="rId58"/>
    <p:sldId id="300" r:id="rId59"/>
    <p:sldId id="301" r:id="rId60"/>
    <p:sldId id="319" r:id="rId37"/>
    <p:sldId id="302" r:id="rId61"/>
    <p:sldId id="322" r:id="rId34"/>
    <p:sldId id="303" r:id="rId62"/>
    <p:sldId id="304" r:id="rId63"/>
    <p:sldId id="305" r:id="rId64"/>
    <p:sldId id="318" r:id="rId38"/>
    <p:sldId id="306" r:id="rId65"/>
    <p:sldId id="307" r:id="rId66"/>
    <p:sldId id="308" r:id="rId67"/>
    <p:sldId id="309" r:id="rId68"/>
    <p:sldId id="321" r:id="rId35"/>
    <p:sldId id="310" r:id="rId69"/>
    <p:sldId id="311" r:id="rId70"/>
    <p:sldId id="312" r:id="rId71"/>
    <p:sldId id="317" r:id="rId39"/>
    <p:sldId id="313" r:id="rId72"/>
    <p:sldId id="324" r:id="rId32"/>
    <p:sldId id="314" r:id="rId73"/>
    <p:sldId id="280" r:id="rId30"/>
    <p:sldId id="325" r:id="rId31"/>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31.xml"/><Relationship Id="rId31" Type="http://schemas.openxmlformats.org/officeDocument/2006/relationships/slide" Target="slides/slide37.xml"/><Relationship Id="rId32" Type="http://schemas.openxmlformats.org/officeDocument/2006/relationships/slide" Target="slides/slide36.xml"/><Relationship Id="rId33" Type="http://schemas.openxmlformats.org/officeDocument/2006/relationships/slide" Target="slides/slide7.xml"/><Relationship Id="rId34" Type="http://schemas.openxmlformats.org/officeDocument/2006/relationships/slide" Target="slides/slide15.xml"/><Relationship Id="rId35" Type="http://schemas.openxmlformats.org/officeDocument/2006/relationships/slide" Target="slides/slide24.xml"/><Relationship Id="rId36" Type="http://schemas.openxmlformats.org/officeDocument/2006/relationships/slide" Target="slides/slide9.xml"/><Relationship Id="rId37" Type="http://schemas.openxmlformats.org/officeDocument/2006/relationships/slide" Target="slides/slide13.xml"/><Relationship Id="rId38" Type="http://schemas.openxmlformats.org/officeDocument/2006/relationships/slide" Target="slides/slide19.xml"/><Relationship Id="rId39" Type="http://schemas.openxmlformats.org/officeDocument/2006/relationships/slide" Target="slides/slide28.xml"/><Relationship Id="rId40" Type="http://schemas.openxmlformats.org/officeDocument/2006/relationships/slide" Target="slides/slide2.xml"/><Relationship Id="rId41" Type="http://schemas.openxmlformats.org/officeDocument/2006/relationships/slide" Target="slides/slide34.xml"/><Relationship Id="rId42" Type="http://schemas.openxmlformats.org/officeDocument/2006/relationships/slide" Target="slides/slide32.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3.xml"/><Relationship Id="rId53" Type="http://schemas.openxmlformats.org/officeDocument/2006/relationships/slide" Target="slides/slide35.xml"/><Relationship Id="rId56" Type="http://schemas.openxmlformats.org/officeDocument/2006/relationships/slide" Target="slides/slide6.xml"/><Relationship Id="rId57" Type="http://schemas.openxmlformats.org/officeDocument/2006/relationships/slide" Target="slides/slide8.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2.xml"/><Relationship Id="rId61" Type="http://schemas.openxmlformats.org/officeDocument/2006/relationships/slide" Target="slides/slide14.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5.xml"/><Relationship Id="rId70" Type="http://schemas.openxmlformats.org/officeDocument/2006/relationships/slide" Target="slides/slide26.xml"/><Relationship Id="rId71" Type="http://schemas.openxmlformats.org/officeDocument/2006/relationships/slide" Target="slides/slide27.xml"/><Relationship Id="rId72" Type="http://schemas.openxmlformats.org/officeDocument/2006/relationships/slide" Target="slides/slide29.xml"/><Relationship Id="rId73"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26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a:p>
            <a:r>
              <a:t>List&lt;Enemy&gt;: references to objects all over the heap</a:t>
            </a:r>
          </a:p>
          <a:p>
            <a:r>
              <a:t>A struct of arrays: each field packed together</a:t>
            </a:r>
          </a:p>
          <a:p>
            <a:r>
              <a:t>The CPU reads 64 bytes at a time,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each cell, find where it starts, copy each enemy into its cell's range. Three loops over plain arrays, nothing allocated.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can only overlap enemies near it. With a grid it only looks at its own cell and the eight around it.</a:t>
            </a:r>
          </a:p>
          <a:p>
            <a:r>
              <a:t>Ask: how big must a cell be? Answer: at least the biggest overlap, or neighbours in the next cell but one are missed.</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Twice the enemies, four times the checks. At 10,000 enemies that is 50 million pairs every step.</a:t>
            </a:r>
          </a:p>
          <a:p>
            <a:r>
              <a:t>No tuning inside the loop fixes that.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game. The run is separate from the states, so a level-up can pause it by sitting on top.</a:t>
            </a:r>
          </a:p>
          <a:p>
            <a:r>
              <a:t>Point at the three boxes marked arrays: those are the only data-oriented parts, because those are the only hot ones.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Every Pair</a:t>
            </a:r>
            <a:endParaRPr/>
          </a:p>
        </p:txBody>
      </p:sp>
      <p:pic>
        <p:nvPicPr>
          <p:cNvPr id="3" name="Picture 2" descr="pairs.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Uniform Grid</a:t>
            </a:r>
            <a:endParaRPr/>
          </a:p>
        </p:txBody>
      </p:sp>
      <p:pic>
        <p:nvPicPr>
          <p:cNvPr id="3" name="Picture 2" descr="grid.png"/>
          <p:cNvPicPr>
            <a:picLocks noChangeAspect="1"/>
          </p:cNvPicPr>
          <p:nvPr/>
        </p:nvPicPr>
        <p:blipFill>
          <a:blip r:embed="rId2"/>
          <a:stretch>
            <a:fillRect/>
          </a:stretch>
        </p:blipFill>
        <p:spPr>
          <a:xfrm>
            <a:off x="480713" y="1051560"/>
            <a:ext cx="8182573" cy="39776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pic>
        <p:nvPicPr>
          <p:cNvPr id="295" name="Picture 294" descr="memory-layout.png"/>
          <p:cNvPicPr>
            <a:picLocks noChangeAspect="1"/>
          </p:cNvPicPr>
          <p:nvPr/>
        </p:nvPicPr>
        <p:blipFill>
          <a:blip r:embed="rId4"/>
          <a:stretch>
            <a:fillRect/>
          </a:stretch>
        </p:blipFill>
        <p:spPr>
          <a:xfrm>
            <a:off x="1106905" y="1371600"/>
            <a:ext cx="6930189" cy="36576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Counting Sort</a:t>
            </a:r>
            <a:endParaRPr/>
          </a:p>
        </p:txBody>
      </p:sp>
      <p:pic>
        <p:nvPicPr>
          <p:cNvPr id="3" name="Picture 2" descr="counting-sort.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 Who Holds What</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A Run holds one game, and the states decide when it runs.</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p:txBody>
      </p:sp>
      <p:sp>
        <p:nvSpPr>
          <p:cNvPr id="5" name="Rounded Rectangle 4"/>
          <p:cNvSpPr/>
          <p:nvPr/>
        </p:nvSpPr>
        <p:spPr>
          <a:xfrm>
            <a:off x="594359" y="2246376"/>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StateStack</a:t>
            </a:r>
          </a:p>
        </p:txBody>
      </p:sp>
      <p:sp>
        <p:nvSpPr>
          <p:cNvPr id="6" name="Rounded Rectangle 5"/>
          <p:cNvSpPr/>
          <p:nvPr/>
        </p:nvSpPr>
        <p:spPr>
          <a:xfrm>
            <a:off x="374903"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PlayState</a:t>
            </a:r>
          </a:p>
          <a:p>
            <a:pPr algn="ctr"/>
            <a:r>
              <a:rPr sz="1000" b="0">
                <a:solidFill>
                  <a:srgbClr val="9AA3AB"/>
                </a:solidFill>
              </a:rPr>
              <a:t>updates the run</a:t>
            </a:r>
          </a:p>
        </p:txBody>
      </p:sp>
      <p:cxnSp>
        <p:nvCxnSpPr>
          <p:cNvPr id="7" name="Connector 6"/>
          <p:cNvCxnSpPr/>
          <p:nvPr/>
        </p:nvCxnSpPr>
        <p:spPr>
          <a:xfrm flipH="1">
            <a:off x="1028700" y="2831592"/>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792223"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LevelUpState</a:t>
            </a:r>
          </a:p>
          <a:p>
            <a:pPr algn="ctr"/>
            <a:r>
              <a:rPr sz="1000" b="0">
                <a:solidFill>
                  <a:srgbClr val="9AA3AB"/>
                </a:solidFill>
              </a:rPr>
              <a:t>pushed on top</a:t>
            </a:r>
          </a:p>
        </p:txBody>
      </p:sp>
      <p:cxnSp>
        <p:nvCxnSpPr>
          <p:cNvPr id="9" name="Connector 8"/>
          <p:cNvCxnSpPr/>
          <p:nvPr/>
        </p:nvCxnSpPr>
        <p:spPr>
          <a:xfrm>
            <a:off x="1737360" y="2831592"/>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737360" y="2066544"/>
            <a:ext cx="283464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846320" y="2246376"/>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Run</a:t>
            </a:r>
          </a:p>
          <a:p>
            <a:pPr algn="ctr"/>
            <a:r>
              <a:rPr sz="1100" b="0">
                <a:solidFill>
                  <a:srgbClr val="9AA3AB"/>
                </a:solidFill>
              </a:rPr>
              <a:t>one game</a:t>
            </a:r>
          </a:p>
        </p:txBody>
      </p:sp>
      <p:sp>
        <p:nvSpPr>
          <p:cNvPr id="12" name="Rounded Rectangle 11"/>
          <p:cNvSpPr/>
          <p:nvPr/>
        </p:nvSpPr>
        <p:spPr>
          <a:xfrm>
            <a:off x="3429000" y="3011424"/>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Swarm</a:t>
            </a:r>
          </a:p>
        </p:txBody>
      </p:sp>
      <p:sp>
        <p:nvSpPr>
          <p:cNvPr id="13" name="Rounded Rectangle 12"/>
          <p:cNvSpPr/>
          <p:nvPr/>
        </p:nvSpPr>
        <p:spPr>
          <a:xfrm>
            <a:off x="3209544" y="3776472"/>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Enemies</a:t>
            </a:r>
          </a:p>
          <a:p>
            <a:pPr algn="ctr"/>
            <a:r>
              <a:rPr sz="1000" b="0">
                <a:solidFill>
                  <a:srgbClr val="9AA3AB"/>
                </a:solidFill>
              </a:rPr>
              <a:t>arrays</a:t>
            </a:r>
          </a:p>
        </p:txBody>
      </p:sp>
      <p:cxnSp>
        <p:nvCxnSpPr>
          <p:cNvPr id="14" name="Connector 13"/>
          <p:cNvCxnSpPr/>
          <p:nvPr/>
        </p:nvCxnSpPr>
        <p:spPr>
          <a:xfrm flipH="1">
            <a:off x="3863340" y="3596640"/>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26864" y="3776472"/>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FlatGrid</a:t>
            </a:r>
          </a:p>
          <a:p>
            <a:pPr algn="ctr"/>
            <a:r>
              <a:rPr sz="1000" b="0">
                <a:solidFill>
                  <a:srgbClr val="9AA3AB"/>
                </a:solidFill>
              </a:rPr>
              <a:t>arrays</a:t>
            </a:r>
          </a:p>
        </p:txBody>
      </p:sp>
      <p:cxnSp>
        <p:nvCxnSpPr>
          <p:cNvPr id="16" name="Connector 15"/>
          <p:cNvCxnSpPr/>
          <p:nvPr/>
        </p:nvCxnSpPr>
        <p:spPr>
          <a:xfrm>
            <a:off x="4572000" y="3596640"/>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572000" y="2831592"/>
            <a:ext cx="141732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44184"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Gems</a:t>
            </a:r>
          </a:p>
          <a:p>
            <a:pPr algn="ctr"/>
            <a:r>
              <a:rPr sz="1000" b="0">
                <a:solidFill>
                  <a:srgbClr val="9AA3AB"/>
                </a:solidFill>
              </a:rPr>
              <a:t>arrays</a:t>
            </a:r>
          </a:p>
        </p:txBody>
      </p:sp>
      <p:cxnSp>
        <p:nvCxnSpPr>
          <p:cNvPr id="19" name="Connector 18"/>
          <p:cNvCxnSpPr/>
          <p:nvPr/>
        </p:nvCxnSpPr>
        <p:spPr>
          <a:xfrm>
            <a:off x="5989320" y="2831592"/>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461504"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Player, weapons</a:t>
            </a:r>
          </a:p>
          <a:p>
            <a:pPr algn="ctr"/>
            <a:r>
              <a:rPr sz="1000" b="0">
                <a:solidFill>
                  <a:srgbClr val="9AA3AB"/>
                </a:solidFill>
              </a:rPr>
              <a:t>ordinary objects</a:t>
            </a:r>
          </a:p>
        </p:txBody>
      </p:sp>
      <p:cxnSp>
        <p:nvCxnSpPr>
          <p:cNvPr id="21" name="Connector 20"/>
          <p:cNvCxnSpPr/>
          <p:nvPr/>
        </p:nvCxnSpPr>
        <p:spPr>
          <a:xfrm>
            <a:off x="5989320" y="2831592"/>
            <a:ext cx="212598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572000" y="2066544"/>
            <a:ext cx="141732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Only the swarm and the gems are arrays. The rest are ordinary objects.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Five concerns, and this session’s answer to each.</a:t>
            </a:r>
            <a:endParaRPr/>
          </a:p>
        </p:txBody>
      </p:sp>
      <p:sp>
        <p:nvSpPr>
          <p:cNvPr id="4" name="Rounded Rectangle 3"/>
          <p:cNvSpPr/>
          <p:nvPr/>
        </p:nvSpPr>
        <p:spPr>
          <a:xfrm>
            <a:off x="5486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Where the time goes</a:t>
            </a:r>
          </a:p>
          <a:p>
            <a:pPr algn="ctr"/>
            <a:r>
              <a:rPr sz="1300" b="0">
                <a:solidFill>
                  <a:srgbClr val="9AA3AB"/>
                </a:solidFill>
              </a:rPr>
              <a:t>Profiling</a:t>
            </a:r>
          </a:p>
        </p:txBody>
      </p:sp>
      <p:sp>
        <p:nvSpPr>
          <p:cNvPr id="5" name="Rounded Rectangle 4"/>
          <p:cNvSpPr/>
          <p:nvPr/>
        </p:nvSpPr>
        <p:spPr>
          <a:xfrm>
            <a:off x="32918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Finding what is near</a:t>
            </a:r>
          </a:p>
          <a:p>
            <a:pPr algn="ctr"/>
            <a:r>
              <a:rPr sz="1300" b="0">
                <a:solidFill>
                  <a:srgbClr val="9AA3AB"/>
                </a:solidFill>
              </a:rPr>
              <a:t>Spatial partitioning: a grid</a:t>
            </a:r>
          </a:p>
        </p:txBody>
      </p:sp>
      <p:sp>
        <p:nvSpPr>
          <p:cNvPr id="6" name="Rounded Rectangle 5"/>
          <p:cNvSpPr/>
          <p:nvPr/>
        </p:nvSpPr>
        <p:spPr>
          <a:xfrm>
            <a:off x="60350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Fast loops over thousands</a:t>
            </a:r>
          </a:p>
          <a:p>
            <a:pPr algn="ctr"/>
            <a:r>
              <a:rPr sz="1300" b="0">
                <a:solidFill>
                  <a:srgbClr val="9AA3AB"/>
                </a:solidFill>
              </a:rPr>
              <a:t>A struct of arrays</a:t>
            </a:r>
          </a:p>
        </p:txBody>
      </p:sp>
      <p:sp>
        <p:nvSpPr>
          <p:cNvPr id="7" name="Rounded Rectangle 6"/>
          <p:cNvSpPr/>
          <p:nvPr/>
        </p:nvSpPr>
        <p:spPr>
          <a:xfrm>
            <a:off x="19202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Is the fast code still right</a:t>
            </a:r>
          </a:p>
          <a:p>
            <a:pPr algn="ctr"/>
            <a:r>
              <a:rPr sz="1300" b="0">
                <a:solidFill>
                  <a:srgbClr val="9AA3AB"/>
                </a:solidFill>
              </a:rPr>
              <a:t>A test against the slow code</a:t>
            </a:r>
          </a:p>
        </p:txBody>
      </p:sp>
      <p:sp>
        <p:nvSpPr>
          <p:cNvPr id="8" name="Rounded Rectangle 7"/>
          <p:cNvSpPr/>
          <p:nvPr/>
        </p:nvSpPr>
        <p:spPr>
          <a:xfrm>
            <a:off x="46634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When to optimize</a:t>
            </a:r>
          </a:p>
          <a:p>
            <a:pPr algn="ctr"/>
            <a:r>
              <a:rPr sz="1300" b="0">
                <a:solidFill>
                  <a:srgbClr val="9AA3AB"/>
                </a:solidFill>
              </a:rPr>
              <a:t>Measure, then algorithm, then data</a:t>
            </a: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