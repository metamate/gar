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298" r:id="rId57"/>
    <p:sldId id="320" r:id="rId36"/>
    <p:sldId id="299" r:id="rId58"/>
    <p:sldId id="300" r:id="rId59"/>
    <p:sldId id="301" r:id="rId60"/>
    <p:sldId id="319" r:id="rId37"/>
    <p:sldId id="302" r:id="rId61"/>
    <p:sldId id="303" r:id="rId62"/>
    <p:sldId id="304" r:id="rId63"/>
    <p:sldId id="305" r:id="rId64"/>
    <p:sldId id="318" r:id="rId38"/>
    <p:sldId id="306" r:id="rId65"/>
    <p:sldId id="307" r:id="rId66"/>
    <p:sldId id="308" r:id="rId67"/>
    <p:sldId id="309" r:id="rId68"/>
    <p:sldId id="310" r:id="rId69"/>
    <p:sldId id="311" r:id="rId70"/>
    <p:sldId id="312" r:id="rId71"/>
    <p:sldId id="317" r:id="rId39"/>
    <p:sldId id="313" r:id="rId72"/>
    <p:sldId id="314" r:id="rId73"/>
    <p:sldId id="280" r:id="rId30"/>
    <p:sldId id="292" r:id="rId42"/>
    <p:sldId id="293" r:id="rId52"/>
    <p:sldId id="315"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7.xml"/><Relationship Id="rId39" Type="http://schemas.openxmlformats.org/officeDocument/2006/relationships/slide" Target="slides/slide25.xml"/><Relationship Id="rId40" Type="http://schemas.openxmlformats.org/officeDocument/2006/relationships/slide" Target="slides/slide2.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18.xml"/><Relationship Id="rId66" Type="http://schemas.openxmlformats.org/officeDocument/2006/relationships/slide" Target="slides/slide19.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24.xml"/><Relationship Id="rId72" Type="http://schemas.openxmlformats.org/officeDocument/2006/relationships/slide" Target="slides/slide26.xml"/><Relationship Id="rId7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performance, with thousands of enemies on screen. We measure first, then fix the algorithm, then the data.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26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The work then grows in step with the number of enemies.</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 the laptop behind the page’s table, around 4,000 enemies (2,000 take 4.5 ms, and doubling quadruples it), and Separate takes almost all of it. Machines differ; compare the shape of the curve.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vampire-survivors.gif"/>
          <p:cNvPicPr>
            <a:picLocks noChangeAspect="1"/>
          </p:cNvPicPr>
          <p:nvPr/>
        </p:nvPicPr>
        <p:blipFill>
          <a:blip r:embed="rId3"/>
          <a:stretch>
            <a:fillRect/>
          </a:stretch>
        </p:blipFill>
        <p:spPr>
          <a:xfrm>
            <a:off x="1677203" y="1531275"/>
            <a:ext cx="5789594"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Performance</a:t>
            </a:r>
            <a:endParaRPr/>
          </a:p>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in step with n.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sp>
        <p:nvSpPr>
          <p:cNvPr id="295" name="TextBox 294"/>
          <p:cNvSpPr txBox="1"/>
          <p:nvPr/>
        </p:nvSpPr>
        <p:spPr>
          <a:xfrm>
            <a:off x="548640" y="1371600"/>
            <a:ext cx="3657600" cy="274320"/>
          </a:xfrm>
          <a:prstGeom prst="rect">
            <a:avLst/>
          </a:prstGeom>
          <a:noFill/>
        </p:spPr>
        <p:txBody>
          <a:bodyPr wrap="square">
            <a:spAutoFit/>
          </a:bodyPr>
          <a:lstStyle/>
          <a:p>
            <a:pPr algn="l"/>
            <a:r>
              <a:rPr sz="1300" b="1" i="0">
                <a:solidFill>
                  <a:srgbClr val="DEE2E6"/>
                </a:solidFill>
              </a:rPr>
              <a:t>List&lt;Enemy&gt;: references to objects all over the heap</a:t>
            </a:r>
          </a:p>
        </p:txBody>
      </p:sp>
      <p:sp>
        <p:nvSpPr>
          <p:cNvPr id="296" name="Rounded Rectangle 295"/>
          <p:cNvSpPr/>
          <p:nvPr/>
        </p:nvSpPr>
        <p:spPr>
          <a:xfrm>
            <a:off x="64008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7" name="Rounded Rectangle 296"/>
          <p:cNvSpPr/>
          <p:nvPr/>
        </p:nvSpPr>
        <p:spPr>
          <a:xfrm>
            <a:off x="2377440" y="23774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8" name="Rounded Rectangle 297"/>
          <p:cNvSpPr/>
          <p:nvPr/>
        </p:nvSpPr>
        <p:spPr>
          <a:xfrm>
            <a:off x="1280160" y="292608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9" name="Rounded Rectangle 298"/>
          <p:cNvSpPr/>
          <p:nvPr/>
        </p:nvSpPr>
        <p:spPr>
          <a:xfrm>
            <a:off x="310896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0" name="Rounded Rectangle 299"/>
          <p:cNvSpPr/>
          <p:nvPr/>
        </p:nvSpPr>
        <p:spPr>
          <a:xfrm>
            <a:off x="822960" y="347472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1" name="Rounded Rectangle 300"/>
          <p:cNvSpPr/>
          <p:nvPr/>
        </p:nvSpPr>
        <p:spPr>
          <a:xfrm>
            <a:off x="2834640" y="32918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2" name="TextBox 301"/>
          <p:cNvSpPr txBox="1"/>
          <p:nvPr/>
        </p:nvSpPr>
        <p:spPr>
          <a:xfrm>
            <a:off x="4846320" y="1371600"/>
            <a:ext cx="3840480" cy="274320"/>
          </a:xfrm>
          <a:prstGeom prst="rect">
            <a:avLst/>
          </a:prstGeom>
          <a:noFill/>
        </p:spPr>
        <p:txBody>
          <a:bodyPr wrap="square">
            <a:spAutoFit/>
          </a:bodyPr>
          <a:lstStyle/>
          <a:p>
            <a:pPr algn="l"/>
            <a:r>
              <a:rPr sz="1300" b="1" i="0">
                <a:solidFill>
                  <a:srgbClr val="DEE2E6"/>
                </a:solidFill>
              </a:rPr>
              <a:t>A struct of arrays: each field packed together</a:t>
            </a:r>
          </a:p>
        </p:txBody>
      </p:sp>
      <p:sp>
        <p:nvSpPr>
          <p:cNvPr id="303" name="TextBox 302"/>
          <p:cNvSpPr txBox="1"/>
          <p:nvPr/>
        </p:nvSpPr>
        <p:spPr>
          <a:xfrm>
            <a:off x="4846320" y="1828800"/>
            <a:ext cx="914400" cy="365760"/>
          </a:xfrm>
          <a:prstGeom prst="rect">
            <a:avLst/>
          </a:prstGeom>
          <a:noFill/>
        </p:spPr>
        <p:txBody>
          <a:bodyPr wrap="square">
            <a:spAutoFit/>
          </a:bodyPr>
          <a:lstStyle/>
          <a:p>
            <a:pPr algn="l"/>
            <a:r>
              <a:rPr sz="1100" b="0" i="0">
                <a:solidFill>
                  <a:srgbClr val="9AA3AB"/>
                </a:solidFill>
              </a:rPr>
              <a:t>Position</a:t>
            </a:r>
          </a:p>
        </p:txBody>
      </p:sp>
      <p:sp>
        <p:nvSpPr>
          <p:cNvPr id="304" name="Rectangle 303"/>
          <p:cNvSpPr/>
          <p:nvPr/>
        </p:nvSpPr>
        <p:spPr>
          <a:xfrm>
            <a:off x="576072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5" name="Rectangle 304"/>
          <p:cNvSpPr/>
          <p:nvPr/>
        </p:nvSpPr>
        <p:spPr>
          <a:xfrm>
            <a:off x="6236208"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Rectangle 305"/>
          <p:cNvSpPr/>
          <p:nvPr/>
        </p:nvSpPr>
        <p:spPr>
          <a:xfrm>
            <a:off x="6711696"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7" name="Rectangle 306"/>
          <p:cNvSpPr/>
          <p:nvPr/>
        </p:nvSpPr>
        <p:spPr>
          <a:xfrm>
            <a:off x="7187183"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8" name="Rectangle 307"/>
          <p:cNvSpPr/>
          <p:nvPr/>
        </p:nvSpPr>
        <p:spPr>
          <a:xfrm>
            <a:off x="7662671"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Rectangle 308"/>
          <p:cNvSpPr/>
          <p:nvPr/>
        </p:nvSpPr>
        <p:spPr>
          <a:xfrm>
            <a:off x="813816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0" name="TextBox 309"/>
          <p:cNvSpPr txBox="1"/>
          <p:nvPr/>
        </p:nvSpPr>
        <p:spPr>
          <a:xfrm>
            <a:off x="4846320" y="2377440"/>
            <a:ext cx="914400" cy="365760"/>
          </a:xfrm>
          <a:prstGeom prst="rect">
            <a:avLst/>
          </a:prstGeom>
          <a:noFill/>
        </p:spPr>
        <p:txBody>
          <a:bodyPr wrap="square">
            <a:spAutoFit/>
          </a:bodyPr>
          <a:lstStyle/>
          <a:p>
            <a:pPr algn="l"/>
            <a:r>
              <a:rPr sz="1100" b="0" i="0">
                <a:solidFill>
                  <a:srgbClr val="9AA3AB"/>
                </a:solidFill>
              </a:rPr>
              <a:t>Health</a:t>
            </a:r>
          </a:p>
        </p:txBody>
      </p:sp>
      <p:sp>
        <p:nvSpPr>
          <p:cNvPr id="311" name="Rectangle 310"/>
          <p:cNvSpPr/>
          <p:nvPr/>
        </p:nvSpPr>
        <p:spPr>
          <a:xfrm>
            <a:off x="576072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Rectangle 311"/>
          <p:cNvSpPr/>
          <p:nvPr/>
        </p:nvSpPr>
        <p:spPr>
          <a:xfrm>
            <a:off x="6236208"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3" name="Rectangle 312"/>
          <p:cNvSpPr/>
          <p:nvPr/>
        </p:nvSpPr>
        <p:spPr>
          <a:xfrm>
            <a:off x="6711696"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4" name="Rectangle 313"/>
          <p:cNvSpPr/>
          <p:nvPr/>
        </p:nvSpPr>
        <p:spPr>
          <a:xfrm>
            <a:off x="7187183"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5" name="Rectangle 314"/>
          <p:cNvSpPr/>
          <p:nvPr/>
        </p:nvSpPr>
        <p:spPr>
          <a:xfrm>
            <a:off x="7662671"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6" name="Rectangle 315"/>
          <p:cNvSpPr/>
          <p:nvPr/>
        </p:nvSpPr>
        <p:spPr>
          <a:xfrm>
            <a:off x="813816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7" name="TextBox 316"/>
          <p:cNvSpPr txBox="1"/>
          <p:nvPr/>
        </p:nvSpPr>
        <p:spPr>
          <a:xfrm>
            <a:off x="4846320" y="2926080"/>
            <a:ext cx="914400" cy="365760"/>
          </a:xfrm>
          <a:prstGeom prst="rect">
            <a:avLst/>
          </a:prstGeom>
          <a:noFill/>
        </p:spPr>
        <p:txBody>
          <a:bodyPr wrap="square">
            <a:spAutoFit/>
          </a:bodyPr>
          <a:lstStyle/>
          <a:p>
            <a:pPr algn="l"/>
            <a:r>
              <a:rPr sz="1100" b="0" i="0">
                <a:solidFill>
                  <a:srgbClr val="9AA3AB"/>
                </a:solidFill>
              </a:rPr>
              <a:t>Speed</a:t>
            </a:r>
          </a:p>
        </p:txBody>
      </p:sp>
      <p:sp>
        <p:nvSpPr>
          <p:cNvPr id="318" name="Rectangle 317"/>
          <p:cNvSpPr/>
          <p:nvPr/>
        </p:nvSpPr>
        <p:spPr>
          <a:xfrm>
            <a:off x="576072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9" name="Rectangle 318"/>
          <p:cNvSpPr/>
          <p:nvPr/>
        </p:nvSpPr>
        <p:spPr>
          <a:xfrm>
            <a:off x="6236208"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0" name="Rectangle 319"/>
          <p:cNvSpPr/>
          <p:nvPr/>
        </p:nvSpPr>
        <p:spPr>
          <a:xfrm>
            <a:off x="6711696"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1" name="Rectangle 320"/>
          <p:cNvSpPr/>
          <p:nvPr/>
        </p:nvSpPr>
        <p:spPr>
          <a:xfrm>
            <a:off x="7187183"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2" name="Rectangle 321"/>
          <p:cNvSpPr/>
          <p:nvPr/>
        </p:nvSpPr>
        <p:spPr>
          <a:xfrm>
            <a:off x="7662671"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3" name="Rectangle 322"/>
          <p:cNvSpPr/>
          <p:nvPr/>
        </p:nvSpPr>
        <p:spPr>
          <a:xfrm>
            <a:off x="813816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4" name="TextBox 323"/>
          <p:cNvSpPr txBox="1"/>
          <p:nvPr/>
        </p:nvSpPr>
        <p:spPr>
          <a:xfrm>
            <a:off x="4846320" y="3566160"/>
            <a:ext cx="3840480" cy="457200"/>
          </a:xfrm>
          <a:prstGeom prst="rect">
            <a:avLst/>
          </a:prstGeom>
          <a:noFill/>
        </p:spPr>
        <p:txBody>
          <a:bodyPr wrap="square">
            <a:spAutoFit/>
          </a:bodyPr>
          <a:lstStyle/>
          <a:p>
            <a:pPr algn="l"/>
            <a:r>
              <a:rPr sz="1200" b="0" i="0">
                <a:solidFill>
                  <a:srgbClr val="9AA3AB"/>
                </a:solidFill>
              </a:rPr>
              <a:t>The CPU reads 64 bytes at a time, so one read brings several enemies.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