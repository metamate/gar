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6" r:id="rId40"/>
    <p:sldId id="257" r:id="rId7"/>
    <p:sldId id="258" r:id="rId8"/>
    <p:sldId id="259" r:id="rId9"/>
    <p:sldId id="297" r:id="rId56"/>
    <p:sldId id="298" r:id="rId57"/>
    <p:sldId id="320" r:id="rId36"/>
    <p:sldId id="299" r:id="rId58"/>
    <p:sldId id="300" r:id="rId59"/>
    <p:sldId id="301" r:id="rId60"/>
    <p:sldId id="319" r:id="rId37"/>
    <p:sldId id="302" r:id="rId61"/>
    <p:sldId id="303" r:id="rId62"/>
    <p:sldId id="304" r:id="rId63"/>
    <p:sldId id="305" r:id="rId64"/>
    <p:sldId id="318" r:id="rId38"/>
    <p:sldId id="306" r:id="rId65"/>
    <p:sldId id="307" r:id="rId66"/>
    <p:sldId id="308" r:id="rId67"/>
    <p:sldId id="309" r:id="rId68"/>
    <p:sldId id="310" r:id="rId69"/>
    <p:sldId id="311" r:id="rId70"/>
    <p:sldId id="312" r:id="rId71"/>
    <p:sldId id="317" r:id="rId39"/>
    <p:sldId id="313" r:id="rId72"/>
    <p:sldId id="314" r:id="rId73"/>
    <p:sldId id="280" r:id="rId30"/>
    <p:sldId id="292" r:id="rId42"/>
    <p:sldId id="293" r:id="rId52"/>
    <p:sldId id="315" r:id="rId41"/>
    <p:sldId id="294" r:id="rId53"/>
    <p:sldId id="296" r:id="rId55"/>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8.xml"/><Relationship Id="rId36" Type="http://schemas.openxmlformats.org/officeDocument/2006/relationships/slide" Target="slides/slide8.xml"/><Relationship Id="rId37" Type="http://schemas.openxmlformats.org/officeDocument/2006/relationships/slide" Target="slides/slide12.xml"/><Relationship Id="rId38" Type="http://schemas.openxmlformats.org/officeDocument/2006/relationships/slide" Target="slides/slide17.xml"/><Relationship Id="rId39" Type="http://schemas.openxmlformats.org/officeDocument/2006/relationships/slide" Target="slides/slide25.xml"/><Relationship Id="rId40" Type="http://schemas.openxmlformats.org/officeDocument/2006/relationships/slide" Target="slides/slide2.xml"/><Relationship Id="rId41" Type="http://schemas.openxmlformats.org/officeDocument/2006/relationships/slide" Target="slides/slide31.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5" Type="http://schemas.openxmlformats.org/officeDocument/2006/relationships/slide" Target="slides/slide33.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0.xml"/><Relationship Id="rId60" Type="http://schemas.openxmlformats.org/officeDocument/2006/relationships/slide" Target="slides/slide11.xml"/><Relationship Id="rId61" Type="http://schemas.openxmlformats.org/officeDocument/2006/relationships/slide" Target="slides/slide13.xml"/><Relationship Id="rId62" Type="http://schemas.openxmlformats.org/officeDocument/2006/relationships/slide" Target="slides/slide14.xml"/><Relationship Id="rId63" Type="http://schemas.openxmlformats.org/officeDocument/2006/relationships/slide" Target="slides/slide15.xml"/><Relationship Id="rId64" Type="http://schemas.openxmlformats.org/officeDocument/2006/relationships/slide" Target="slides/slide16.xml"/><Relationship Id="rId65" Type="http://schemas.openxmlformats.org/officeDocument/2006/relationships/slide" Target="slides/slide18.xml"/><Relationship Id="rId66" Type="http://schemas.openxmlformats.org/officeDocument/2006/relationships/slide" Target="slides/slide19.xml"/><Relationship Id="rId67" Type="http://schemas.openxmlformats.org/officeDocument/2006/relationships/slide" Target="slides/slide20.xml"/><Relationship Id="rId68" Type="http://schemas.openxmlformats.org/officeDocument/2006/relationships/slide" Target="slides/slide21.xml"/><Relationship Id="rId69" Type="http://schemas.openxmlformats.org/officeDocument/2006/relationships/slide" Target="slides/slide22.xml"/><Relationship Id="rId70" Type="http://schemas.openxmlformats.org/officeDocument/2006/relationships/slide" Target="slides/slide23.xml"/><Relationship Id="rId71" Type="http://schemas.openxmlformats.org/officeDocument/2006/relationships/slide" Target="slides/slide24.xml"/><Relationship Id="rId72" Type="http://schemas.openxmlformats.org/officeDocument/2006/relationships/slide" Target="slides/slide26.xml"/><Relationship Id="rId7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Vampire Survivors. The main topic: performance.</a:t>
            </a:r>
          </a:p>
          <a:p>
            <a:r>
              <a:t>Start by playing the finished game, Survivors4,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Survivors4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performance with thousands of enemies. Measure first, then fix the algorithm, then the data. The last lesson is the course recap.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gar-games/12-vampire-survivors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Survivors2 and Survivors3 side by side (a diff tool, or two editor panes), then run Survivors3.</a:t>
            </a:r>
          </a:p>
          <a:p>
            <a:r>
              <a:t>- Enemies.cs and FlatGrid.cs</a:t>
            </a:r>
          </a:p>
          <a:p>
            <a:r>
              <a:t>- the profiler with 20,000 enemies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chart: 1,000 enemies is nothing, 10,000 is six frames’ worth. Twice the enemies, four times the work: O(n²).</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1,000 enemies the grid is no faster: it has its own cost. With 10,000 it’s 25 times faster. The work grows with 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CPU reads 64 bytes at a time. A list of objects scatters them over memory; arrays pack each field together, so one read brings several enemies.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surprise: arrays alone changed almost nothing. The time was in the grid’s dictionary and lists.</a:t>
            </a:r>
          </a:p>
          <a:p>
            <a:r>
              <a:t>Ask the question: how do you find the hot loop? You measure. Always.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107 ms to 1.3 ms: about 80 times faster, in three steps. Each step was measured before and after.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Indexes change, so nobody can hold on to an enemy. Harder to read and change. So only for the thousands: the swarm and the gems, not the player.</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finished game is built from patterns the class already knows: point at each box and ask which session it came from.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Knuth: don’t optimize early, but don’t skip the critical 3%. The five steps are today’s session in order.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Why profile before optimizing?</a:t>
            </a:r>
          </a:p>
          <a:p>
            <a:r>
              <a:t>A: Because the slow part is rarely where you expect it. You might guess that drawing thousands of sprites is the problem, but separation was almost all of the time. And after converting the enemies to arrays, only measuring showed that the time was in the grid.</a:t>
            </a:r>
          </a:p>
          <a:p/>
          <a:p>
            <a:r>
              <a:t>Q: How does a uniform grid make separation cheaper?</a:t>
            </a:r>
          </a:p>
          <a:p>
            <a:r>
              <a:t>A: Each enemy is only compared with the enemies in its own and neighbouring cells, instead of with every other enemy. The work grows with the number of enemies, not with its square.</a:t>
            </a:r>
          </a:p>
          <a:p/>
          <a:p>
            <a:r>
              <a:t>Q: What is the difference between an array of objects and a struct of arrays, and why does it matter?</a:t>
            </a:r>
          </a:p>
          <a:p>
            <a:r>
              <a:t>A: An array of objects holds references to objects spread over the heap; reading a field of each means jumping around memory. A struct of arrays keeps each field in its own contiguous array, so a loop over one field reads memory in order, which the CPU's cache makes fast.</a:t>
            </a:r>
          </a:p>
          <a:p/>
          <a:p>
            <a:r>
              <a:t>Q: What do you give up with data-oriented design?</a:t>
            </a:r>
          </a:p>
          <a:p>
            <a:r>
              <a:t>A: Readable objects and stable references. An entity is an index that can change, fields are spread over arrays, and adding a field touches more code. It's worth it where there are very many things and the loops over them are hot.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List&lt;Enemy&gt;, as always. Separating checks every enemy against every other.</a:t>
            </a:r>
          </a:p>
          <a:p>
            <a:r>
              <a:t>Ask the question on the slide before the demo: it crawls at a few thousand; why?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Survivors0.</a:t>
            </a:r>
          </a:p>
          <a:p>
            <a:r>
              <a:t>- press Space a few times until it slows down</a:t>
            </a:r>
          </a:p>
          <a:p>
            <a:r>
              <a:t>- ask for guesses about where the time goes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Measure before changing anything. The profiler times each part of a step, and counts allocations. Measure a Release build.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Survivors1.</a:t>
            </a:r>
          </a:p>
          <a:p>
            <a:r>
              <a:t>- build in Release: dotnet run -c Release</a:t>
            </a:r>
          </a:p>
          <a:p>
            <a:r>
              <a:t>- F3 for the profiler, then Space: watch Separate grow</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enemy only overlaps its neighbours. A grid of square cells; each enemy asks only the cells it touches.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fast code must give the same answers as the simple code. The test compares them on thousands of random points. [Theory] runs it for several radii.</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Survivors1 and Survivors2 side by side (a diff tool, or two editor panes), then run Survivors2.</a:t>
            </a:r>
          </a:p>
          <a:p>
            <a:r>
              <a:t>- SpatialGrid.cs</a:t>
            </a:r>
          </a:p>
          <a:p>
            <a:r>
              <a:t>- the same F3 numbers, now flat</a:t>
            </a:r>
          </a:p>
          <a:p>
            <a:r>
              <a:t>- dotnet test in 12-vampire-survivors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Enemy objects: an enemy is an index into these arrays. Removing one moves the last into the hole.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counting sort every step: count per cell, work out where each cell starts, copy each enemy into place. A cell’s enemies end up next to each other.</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Survivors4 for a minute: level up, choose an upgrade, and watch the swarm grow.</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Several cores: ask what goes wrong when two threads push the same enemy, before anyone writes code.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Final milestone today: the README complete, the link on itslearning. Next time: the recap, with your projects.</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Vampire Survivors. Ask who has played it, and what they remember of how it plays.</a:t>
            </a:r>
          </a:p>
          <a:p>
            <a:r>
              <a:t>Today we build the parts that matter for the architecture, not the whole game.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Separate drops to about 1.3 ms at 10,000. Moving hardly changes: it was never the problem.</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About 4 ms instead of over 100. The tests compare the grid with checking every pair.</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Around 2,000 enemies on a laptop, and Separate takes almost all of it.</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n(n−1)/2: about 2 million, and about 50 million. Keep the numbers for the profiler.</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Survivors3 or Survivors4, in Release. Every exercise starts with a measurement.</a:t>
            </a:r>
          </a:p>
          <a:p>
            <a:r>
              <a:t>Full instructions are on the course site; students work from there. Walk round while they work.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12-vampire-survivor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hyperlink" Target="https://github.com/Metamate/gmd2-snak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12: Vampire Survivors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Vampire Survivors</a:t>
            </a:r>
            <a:endParaRPr/>
          </a:p>
        </p:txBody>
      </p:sp>
      <p:pic>
        <p:nvPicPr>
          <p:cNvPr id="3" name="Picture 2" descr="vampire-survivors.png"/>
          <p:cNvPicPr>
            <a:picLocks noChangeAspect="1"/>
          </p:cNvPicPr>
          <p:nvPr/>
        </p:nvPicPr>
        <p:blipFill>
          <a:blip r:embed="rId2"/>
          <a:stretch>
            <a:fillRect/>
          </a:stretch>
        </p:blipFill>
        <p:spPr>
          <a:xfrm>
            <a:off x="1671700" y="960120"/>
            <a:ext cx="5800599"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Vampire Survivors (poncle, 2022). Screenshot © poncle.</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vs-play.png"/>
          <p:cNvPicPr>
            <a:picLocks noChangeAspect="1"/>
          </p:cNvPicPr>
          <p:nvPr/>
        </p:nvPicPr>
        <p:blipFill>
          <a:blip r:embed="rId4"/>
          <a:stretch>
            <a:fillRect/>
          </a:stretch>
        </p:blipFill>
        <p:spPr>
          <a:xfrm>
            <a:off x="1677201" y="1531275"/>
            <a:ext cx="5789598"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Profiling</a:t>
            </a:r>
            <a:endParaRPr/>
          </a:p>
          <a:p>
            <a:pPr indent="-330200" lvl="0" marL="457200" rtl="0" algn="l">
              <a:spcBef>
                <a:spcPts val="0"/>
              </a:spcBef>
              <a:spcAft>
                <a:spcPts val="0"/>
              </a:spcAft>
              <a:buSzPts val="1600"/>
              <a:buChar char="●"/>
            </a:pPr>
            <a:r>
              <a:rPr lang="en"/>
              <a:t>Spatial Partitioning</a:t>
            </a:r>
            <a:endParaRPr/>
          </a:p>
          <a:p>
            <a:pPr indent="-330200" lvl="0" marL="457200" rtl="0" algn="l">
              <a:spcBef>
                <a:spcPts val="0"/>
              </a:spcBef>
              <a:spcAft>
                <a:spcPts val="0"/>
              </a:spcAft>
              <a:buSzPts val="1600"/>
              <a:buChar char="●"/>
            </a:pPr>
            <a:r>
              <a:rPr lang="en"/>
              <a:t>Testing an Optimization</a:t>
            </a:r>
            <a:endParaRPr/>
          </a:p>
          <a:p>
            <a:pPr indent="-330200" lvl="0" marL="457200" rtl="0" algn="l">
              <a:spcBef>
                <a:spcPts val="0"/>
              </a:spcBef>
              <a:spcAft>
                <a:spcPts val="0"/>
              </a:spcAft>
              <a:buSzPts val="1600"/>
              <a:buChar char="●"/>
            </a:pPr>
            <a:r>
              <a:rPr lang="en"/>
              <a:t>Data-Oriented Design</a:t>
            </a:r>
            <a:endParaRPr/>
          </a:p>
          <a:p>
            <a:pPr indent="-330200" lvl="0" marL="457200" rtl="0" algn="l">
              <a:spcBef>
                <a:spcPts val="0"/>
              </a:spcBef>
              <a:spcAft>
                <a:spcPts val="0"/>
              </a:spcAft>
              <a:buSzPts val="1600"/>
              <a:buChar char="●"/>
            </a:pPr>
            <a:r>
              <a:rPr lang="en"/>
              <a:t>When to Optimize</a:t>
            </a:r>
            <a:endParaRPr/>
          </a:p>
          <a:p>
            <a:pPr indent="-330200" lvl="0" marL="457200" rtl="0" algn="l">
              <a:spcBef>
                <a:spcPts val="0"/>
              </a:spcBef>
              <a:spcAft>
                <a:spcPts val="0"/>
              </a:spcAft>
              <a:buSzPts val="1600"/>
              <a:buChar char="●"/>
            </a:pPr>
            <a:r>
              <a:rPr lang="en"/>
              <a:t>Course Recap (last lesson)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12-vampire-survivors</a:t>
            </a:r>
            <a:endParaRPr/>
          </a:p>
          <a:p>
            <a:pPr indent="-330200" lvl="0" marL="457200" rtl="0" algn="l">
              <a:spcBef>
                <a:spcPts val="0"/>
              </a:spcBef>
              <a:spcAft>
                <a:spcPts val="0"/>
              </a:spcAft>
              <a:buSzPts val="1600"/>
              <a:buChar char="●"/>
            </a:pPr>
            <a:r>
              <a:rPr lang="en"/>
              <a:t>Its README: the steps (Survivors0 to Survivors4, and Survivors.Tests),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Enemies as Objects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List&lt;Enemy&gt;, as we’ve always done</a:t>
            </a:r>
            <a:endParaRPr/>
          </a:p>
          <a:p>
            <a:pPr indent="-330200" lvl="0" marL="457200" rtl="0" algn="l">
              <a:buClr>
                <a:srgbClr val="DEE2E6"/>
              </a:buClr>
              <a:spcBef>
                <a:spcPts val="0"/>
              </a:spcBef>
              <a:spcAft>
                <a:spcPts val="0"/>
              </a:spcAft>
              <a:buSzPts val="1600"/>
              <a:buChar char="●"/>
            </a:pPr>
            <a:r>
              <a:rPr lang="en" sz="1600">
                <a:solidFill>
                  <a:srgbClr val="DEE2E6"/>
                </a:solidFill>
              </a:rPr>
              <a:t>Enemies push each other apart</a:t>
            </a:r>
            <a:endParaRPr/>
          </a:p>
          <a:p>
            <a:pPr indent="-317500" lvl="1" marL="914400" rtl="0" algn="l">
              <a:buClr>
                <a:srgbClr val="6C757D"/>
              </a:buClr>
              <a:spcBef>
                <a:spcPts val="0"/>
              </a:spcBef>
              <a:spcAft>
                <a:spcPts val="0"/>
              </a:spcAft>
              <a:buSzPts val="1400"/>
              <a:buChar char="○"/>
            </a:pPr>
            <a:r>
              <a:rPr lang="en" sz="1400">
                <a:solidFill>
                  <a:srgbClr val="6C757D"/>
                </a:solidFill>
              </a:rPr>
              <a:t>Every enemy against every other</a:t>
            </a:r>
            <a:endParaRPr/>
          </a:p>
          <a:p>
            <a:pPr indent="-330200" lvl="0" marL="457200" rtl="0" algn="l">
              <a:buClr>
                <a:srgbClr val="DEE2E6"/>
              </a:buClr>
              <a:spcBef>
                <a:spcPts val="0"/>
              </a:spcBef>
              <a:spcAft>
                <a:spcPts val="0"/>
              </a:spcAft>
              <a:buSzPts val="1600"/>
              <a:buChar char="●"/>
            </a:pPr>
            <a:r>
              <a:rPr lang="en" sz="1600">
                <a:solidFill>
                  <a:srgbClr val="DEE2E6"/>
                </a:solidFill>
              </a:rPr>
              <a:t>Weapons ask: nearest? inside the aura?</a:t>
            </a:r>
            <a:endParaRPr/>
          </a:p>
          <a:p>
            <a:pPr indent="-317500" lvl="1" marL="914400" rtl="0" algn="l">
              <a:buClr>
                <a:srgbClr val="6C757D"/>
              </a:buClr>
              <a:spcBef>
                <a:spcPts val="0"/>
              </a:spcBef>
              <a:spcAft>
                <a:spcPts val="0"/>
              </a:spcAft>
              <a:buSzPts val="1400"/>
              <a:buChar char="○"/>
            </a:pPr>
            <a:r>
              <a:rPr lang="en" sz="1400">
                <a:solidFill>
                  <a:srgbClr val="6C757D"/>
                </a:solidFill>
              </a:rPr>
              <a:t>Each question looks at every enemy</a:t>
            </a:r>
            <a:endParaRPr/>
          </a:p>
          <a:p>
            <a:pPr indent="-330200" lvl="0" marL="457200" rtl="0" algn="l">
              <a:buClr>
                <a:srgbClr val="DEE2E6"/>
              </a:buClr>
              <a:spcBef>
                <a:spcPts val="0"/>
              </a:spcBef>
              <a:spcAft>
                <a:spcPts val="0"/>
              </a:spcAft>
              <a:buSzPts val="1600"/>
              <a:buChar char="●"/>
            </a:pPr>
            <a:r>
              <a:rPr lang="en" sz="1600">
                <a:solidFill>
                  <a:srgbClr val="DEE2E6"/>
                </a:solidFill>
              </a:rPr>
              <a:t>Space: a thousand more. It crawls. Why?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i = 0; i &lt; _enemies.Count;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j = 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j &lt; _enemies.Count; 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Push(_enemies[i], _enemies[j]);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Objects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Survivors0: press Space until it slows down</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 the Checks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On paper:</a:t>
            </a:r>
            <a:endParaRPr/>
          </a:p>
          <a:p>
            <a:pPr indent="-330200" lvl="0" marL="457200" rtl="0" algn="l">
              <a:spcBef>
                <a:spcPts val="0"/>
              </a:spcBef>
              <a:spcAft>
                <a:spcPts val="0"/>
              </a:spcAft>
              <a:buSzPts val="1600"/>
              <a:buChar char="●"/>
            </a:pPr>
            <a:r>
              <a:rPr lang="en"/>
              <a:t>With 2,000 enemies, how many pairs does Separate check each step?</a:t>
            </a:r>
            <a:endParaRPr/>
          </a:p>
          <a:p>
            <a:pPr indent="-330200" lvl="0" marL="457200" rtl="0" algn="l">
              <a:spcBef>
                <a:spcPts val="0"/>
              </a:spcBef>
              <a:spcAft>
                <a:spcPts val="0"/>
              </a:spcAft>
              <a:buSzPts val="1600"/>
              <a:buChar char="●"/>
            </a:pPr>
            <a:r>
              <a:rPr lang="en"/>
              <a:t>And with 10,000?</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Profiling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Measure where the time goes</a:t>
            </a:r>
            <a:endParaRPr/>
          </a:p>
          <a:p>
            <a:pPr indent="-317500" lvl="1" marL="914400" rtl="0" algn="l">
              <a:buClr>
                <a:srgbClr val="6C757D"/>
              </a:buClr>
              <a:spcBef>
                <a:spcPts val="0"/>
              </a:spcBef>
              <a:spcAft>
                <a:spcPts val="0"/>
              </a:spcAft>
              <a:buSzPts val="1400"/>
              <a:buChar char="○"/>
            </a:pPr>
            <a:r>
              <a:rPr lang="en" sz="1400">
                <a:solidFill>
                  <a:srgbClr val="6C757D"/>
                </a:solidFill>
              </a:rPr>
              <a:t>Before changing anything</a:t>
            </a:r>
            <a:endParaRPr/>
          </a:p>
          <a:p>
            <a:pPr indent="-330200" lvl="0" marL="457200" rtl="0" algn="l">
              <a:buClr>
                <a:srgbClr val="DEE2E6"/>
              </a:buClr>
              <a:spcBef>
                <a:spcPts val="0"/>
              </a:spcBef>
              <a:spcAft>
                <a:spcPts val="0"/>
              </a:spcAft>
              <a:buSzPts val="1600"/>
              <a:buChar char="●"/>
            </a:pPr>
            <a:r>
              <a:rPr lang="en" sz="1600">
                <a:solidFill>
                  <a:srgbClr val="DEE2E6"/>
                </a:solidFill>
              </a:rPr>
              <a:t>Time each part of a step</a:t>
            </a:r>
            <a:endParaRPr/>
          </a:p>
          <a:p>
            <a:pPr indent="-317500" lvl="1" marL="914400" rtl="0" algn="l">
              <a:buClr>
                <a:srgbClr val="6C757D"/>
              </a:buClr>
              <a:spcBef>
                <a:spcPts val="0"/>
              </a:spcBef>
              <a:spcAft>
                <a:spcPts val="0"/>
              </a:spcAft>
              <a:buSzPts val="1400"/>
              <a:buChar char="○"/>
            </a:pPr>
            <a:r>
              <a:rPr lang="en" sz="1400">
                <a:solidFill>
                  <a:srgbClr val="6C757D"/>
                </a:solidFill>
              </a:rPr>
              <a:t>A struct scope: measuring allocates nothing</a:t>
            </a:r>
            <a:endParaRPr/>
          </a:p>
          <a:p>
            <a:pPr indent="-330200" lvl="0" marL="457200" rtl="0" algn="l">
              <a:buClr>
                <a:srgbClr val="DEE2E6"/>
              </a:buClr>
              <a:spcBef>
                <a:spcPts val="0"/>
              </a:spcBef>
              <a:spcAft>
                <a:spcPts val="0"/>
              </a:spcAft>
              <a:buSzPts val="1600"/>
              <a:buChar char="●"/>
            </a:pPr>
            <a:r>
              <a:rPr lang="en" sz="1600">
                <a:solidFill>
                  <a:srgbClr val="DEE2E6"/>
                </a:solidFill>
              </a:rPr>
              <a:t>And count allocations and GCs</a:t>
            </a:r>
            <a:endParaRPr/>
          </a:p>
          <a:p>
            <a:pPr indent="-317500" lvl="1" marL="914400" rtl="0" algn="l">
              <a:buClr>
                <a:srgbClr val="6C757D"/>
              </a:buClr>
              <a:spcBef>
                <a:spcPts val="0"/>
              </a:spcBef>
              <a:spcAft>
                <a:spcPts val="0"/>
              </a:spcAft>
              <a:buSzPts val="1400"/>
              <a:buChar char="○"/>
            </a:pPr>
            <a:r>
              <a:rPr lang="en" sz="1400">
                <a:solidFill>
                  <a:srgbClr val="6C757D"/>
                </a:solidFill>
              </a:rPr>
              <a:t>LINQ allocates every call</a:t>
            </a:r>
            <a:endParaRPr/>
          </a:p>
          <a:p>
            <a:pPr indent="-330200" lvl="0" marL="457200" rtl="0" algn="l">
              <a:buClr>
                <a:srgbClr val="DEE2E6"/>
              </a:buClr>
              <a:spcBef>
                <a:spcPts val="0"/>
              </a:spcBef>
              <a:spcAft>
                <a:spcPts val="0"/>
              </a:spcAft>
              <a:buSzPts val="1600"/>
              <a:buChar char="●"/>
            </a:pPr>
            <a:r>
              <a:rPr lang="en" sz="1600">
                <a:solidFill>
                  <a:srgbClr val="DEE2E6"/>
                </a:solidFill>
              </a:rPr>
              <a:t>Measure a Release build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_swarm.Move(dt, _player.Position);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Profiler.cs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Scope Measure(string name)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new(this, name, Stopwatch.GetTimestamp());</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Where the Time Goes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Separating the enemies takes almost all of it. Twice the enemies, four times the work.</a:t>
            </a:r>
            <a:endParaRPr/>
          </a:p>
        </p:txBody>
      </p:sp>
      <p:sp>
        <p:nvSpPr>
          <p:cNvPr id="295" name="TextBox 294"/>
          <p:cNvSpPr txBox="1"/>
          <p:nvPr/>
        </p:nvSpPr>
        <p:spPr>
          <a:xfrm>
            <a:off x="274320" y="1463040"/>
            <a:ext cx="1645920" cy="329184"/>
          </a:xfrm>
          <a:prstGeom prst="rect">
            <a:avLst/>
          </a:prstGeom>
          <a:noFill/>
        </p:spPr>
        <p:txBody>
          <a:bodyPr wrap="square">
            <a:spAutoFit/>
          </a:bodyPr>
          <a:lstStyle/>
          <a:p>
            <a:pPr algn="r"/>
            <a:r>
              <a:rPr sz="1300" b="1" i="0">
                <a:solidFill>
                  <a:srgbClr val="DEE2E6"/>
                </a:solidFill>
              </a:rPr>
              <a:t>1,000 enemies</a:t>
            </a:r>
          </a:p>
        </p:txBody>
      </p:sp>
      <p:sp>
        <p:nvSpPr>
          <p:cNvPr id="296" name="Rectangle 295"/>
          <p:cNvSpPr/>
          <p:nvPr/>
        </p:nvSpPr>
        <p:spPr>
          <a:xfrm>
            <a:off x="2011680" y="1463040"/>
            <a:ext cx="64545"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463040"/>
            <a:ext cx="1280160" cy="329184"/>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920240"/>
            <a:ext cx="1645920" cy="329184"/>
          </a:xfrm>
          <a:prstGeom prst="rect">
            <a:avLst/>
          </a:prstGeom>
          <a:noFill/>
        </p:spPr>
        <p:txBody>
          <a:bodyPr wrap="square">
            <a:spAutoFit/>
          </a:bodyPr>
          <a:lstStyle/>
          <a:p>
            <a:pPr algn="r"/>
            <a:r>
              <a:rPr sz="1300" b="1" i="0">
                <a:solidFill>
                  <a:srgbClr val="DEE2E6"/>
                </a:solidFill>
              </a:rPr>
              <a:t>2,000</a:t>
            </a:r>
          </a:p>
        </p:txBody>
      </p:sp>
      <p:sp>
        <p:nvSpPr>
          <p:cNvPr id="299" name="Rectangle 298"/>
          <p:cNvSpPr/>
          <p:nvPr/>
        </p:nvSpPr>
        <p:spPr>
          <a:xfrm>
            <a:off x="2011680" y="1920240"/>
            <a:ext cx="242047"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26879" y="1920240"/>
            <a:ext cx="1280160" cy="329184"/>
          </a:xfrm>
          <a:prstGeom prst="rect">
            <a:avLst/>
          </a:prstGeom>
          <a:noFill/>
        </p:spPr>
        <p:txBody>
          <a:bodyPr wrap="square">
            <a:spAutoFit/>
          </a:bodyPr>
          <a:lstStyle/>
          <a:p>
            <a:pPr algn="l"/>
            <a:r>
              <a:rPr sz="1300" b="0" i="0">
                <a:solidFill>
                  <a:srgbClr val="9AA3AB"/>
                </a:solidFill>
              </a:rPr>
              <a:t>4.5 ms</a:t>
            </a:r>
          </a:p>
        </p:txBody>
      </p:sp>
      <p:sp>
        <p:nvSpPr>
          <p:cNvPr id="301" name="TextBox 300"/>
          <p:cNvSpPr txBox="1"/>
          <p:nvPr/>
        </p:nvSpPr>
        <p:spPr>
          <a:xfrm>
            <a:off x="274320" y="2377440"/>
            <a:ext cx="1645920" cy="329184"/>
          </a:xfrm>
          <a:prstGeom prst="rect">
            <a:avLst/>
          </a:prstGeom>
          <a:noFill/>
        </p:spPr>
        <p:txBody>
          <a:bodyPr wrap="square">
            <a:spAutoFit/>
          </a:bodyPr>
          <a:lstStyle/>
          <a:p>
            <a:pPr algn="r"/>
            <a:r>
              <a:rPr sz="1300" b="1" i="0">
                <a:solidFill>
                  <a:srgbClr val="DEE2E6"/>
                </a:solidFill>
              </a:rPr>
              <a:t>5,000</a:t>
            </a:r>
          </a:p>
        </p:txBody>
      </p:sp>
      <p:sp>
        <p:nvSpPr>
          <p:cNvPr id="302" name="Rectangle 301"/>
          <p:cNvSpPr/>
          <p:nvPr/>
        </p:nvSpPr>
        <p:spPr>
          <a:xfrm>
            <a:off x="2011680" y="2377440"/>
            <a:ext cx="1452282"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377440"/>
            <a:ext cx="1280160" cy="329184"/>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834640"/>
            <a:ext cx="1645920" cy="329184"/>
          </a:xfrm>
          <a:prstGeom prst="rect">
            <a:avLst/>
          </a:prstGeom>
          <a:noFill/>
        </p:spPr>
        <p:txBody>
          <a:bodyPr wrap="square">
            <a:spAutoFit/>
          </a:bodyPr>
          <a:lstStyle/>
          <a:p>
            <a:pPr algn="r"/>
            <a:r>
              <a:rPr sz="1300" b="1" i="0">
                <a:solidFill>
                  <a:srgbClr val="DEE2E6"/>
                </a:solidFill>
              </a:rPr>
              <a:t>10,000</a:t>
            </a:r>
          </a:p>
        </p:txBody>
      </p:sp>
      <p:sp>
        <p:nvSpPr>
          <p:cNvPr id="305" name="Rectangle 304"/>
          <p:cNvSpPr/>
          <p:nvPr/>
        </p:nvSpPr>
        <p:spPr>
          <a:xfrm>
            <a:off x="2011680" y="2834640"/>
            <a:ext cx="5755341" cy="329184"/>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7840173" y="2834640"/>
            <a:ext cx="1280160" cy="329184"/>
          </a:xfrm>
          <a:prstGeom prst="rect">
            <a:avLst/>
          </a:prstGeom>
          <a:noFill/>
        </p:spPr>
        <p:txBody>
          <a:bodyPr wrap="square">
            <a:spAutoFit/>
          </a:bodyPr>
          <a:lstStyle/>
          <a:p>
            <a:pPr algn="l"/>
            <a:r>
              <a:rPr sz="1300" b="0" i="0">
                <a:solidFill>
                  <a:srgbClr val="9AA3AB"/>
                </a:solidFill>
              </a:rPr>
              <a:t>107 ms</a:t>
            </a:r>
          </a:p>
        </p:txBody>
      </p:sp>
      <p:cxnSp>
        <p:nvCxnSpPr>
          <p:cNvPr id="307" name="Connector 306"/>
          <p:cNvCxnSpPr/>
          <p:nvPr/>
        </p:nvCxnSpPr>
        <p:spPr>
          <a:xfrm>
            <a:off x="2909943" y="1325880"/>
            <a:ext cx="0" cy="196596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8" name="TextBox 307"/>
          <p:cNvSpPr txBox="1"/>
          <p:nvPr/>
        </p:nvSpPr>
        <p:spPr>
          <a:xfrm>
            <a:off x="2178423" y="329184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9" name="TextBox 308"/>
          <p:cNvSpPr txBox="1"/>
          <p:nvPr/>
        </p:nvSpPr>
        <p:spPr>
          <a:xfrm>
            <a:off x="274320" y="3703320"/>
            <a:ext cx="8595360" cy="365760"/>
          </a:xfrm>
          <a:prstGeom prst="rect">
            <a:avLst/>
          </a:prstGeom>
          <a:noFill/>
        </p:spPr>
        <p:txBody>
          <a:bodyPr wrap="square">
            <a:spAutoFit/>
          </a:bodyPr>
          <a:lstStyle/>
          <a:p>
            <a:pPr algn="ctr"/>
            <a:r>
              <a:rPr sz="1300" b="0" i="0">
                <a:solidFill>
                  <a:srgbClr val="9AA3AB"/>
                </a:solidFill>
              </a:rPr>
              <a:t>Move and separate, per step, on one laptop. That’s O(n²).</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Profiling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Survivors1: F3, then Space</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Find the Limit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Survivors1, in Release: dotnet run -c Release</a:t>
            </a:r>
            <a:endParaRPr/>
          </a:p>
          <a:p>
            <a:pPr indent="-330200" lvl="0" marL="457200" rtl="0" algn="l">
              <a:spcBef>
                <a:spcPts val="0"/>
              </a:spcBef>
              <a:spcAft>
                <a:spcPts val="0"/>
              </a:spcAft>
              <a:buSzPts val="1600"/>
              <a:buChar char="●"/>
            </a:pPr>
            <a:r>
              <a:rPr lang="en"/>
              <a:t>F3, then Space until a frame takes over 16.7 ms</a:t>
            </a:r>
            <a:endParaRPr/>
          </a:p>
          <a:p>
            <a:pPr indent="-330200" lvl="0" marL="457200" rtl="0" algn="l">
              <a:spcBef>
                <a:spcPts val="0"/>
              </a:spcBef>
              <a:spcAft>
                <a:spcPts val="0"/>
              </a:spcAft>
              <a:buSzPts val="1600"/>
              <a:buChar char="●"/>
            </a:pPr>
            <a:r>
              <a:rPr lang="en"/>
              <a:t>How many enemies? Which section?</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Spatial Partitioning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An enemy only overlaps nearby enemies</a:t>
            </a:r>
            <a:endParaRPr/>
          </a:p>
          <a:p>
            <a:pPr indent="-330200" lvl="0" marL="457200" rtl="0" algn="l">
              <a:buClr>
                <a:srgbClr val="DEE2E6"/>
              </a:buClr>
              <a:spcBef>
                <a:spcPts val="0"/>
              </a:spcBef>
              <a:spcAft>
                <a:spcPts val="0"/>
              </a:spcAft>
              <a:buSzPts val="1600"/>
              <a:buChar char="●"/>
            </a:pPr>
            <a:r>
              <a:rPr lang="en" sz="1600">
                <a:solidFill>
                  <a:srgbClr val="DEE2E6"/>
                </a:solidFill>
              </a:rPr>
              <a:t>A uniform grid: square cells</a:t>
            </a:r>
            <a:endParaRPr/>
          </a:p>
          <a:p>
            <a:pPr indent="-317500" lvl="1" marL="914400" rtl="0" algn="l">
              <a:buClr>
                <a:srgbClr val="6C757D"/>
              </a:buClr>
              <a:spcBef>
                <a:spcPts val="0"/>
              </a:spcBef>
              <a:spcAft>
                <a:spcPts val="0"/>
              </a:spcAft>
              <a:buSzPts val="1400"/>
              <a:buChar char="○"/>
            </a:pPr>
            <a:r>
              <a:rPr lang="en" sz="1400">
                <a:solidFill>
                  <a:srgbClr val="6C757D"/>
                </a:solidFill>
              </a:rPr>
              <a:t>Each cell lists its enemies</a:t>
            </a:r>
            <a:endParaRPr/>
          </a:p>
          <a:p>
            <a:pPr indent="-317500" lvl="1" marL="914400" rtl="0" algn="l">
              <a:buClr>
                <a:srgbClr val="6C757D"/>
              </a:buClr>
              <a:spcBef>
                <a:spcPts val="0"/>
              </a:spcBef>
              <a:spcAft>
                <a:spcPts val="0"/>
              </a:spcAft>
              <a:buSzPts val="1400"/>
              <a:buChar char="○"/>
            </a:pPr>
            <a:r>
              <a:rPr lang="en" sz="1400">
                <a:solidFill>
                  <a:srgbClr val="6C757D"/>
                </a:solidFill>
              </a:rPr>
              <a:t>Rebuilt after every move</a:t>
            </a:r>
            <a:endParaRPr/>
          </a:p>
          <a:p>
            <a:pPr indent="-330200" lvl="0" marL="457200" rtl="0" algn="l">
              <a:buClr>
                <a:srgbClr val="DEE2E6"/>
              </a:buClr>
              <a:spcBef>
                <a:spcPts val="0"/>
              </a:spcBef>
              <a:spcAft>
                <a:spcPts val="0"/>
              </a:spcAft>
              <a:buSzPts val="1600"/>
              <a:buChar char="●"/>
            </a:pPr>
            <a:r>
              <a:rPr lang="en" sz="1600">
                <a:solidFill>
                  <a:srgbClr val="DEE2E6"/>
                </a:solidFill>
              </a:rPr>
              <a:t>A query looks at the cells it touches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Query(Vector2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 List&lt;int&gt;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min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max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y = min.Y; y &lt;= max.Y;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x = min.X; x &lt;= max.X; 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check the items in cell (x,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Grid vs. Every Pair</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With few enemies the grid doesn’t help. At 10,000 it is 26 times faster.</a:t>
            </a:r>
            <a:endParaRPr/>
          </a:p>
        </p:txBody>
      </p:sp>
      <p:sp>
        <p:nvSpPr>
          <p:cNvPr id="295" name="TextBox 294"/>
          <p:cNvSpPr txBox="1"/>
          <p:nvPr/>
        </p:nvSpPr>
        <p:spPr>
          <a:xfrm>
            <a:off x="274320" y="1371600"/>
            <a:ext cx="1645920" cy="274320"/>
          </a:xfrm>
          <a:prstGeom prst="rect">
            <a:avLst/>
          </a:prstGeom>
          <a:noFill/>
        </p:spPr>
        <p:txBody>
          <a:bodyPr wrap="square">
            <a:spAutoFit/>
          </a:bodyPr>
          <a:lstStyle/>
          <a:p>
            <a:pPr algn="r"/>
            <a:r>
              <a:rPr sz="1300" b="1" i="0">
                <a:solidFill>
                  <a:srgbClr val="DEE2E6"/>
                </a:solidFill>
              </a:rPr>
              <a:t>1,000: every pair</a:t>
            </a:r>
          </a:p>
        </p:txBody>
      </p:sp>
      <p:sp>
        <p:nvSpPr>
          <p:cNvPr id="296" name="Rectangle 295"/>
          <p:cNvSpPr/>
          <p:nvPr/>
        </p:nvSpPr>
        <p:spPr>
          <a:xfrm>
            <a:off x="2011680" y="1371600"/>
            <a:ext cx="64545"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371600"/>
            <a:ext cx="1280160" cy="274320"/>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719072"/>
            <a:ext cx="1645920" cy="274320"/>
          </a:xfrm>
          <a:prstGeom prst="rect">
            <a:avLst/>
          </a:prstGeom>
          <a:noFill/>
        </p:spPr>
        <p:txBody>
          <a:bodyPr wrap="square">
            <a:spAutoFit/>
          </a:bodyPr>
          <a:lstStyle/>
          <a:p>
            <a:pPr algn="r"/>
            <a:r>
              <a:rPr sz="1300" b="1" i="0">
                <a:solidFill>
                  <a:srgbClr val="DEE2E6"/>
                </a:solidFill>
              </a:rPr>
              <a:t>grid</a:t>
            </a:r>
          </a:p>
        </p:txBody>
      </p:sp>
      <p:sp>
        <p:nvSpPr>
          <p:cNvPr id="299" name="Rectangle 298"/>
          <p:cNvSpPr/>
          <p:nvPr/>
        </p:nvSpPr>
        <p:spPr>
          <a:xfrm>
            <a:off x="2011680" y="1719072"/>
            <a:ext cx="69924"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154756" y="1719072"/>
            <a:ext cx="1280160" cy="274320"/>
          </a:xfrm>
          <a:prstGeom prst="rect">
            <a:avLst/>
          </a:prstGeom>
          <a:noFill/>
        </p:spPr>
        <p:txBody>
          <a:bodyPr wrap="square">
            <a:spAutoFit/>
          </a:bodyPr>
          <a:lstStyle/>
          <a:p>
            <a:pPr algn="l"/>
            <a:r>
              <a:rPr sz="1300" b="0" i="0">
                <a:solidFill>
                  <a:srgbClr val="9AA3AB"/>
                </a:solidFill>
              </a:rPr>
              <a:t>1.3 ms</a:t>
            </a:r>
          </a:p>
        </p:txBody>
      </p:sp>
      <p:sp>
        <p:nvSpPr>
          <p:cNvPr id="301" name="TextBox 300"/>
          <p:cNvSpPr txBox="1"/>
          <p:nvPr/>
        </p:nvSpPr>
        <p:spPr>
          <a:xfrm>
            <a:off x="274320" y="2066543"/>
            <a:ext cx="1645920" cy="274320"/>
          </a:xfrm>
          <a:prstGeom prst="rect">
            <a:avLst/>
          </a:prstGeom>
          <a:noFill/>
        </p:spPr>
        <p:txBody>
          <a:bodyPr wrap="square">
            <a:spAutoFit/>
          </a:bodyPr>
          <a:lstStyle/>
          <a:p>
            <a:pPr algn="r"/>
            <a:r>
              <a:rPr sz="1300" b="1" i="0">
                <a:solidFill>
                  <a:srgbClr val="DEE2E6"/>
                </a:solidFill>
              </a:rPr>
              <a:t>5,000: every pair</a:t>
            </a:r>
          </a:p>
        </p:txBody>
      </p:sp>
      <p:sp>
        <p:nvSpPr>
          <p:cNvPr id="302" name="Rectangle 301"/>
          <p:cNvSpPr/>
          <p:nvPr/>
        </p:nvSpPr>
        <p:spPr>
          <a:xfrm>
            <a:off x="2011680" y="2066543"/>
            <a:ext cx="1452282"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066543"/>
            <a:ext cx="1280160" cy="274320"/>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414016"/>
            <a:ext cx="1645920" cy="274320"/>
          </a:xfrm>
          <a:prstGeom prst="rect">
            <a:avLst/>
          </a:prstGeom>
          <a:noFill/>
        </p:spPr>
        <p:txBody>
          <a:bodyPr wrap="square">
            <a:spAutoFit/>
          </a:bodyPr>
          <a:lstStyle/>
          <a:p>
            <a:pPr algn="r"/>
            <a:r>
              <a:rPr sz="1300" b="1" i="0">
                <a:solidFill>
                  <a:srgbClr val="DEE2E6"/>
                </a:solidFill>
              </a:rPr>
              <a:t>grid</a:t>
            </a:r>
          </a:p>
        </p:txBody>
      </p:sp>
      <p:sp>
        <p:nvSpPr>
          <p:cNvPr id="305" name="Rectangle 304"/>
          <p:cNvSpPr/>
          <p:nvPr/>
        </p:nvSpPr>
        <p:spPr>
          <a:xfrm>
            <a:off x="2011680" y="2414016"/>
            <a:ext cx="102197"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2187029" y="2414016"/>
            <a:ext cx="1280160" cy="274320"/>
          </a:xfrm>
          <a:prstGeom prst="rect">
            <a:avLst/>
          </a:prstGeom>
          <a:noFill/>
        </p:spPr>
        <p:txBody>
          <a:bodyPr wrap="square">
            <a:spAutoFit/>
          </a:bodyPr>
          <a:lstStyle/>
          <a:p>
            <a:pPr algn="l"/>
            <a:r>
              <a:rPr sz="1300" b="0" i="0">
                <a:solidFill>
                  <a:srgbClr val="9AA3AB"/>
                </a:solidFill>
              </a:rPr>
              <a:t>1.9 ms</a:t>
            </a:r>
          </a:p>
        </p:txBody>
      </p:sp>
      <p:sp>
        <p:nvSpPr>
          <p:cNvPr id="307" name="TextBox 306"/>
          <p:cNvSpPr txBox="1"/>
          <p:nvPr/>
        </p:nvSpPr>
        <p:spPr>
          <a:xfrm>
            <a:off x="274320" y="2761488"/>
            <a:ext cx="1645920" cy="274320"/>
          </a:xfrm>
          <a:prstGeom prst="rect">
            <a:avLst/>
          </a:prstGeom>
          <a:noFill/>
        </p:spPr>
        <p:txBody>
          <a:bodyPr wrap="square">
            <a:spAutoFit/>
          </a:bodyPr>
          <a:lstStyle/>
          <a:p>
            <a:pPr algn="r"/>
            <a:r>
              <a:rPr sz="1300" b="1" i="0">
                <a:solidFill>
                  <a:srgbClr val="DEE2E6"/>
                </a:solidFill>
              </a:rPr>
              <a:t>10,000: every pair</a:t>
            </a:r>
          </a:p>
        </p:txBody>
      </p:sp>
      <p:sp>
        <p:nvSpPr>
          <p:cNvPr id="308" name="Rectangle 307"/>
          <p:cNvSpPr/>
          <p:nvPr/>
        </p:nvSpPr>
        <p:spPr>
          <a:xfrm>
            <a:off x="2011680" y="2761488"/>
            <a:ext cx="5755341"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TextBox 308"/>
          <p:cNvSpPr txBox="1"/>
          <p:nvPr/>
        </p:nvSpPr>
        <p:spPr>
          <a:xfrm>
            <a:off x="7840173" y="2761488"/>
            <a:ext cx="1280160" cy="274320"/>
          </a:xfrm>
          <a:prstGeom prst="rect">
            <a:avLst/>
          </a:prstGeom>
          <a:noFill/>
        </p:spPr>
        <p:txBody>
          <a:bodyPr wrap="square">
            <a:spAutoFit/>
          </a:bodyPr>
          <a:lstStyle/>
          <a:p>
            <a:pPr algn="l"/>
            <a:r>
              <a:rPr sz="1300" b="0" i="0">
                <a:solidFill>
                  <a:srgbClr val="9AA3AB"/>
                </a:solidFill>
              </a:rPr>
              <a:t>107 ms</a:t>
            </a:r>
          </a:p>
        </p:txBody>
      </p:sp>
      <p:sp>
        <p:nvSpPr>
          <p:cNvPr id="310" name="TextBox 309"/>
          <p:cNvSpPr txBox="1"/>
          <p:nvPr/>
        </p:nvSpPr>
        <p:spPr>
          <a:xfrm>
            <a:off x="274320" y="3108960"/>
            <a:ext cx="1645920" cy="274320"/>
          </a:xfrm>
          <a:prstGeom prst="rect">
            <a:avLst/>
          </a:prstGeom>
          <a:noFill/>
        </p:spPr>
        <p:txBody>
          <a:bodyPr wrap="square">
            <a:spAutoFit/>
          </a:bodyPr>
          <a:lstStyle/>
          <a:p>
            <a:pPr algn="r"/>
            <a:r>
              <a:rPr sz="1300" b="1" i="0">
                <a:solidFill>
                  <a:srgbClr val="DEE2E6"/>
                </a:solidFill>
              </a:rPr>
              <a:t>grid</a:t>
            </a:r>
          </a:p>
        </p:txBody>
      </p:sp>
      <p:sp>
        <p:nvSpPr>
          <p:cNvPr id="311" name="Rectangle 310"/>
          <p:cNvSpPr/>
          <p:nvPr/>
        </p:nvSpPr>
        <p:spPr>
          <a:xfrm>
            <a:off x="2011680" y="3108960"/>
            <a:ext cx="220531"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TextBox 311"/>
          <p:cNvSpPr txBox="1"/>
          <p:nvPr/>
        </p:nvSpPr>
        <p:spPr>
          <a:xfrm>
            <a:off x="2305363" y="3108960"/>
            <a:ext cx="1280160" cy="274320"/>
          </a:xfrm>
          <a:prstGeom prst="rect">
            <a:avLst/>
          </a:prstGeom>
          <a:noFill/>
        </p:spPr>
        <p:txBody>
          <a:bodyPr wrap="square">
            <a:spAutoFit/>
          </a:bodyPr>
          <a:lstStyle/>
          <a:p>
            <a:pPr algn="l"/>
            <a:r>
              <a:rPr sz="1300" b="0" i="0">
                <a:solidFill>
                  <a:srgbClr val="9AA3AB"/>
                </a:solidFill>
              </a:rPr>
              <a:t>4.1 ms</a:t>
            </a:r>
          </a:p>
        </p:txBody>
      </p:sp>
      <p:sp>
        <p:nvSpPr>
          <p:cNvPr id="313" name="TextBox 312"/>
          <p:cNvSpPr txBox="1"/>
          <p:nvPr/>
        </p:nvSpPr>
        <p:spPr>
          <a:xfrm>
            <a:off x="274320" y="3657600"/>
            <a:ext cx="8595360" cy="457200"/>
          </a:xfrm>
          <a:prstGeom prst="rect">
            <a:avLst/>
          </a:prstGeom>
          <a:noFill/>
        </p:spPr>
        <p:txBody>
          <a:bodyPr wrap="square">
            <a:spAutoFit/>
          </a:bodyPr>
          <a:lstStyle/>
          <a:p>
            <a:pPr algn="ctr"/>
            <a:r>
              <a:rPr sz="1200" b="0" i="0">
                <a:solidFill>
                  <a:srgbClr val="9AA3AB"/>
                </a:solidFill>
              </a:rPr>
              <a:t>The work grows with n, not n². Quadtrees, BVHs and sweep-and-prune exist too;</a:t>
            </a:r>
          </a:p>
          <a:p>
            <a:pPr algn="ctr"/>
            <a:r>
              <a:rPr sz="1200" b="0" i="0">
                <a:solidFill>
                  <a:srgbClr val="9AA3AB"/>
                </a:solidFill>
              </a:rPr>
              <a:t>for many similar objects in a limited area, a grid is hard to beat.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Testing an Optimization</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fast code must give the same answers as the simple code</a:t>
            </a:r>
            <a:endParaRPr/>
          </a:p>
          <a:p>
            <a:pPr indent="-330200" lvl="0" marL="457200" rtl="0" algn="l">
              <a:buClr>
                <a:srgbClr val="DEE2E6"/>
              </a:buClr>
              <a:spcBef>
                <a:spcPts val="0"/>
              </a:spcBef>
              <a:spcAft>
                <a:spcPts val="0"/>
              </a:spcAft>
              <a:buSzPts val="1600"/>
              <a:buChar char="●"/>
            </a:pPr>
            <a:r>
              <a:rPr lang="en" sz="1600">
                <a:solidFill>
                  <a:srgbClr val="DEE2E6"/>
                </a:solidFill>
              </a:rPr>
              <a:t>Thousands of random points</a:t>
            </a:r>
            <a:endParaRPr/>
          </a:p>
          <a:p>
            <a:pPr indent="-317500" lvl="1" marL="914400" rtl="0" algn="l">
              <a:buClr>
                <a:srgbClr val="6C757D"/>
              </a:buClr>
              <a:spcBef>
                <a:spcPts val="0"/>
              </a:spcBef>
              <a:spcAft>
                <a:spcPts val="0"/>
              </a:spcAft>
              <a:buSzPts val="1400"/>
              <a:buChar char="○"/>
            </a:pPr>
            <a:r>
              <a:rPr lang="en" sz="1400">
                <a:solidFill>
                  <a:srgbClr val="6C757D"/>
                </a:solidFill>
              </a:rPr>
              <a:t>Compare with checking every point</a:t>
            </a:r>
            <a:endParaRPr/>
          </a:p>
          <a:p>
            <a:pPr indent="-330200" lvl="0" marL="457200" rtl="0" algn="l">
              <a:buClr>
                <a:srgbClr val="DEE2E6"/>
              </a:buClr>
              <a:spcBef>
                <a:spcPts val="0"/>
              </a:spcBef>
              <a:spcAft>
                <a:spcPts val="0"/>
              </a:spcAft>
              <a:buSzPts val="1600"/>
              <a:buChar char="●"/>
            </a:pPr>
            <a:r>
              <a:rPr lang="en" sz="1600">
                <a:solidFill>
                  <a:srgbClr val="DEE2E6"/>
                </a:solidFill>
              </a:rPr>
              <a:t>[Theory]: one test, several inputs</a:t>
            </a:r>
            <a:endParaRPr/>
          </a:p>
          <a:p>
            <a:pPr indent="-330200" lvl="0" marL="457200" rtl="0" algn="l">
              <a:buClr>
                <a:srgbClr val="DEE2E6"/>
              </a:buClr>
              <a:spcBef>
                <a:spcPts val="0"/>
              </a:spcBef>
              <a:spcAft>
                <a:spcPts val="0"/>
              </a:spcAft>
              <a:buSzPts val="1600"/>
              <a:buChar char="●"/>
            </a:pPr>
            <a:r>
              <a:rPr lang="en" sz="1600">
                <a:solidFill>
                  <a:srgbClr val="DEE2E6"/>
                </a:solidFill>
              </a:rPr>
              <a:t>Borders, negative coordinates, far outside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[Theory]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[InlineData(10f)]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[InlineData(48f)]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[InlineData(500f)]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The_grid_finds_the_same_points(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for 100 random centres: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grid.Query(center, radius,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CheckEveryPoint(points, center,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results.OrderBy(i =&gt;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Spatial Partitioning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and Survivors.Tests</a:t>
            </a:r>
            <a:endParaRPr sz="18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Grid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Survivors2, in Release:</a:t>
            </a:r>
            <a:endParaRPr/>
          </a:p>
          <a:p>
            <a:pPr indent="-330200" lvl="0" marL="457200" rtl="0" algn="l">
              <a:spcBef>
                <a:spcPts val="0"/>
              </a:spcBef>
              <a:spcAft>
                <a:spcPts val="0"/>
              </a:spcAft>
              <a:buSzPts val="1600"/>
              <a:buChar char="●"/>
            </a:pPr>
            <a:r>
              <a:rPr lang="en"/>
              <a:t>Go to 10,000 enemies</a:t>
            </a:r>
            <a:endParaRPr/>
          </a:p>
          <a:p>
            <a:pPr indent="-330200" lvl="0" marL="457200" rtl="0" algn="l">
              <a:spcBef>
                <a:spcPts val="0"/>
              </a:spcBef>
              <a:spcAft>
                <a:spcPts val="0"/>
              </a:spcAft>
              <a:buSzPts val="1600"/>
              <a:buChar char="●"/>
            </a:pPr>
            <a:r>
              <a:rPr lang="en"/>
              <a:t>Compare Separate with Survivors1</a:t>
            </a:r>
            <a:endParaRPr/>
          </a:p>
          <a:p>
            <a:pPr indent="-330200" lvl="0" marL="457200" rtl="0" algn="l">
              <a:spcBef>
                <a:spcPts val="0"/>
              </a:spcBef>
              <a:spcAft>
                <a:spcPts val="0"/>
              </a:spcAft>
              <a:buSzPts val="1600"/>
              <a:buChar char="●"/>
            </a:pPr>
            <a:r>
              <a:rPr lang="en"/>
              <a:t>Then run dotnet test in the folder</a:t>
            </a:r>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Memory Layout Matters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CPU is much faster than memory. What’s next to what you just read is almost free.</a:t>
            </a:r>
            <a:endParaRPr/>
          </a:p>
        </p:txBody>
      </p:sp>
      <p:sp>
        <p:nvSpPr>
          <p:cNvPr id="295" name="TextBox 294"/>
          <p:cNvSpPr txBox="1"/>
          <p:nvPr/>
        </p:nvSpPr>
        <p:spPr>
          <a:xfrm>
            <a:off x="548640" y="1371600"/>
            <a:ext cx="3657600" cy="274320"/>
          </a:xfrm>
          <a:prstGeom prst="rect">
            <a:avLst/>
          </a:prstGeom>
          <a:noFill/>
        </p:spPr>
        <p:txBody>
          <a:bodyPr wrap="square">
            <a:spAutoFit/>
          </a:bodyPr>
          <a:lstStyle/>
          <a:p>
            <a:pPr algn="l"/>
            <a:r>
              <a:rPr sz="1300" b="1" i="0">
                <a:solidFill>
                  <a:srgbClr val="DEE2E6"/>
                </a:solidFill>
              </a:rPr>
              <a:t>List&lt;Enemy&gt;: references to objects all over the heap</a:t>
            </a:r>
          </a:p>
        </p:txBody>
      </p:sp>
      <p:sp>
        <p:nvSpPr>
          <p:cNvPr id="296" name="Rounded Rectangle 295"/>
          <p:cNvSpPr/>
          <p:nvPr/>
        </p:nvSpPr>
        <p:spPr>
          <a:xfrm>
            <a:off x="64008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7" name="Rounded Rectangle 296"/>
          <p:cNvSpPr/>
          <p:nvPr/>
        </p:nvSpPr>
        <p:spPr>
          <a:xfrm>
            <a:off x="2377440" y="23774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8" name="Rounded Rectangle 297"/>
          <p:cNvSpPr/>
          <p:nvPr/>
        </p:nvSpPr>
        <p:spPr>
          <a:xfrm>
            <a:off x="1280160" y="292608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9" name="Rounded Rectangle 298"/>
          <p:cNvSpPr/>
          <p:nvPr/>
        </p:nvSpPr>
        <p:spPr>
          <a:xfrm>
            <a:off x="310896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0" name="Rounded Rectangle 299"/>
          <p:cNvSpPr/>
          <p:nvPr/>
        </p:nvSpPr>
        <p:spPr>
          <a:xfrm>
            <a:off x="822960" y="347472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1" name="Rounded Rectangle 300"/>
          <p:cNvSpPr/>
          <p:nvPr/>
        </p:nvSpPr>
        <p:spPr>
          <a:xfrm>
            <a:off x="2834640" y="32918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2" name="TextBox 301"/>
          <p:cNvSpPr txBox="1"/>
          <p:nvPr/>
        </p:nvSpPr>
        <p:spPr>
          <a:xfrm>
            <a:off x="4846320" y="1371600"/>
            <a:ext cx="3840480" cy="274320"/>
          </a:xfrm>
          <a:prstGeom prst="rect">
            <a:avLst/>
          </a:prstGeom>
          <a:noFill/>
        </p:spPr>
        <p:txBody>
          <a:bodyPr wrap="square">
            <a:spAutoFit/>
          </a:bodyPr>
          <a:lstStyle/>
          <a:p>
            <a:pPr algn="l"/>
            <a:r>
              <a:rPr sz="1300" b="1" i="0">
                <a:solidFill>
                  <a:srgbClr val="DEE2E6"/>
                </a:solidFill>
              </a:rPr>
              <a:t>A struct of arrays: each field packed together</a:t>
            </a:r>
          </a:p>
        </p:txBody>
      </p:sp>
      <p:sp>
        <p:nvSpPr>
          <p:cNvPr id="303" name="TextBox 302"/>
          <p:cNvSpPr txBox="1"/>
          <p:nvPr/>
        </p:nvSpPr>
        <p:spPr>
          <a:xfrm>
            <a:off x="4846320" y="1828800"/>
            <a:ext cx="914400" cy="365760"/>
          </a:xfrm>
          <a:prstGeom prst="rect">
            <a:avLst/>
          </a:prstGeom>
          <a:noFill/>
        </p:spPr>
        <p:txBody>
          <a:bodyPr wrap="square">
            <a:spAutoFit/>
          </a:bodyPr>
          <a:lstStyle/>
          <a:p>
            <a:pPr algn="l"/>
            <a:r>
              <a:rPr sz="1100" b="0" i="0">
                <a:solidFill>
                  <a:srgbClr val="9AA3AB"/>
                </a:solidFill>
              </a:rPr>
              <a:t>Position</a:t>
            </a:r>
          </a:p>
        </p:txBody>
      </p:sp>
      <p:sp>
        <p:nvSpPr>
          <p:cNvPr id="304" name="Rectangle 303"/>
          <p:cNvSpPr/>
          <p:nvPr/>
        </p:nvSpPr>
        <p:spPr>
          <a:xfrm>
            <a:off x="576072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5" name="Rectangle 304"/>
          <p:cNvSpPr/>
          <p:nvPr/>
        </p:nvSpPr>
        <p:spPr>
          <a:xfrm>
            <a:off x="6236208"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Rectangle 305"/>
          <p:cNvSpPr/>
          <p:nvPr/>
        </p:nvSpPr>
        <p:spPr>
          <a:xfrm>
            <a:off x="6711696"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7" name="Rectangle 306"/>
          <p:cNvSpPr/>
          <p:nvPr/>
        </p:nvSpPr>
        <p:spPr>
          <a:xfrm>
            <a:off x="7187183"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8" name="Rectangle 307"/>
          <p:cNvSpPr/>
          <p:nvPr/>
        </p:nvSpPr>
        <p:spPr>
          <a:xfrm>
            <a:off x="7662671"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Rectangle 308"/>
          <p:cNvSpPr/>
          <p:nvPr/>
        </p:nvSpPr>
        <p:spPr>
          <a:xfrm>
            <a:off x="813816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0" name="TextBox 309"/>
          <p:cNvSpPr txBox="1"/>
          <p:nvPr/>
        </p:nvSpPr>
        <p:spPr>
          <a:xfrm>
            <a:off x="4846320" y="2377440"/>
            <a:ext cx="914400" cy="365760"/>
          </a:xfrm>
          <a:prstGeom prst="rect">
            <a:avLst/>
          </a:prstGeom>
          <a:noFill/>
        </p:spPr>
        <p:txBody>
          <a:bodyPr wrap="square">
            <a:spAutoFit/>
          </a:bodyPr>
          <a:lstStyle/>
          <a:p>
            <a:pPr algn="l"/>
            <a:r>
              <a:rPr sz="1100" b="0" i="0">
                <a:solidFill>
                  <a:srgbClr val="9AA3AB"/>
                </a:solidFill>
              </a:rPr>
              <a:t>Health</a:t>
            </a:r>
          </a:p>
        </p:txBody>
      </p:sp>
      <p:sp>
        <p:nvSpPr>
          <p:cNvPr id="311" name="Rectangle 310"/>
          <p:cNvSpPr/>
          <p:nvPr/>
        </p:nvSpPr>
        <p:spPr>
          <a:xfrm>
            <a:off x="576072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Rectangle 311"/>
          <p:cNvSpPr/>
          <p:nvPr/>
        </p:nvSpPr>
        <p:spPr>
          <a:xfrm>
            <a:off x="6236208"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3" name="Rectangle 312"/>
          <p:cNvSpPr/>
          <p:nvPr/>
        </p:nvSpPr>
        <p:spPr>
          <a:xfrm>
            <a:off x="6711696"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4" name="Rectangle 313"/>
          <p:cNvSpPr/>
          <p:nvPr/>
        </p:nvSpPr>
        <p:spPr>
          <a:xfrm>
            <a:off x="7187183"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5" name="Rectangle 314"/>
          <p:cNvSpPr/>
          <p:nvPr/>
        </p:nvSpPr>
        <p:spPr>
          <a:xfrm>
            <a:off x="7662671"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6" name="Rectangle 315"/>
          <p:cNvSpPr/>
          <p:nvPr/>
        </p:nvSpPr>
        <p:spPr>
          <a:xfrm>
            <a:off x="813816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7" name="TextBox 316"/>
          <p:cNvSpPr txBox="1"/>
          <p:nvPr/>
        </p:nvSpPr>
        <p:spPr>
          <a:xfrm>
            <a:off x="4846320" y="2926080"/>
            <a:ext cx="914400" cy="365760"/>
          </a:xfrm>
          <a:prstGeom prst="rect">
            <a:avLst/>
          </a:prstGeom>
          <a:noFill/>
        </p:spPr>
        <p:txBody>
          <a:bodyPr wrap="square">
            <a:spAutoFit/>
          </a:bodyPr>
          <a:lstStyle/>
          <a:p>
            <a:pPr algn="l"/>
            <a:r>
              <a:rPr sz="1100" b="0" i="0">
                <a:solidFill>
                  <a:srgbClr val="9AA3AB"/>
                </a:solidFill>
              </a:rPr>
              <a:t>Speed</a:t>
            </a:r>
          </a:p>
        </p:txBody>
      </p:sp>
      <p:sp>
        <p:nvSpPr>
          <p:cNvPr id="318" name="Rectangle 317"/>
          <p:cNvSpPr/>
          <p:nvPr/>
        </p:nvSpPr>
        <p:spPr>
          <a:xfrm>
            <a:off x="576072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9" name="Rectangle 318"/>
          <p:cNvSpPr/>
          <p:nvPr/>
        </p:nvSpPr>
        <p:spPr>
          <a:xfrm>
            <a:off x="6236208"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0" name="Rectangle 319"/>
          <p:cNvSpPr/>
          <p:nvPr/>
        </p:nvSpPr>
        <p:spPr>
          <a:xfrm>
            <a:off x="6711696"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1" name="Rectangle 320"/>
          <p:cNvSpPr/>
          <p:nvPr/>
        </p:nvSpPr>
        <p:spPr>
          <a:xfrm>
            <a:off x="7187183"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2" name="Rectangle 321"/>
          <p:cNvSpPr/>
          <p:nvPr/>
        </p:nvSpPr>
        <p:spPr>
          <a:xfrm>
            <a:off x="7662671"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3" name="Rectangle 322"/>
          <p:cNvSpPr/>
          <p:nvPr/>
        </p:nvSpPr>
        <p:spPr>
          <a:xfrm>
            <a:off x="813816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4" name="TextBox 323"/>
          <p:cNvSpPr txBox="1"/>
          <p:nvPr/>
        </p:nvSpPr>
        <p:spPr>
          <a:xfrm>
            <a:off x="4846320" y="3566160"/>
            <a:ext cx="3840480" cy="457200"/>
          </a:xfrm>
          <a:prstGeom prst="rect">
            <a:avLst/>
          </a:prstGeom>
          <a:noFill/>
        </p:spPr>
        <p:txBody>
          <a:bodyPr wrap="square">
            <a:spAutoFit/>
          </a:bodyPr>
          <a:lstStyle/>
          <a:p>
            <a:pPr algn="l"/>
            <a:r>
              <a:rPr sz="1200" b="0" i="0">
                <a:solidFill>
                  <a:srgbClr val="9AA3AB"/>
                </a:solidFill>
              </a:rPr>
              <a:t>The CPU reads 64 bytes at a time: one read, several enemies.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Struct of Arrays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 Enemy object: an enemy is an index</a:t>
            </a:r>
            <a:endParaRPr/>
          </a:p>
          <a:p>
            <a:pPr indent="-330200" lvl="0" marL="457200" rtl="0" algn="l">
              <a:buClr>
                <a:srgbClr val="DEE2E6"/>
              </a:buClr>
              <a:spcBef>
                <a:spcPts val="0"/>
              </a:spcBef>
              <a:spcAft>
                <a:spcPts val="0"/>
              </a:spcAft>
              <a:buSzPts val="1600"/>
              <a:buChar char="●"/>
            </a:pPr>
            <a:r>
              <a:rPr lang="en" sz="1600">
                <a:solidFill>
                  <a:srgbClr val="DEE2E6"/>
                </a:solidFill>
              </a:rPr>
              <a:t>Each field in its own array</a:t>
            </a:r>
            <a:endParaRPr/>
          </a:p>
          <a:p>
            <a:pPr indent="-317500" lvl="1" marL="914400" rtl="0" algn="l">
              <a:buClr>
                <a:srgbClr val="6C757D"/>
              </a:buClr>
              <a:spcBef>
                <a:spcPts val="0"/>
              </a:spcBef>
              <a:spcAft>
                <a:spcPts val="0"/>
              </a:spcAft>
              <a:buSzPts val="1400"/>
              <a:buChar char="○"/>
            </a:pPr>
            <a:r>
              <a:rPr lang="en" sz="1400">
                <a:solidFill>
                  <a:srgbClr val="6C757D"/>
                </a:solidFill>
              </a:rPr>
              <a:t>Packed from 0 to Count - 1</a:t>
            </a:r>
            <a:endParaRPr/>
          </a:p>
          <a:p>
            <a:pPr indent="-330200" lvl="0" marL="457200" rtl="0" algn="l">
              <a:buClr>
                <a:srgbClr val="DEE2E6"/>
              </a:buClr>
              <a:spcBef>
                <a:spcPts val="0"/>
              </a:spcBef>
              <a:spcAft>
                <a:spcPts val="0"/>
              </a:spcAft>
              <a:buSzPts val="1600"/>
              <a:buChar char="●"/>
            </a:pPr>
            <a:r>
              <a:rPr lang="en" sz="1600">
                <a:solidFill>
                  <a:srgbClr val="DEE2E6"/>
                </a:solidFill>
              </a:rPr>
              <a:t>Remove: the last one moves into the hole</a:t>
            </a:r>
            <a:endParaRPr/>
          </a:p>
          <a:p>
            <a:pPr indent="-330200" lvl="0" marL="457200" rtl="0" algn="l">
              <a:buClr>
                <a:srgbClr val="DEE2E6"/>
              </a:buClr>
              <a:spcBef>
                <a:spcPts val="0"/>
              </a:spcBef>
              <a:spcAft>
                <a:spcPts val="0"/>
              </a:spcAft>
              <a:buSzPts val="1600"/>
              <a:buChar char="●"/>
            </a:pPr>
            <a:r>
              <a:rPr lang="en" sz="1600">
                <a:solidFill>
                  <a:srgbClr val="DEE2E6"/>
                </a:solidFill>
              </a:rPr>
              <a:t>Speed and radius copied from the kind</a:t>
            </a:r>
            <a:endParaRPr/>
          </a:p>
          <a:p>
            <a:pPr indent="-317500" lvl="1" marL="914400" rtl="0" algn="l">
              <a:buClr>
                <a:srgbClr val="6C757D"/>
              </a:buClr>
              <a:spcBef>
                <a:spcPts val="0"/>
              </a:spcBef>
              <a:spcAft>
                <a:spcPts val="0"/>
              </a:spcAft>
              <a:buSzPts val="1400"/>
              <a:buChar char="○"/>
            </a:pPr>
            <a:r>
              <a:rPr lang="en" sz="1400">
                <a:solidFill>
                  <a:srgbClr val="6C757D"/>
                </a:solidFill>
              </a:rPr>
              <a:t>The hot loops read them every step</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Enemies(int 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Vector2[] Position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Vector2[capacity];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Health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Speed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Radius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byte[] Kind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int Count { get; private set;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positions[i] += toTarget / distance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speeds[i] * deltaSeconds;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Measure Again</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Enemies as arrays, same grid: 4.1 ms became 3.9 ms. Hardly anything.</a:t>
            </a:r>
            <a:endParaRPr/>
          </a:p>
        </p:txBody>
      </p:sp>
      <p:sp>
        <p:nvSpPr>
          <p:cNvPr id="295" name="Rounded Rectangle 294"/>
          <p:cNvSpPr/>
          <p:nvPr/>
        </p:nvSpPr>
        <p:spPr>
          <a:xfrm>
            <a:off x="1097280" y="1463040"/>
            <a:ext cx="694944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The time was in the grid</a:t>
            </a:r>
          </a:p>
          <a:p>
            <a:pPr algn="ctr"/>
            <a:r>
              <a:rPr sz="1500" b="0">
                <a:solidFill>
                  <a:srgbClr val="9AA3AB"/>
                </a:solidFill>
              </a:rPr>
              <a:t>a dictionary lookup per cell, and lists of tuples</a:t>
            </a:r>
          </a:p>
        </p:txBody>
      </p:sp>
      <p:sp>
        <p:nvSpPr>
          <p:cNvPr id="296" name="TextBox 295"/>
          <p:cNvSpPr txBox="1"/>
          <p:nvPr/>
        </p:nvSpPr>
        <p:spPr>
          <a:xfrm>
            <a:off x="457200" y="2743200"/>
            <a:ext cx="8229600" cy="731520"/>
          </a:xfrm>
          <a:prstGeom prst="rect">
            <a:avLst/>
          </a:prstGeom>
          <a:noFill/>
        </p:spPr>
        <p:txBody>
          <a:bodyPr wrap="square">
            <a:spAutoFit/>
          </a:bodyPr>
          <a:lstStyle/>
          <a:p>
            <a:pPr algn="ctr"/>
            <a:r>
              <a:rPr sz="1600" b="1" i="0">
                <a:solidFill>
                  <a:srgbClr val="DEE2E6"/>
                </a:solidFill>
              </a:rPr>
              <a:t>The layout that matters is the data in the hot loop. How do you find that loop?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Flat Grid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counting sort, every step</a:t>
            </a:r>
            <a:endParaRPr/>
          </a:p>
          <a:p>
            <a:pPr indent="-330200" lvl="0" marL="457200" rtl="0" algn="l">
              <a:buClr>
                <a:srgbClr val="DEE2E6"/>
              </a:buClr>
              <a:spcBef>
                <a:spcPts val="0"/>
              </a:spcBef>
              <a:spcAft>
                <a:spcPts val="0"/>
              </a:spcAft>
              <a:buSzPts val="1600"/>
              <a:buChar char="●"/>
            </a:pPr>
            <a:r>
              <a:rPr lang="en" sz="1600">
                <a:solidFill>
                  <a:srgbClr val="DEE2E6"/>
                </a:solidFill>
              </a:rPr>
              <a:t>A cell’s enemies next to each other in memory</a:t>
            </a:r>
            <a:endParaRPr/>
          </a:p>
          <a:p>
            <a:pPr indent="-330200" lvl="0" marL="457200" rtl="0" algn="l">
              <a:buClr>
                <a:srgbClr val="DEE2E6"/>
              </a:buClr>
              <a:spcBef>
                <a:spcPts val="0"/>
              </a:spcBef>
              <a:spcAft>
                <a:spcPts val="0"/>
              </a:spcAft>
              <a:buSzPts val="1600"/>
              <a:buChar char="●"/>
            </a:pPr>
            <a:r>
              <a:rPr lang="en" sz="1600">
                <a:solidFill>
                  <a:srgbClr val="DEE2E6"/>
                </a:solidFill>
              </a:rPr>
              <a:t>Separate walks the cells</a:t>
            </a:r>
            <a:endParaRPr/>
          </a:p>
          <a:p>
            <a:pPr indent="-317500" lvl="1" marL="914400" rtl="0" algn="l">
              <a:buClr>
                <a:srgbClr val="6C757D"/>
              </a:buClr>
              <a:spcBef>
                <a:spcPts val="0"/>
              </a:spcBef>
              <a:spcAft>
                <a:spcPts val="0"/>
              </a:spcAft>
              <a:buSzPts val="1400"/>
              <a:buChar char="○"/>
            </a:pPr>
            <a:r>
              <a:rPr lang="en" sz="1400">
                <a:solidFill>
                  <a:srgbClr val="6C757D"/>
                </a:solidFill>
              </a:rPr>
              <a:t>Each enemy against its cell and the neighbours</a:t>
            </a:r>
            <a:endParaRPr/>
          </a:p>
          <a:p>
            <a:pPr indent="-317500" lvl="1" marL="914400" rtl="0" algn="l">
              <a:buClr>
                <a:srgbClr val="6C757D"/>
              </a:buClr>
              <a:spcBef>
                <a:spcPts val="0"/>
              </a:spcBef>
              <a:spcAft>
                <a:spcPts val="0"/>
              </a:spcAft>
              <a:buSzPts val="1400"/>
              <a:buChar char="○"/>
            </a:pPr>
            <a:r>
              <a:rPr lang="en" sz="1400">
                <a:solidFill>
                  <a:srgbClr val="6C757D"/>
                </a:solidFill>
              </a:rPr>
              <a:t>Without queries, lists or a dictionary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1. Count the items in each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_cellStart[CellIndex(positions[i])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2. Each cell starts where the one before ends.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c = 0; c &lt; cells; 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 + 1] += _cellStart[c];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3. Copy each item into its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 slot = _next[_cellOf[i]]++;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Items[slot] =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Positions[slot] = positions[i];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Results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About 80× faster than where we started.</a:t>
            </a:r>
            <a:endParaRPr/>
          </a:p>
        </p:txBody>
      </p:sp>
      <p:sp>
        <p:nvSpPr>
          <p:cNvPr id="295" name="TextBox 294"/>
          <p:cNvSpPr txBox="1"/>
          <p:nvPr/>
        </p:nvSpPr>
        <p:spPr>
          <a:xfrm>
            <a:off x="274320" y="1463040"/>
            <a:ext cx="1645920" cy="411480"/>
          </a:xfrm>
          <a:prstGeom prst="rect">
            <a:avLst/>
          </a:prstGeom>
          <a:noFill/>
        </p:spPr>
        <p:txBody>
          <a:bodyPr wrap="square">
            <a:spAutoFit/>
          </a:bodyPr>
          <a:lstStyle/>
          <a:p>
            <a:pPr algn="r"/>
            <a:r>
              <a:rPr sz="1300" b="1" i="0">
                <a:solidFill>
                  <a:srgbClr val="DEE2E6"/>
                </a:solidFill>
              </a:rPr>
              <a:t>Every pair</a:t>
            </a:r>
          </a:p>
        </p:txBody>
      </p:sp>
      <p:sp>
        <p:nvSpPr>
          <p:cNvPr id="296" name="Rectangle 295"/>
          <p:cNvSpPr/>
          <p:nvPr/>
        </p:nvSpPr>
        <p:spPr>
          <a:xfrm>
            <a:off x="2011680" y="1463040"/>
            <a:ext cx="575534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7840173" y="1463040"/>
            <a:ext cx="1280160" cy="411480"/>
          </a:xfrm>
          <a:prstGeom prst="rect">
            <a:avLst/>
          </a:prstGeom>
          <a:noFill/>
        </p:spPr>
        <p:txBody>
          <a:bodyPr wrap="square">
            <a:spAutoFit/>
          </a:bodyPr>
          <a:lstStyle/>
          <a:p>
            <a:pPr algn="l"/>
            <a:r>
              <a:rPr sz="1300" b="0" i="0">
                <a:solidFill>
                  <a:srgbClr val="9AA3AB"/>
                </a:solidFill>
              </a:rPr>
              <a:t>107 ms</a:t>
            </a:r>
          </a:p>
        </p:txBody>
      </p:sp>
      <p:sp>
        <p:nvSpPr>
          <p:cNvPr id="298" name="TextBox 297"/>
          <p:cNvSpPr txBox="1"/>
          <p:nvPr/>
        </p:nvSpPr>
        <p:spPr>
          <a:xfrm>
            <a:off x="274320" y="2057400"/>
            <a:ext cx="1645920" cy="411480"/>
          </a:xfrm>
          <a:prstGeom prst="rect">
            <a:avLst/>
          </a:prstGeom>
          <a:noFill/>
        </p:spPr>
        <p:txBody>
          <a:bodyPr wrap="square">
            <a:spAutoFit/>
          </a:bodyPr>
          <a:lstStyle/>
          <a:p>
            <a:pPr algn="r"/>
            <a:r>
              <a:rPr sz="1300" b="1" i="0">
                <a:solidFill>
                  <a:srgbClr val="DEE2E6"/>
                </a:solidFill>
              </a:rPr>
              <a:t>Objects + grid</a:t>
            </a:r>
          </a:p>
        </p:txBody>
      </p:sp>
      <p:sp>
        <p:nvSpPr>
          <p:cNvPr id="299" name="Rectangle 298"/>
          <p:cNvSpPr/>
          <p:nvPr/>
        </p:nvSpPr>
        <p:spPr>
          <a:xfrm>
            <a:off x="2011680" y="2057400"/>
            <a:ext cx="22053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05363" y="2057400"/>
            <a:ext cx="1280160" cy="411480"/>
          </a:xfrm>
          <a:prstGeom prst="rect">
            <a:avLst/>
          </a:prstGeom>
          <a:noFill/>
        </p:spPr>
        <p:txBody>
          <a:bodyPr wrap="square">
            <a:spAutoFit/>
          </a:bodyPr>
          <a:lstStyle/>
          <a:p>
            <a:pPr algn="l"/>
            <a:r>
              <a:rPr sz="1300" b="0" i="0">
                <a:solidFill>
                  <a:srgbClr val="9AA3AB"/>
                </a:solidFill>
              </a:rPr>
              <a:t>4.1 ms</a:t>
            </a:r>
          </a:p>
        </p:txBody>
      </p:sp>
      <p:sp>
        <p:nvSpPr>
          <p:cNvPr id="301" name="TextBox 300"/>
          <p:cNvSpPr txBox="1"/>
          <p:nvPr/>
        </p:nvSpPr>
        <p:spPr>
          <a:xfrm>
            <a:off x="274320" y="2651760"/>
            <a:ext cx="1645920" cy="411480"/>
          </a:xfrm>
          <a:prstGeom prst="rect">
            <a:avLst/>
          </a:prstGeom>
          <a:noFill/>
        </p:spPr>
        <p:txBody>
          <a:bodyPr wrap="square">
            <a:spAutoFit/>
          </a:bodyPr>
          <a:lstStyle/>
          <a:p>
            <a:pPr algn="r"/>
            <a:r>
              <a:rPr sz="1300" b="1" i="0">
                <a:solidFill>
                  <a:srgbClr val="DEE2E6"/>
                </a:solidFill>
              </a:rPr>
              <a:t>Arrays + flat grid</a:t>
            </a:r>
          </a:p>
        </p:txBody>
      </p:sp>
      <p:sp>
        <p:nvSpPr>
          <p:cNvPr id="302" name="Rectangle 301"/>
          <p:cNvSpPr/>
          <p:nvPr/>
        </p:nvSpPr>
        <p:spPr>
          <a:xfrm>
            <a:off x="2011680" y="2651760"/>
            <a:ext cx="69924" cy="41148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2154756" y="2651760"/>
            <a:ext cx="1280160" cy="411480"/>
          </a:xfrm>
          <a:prstGeom prst="rect">
            <a:avLst/>
          </a:prstGeom>
          <a:noFill/>
        </p:spPr>
        <p:txBody>
          <a:bodyPr wrap="square">
            <a:spAutoFit/>
          </a:bodyPr>
          <a:lstStyle/>
          <a:p>
            <a:pPr algn="l"/>
            <a:r>
              <a:rPr sz="1300" b="0" i="0">
                <a:solidFill>
                  <a:srgbClr val="9AA3AB"/>
                </a:solidFill>
              </a:rPr>
              <a:t>1.3 ms</a:t>
            </a:r>
          </a:p>
        </p:txBody>
      </p:sp>
      <p:cxnSp>
        <p:nvCxnSpPr>
          <p:cNvPr id="304" name="Connector 303"/>
          <p:cNvCxnSpPr/>
          <p:nvPr/>
        </p:nvCxnSpPr>
        <p:spPr>
          <a:xfrm>
            <a:off x="2909943" y="1325880"/>
            <a:ext cx="0" cy="192024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5" name="TextBox 304"/>
          <p:cNvSpPr txBox="1"/>
          <p:nvPr/>
        </p:nvSpPr>
        <p:spPr>
          <a:xfrm>
            <a:off x="2178423" y="324612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6" name="TextBox 305"/>
          <p:cNvSpPr txBox="1"/>
          <p:nvPr/>
        </p:nvSpPr>
        <p:spPr>
          <a:xfrm>
            <a:off x="274320" y="3429000"/>
            <a:ext cx="8595360" cy="365760"/>
          </a:xfrm>
          <a:prstGeom prst="rect">
            <a:avLst/>
          </a:prstGeom>
          <a:noFill/>
        </p:spPr>
        <p:txBody>
          <a:bodyPr wrap="square">
            <a:spAutoFit/>
          </a:bodyPr>
          <a:lstStyle/>
          <a:p>
            <a:pPr algn="ctr"/>
            <a:r>
              <a:rPr sz="1300" b="0" i="0">
                <a:solidFill>
                  <a:srgbClr val="9AA3AB"/>
                </a:solidFill>
              </a:rPr>
              <a:t>10,000 enemies, move and separate, per step. At 20,000: 14.5 ms with the grid, 4.9 ms flat.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What It Costs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Data-oriented code is faster, and harder. Use it only where there are thousands.</a:t>
            </a:r>
            <a:endParaRPr/>
          </a:p>
        </p:txBody>
      </p:sp>
      <p:sp>
        <p:nvSpPr>
          <p:cNvPr id="295" name="Rounded Rectangle 294"/>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An enemy is an index</a:t>
            </a:r>
          </a:p>
          <a:p>
            <a:pPr algn="ctr"/>
            <a:r>
              <a:rPr sz="1300" b="0">
                <a:solidFill>
                  <a:srgbClr val="9AA3AB"/>
                </a:solidFill>
              </a:rPr>
              <a:t>and indexes change:</a:t>
            </a:r>
          </a:p>
          <a:p>
            <a:pPr algn="ctr"/>
            <a:r>
              <a:rPr sz="1300" b="0">
                <a:solidFill>
                  <a:srgbClr val="9AA3AB"/>
                </a:solidFill>
              </a:rPr>
              <a:t>don’t keep one across frames</a:t>
            </a:r>
          </a:p>
        </p:txBody>
      </p:sp>
      <p:sp>
        <p:nvSpPr>
          <p:cNvPr id="296" name="Rounded Rectangle 295"/>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Harder to read</a:t>
            </a:r>
          </a:p>
          <a:p>
            <a:pPr algn="ctr"/>
            <a:r>
              <a:rPr sz="1300" b="0">
                <a:solidFill>
                  <a:srgbClr val="9AA3AB"/>
                </a:solidFill>
              </a:rPr>
              <a:t>and harder to change</a:t>
            </a:r>
          </a:p>
        </p:txBody>
      </p:sp>
      <p:sp>
        <p:nvSpPr>
          <p:cNvPr id="297" name="Rounded Rectangle 296"/>
          <p:cNvSpPr/>
          <p:nvPr/>
        </p:nvSpPr>
        <p:spPr>
          <a:xfrm>
            <a:off x="6080760" y="1463040"/>
            <a:ext cx="2651760" cy="11887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Only for the swarm and the gems</a:t>
            </a:r>
          </a:p>
          <a:p>
            <a:pPr algn="ctr"/>
            <a:r>
              <a:rPr sz="1300" b="0">
                <a:solidFill>
                  <a:srgbClr val="9AA3AB"/>
                </a:solidFill>
              </a:rPr>
              <a:t>not the player,</a:t>
            </a:r>
          </a:p>
          <a:p>
            <a:pPr algn="ctr"/>
            <a:r>
              <a:rPr sz="1300" b="0">
                <a:solidFill>
                  <a:srgbClr val="9AA3AB"/>
                </a:solidFill>
              </a:rPr>
              <a:t>not the bolts</a:t>
            </a:r>
          </a:p>
        </p:txBody>
      </p:sp>
      <p:sp>
        <p:nvSpPr>
          <p:cNvPr id="298" name="TextBox 297"/>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Geometry Wars: components for its hundreds of entities, plain data for its particles.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Data-Oriented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 Survivors3: arrays and a flat grid</a:t>
            </a:r>
            <a:endParaRPr sz="18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Arrays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Survivors3, in Release:</a:t>
            </a:r>
            <a:endParaRPr/>
          </a:p>
          <a:p>
            <a:pPr indent="-330200" lvl="0" marL="457200" rtl="0" algn="l">
              <a:spcBef>
                <a:spcPts val="0"/>
              </a:spcBef>
              <a:spcAft>
                <a:spcPts val="0"/>
              </a:spcAft>
              <a:buSzPts val="1600"/>
              <a:buChar char="●"/>
            </a:pPr>
            <a:r>
              <a:rPr lang="en"/>
              <a:t>At 10,000 and 20,000 enemies, compare with Survivors2</a:t>
            </a:r>
            <a:endParaRPr/>
          </a:p>
          <a:p>
            <a:pPr indent="-330200" lvl="0" marL="457200" rtl="0" algn="l">
              <a:spcBef>
                <a:spcPts val="0"/>
              </a:spcBef>
              <a:spcAft>
                <a:spcPts val="0"/>
              </a:spcAft>
              <a:buSzPts val="1600"/>
              <a:buChar char="●"/>
            </a:pPr>
            <a:r>
              <a:rPr lang="en"/>
              <a:t>Which sections changed the most?</a:t>
            </a:r>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whole game is patterns you already know.</a:t>
            </a:r>
            <a:endParaRPr/>
          </a:p>
        </p:txBody>
      </p:sp>
      <p:sp>
        <p:nvSpPr>
          <p:cNvPr id="295" name="Rounded Rectangle 294"/>
          <p:cNvSpPr/>
          <p:nvPr/>
        </p:nvSpPr>
        <p:spPr>
          <a:xfrm>
            <a:off x="41148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Gems</a:t>
            </a:r>
          </a:p>
          <a:p>
            <a:pPr algn="ctr"/>
            <a:r>
              <a:rPr sz="1300" b="0">
                <a:solidFill>
                  <a:srgbClr val="9AA3AB"/>
                </a:solidFill>
              </a:rPr>
              <a:t>thousands: arrays too</a:t>
            </a:r>
          </a:p>
        </p:txBody>
      </p:sp>
      <p:sp>
        <p:nvSpPr>
          <p:cNvPr id="296" name="Rounded Rectangle 295"/>
          <p:cNvSpPr/>
          <p:nvPr/>
        </p:nvSpPr>
        <p:spPr>
          <a:xfrm>
            <a:off x="251460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Level up</a:t>
            </a:r>
          </a:p>
          <a:p>
            <a:pPr algn="ctr"/>
            <a:r>
              <a:rPr sz="1300" b="0">
                <a:solidFill>
                  <a:srgbClr val="9AA3AB"/>
                </a:solidFill>
              </a:rPr>
              <a:t>a state pushed on the stack</a:t>
            </a:r>
          </a:p>
          <a:p>
            <a:pPr algn="ctr"/>
            <a:r>
              <a:rPr sz="1300" b="0">
                <a:solidFill>
                  <a:srgbClr val="9AA3AB"/>
                </a:solidFill>
              </a:rPr>
              <a:t>(Pokemon)</a:t>
            </a:r>
          </a:p>
        </p:txBody>
      </p:sp>
      <p:sp>
        <p:nvSpPr>
          <p:cNvPr id="297" name="Rounded Rectangle 296"/>
          <p:cNvSpPr/>
          <p:nvPr/>
        </p:nvSpPr>
        <p:spPr>
          <a:xfrm>
            <a:off x="461772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kinds</a:t>
            </a:r>
          </a:p>
          <a:p>
            <a:pPr algn="ctr"/>
            <a:r>
              <a:rPr sz="1300" b="0">
                <a:solidFill>
                  <a:srgbClr val="9AA3AB"/>
                </a:solidFill>
              </a:rPr>
              <a:t>type objects</a:t>
            </a:r>
          </a:p>
          <a:p>
            <a:pPr algn="ctr"/>
            <a:r>
              <a:rPr sz="1300" b="0">
                <a:solidFill>
                  <a:srgbClr val="9AA3AB"/>
                </a:solidFill>
              </a:rPr>
              <a:t>(Plants vs. Zombies)</a:t>
            </a:r>
          </a:p>
        </p:txBody>
      </p:sp>
      <p:sp>
        <p:nvSpPr>
          <p:cNvPr id="298" name="Rounded Rectangle 297"/>
          <p:cNvSpPr/>
          <p:nvPr/>
        </p:nvSpPr>
        <p:spPr>
          <a:xfrm>
            <a:off x="672084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step</a:t>
            </a:r>
          </a:p>
          <a:p>
            <a:pPr algn="ctr"/>
            <a:r>
              <a:rPr sz="1300" b="0">
                <a:solidFill>
                  <a:srgbClr val="9AA3AB"/>
                </a:solidFill>
              </a:rPr>
              <a:t>a fixed timestep</a:t>
            </a:r>
          </a:p>
          <a:p>
            <a:pPr algn="ctr"/>
            <a:r>
              <a:rPr sz="1300" b="0">
                <a:solidFill>
                  <a:srgbClr val="9AA3AB"/>
                </a:solidFill>
              </a:rPr>
              <a:t>(Pong, Snake)</a:t>
            </a:r>
          </a:p>
        </p:txBody>
      </p:sp>
      <p:sp>
        <p:nvSpPr>
          <p:cNvPr id="299" name="TextBox 298"/>
          <p:cNvSpPr txBox="1"/>
          <p:nvPr/>
        </p:nvSpPr>
        <p:spPr>
          <a:xfrm>
            <a:off x="457200" y="2834640"/>
            <a:ext cx="8229600" cy="731520"/>
          </a:xfrm>
          <a:prstGeom prst="rect">
            <a:avLst/>
          </a:prstGeom>
          <a:noFill/>
        </p:spPr>
        <p:txBody>
          <a:bodyPr wrap="square">
            <a:spAutoFit/>
          </a:bodyPr>
          <a:lstStyle/>
          <a:p>
            <a:pPr algn="ctr"/>
            <a:r>
              <a:rPr sz="1800" b="1" i="0">
                <a:solidFill>
                  <a:srgbClr val="DEE2E6"/>
                </a:solidFill>
              </a:rPr>
              <a:t>Survive five minutes.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When to Optimize</a:t>
            </a:r>
            <a:endParaRPr>
              <a:solidFill>
                <a:schemeClr val="accent5"/>
              </a:solidFill>
            </a:endParaRPr>
          </a:p>
        </p:txBody>
      </p:sp>
      <p:sp>
        <p:nvSpPr>
          <p:cNvPr id="294" name="Google Shape;294;p45"/>
          <p:cNvSpPr txBox="1"/>
          <p:nvPr>
            <p:ph idx="1" type="body"/>
          </p:nvPr>
        </p:nvSpPr>
        <p:spPr>
          <a:xfrm>
            <a:off x="311700" y="885950"/>
            <a:ext cx="8520600" cy="82296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“Premature optimization is the root of all evil. Yet we should not pass up our opportunities in that critical 3%.” Knuth</a:t>
            </a:r>
            <a:endParaRPr/>
          </a:p>
        </p:txBody>
      </p:sp>
      <p:sp>
        <p:nvSpPr>
          <p:cNvPr id="295" name="Rounded Rectangle 294"/>
          <p:cNvSpPr/>
          <p:nvPr/>
        </p:nvSpPr>
        <p:spPr>
          <a:xfrm>
            <a:off x="411480" y="1920240"/>
            <a:ext cx="1444751" cy="8686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a:t>
            </a:r>
          </a:p>
        </p:txBody>
      </p:sp>
      <p:cxnSp>
        <p:nvCxnSpPr>
          <p:cNvPr id="296" name="Connector 295"/>
          <p:cNvCxnSpPr/>
          <p:nvPr/>
        </p:nvCxnSpPr>
        <p:spPr>
          <a:xfrm>
            <a:off x="1874519"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2130552"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algorithm</a:t>
            </a:r>
          </a:p>
        </p:txBody>
      </p:sp>
      <p:cxnSp>
        <p:nvCxnSpPr>
          <p:cNvPr id="298" name="Connector 297"/>
          <p:cNvCxnSpPr/>
          <p:nvPr/>
        </p:nvCxnSpPr>
        <p:spPr>
          <a:xfrm>
            <a:off x="3593592"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849624"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data, where it’s hot</a:t>
            </a:r>
          </a:p>
        </p:txBody>
      </p:sp>
      <p:cxnSp>
        <p:nvCxnSpPr>
          <p:cNvPr id="300" name="Connector 299"/>
          <p:cNvCxnSpPr/>
          <p:nvPr/>
        </p:nvCxnSpPr>
        <p:spPr>
          <a:xfrm>
            <a:off x="5312664"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568696"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 again</a:t>
            </a:r>
          </a:p>
        </p:txBody>
      </p:sp>
      <p:cxnSp>
        <p:nvCxnSpPr>
          <p:cNvPr id="302" name="Connector 301"/>
          <p:cNvCxnSpPr/>
          <p:nvPr/>
        </p:nvCxnSpPr>
        <p:spPr>
          <a:xfrm>
            <a:off x="7031736"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3" name="Rounded Rectangle 302"/>
          <p:cNvSpPr/>
          <p:nvPr/>
        </p:nvSpPr>
        <p:spPr>
          <a:xfrm>
            <a:off x="7287768"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Keep a test against the simple code</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Vampire Survivors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Survivors4: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Survivors3 or Survivors4, in Release</a:t>
            </a:r>
            <a:endParaRPr/>
          </a:p>
          <a:p>
            <a:pPr indent="-330200" lvl="0" marL="457200" rtl="0" algn="l">
              <a:spcBef>
                <a:spcPts val="0"/>
              </a:spcBef>
              <a:spcAft>
                <a:spcPts val="0"/>
              </a:spcAft>
              <a:buSzPts val="1600"/>
              <a:buChar char="●"/>
            </a:pPr>
            <a:r>
              <a:rPr lang="en"/>
              <a:t>Tune the grid: cells half and twice as big. Measure</a:t>
            </a:r>
            <a:endParaRPr/>
          </a:p>
          <a:p>
            <a:pPr indent="-317500" lvl="1" marL="914400" rtl="0" algn="l">
              <a:spcBef>
                <a:spcPts val="0"/>
              </a:spcBef>
              <a:spcAft>
                <a:spcPts val="0"/>
              </a:spcAft>
              <a:buSzPts val="1400"/>
              <a:buChar char="○"/>
            </a:pPr>
            <a:r>
              <a:rPr lang="en"/>
              <a:t>Why can’t cells be smaller than the biggest overlap?</a:t>
            </a:r>
            <a:endParaRPr/>
          </a:p>
          <a:p>
            <a:pPr indent="-330200" lvl="0" marL="457200" rtl="0" algn="l">
              <a:spcBef>
                <a:spcPts val="0"/>
              </a:spcBef>
              <a:spcAft>
                <a:spcPts val="0"/>
              </a:spcAft>
              <a:buSzPts val="1600"/>
              <a:buChar char="●"/>
            </a:pPr>
            <a:r>
              <a:rPr lang="en"/>
              <a:t>Bolts as arrays: was it worth it?</a:t>
            </a:r>
            <a:endParaRPr/>
          </a:p>
          <a:p>
            <a:pPr indent="-330200" lvl="0" marL="457200" rtl="0" algn="l">
              <a:spcBef>
                <a:spcPts val="0"/>
              </a:spcBef>
              <a:spcAft>
                <a:spcPts val="0"/>
              </a:spcAft>
              <a:buSzPts val="1600"/>
              <a:buChar char="●"/>
            </a:pPr>
            <a:r>
              <a:rPr lang="en"/>
              <a:t>With 20,000 enemies: what’s the next bottleneck?</a:t>
            </a:r>
            <a:endParaRPr/>
          </a:p>
          <a:p>
            <a:pPr indent="-330200" lvl="0" marL="457200" rtl="0" algn="l">
              <a:spcBef>
                <a:spcPts val="0"/>
              </a:spcBef>
              <a:spcAft>
                <a:spcPts val="0"/>
              </a:spcAft>
              <a:buSzPts val="1600"/>
              <a:buChar char="●"/>
            </a:pPr>
            <a:r>
              <a:rPr lang="en"/>
              <a:t>A new enemy kind: what changes?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Separate on several cores: Parallel.For over rows of cells</a:t>
            </a:r>
            <a:endParaRPr/>
          </a:p>
          <a:p>
            <a:pPr indent="-330200" lvl="0" marL="457200" rtl="0" algn="l">
              <a:spcBef>
                <a:spcPts val="0"/>
              </a:spcBef>
              <a:spcAft>
                <a:spcPts val="0"/>
              </a:spcAft>
              <a:buSzPts val="1600"/>
              <a:buChar char="●"/>
            </a:pPr>
            <a:r>
              <a:rPr lang="en"/>
              <a:t>What goes wrong when two threads push the same enemy?</a:t>
            </a:r>
            <a:endParaRPr/>
          </a:p>
          <a:p>
            <a:pPr indent="-330200" lvl="0" marL="457200" rtl="0" algn="l">
              <a:spcBef>
                <a:spcPts val="0"/>
              </a:spcBef>
              <a:spcAft>
                <a:spcPts val="0"/>
              </a:spcAft>
              <a:buSzPts val="1600"/>
              <a:buChar char="●"/>
            </a:pPr>
            <a:r>
              <a:rPr lang="en"/>
              <a:t>How could you avoid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Why profile before optimizing?</a:t>
            </a:r>
            <a:endParaRPr/>
          </a:p>
          <a:p>
            <a:pPr indent="-330200" lvl="0" marL="457200" rtl="0" algn="l">
              <a:spcBef>
                <a:spcPts val="0"/>
              </a:spcBef>
              <a:spcAft>
                <a:spcPts val="0"/>
              </a:spcAft>
              <a:buSzPts val="1600"/>
              <a:buChar char="●"/>
            </a:pPr>
            <a:r>
              <a:rPr lang="en"/>
              <a:t>How does a uniform grid make separation cheaper?</a:t>
            </a:r>
            <a:endParaRPr/>
          </a:p>
          <a:p>
            <a:pPr indent="-330200" lvl="0" marL="457200" rtl="0" algn="l">
              <a:spcBef>
                <a:spcPts val="0"/>
              </a:spcBef>
              <a:spcAft>
                <a:spcPts val="0"/>
              </a:spcAft>
              <a:buSzPts val="1600"/>
              <a:buChar char="●"/>
            </a:pPr>
            <a:r>
              <a:rPr lang="en"/>
              <a:t>What is the difference between an array of objects and a struct of arrays?</a:t>
            </a:r>
            <a:endParaRPr/>
          </a:p>
          <a:p>
            <a:pPr indent="-330200" lvl="0" marL="457200" rtl="0" algn="l">
              <a:spcBef>
                <a:spcPts val="0"/>
              </a:spcBef>
              <a:spcAft>
                <a:spcPts val="0"/>
              </a:spcAft>
              <a:buSzPts val="1600"/>
              <a:buChar char="●"/>
            </a:pPr>
            <a:r>
              <a:rPr lang="en"/>
              <a:t>What do you give up with data-oriented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Profile your game with many more entities. Where does the time go?</a:t>
            </a:r>
            <a:endParaRPr/>
          </a:p>
          <a:p>
            <a:pPr indent="-330200" lvl="0" marL="457200" rtl="0" algn="l">
              <a:spcBef>
                <a:spcPts val="0"/>
              </a:spcBef>
              <a:spcAft>
                <a:spcPts val="0"/>
              </a:spcAft>
              <a:buSzPts val="1600"/>
              <a:buChar char="●"/>
            </a:pPr>
            <a:r>
              <a:rPr lang="en"/>
              <a:t>Does anything check every pair, or search every entity?</a:t>
            </a:r>
            <a:endParaRPr/>
          </a:p>
          <a:p>
            <a:pPr indent="-330200" lvl="0" marL="457200" rtl="0" algn="l">
              <a:spcBef>
                <a:spcPts val="0"/>
              </a:spcBef>
              <a:spcAft>
                <a:spcPts val="0"/>
              </a:spcAft>
              <a:buSzPts val="1600"/>
              <a:buChar char="●"/>
            </a:pPr>
            <a:r>
              <a:rPr lang="en"/>
              <a:t>Does your game allocate every frame? Where?</a:t>
            </a:r>
            <a:endParaRPr/>
          </a:p>
          <a:p>
            <a:pPr indent="-330200" lvl="0" marL="457200" rtl="0" algn="l">
              <a:spcBef>
                <a:spcPts val="0"/>
              </a:spcBef>
              <a:spcAft>
                <a:spcPts val="0"/>
              </a:spcAft>
              <a:buSzPts val="1600"/>
              <a:buChar char="●"/>
            </a:pPr>
            <a:r>
              <a:rPr lang="en"/>
              <a:t>Is there anything there are thousands of?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Final milestone, by today</a:t>
            </a:r>
            <a:endParaRPr/>
          </a:p>
          <a:p>
            <a:pPr indent="-317500" lvl="1" marL="914400" rtl="0" algn="l">
              <a:spcBef>
                <a:spcPts val="0"/>
              </a:spcBef>
              <a:spcAft>
                <a:spcPts val="0"/>
              </a:spcAft>
              <a:buSzPts val="1400"/>
              <a:buChar char="○"/>
            </a:pPr>
            <a:r>
              <a:rPr lang="en"/>
              <a:t>README complete, repository link uploaded to itslearning</a:t>
            </a:r>
            <a:endParaRPr/>
          </a:p>
          <a:p>
            <a:pPr indent="-330200" lvl="0" marL="457200" rtl="0" algn="l">
              <a:spcBef>
                <a:spcPts val="0"/>
              </a:spcBef>
              <a:spcAft>
                <a:spcPts val="0"/>
              </a:spcAft>
              <a:buSzPts val="1600"/>
              <a:buChar char="●"/>
            </a:pPr>
            <a:r>
              <a:rPr lang="en"/>
              <a:t>The exam: question 0 (your project), and one of 1–10</a:t>
            </a:r>
            <a:endParaRPr/>
          </a:p>
          <a:p>
            <a:pPr indent="-330200" lvl="0" marL="457200" rtl="0" algn="l">
              <a:spcBef>
                <a:spcPts val="0"/>
              </a:spcBef>
              <a:spcAft>
                <a:spcPts val="0"/>
              </a:spcAft>
              <a:buSzPts val="1600"/>
              <a:buChar char="●"/>
            </a:pPr>
            <a:r>
              <a:rPr lang="en"/>
              <a:t>Last lesson: the course recap</a:t>
            </a:r>
            <a:endParaRPr/>
          </a:p>
          <a:p>
            <a:pPr indent="-317500" lvl="1" marL="914400" rtl="0" algn="l">
              <a:spcBef>
                <a:spcPts val="0"/>
              </a:spcBef>
              <a:spcAft>
                <a:spcPts val="0"/>
              </a:spcAft>
              <a:buSzPts val="1400"/>
              <a:buChar char="○"/>
            </a:pPr>
            <a:r>
              <a:rPr lang="en"/>
              <a:t>Bring your project: find each thread in your own game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