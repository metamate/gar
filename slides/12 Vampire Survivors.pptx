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313" r:id="rId72"/>
    <p:sldId id="314" r:id="rId73"/>
    <p:sldId id="280" r:id="rId30"/>
    <p:sldId id="292" r:id="rId42"/>
    <p:sldId id="293" r:id="rId52"/>
    <p:sldId id="315" r:id="rId41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30" Type="http://schemas.openxmlformats.org/officeDocument/2006/relationships/slide" Target="slides/slide23.xml"/><Relationship Id="rId41" Type="http://schemas.openxmlformats.org/officeDocument/2006/relationships/slide" Target="slides/slide28.xml"/><Relationship Id="rId42" Type="http://schemas.openxmlformats.org/officeDocument/2006/relationships/slide" Target="slides/slide24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5.xml"/><Relationship Id="rId53" Type="http://schemas.openxmlformats.org/officeDocument/2006/relationships/slide" Target="slides/slide26.xml"/><Relationship Id="rId55" Type="http://schemas.openxmlformats.org/officeDocument/2006/relationships/slide" Target="slides/slide27.xml"/><Relationship Id="rId56" Type="http://schemas.openxmlformats.org/officeDocument/2006/relationships/slide" Target="slides/slide5.xml"/><Relationship Id="rId57" Type="http://schemas.openxmlformats.org/officeDocument/2006/relationships/slide" Target="slides/slide6.xml"/><Relationship Id="rId58" Type="http://schemas.openxmlformats.org/officeDocument/2006/relationships/slide" Target="slides/slide7.xml"/><Relationship Id="rId59" Type="http://schemas.openxmlformats.org/officeDocument/2006/relationships/slide" Target="slides/slide8.xml"/><Relationship Id="rId60" Type="http://schemas.openxmlformats.org/officeDocument/2006/relationships/slide" Target="slides/slide9.xml"/><Relationship Id="rId61" Type="http://schemas.openxmlformats.org/officeDocument/2006/relationships/slide" Target="slides/slide10.xml"/><Relationship Id="rId62" Type="http://schemas.openxmlformats.org/officeDocument/2006/relationships/slide" Target="slides/slide11.xml"/><Relationship Id="rId63" Type="http://schemas.openxmlformats.org/officeDocument/2006/relationships/slide" Target="slides/slide12.xml"/><Relationship Id="rId64" Type="http://schemas.openxmlformats.org/officeDocument/2006/relationships/slide" Target="slides/slide13.xml"/><Relationship Id="rId65" Type="http://schemas.openxmlformats.org/officeDocument/2006/relationships/slide" Target="slides/slide14.xml"/><Relationship Id="rId66" Type="http://schemas.openxmlformats.org/officeDocument/2006/relationships/slide" Target="slides/slide15.xml"/><Relationship Id="rId67" Type="http://schemas.openxmlformats.org/officeDocument/2006/relationships/slide" Target="slides/slide16.xml"/><Relationship Id="rId68" Type="http://schemas.openxmlformats.org/officeDocument/2006/relationships/slide" Target="slides/slide17.xml"/><Relationship Id="rId69" Type="http://schemas.openxmlformats.org/officeDocument/2006/relationships/slide" Target="slides/slide18.xml"/><Relationship Id="rId70" Type="http://schemas.openxmlformats.org/officeDocument/2006/relationships/slide" Target="slides/slide19.xml"/><Relationship Id="rId71" Type="http://schemas.openxmlformats.org/officeDocument/2006/relationships/slide" Target="slides/slide20.xml"/><Relationship Id="rId72" Type="http://schemas.openxmlformats.org/officeDocument/2006/relationships/slide" Target="slides/slide21.xml"/><Relationship Id="rId73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All Source code for today’s game can be found here:</a:t>
            </a:r>
          </a:p>
          <a:p>
            <a:r>
              <a:t>  - github.com/Metamate/gar-games (folder 12-vampire-survivors)</a:t>
            </a:r>
          </a:p>
          <a:p>
            <a:r>
              <a:t>- The game is built up in steps: Survivors0 → Survivors4, and tests in Survivors.Tests</a:t>
            </a:r>
          </a:p>
          <a:p>
            <a:r>
              <a:t>  - Each step is a separate project that adds one concept</a:t>
            </a:r>
          </a:p>
          <a:p>
            <a:r>
              <a:t>  - Compare neighbouring steps to see exactly what changed</a:t>
            </a:r>
          </a:p>
          <a:p>
            <a:r>
              <a:t>- Survivors4 is the finished game, and the starting point for the exercises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Separate: almost all of it</a:t>
            </a:r>
          </a:p>
          <a:p>
            <a:r>
              <a:t>- Move + separate, per step (one laptop)</a:t>
            </a:r>
          </a:p>
          <a:p>
            <a:r>
              <a:t>  - 1,000 enemies: 1.2 ms</a:t>
            </a:r>
          </a:p>
          <a:p>
            <a:r>
              <a:t>  - 2,000 enemies: 4.5 ms</a:t>
            </a:r>
          </a:p>
          <a:p>
            <a:r>
              <a:t>  - 5,000 enemies: 27 ms</a:t>
            </a:r>
          </a:p>
          <a:p>
            <a:r>
              <a:t>  - 10,000 enemies: 107 ms</a:t>
            </a:r>
          </a:p>
          <a:p>
            <a:r>
              <a:t>- Twice the enemies, four times the work: O(n²)</a:t>
            </a:r>
          </a:p>
          <a:p>
            <a:r>
              <a:t>- A frame at 60 FPS has 16.7 ms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- 1,000 enemies: 1.2 ms vs. 1.3 ms</a:t>
            </a:r>
          </a:p>
          <a:p>
            <a:r>
              <a:t>  - For few objects, the grid isn’t faster</a:t>
            </a:r>
          </a:p>
          <a:p>
            <a:r>
              <a:t>- 5,000: 27 ms vs. 1.9 ms</a:t>
            </a:r>
          </a:p>
          <a:p>
            <a:r>
              <a:t>- 10,000: 107 ms vs. 4.1 ms</a:t>
            </a:r>
          </a:p>
          <a:p>
            <a:r>
              <a:t>- The work grows with n, not n²</a:t>
            </a:r>
          </a:p>
          <a:p>
            <a:r>
              <a:t>- Other structures: quadtrees, BVHs, sweep and prune</a:t>
            </a:r>
          </a:p>
          <a:p>
            <a:r>
              <a:t>  - For many similar objects in a limited area, a grid is hard to beat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The CPU is much faster than memory</a:t>
            </a:r>
          </a:p>
          <a:p>
            <a:r>
              <a:t>  - It reads memory in cache lines (64 bytes), and keeps them in its cache</a:t>
            </a:r>
          </a:p>
          <a:p>
            <a:r>
              <a:t>  - Data next to data you just read: almost free</a:t>
            </a:r>
          </a:p>
          <a:p>
            <a:r>
              <a:t>  - Data elsewhere: a cache miss, and a wait</a:t>
            </a:r>
          </a:p>
          <a:p>
            <a:r>
              <a:t>- List&lt;Enemy&gt;: references to objects all over the heap</a:t>
            </a:r>
          </a:p>
          <a:p>
            <a:r>
              <a:t>- Data-oriented design: start from the data, and the loops that read it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Enemies as arrays, same grid: no difference</a:t>
            </a:r>
          </a:p>
          <a:p>
            <a:r>
              <a:t>  - 10,000 enemies: 3.9 ms instead of 4.1 ms</a:t>
            </a:r>
          </a:p>
          <a:p>
            <a:r>
              <a:t>- The time was in the grid</a:t>
            </a:r>
          </a:p>
          <a:p>
            <a:r>
              <a:t>  - A dictionary lookup per cell, lists of tuples</a:t>
            </a:r>
          </a:p>
          <a:p>
            <a:r>
              <a:t>- The layout that matters: the data in the hot loop</a:t>
            </a:r>
          </a:p>
          <a:p>
            <a:r>
              <a:t>  - Only measuring tells you which loop that is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Every pair → grid → arrays + flat grid</a:t>
            </a:r>
          </a:p>
          <a:p>
            <a:r>
              <a:t>  - 1,000 enemies: 1.2 → 1.3 → 0.24 ms</a:t>
            </a:r>
          </a:p>
          <a:p>
            <a:r>
              <a:t>  - 5,000 enemies: 27 → 1.9 → 0.64 ms</a:t>
            </a:r>
          </a:p>
          <a:p>
            <a:r>
              <a:t>  - 10,000 enemies: 107 → 4.1 → 1.3 ms</a:t>
            </a:r>
          </a:p>
          <a:p>
            <a:r>
              <a:t>  - 20,000 enemies: — → 14.5 → 4.9 ms</a:t>
            </a:r>
          </a:p>
          <a:p>
            <a:r>
              <a:t>- 3–5× faster than the object grid</a:t>
            </a:r>
          </a:p>
          <a:p>
            <a:r>
              <a:t>- About 80× faster than where we started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An enemy is an index, and indexes change</a:t>
            </a:r>
          </a:p>
          <a:p>
            <a:r>
              <a:t>  - Don’t hold on to one across frames</a:t>
            </a:r>
          </a:p>
          <a:p>
            <a:r>
              <a:t>- Harder to read, harder to change</a:t>
            </a:r>
          </a:p>
          <a:p>
            <a:r>
              <a:t>- So only for what there are thousands of</a:t>
            </a:r>
          </a:p>
          <a:p>
            <a:r>
              <a:t>  - The swarm and the gems; not the player or the bolts</a:t>
            </a:r>
          </a:p>
          <a:p>
            <a:r>
              <a:t>- Geometry Wars: components for hundreds; its particles as data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Gems: thousands, so arrays too</a:t>
            </a:r>
          </a:p>
          <a:p>
            <a:r>
              <a:t>- Level up: a state pushed on the state stack (Pokemon)</a:t>
            </a:r>
          </a:p>
          <a:p>
            <a:r>
              <a:t>- Enemy kinds: type objects (Plants vs. Zombies)</a:t>
            </a:r>
          </a:p>
          <a:p>
            <a:r>
              <a:t>- A fixed timestep (GMDCore’s Core)</a:t>
            </a:r>
          </a:p>
          <a:p>
            <a:r>
              <a:t>- Survive five minutes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“Premature optimization is the root of all evil. Yet we should not pass up our opportunities in that critical 3%.” (Knuth)</a:t>
            </a:r>
          </a:p>
          <a:p>
            <a:r>
              <a:t>- 1. Measure</a:t>
            </a:r>
          </a:p>
          <a:p>
            <a:r>
              <a:t>- 2. Fix the algorithm</a:t>
            </a:r>
          </a:p>
          <a:p>
            <a:r>
              <a:t>- 3. Fix the data, where it’s hot</a:t>
            </a:r>
          </a:p>
          <a:p>
            <a:r>
              <a:t>- 4. Measure again</a:t>
            </a:r>
          </a:p>
          <a:p>
            <a:r>
              <a:t>- 5. Keep a test against the simple code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Ask, let them answer in pairs for a minute, then take a few answers. These are the site’s Check yourself questions.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12-vampire-survivors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12: Vampire Survivors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vs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1" y="1531275"/>
            <a:ext cx="5789598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Profiling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Spatial Partitioning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an Optimization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Data-Oriented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to Optimize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Course Recap (last lesson)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12-vampire-survivors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(Survivors0 to Survivors4, and Survivors.Tests),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Enemies as Objects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List&lt;Enemy&gt;, as we’ve always done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Enemies push each other apart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Every enemy against every other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Weapons ask: nearest? inside the aura?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Each question looks at every enemy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Space: a thousand more. It crawls. Why?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Separate()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for (int i = 0; i &lt; _enemies.Count; i++)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 (int j = i + 1;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j &lt; _enemies.Count; j++)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Push(_enemies[i], _enemies[j]);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Survivors0: press Space until it slows down</a:t>
            </a:r>
            <a:endParaRPr sz="1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Profiling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Measure where the time goes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Before changing anything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Time each part of a step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struct scope: measuring allocates nothing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And count allocations and GCs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LINQ allocates every call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Measure a Release build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using (_profiler.Measure("Move"))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_swarm.Move(dt, _player.Position);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using (_profiler.Measure("Separate"))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_swarm.Separate();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Profiler.cs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Scope Measure(string name)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new(this, name, Stopwatch.GetTimestamp());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the Time Goes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Separating the enemies takes almost all of it. Twice the enemies, four times the work.</a:t>
            </a:r>
            <a:endParaRPr/>
          </a:p>
        </p:txBody>
      </p:sp>
      <p:sp>
        <p:nvSpPr>
          <p:cNvPr id="295" name="TextBox 294"/>
          <p:cNvSpPr txBox="1"/>
          <p:nvPr/>
        </p:nvSpPr>
        <p:spPr>
          <a:xfrm>
            <a:off x="274320" y="1463040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EE2E6"/>
                </a:solidFill>
              </a:rPr>
              <a:t>1,000 enemies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2011680" y="1463040"/>
            <a:ext cx="64545" cy="329184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2149377" y="1463040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1.2 ms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274320" y="1920240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EE2E6"/>
                </a:solidFill>
              </a:rPr>
              <a:t>2,000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2011680" y="1920240"/>
            <a:ext cx="242047" cy="329184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2326879" y="1920240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4.5 ms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74320" y="2377440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EE2E6"/>
                </a:solidFill>
              </a:rPr>
              <a:t>5,000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011680" y="2377440"/>
            <a:ext cx="1452282" cy="329184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3537114" y="2377440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27 ms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2834640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EE2E6"/>
                </a:solidFill>
              </a:rPr>
              <a:t>10,000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2011680" y="2834640"/>
            <a:ext cx="5755341" cy="329184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7840173" y="2834640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107 ms</a:t>
            </a:r>
          </a:p>
        </p:txBody>
      </p:sp>
      <p:cxnSp>
        <p:nvCxnSpPr>
          <p:cNvPr id="307" name="Connector 306"/>
          <p:cNvCxnSpPr/>
          <p:nvPr/>
        </p:nvCxnSpPr>
        <p:spPr>
          <a:xfrm>
            <a:off x="2909943" y="1325880"/>
            <a:ext cx="0" cy="1965960"/>
          </a:xfrm>
          <a:prstGeom prst="line">
            <a:avLst/>
          </a:prstGeom>
          <a:ln>
            <a:solidFill>
              <a:srgbClr val="9AA3A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TextBox 307"/>
          <p:cNvSpPr txBox="1"/>
          <p:nvPr/>
        </p:nvSpPr>
        <p:spPr>
          <a:xfrm>
            <a:off x="2178423" y="32918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one frame: 16.7 ms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274320" y="37033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Move and separate, per step, on one laptop. That’s O(n²).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Profiling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Survivors1: F3, then Space</a:t>
            </a:r>
            <a:endParaRPr sz="1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Spatial Partitioning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enemy only overlaps nearby enemies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uniform grid: square cells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Each cell lists its enemies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Rebuilt after every move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query looks at the cells it touches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Query(Vector2 center,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float radius, List&lt;int&gt; results)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results.Clear();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min = CellOf(center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- new Vector2(radius));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max = CellOf(center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+ new Vector2(radius));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for (int y = min.Y; y &lt;= max.Y; y++)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 (int x = min.X; x &lt;= max.X; x++)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// check the items in cell (x, 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 vs. Every Pair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few enemies the grid doesn’t help. With many, it changes everything.</a:t>
            </a:r>
            <a:endParaRPr/>
          </a:p>
        </p:txBody>
      </p:sp>
      <p:sp>
        <p:nvSpPr>
          <p:cNvPr id="295" name="TextBox 294"/>
          <p:cNvSpPr txBox="1"/>
          <p:nvPr/>
        </p:nvSpPr>
        <p:spPr>
          <a:xfrm>
            <a:off x="274320" y="1371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EE2E6"/>
                </a:solidFill>
              </a:rPr>
              <a:t>1,000: every pair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2011680" y="1371600"/>
            <a:ext cx="64545" cy="27432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2149377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1.2 ms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274320" y="171907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EE2E6"/>
                </a:solidFill>
              </a:rPr>
              <a:t>grid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2011680" y="1719072"/>
            <a:ext cx="69924" cy="27432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2154756" y="171907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1.3 ms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74320" y="2066543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EE2E6"/>
                </a:solidFill>
              </a:rPr>
              <a:t>5,000: every pair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011680" y="2066543"/>
            <a:ext cx="1452282" cy="27432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3537114" y="206654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27 ms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241401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EE2E6"/>
                </a:solidFill>
              </a:rPr>
              <a:t>grid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2011680" y="2414016"/>
            <a:ext cx="102197" cy="27432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2187029" y="24140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1.9 ms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274320" y="27614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EE2E6"/>
                </a:solidFill>
              </a:rPr>
              <a:t>10,000: every pair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011680" y="2761488"/>
            <a:ext cx="5755341" cy="27432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7840173" y="27614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107 ms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274320" y="3108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EE2E6"/>
                </a:solidFill>
              </a:rPr>
              <a:t>grid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011680" y="3108960"/>
            <a:ext cx="220531" cy="27432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2305363" y="31089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4.1 ms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274320" y="365760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The work grows with n, not n². Quadtrees, BVHs and sweep-and-prune exist too;</a:t>
            </a:r>
          </a:p>
          <a:p>
            <a:pPr algn="ctr"/>
            <a:r>
              <a:rPr sz="1200" b="0" i="0">
                <a:solidFill>
                  <a:srgbClr val="9AA3AB"/>
                </a:solidFill>
              </a:rPr>
              <a:t>for many similar objects in a limited area, a grid is hard to beat.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an Optimization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fast code must give the same answers as the simple code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Thousands of random points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Compare with checking every point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[Theory]: one test, several inputs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Borders, negative coordinates, far outside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[Theory]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[InlineData(10f)]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[InlineData(48f)]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[InlineData(500f)]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The_grid_finds_the_same_points(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float radius)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for 100 random centres: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grid.Query(center, radius, results);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CheckEveryPoint(points, center, radius),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results.OrderBy(i =&gt; i));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Spatial Partitioning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Survivors2 and Survivors.Tests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Why Memory Layout Matters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CPU is much faster than memory. What’s next to what you just read is almost free.</a:t>
            </a:r>
            <a:endParaRPr/>
          </a:p>
        </p:txBody>
      </p:sp>
      <p:sp>
        <p:nvSpPr>
          <p:cNvPr id="295" name="TextBox 294"/>
          <p:cNvSpPr txBox="1"/>
          <p:nvPr/>
        </p:nvSpPr>
        <p:spPr>
          <a:xfrm>
            <a:off x="548640" y="1371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EE2E6"/>
                </a:solidFill>
              </a:rPr>
              <a:t>List&lt;Enemy&gt;: references to objects all over the heap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640080" y="1828800"/>
            <a:ext cx="822960" cy="3657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DEE2E6"/>
                </a:solidFill>
              </a:rPr>
              <a:t>enemy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377440" y="2377440"/>
            <a:ext cx="822960" cy="3657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DEE2E6"/>
                </a:solidFill>
              </a:rPr>
              <a:t>enemy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280160" y="2926080"/>
            <a:ext cx="822960" cy="3657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DEE2E6"/>
                </a:solidFill>
              </a:rPr>
              <a:t>enemy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3108960" y="1828800"/>
            <a:ext cx="822960" cy="3657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DEE2E6"/>
                </a:solidFill>
              </a:rPr>
              <a:t>enemy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822960" y="3474720"/>
            <a:ext cx="822960" cy="3657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DEE2E6"/>
                </a:solidFill>
              </a:rPr>
              <a:t>enemy</a:t>
            </a:r>
          </a:p>
        </p:txBody>
      </p:sp>
      <p:sp>
        <p:nvSpPr>
          <p:cNvPr id="301" name="Rounded Rectangle 300"/>
          <p:cNvSpPr/>
          <p:nvPr/>
        </p:nvSpPr>
        <p:spPr>
          <a:xfrm>
            <a:off x="2834640" y="3291840"/>
            <a:ext cx="822960" cy="3657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DEE2E6"/>
                </a:solidFill>
              </a:rPr>
              <a:t>enemy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4846320" y="13716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EE2E6"/>
                </a:solidFill>
              </a:rPr>
              <a:t>A struct of arrays: each field packed together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846320" y="1828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Position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5760720" y="1828800"/>
            <a:ext cx="438912" cy="36576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05" name="Rectangle 304"/>
          <p:cNvSpPr/>
          <p:nvPr/>
        </p:nvSpPr>
        <p:spPr>
          <a:xfrm>
            <a:off x="6236208" y="1828800"/>
            <a:ext cx="438912" cy="36576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6711696" y="1828800"/>
            <a:ext cx="438912" cy="36576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07" name="Rectangle 306"/>
          <p:cNvSpPr/>
          <p:nvPr/>
        </p:nvSpPr>
        <p:spPr>
          <a:xfrm>
            <a:off x="7187183" y="1828800"/>
            <a:ext cx="438912" cy="36576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08" name="Rectangle 307"/>
          <p:cNvSpPr/>
          <p:nvPr/>
        </p:nvSpPr>
        <p:spPr>
          <a:xfrm>
            <a:off x="7662671" y="1828800"/>
            <a:ext cx="438912" cy="36576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8138160" y="1828800"/>
            <a:ext cx="438912" cy="36576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4846320" y="23774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Health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760720" y="2377440"/>
            <a:ext cx="438912" cy="36576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6236208" y="2377440"/>
            <a:ext cx="438912" cy="36576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13" name="Rectangle 312"/>
          <p:cNvSpPr/>
          <p:nvPr/>
        </p:nvSpPr>
        <p:spPr>
          <a:xfrm>
            <a:off x="6711696" y="2377440"/>
            <a:ext cx="438912" cy="36576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7187183" y="2377440"/>
            <a:ext cx="438912" cy="36576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7662671" y="2377440"/>
            <a:ext cx="438912" cy="36576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8138160" y="2377440"/>
            <a:ext cx="438912" cy="36576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4846320" y="2926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Speed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760720" y="2926080"/>
            <a:ext cx="438912" cy="36576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19" name="Rectangle 318"/>
          <p:cNvSpPr/>
          <p:nvPr/>
        </p:nvSpPr>
        <p:spPr>
          <a:xfrm>
            <a:off x="6236208" y="2926080"/>
            <a:ext cx="438912" cy="36576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6711696" y="2926080"/>
            <a:ext cx="438912" cy="36576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21" name="Rectangle 320"/>
          <p:cNvSpPr/>
          <p:nvPr/>
        </p:nvSpPr>
        <p:spPr>
          <a:xfrm>
            <a:off x="7187183" y="2926080"/>
            <a:ext cx="438912" cy="36576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7662671" y="2926080"/>
            <a:ext cx="438912" cy="36576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23" name="Rectangle 322"/>
          <p:cNvSpPr/>
          <p:nvPr/>
        </p:nvSpPr>
        <p:spPr>
          <a:xfrm>
            <a:off x="8138160" y="2926080"/>
            <a:ext cx="438912" cy="36576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4846320" y="35661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AB"/>
                </a:solidFill>
              </a:rPr>
              <a:t>The CPU reads 64 bytes at a time: one read, several enemies.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Struct of Arrays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Enemy object: an enemy is an index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field in its own array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Packed from 0 to Count - 1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Remove: the last one moves into the hole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Speed and radius copied from the kind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hot loops read them every step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sealed class Enemies(int capacity)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readonly Vector2[] Position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Vector2[capacity];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readonly float[] Health = ...;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readonly float[] Speed = ...;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readonly float[] Radius = ...;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readonly byte[] Kind = ...;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Count { get; private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Move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positions[i] += toTarget / distance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* speeds[i] *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Measure Again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Enemies as arrays, same grid: 4.1 ms became 3.9 ms. Hardly anything.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097280" y="1463040"/>
            <a:ext cx="694944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The time was in the grid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a dictionary lookup per cell, and lists of tuples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The layout that matters is the data in the hot loop. How do you find that loop?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Flat Grid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counting sort, every step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cell’s enemies next to each other in memory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Separate walks the cells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Each enemy against its cell and the neighbours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No queries, no lists, no dictionary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1. Count the items in each cell.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for (int i = 0; i &lt; count; i++)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_cellStart[CellIndex(positions[i]) + 1]++;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2. Each cell starts where the one before ends.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for (int c = 0; c &lt; cells; c++)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_cellStart[c + 1] += _cellStart[c];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3. Copy each item into its cell.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for (int i = 0; i &lt; count; i++)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int slot = _next[_cellOf[i]]++;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Items[slot] = i;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Positions[slot] = positions[i];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Results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About 80× faster than where we started.</a:t>
            </a:r>
            <a:endParaRPr/>
          </a:p>
        </p:txBody>
      </p:sp>
      <p:sp>
        <p:nvSpPr>
          <p:cNvPr id="295" name="TextBox 294"/>
          <p:cNvSpPr txBox="1"/>
          <p:nvPr/>
        </p:nvSpPr>
        <p:spPr>
          <a:xfrm>
            <a:off x="274320" y="14630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EE2E6"/>
                </a:solidFill>
              </a:rPr>
              <a:t>Every pair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2011680" y="1463040"/>
            <a:ext cx="5755341" cy="41148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7840173" y="146304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107 ms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274320" y="20574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EE2E6"/>
                </a:solidFill>
              </a:rPr>
              <a:t>Objects + grid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2011680" y="2057400"/>
            <a:ext cx="220531" cy="41148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2305363" y="20574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4.1 ms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74320" y="26517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EE2E6"/>
                </a:solidFill>
              </a:rPr>
              <a:t>Arrays + flat grid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011680" y="2651760"/>
            <a:ext cx="69924" cy="41148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154756" y="265176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1.3 ms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2909943" y="1325880"/>
            <a:ext cx="0" cy="1920240"/>
          </a:xfrm>
          <a:prstGeom prst="line">
            <a:avLst/>
          </a:prstGeom>
          <a:ln>
            <a:solidFill>
              <a:srgbClr val="9AA3A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178423" y="32461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one frame: 16.7 ms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274320" y="3429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10,000 enemies, move and separate, per step. At 20,000: 14.5 ms with the grid, 4.9 ms flat.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It Costs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Data-oriented code is faster, and harder. Use it only where there are thousands.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An enemy is an index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indexes change: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don’t keep one across frames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Harder to read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harder to change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Only for the swarm and the gems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not the player,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not the bolts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Wars: components for its hundreds of entities, plain data for its particles.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Data-Oriented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Survivors2 → Survivors3: arrays and a flat grid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whole game is patterns you already know.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965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Gems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thousands: arrays too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514600" y="1463040"/>
            <a:ext cx="1965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Level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state pushed on the stack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(Pokemon)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4617720" y="1463040"/>
            <a:ext cx="1965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 kinds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type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(Plants vs. Zombies)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6720840" y="1463040"/>
            <a:ext cx="1965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step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fixed timestep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(Pong, Snake)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57200" y="28346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Survive five minutes.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When to Optimize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8229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“Premature optimization is the root of all evil. Yet we should not pass up our opportunities in that critical 3%.” Knuth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920240"/>
            <a:ext cx="1444751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Measure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1874519" y="23545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130552" y="1920240"/>
            <a:ext cx="1444751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Fix the algorithm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3593592" y="23545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3849624" y="1920240"/>
            <a:ext cx="1444751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Fix the data, where it’s hot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5312664" y="23545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5568696" y="1920240"/>
            <a:ext cx="1444751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Measure again</a:t>
            </a:r>
          </a:p>
        </p:txBody>
      </p:sp>
      <p:cxnSp>
        <p:nvCxnSpPr>
          <p:cNvPr id="302" name="Connector 301"/>
          <p:cNvCxnSpPr/>
          <p:nvPr/>
        </p:nvCxnSpPr>
        <p:spPr>
          <a:xfrm>
            <a:off x="7031736" y="23545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ounded Rectangle 302"/>
          <p:cNvSpPr/>
          <p:nvPr/>
        </p:nvSpPr>
        <p:spPr>
          <a:xfrm>
            <a:off x="7287768" y="1920240"/>
            <a:ext cx="1444751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a test against the simple code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Vampire Survivors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Survivors4: the whole game</a:t>
            </a:r>
            <a:endParaRPr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Survivors3 or Survivors4, in Release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Tune the grid: cells half and twice as big. Measure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can’t cells be smaller than the biggest overlap?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Bolts as arrays: was it worth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20,000 enemies: what’s the next bottleneck?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kind: what changes?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Stretch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Separate on several cores: Parallel.For over rows of cells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wrong when two threads push the same enemy?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could you avoid it?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Profile your game with many more entities. Where does the time go?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check every pair, or search every entity?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your game allocate every frame? Where?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there anything there are thousands of?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Final milestone,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README complete, repository link uploaded to itslearning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exam: question 0 (your project), and one of 1–10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Last lesson: the course recap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Bring your project: find each thread in your own game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profile before optimizing?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uniform grid make separation cheaper?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an array of objects and a struct of arrays?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give up with data-oriented design?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