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79" r:id="rId38"/>
    <p:sldId id="261" r:id="rId11"/>
    <p:sldId id="262" r:id="rId12"/>
    <p:sldId id="283" r:id="rId41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80" r:id="rId28"/>
    <p:sldId id="276" r:id="rId26"/>
    <p:sldId id="277" r:id="rId27"/>
    <p:sldId id="284" r:id="rId42"/>
    <p:sldId id="281" r:id="rId39"/>
    <p:sldId id="282" r:id="rId40"/>
  </p:sldIdLst>
  <p:sldSz cy="5143500" cx="9144000"/>
  <p:notesSz cx="6858000" cy="9144000"/>
  <p:embeddedFontLst>
    <p:embeddedFont>
      <p:font typeface="Roboto"/>
      <p:regular r:id="rId29"/>
      <p:bold r:id="rId30"/>
      <p:italic r:id="rId31"/>
      <p:boldItalic r:id="rId32"/>
    </p:embeddedFont>
    <p:embeddedFont>
      <p:font typeface="VT323"/>
      <p:regular r:id="rId33"/>
    </p:embeddedFont>
    <p:embeddedFont>
      <p:font typeface="Roboto Light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3.xml"/><Relationship Id="rId29" Type="http://schemas.openxmlformats.org/officeDocument/2006/relationships/font" Target="fonts/Roboto-regular.fntdata"/><Relationship Id="rId30" Type="http://schemas.openxmlformats.org/officeDocument/2006/relationships/font" Target="fonts/Roboto-bold.fntdata"/><Relationship Id="rId31" Type="http://schemas.openxmlformats.org/officeDocument/2006/relationships/font" Target="fonts/Roboto-italic.fntdata"/><Relationship Id="rId32" Type="http://schemas.openxmlformats.org/officeDocument/2006/relationships/font" Target="fonts/Roboto-boldItalic.fntdata"/><Relationship Id="rId33" Type="http://schemas.openxmlformats.org/officeDocument/2006/relationships/font" Target="fonts/VT323-regular.fntdata"/><Relationship Id="rId34" Type="http://schemas.openxmlformats.org/officeDocument/2006/relationships/font" Target="fonts/RobotoLight-regular.fntdata"/><Relationship Id="rId35" Type="http://schemas.openxmlformats.org/officeDocument/2006/relationships/font" Target="fonts/RobotoLight-bold.fntdata"/><Relationship Id="rId36" Type="http://schemas.openxmlformats.org/officeDocument/2006/relationships/font" Target="fonts/RobotoLight-italic.fntdata"/><Relationship Id="rId37" Type="http://schemas.openxmlformats.org/officeDocument/2006/relationships/font" Target="fonts/RobotoLight-boldItalic.fntdata"/><Relationship Id="rId38" Type="http://schemas.openxmlformats.org/officeDocument/2006/relationships/slide" Target="slides/slide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9.xml"/><Relationship Id="rId42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Pokemon. The main topic: scenes and UI.</a:t>
            </a:r>
          </a:p>
          <a:p>
            <a:r>
              <a:t>Start by playing the finished game, Pokemon4,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series from the Game Boy to today: a map to walk, and turn-based battles. Ours is the Game Boy kind.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Pokemon4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scenes and UI, with a state stack and GUI widgets. Then turn-based battles, the Service Locator, and saving.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gar-games/10-pokemon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a few encounters. Then ask how the code is split between GMDCore and the game.</a:t>
            </a:r>
          </a:p>
          <a:p>
            <a:r>
              <a:t>The rule: a class that talks about monsters or battles belongs to the game; one you could reuse belongs to GMDCore.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5955992a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d5955992a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game’s sheets: the grass tiles and the trainer.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955992ae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5955992ae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Push a state on top; pop it and you’re back exactly where you were. Only the top state updates; every state draws, bottom to top.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5955992ae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5955992ae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the four files open. Take answers: the stack during the menu is PlayState, BattleState, BattleMenuState. For the pause state: push it on P, pop it on P.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5955992ae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5955992ae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attack is a chain of tweens, each Finish starting the next. It needs no flags or frame counters.</a:t>
            </a:r>
          </a:p>
          <a:p>
            <a:r>
              <a:t>Two details: tweens update before states, and a tween started in a callback begins next frame (changing a list while looping over it is a classic bug).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576b8b1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d576b8b1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Four widgets, combined into every screen. Point at each label on the battle screen: the bars, the panels, the menu (a panel plus a selection), the textbox.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5955992a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5955992a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interfaceingame.com: real game interfaces, for inspiration. For larger UIs, a library like Gum saves a lot of work.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5955992ae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5955992ae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logic jumps a whole tile at once; the sprite glides after it in half a second. MapX and MapY for the rules, X and Y for drawing.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5955992ae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d5955992ae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encounter is only pushes and pops: fade to white, push the battle, fade back. The field never knows a battle happened.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5955992ae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5955992a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pairs: find where the battle starts, and what’s on the stack then. What happens when it ends?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5955992ae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5955992ae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phase is its own state with one job; BattleState stays underneath and keeps drawing. No state needs to know which comes next.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5955992ae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5955992ae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species is the type, a monster one of that type: Type Object again. Stats follow from the level: base plus half the growth value per level. No dice, so a level 5 Cindrel is always the same.</a:t>
            </a:r>
          </a:p>
          <a:p>
            <a:r>
              <a:t>The damage line: attack scaled by the move, minus defence, at least 1.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5b18a32d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d5b18a32d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Pokemon4. Take answers: the turn is in TakeTurnState, damage in Mon, the end in TakeTurnState’s checks.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5955992ae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d5955992ae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JSON on the left becomes the record on the right. Ask the question: what does a new monster take? A JSON entry and two sprites; no code.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5955992ae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d5955992ae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Exercises: a glass cannon, types, save and load.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26904471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26904471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at the top before showing the boxes. Three answers: pass it in, a Singleton, or a locator.</a:t>
            </a:r>
          </a:p>
          <a:p>
            <a:r>
              <a:t>The locator hands out interfaces, and a NullAudio stands in until the real one is provided. Geometry Wars tries passing things in.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5955992a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5955992a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Everything the real games have that ours doesn’t. Any of these is a good project extension.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Don’t show the next slide yet. Ask the question and let them suggest answers: save the field somewhere? Rebuild it? Keep it, and put the battle on top?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Save data, not objects: what you need to rebuild the game. Ask the question: you forget the HP; when do you find out? The next time someone loads.</a:t>
            </a:r>
          </a:p>
          <a:p>
            <a:r>
              <a:t>A round-trip test finds it first: save, load, compare.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is a state stack better than a state machine that replaces states?</a:t>
            </a:r>
          </a:p>
          <a:p>
            <a:r>
              <a:t>A: When you need to return to a previous state exactly as you left it (a pause menu, a battle, a dialogue box), or draw several states on top of each other.</a:t>
            </a:r>
          </a:p>
          <a:p/>
          <a:p>
            <a:r>
              <a:t>Q: How does a Service Locator differ from a Singleton?</a:t>
            </a:r>
          </a:p>
          <a:p>
            <a:r>
              <a:t>A: Callers depend on an interface rather than a concrete class, and the implementation can be swapped at runtime (e.g. a null or logging service). It is still global access, so dependencies stay hidden.</a:t>
            </a:r>
          </a:p>
          <a:p/>
          <a:p>
            <a:r>
              <a:t>Q: When would you prefer dependency injection over a Service Locator?</a:t>
            </a:r>
          </a:p>
          <a:p>
            <a:r>
              <a:t>A: When a class has few dependencies and they are needed close to where the object is created. Constructor parameters make dependencies explicit and easy to replace in tests.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 steps; the README has the same table with more detail.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Next milestone by session 11: a release build on itch.io and a README. A save round-trip is a good first test for a project.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10-pokem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github.com/Metamate/gmd2-pokem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Relationship Id="rId4" Type="http://schemas.openxmlformats.org/officeDocument/2006/relationships/hyperlink" Target="http://interfaceingame.com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10: Pokemon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Pokemon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4557" y="973490"/>
            <a:ext cx="1971021" cy="17792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05459" y="960120"/>
            <a:ext cx="2058428" cy="1868847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483788" y="960129"/>
            <a:ext cx="2645654" cy="1779277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413858" y="3009833"/>
            <a:ext cx="2740158" cy="1653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30856" y="3043834"/>
            <a:ext cx="3025982" cy="158560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TextBox 50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Pokémon, from the first games (Game Freak, 1996) on. Screenshots © Nintendo / Game Freak.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6" name="Picture 56" descr="gif-pokemo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7088" y="1093999"/>
            <a:ext cx="6329820" cy="356052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GUIs &amp; Separating UI from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Turn-Based Battles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Tweens (from Zelda)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10-pokemon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Pokemon0: the overworld, tile-based movement with tweens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Pokemon1: the state stack (title, fades and dialogue)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Pokemon2: battles (encounters, battle scene and menus; run only)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Pokemon3: turn-based combat and RPG mechanics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Pokemon4: audio through the service locator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Pokemon4.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Go through a few encounters in order to level up your mon!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pokemon-specific project?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Picture 80" descr="pokemon_train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5366" y="1357926"/>
            <a:ext cx="1820718" cy="2427625"/>
          </a:xfrm>
          <a:prstGeom prst="rect">
            <a:avLst/>
          </a:prstGeom>
        </p:spPr>
      </p:pic>
      <p:pic>
        <p:nvPicPr>
          <p:cNvPr id="80" name="Picture 80" descr="pokemon_til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95400" y="2263650"/>
            <a:ext cx="2464800" cy="61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Problem: Where Were We?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is mid-step in the tall grass. A battle starts.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9728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PlayState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field, the player, the grass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566160" y="2148840"/>
            <a:ext cx="128016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383279" y="1856232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SetState(battle)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BattleState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D45D35"/>
                </a:solidFill>
              </a:rPr>
              <a:t>thrown 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EE2E6"/>
                </a:solidFill>
              </a:rPr>
              <a:t>The battle ends. How do we get back to exactly where we were?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Stack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state on top; pop it to return exactly where you were.</a:t>
            </a:r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914400" y="3639312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14400" y="3200400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14400" y="2761488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BattleMenuState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4400" y="40690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bottom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97680" y="233172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Only the top state gets Update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It has the input to itself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297680" y="315468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Every state draws, bottom to top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The field and the fight stay visible</a:t>
            </a:r>
          </a:p>
        </p:txBody>
      </p:sp>
      <p:cxnSp>
        <p:nvCxnSpPr>
          <p:cNvPr id="93" name="Connector 92"/>
          <p:cNvCxnSpPr/>
          <p:nvPr/>
        </p:nvCxnSpPr>
        <p:spPr>
          <a:xfrm flipH="1">
            <a:off x="4069080" y="2514600"/>
            <a:ext cx="13716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Stack Trace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2" name="Google Shape;92;p1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Files: StateStack.cs, BattleState.cs, BattleMenuState.cs, FadeState.cs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battle just triggered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every state on the stack (bottom to top) once BattleMenuState is showing.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 gets Update calls? Which states still Draw?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FadeState pushes on top, animates, then pops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would break if it swapped the current state instead of push/pop?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PauseState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you push/pop it?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Tweens Everywhere (from Zelda)</a:t>
            </a:r>
            <a:endParaRPr/>
          </a:p>
        </p:txBody>
      </p:sp>
      <p:sp>
        <p:nvSpPr>
          <p:cNvPr id="98" name="Google Shape;98;p1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attack is a chain of tweens: each one’s Finish starts the next.</a:t>
            </a:r>
            <a:endParaRPr/>
          </a:p>
        </p:txBody>
      </p:sp>
      <p:pic>
        <p:nvPicPr>
          <p:cNvPr id="99" name="Google Shape;99;p18" title="ezgif-2687dbd41c83dbc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3688" y="3141124"/>
            <a:ext cx="2556624" cy="191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ounded Rectangle 99"/>
          <p:cNvSpPr/>
          <p:nvPr/>
        </p:nvSpPr>
        <p:spPr>
          <a:xfrm>
            <a:off x="41148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After(pause)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80136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205740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Lunge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344728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370332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Hit sound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09320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534924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Blink × 6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739127" y="16687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995159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HP bar drops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1480" y="2057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timing lives in the tween system, without flags, frame counters or if/else chains.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</a:t>
            </a:r>
            <a:r>
              <a:rPr lang="en"/>
              <a:t>s</a:t>
            </a:r>
            <a:endParaRPr/>
          </a:p>
        </p:txBody>
      </p:sp>
      <p:sp>
        <p:nvSpPr>
          <p:cNvPr id="105" name="Google Shape;105;p1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small widgets, combined into every screen.</a:t>
            </a:r>
            <a:endParaRPr/>
          </a:p>
        </p:txBody>
      </p:sp>
      <p:pic>
        <p:nvPicPr>
          <p:cNvPr id="106" name="Picture 105" descr="pk-fight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80160"/>
            <a:ext cx="5120640" cy="2880359"/>
          </a:xfrm>
          <a:prstGeom prst="rect">
            <a:avLst/>
          </a:prstGeom>
        </p:spPr>
      </p:pic>
      <p:sp>
        <p:nvSpPr>
          <p:cNvPr id="107" name="Rounded Rectangle 106"/>
          <p:cNvSpPr/>
          <p:nvPr/>
        </p:nvSpPr>
        <p:spPr>
          <a:xfrm>
            <a:off x="5806440" y="132588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ProgressBar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current / max: HP and EXP</a:t>
            </a:r>
          </a:p>
        </p:txBody>
      </p:sp>
      <p:cxnSp>
        <p:nvCxnSpPr>
          <p:cNvPr id="108" name="Connector 107"/>
          <p:cNvCxnSpPr/>
          <p:nvPr/>
        </p:nvCxnSpPr>
        <p:spPr>
          <a:xfrm flipH="1">
            <a:off x="4366260" y="1655064"/>
            <a:ext cx="1421892" cy="1521332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5806440" y="214884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Panel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the box behind every widget</a:t>
            </a:r>
          </a:p>
        </p:txBody>
      </p:sp>
      <p:cxnSp>
        <p:nvCxnSpPr>
          <p:cNvPr id="110" name="Connector 109"/>
          <p:cNvCxnSpPr/>
          <p:nvPr/>
        </p:nvCxnSpPr>
        <p:spPr>
          <a:xfrm flipH="1">
            <a:off x="2285999" y="2478024"/>
            <a:ext cx="3502153" cy="1202435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5806440" y="297180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Menu = Panel + Selection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labels, actions, the cursor</a:t>
            </a:r>
          </a:p>
        </p:txBody>
      </p:sp>
      <p:cxnSp>
        <p:nvCxnSpPr>
          <p:cNvPr id="112" name="Connector 111"/>
          <p:cNvCxnSpPr/>
          <p:nvPr/>
        </p:nvCxnSpPr>
        <p:spPr>
          <a:xfrm flipH="1">
            <a:off x="4846320" y="3300984"/>
            <a:ext cx="941832" cy="459486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806440" y="379476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Textbox = Panel + text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wrapped, one page at a time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GUIs</a:t>
            </a:r>
            <a:endParaRPr/>
          </a:p>
        </p:txBody>
      </p:sp>
      <p:pic>
        <p:nvPicPr>
          <p:cNvPr id="111" name="Google Shape;11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4948" y="866036"/>
            <a:ext cx="4214100" cy="34114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0"/>
          <p:cNvSpPr txBox="1"/>
          <p:nvPr/>
        </p:nvSpPr>
        <p:spPr>
          <a:xfrm>
            <a:off x="3497100" y="4431700"/>
            <a:ext cx="2149800" cy="4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interfaceingame.com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Tile-Based Movement</a:t>
            </a:r>
            <a:endParaRPr/>
          </a:p>
        </p:txBody>
      </p:sp>
      <p:sp>
        <p:nvSpPr>
          <p:cNvPr id="118" name="Google Shape;118;p21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logic jumps a whole tile; the sprite glides after it.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MapX, MapY: which tile (the rules use this)   ·   X, Y: where it’s drawn (tweened)</a:t>
            </a:r>
            <a:endParaRPr/>
          </a:p>
        </p:txBody>
      </p:sp>
      <p:pic>
        <p:nvPicPr>
          <p:cNvPr id="119" name="Google Shape;11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99072" y="2719575"/>
            <a:ext cx="3145850" cy="2189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Overworld &amp; Random Encounters</a:t>
            </a:r>
            <a:endParaRPr/>
          </a:p>
        </p:txBody>
      </p:sp>
      <p:sp>
        <p:nvSpPr>
          <p:cNvPr id="125" name="Google Shape;125;p2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random encounter is just pushes and pops.</a:t>
            </a:r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45720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5720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→ white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6576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1  Fade to white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297180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29184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329184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329184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← white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20040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2  At white: push the battle, fade back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580644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/>
          <p:cNvSpPr/>
          <p:nvPr/>
        </p:nvSpPr>
        <p:spPr>
          <a:xfrm>
            <a:off x="612648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12648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12648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BattleMessageState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03504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3  The fight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57200" y="1325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Each fade pops itself when it’s done. The field never knows a battle happened.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Overworld Encounters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battle start?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out where in the code the game transitions from PlayState to 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other states are involved in the StateStack at this moment?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when a battle ends?</a:t>
            </a:r>
            <a:endParaRPr/>
          </a:p>
        </p:txBody>
      </p:sp>
      <p:pic>
        <p:nvPicPr>
          <p:cNvPr id="132" name="Google Shape;13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35662" y="2229700"/>
            <a:ext cx="4072677" cy="2564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Battle System</a:t>
            </a:r>
            <a:endParaRPr/>
          </a:p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phase of a battle is its own state, with one job.</a:t>
            </a:r>
            <a:endParaRPr/>
          </a:p>
        </p:txBody>
      </p:sp>
      <p:sp>
        <p:nvSpPr>
          <p:cNvPr id="139" name="Rounded Rectangle 138"/>
          <p:cNvSpPr/>
          <p:nvPr/>
        </p:nvSpPr>
        <p:spPr>
          <a:xfrm>
            <a:off x="548640" y="3429000"/>
            <a:ext cx="80467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BattleState: the scene (sprites, bars), always drawn underneath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4864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BattleMenuState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choice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294436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276148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Fight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38328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TakeTurnState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one turn’s events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577900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559612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attack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21792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BattleMessageState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message, until Confirm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1737360" y="2651760"/>
            <a:ext cx="54864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1828800" y="2697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both still standing: back to the menu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48640" y="40690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Push and pop: no state needs to know which one comes next.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RPG Mechanics</a:t>
            </a:r>
            <a:endParaRPr/>
          </a:p>
        </p:txBody>
      </p:sp>
      <p:sp>
        <p:nvSpPr>
          <p:cNvPr id="144" name="Google Shape;144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PokemonSpecies is the type; a Mon is one monster of that type.</a:t>
            </a:r>
            <a:endParaRPr/>
          </a:p>
        </p:txBody>
      </p:sp>
      <p:sp>
        <p:nvSpPr>
          <p:cNvPr id="145" name="Rounded Rectangle 144"/>
          <p:cNvSpPr/>
          <p:nvPr/>
        </p:nvSpPr>
        <p:spPr>
          <a:xfrm>
            <a:off x="73152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PokemonSpecies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name, base stats, growth values, sprites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12064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Mon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level, stats, HP, EXP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3886200" y="2011680"/>
            <a:ext cx="118872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3703320" y="1719072"/>
            <a:ext cx="15544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is a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31520" y="4361688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Type Object pattern again, as in Plants vs. Zombies.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31520" y="3017520"/>
            <a:ext cx="74980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stats follow from the level: no dice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Attack =&gt; BaseAttack + AttackGrowth * Level / 2;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9AA3AB"/>
                </a:solidFill>
                <a:latin typeface="Consolas"/>
              </a:rPr>
              <a:t>// damage, at least 1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damage = Attack * move.BasePower / 10 - defender.Defense;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Monster Battles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0" name="Google Shape;150;p26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Trace one turn: from choosing Fight to the result on screen.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damage calculated?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game decide the battle is over, and what happens next?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makes a monster level up, and how do its stats grow?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Files</a:t>
            </a:r>
            <a:endParaRPr/>
          </a:p>
        </p:txBody>
      </p:sp>
      <p:sp>
        <p:nvSpPr>
          <p:cNvPr id="156" name="Google Shape;156;p2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 in JSON, behaviour in C#.</a:t>
            </a:r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365760" y="1371600"/>
            <a:ext cx="3931920" cy="21031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[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"name": "Cindrel",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"baseHp": 12,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"baseAttack": 7,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"hpGrowth": 3,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"battleSpriteFront": "..."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}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]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4343400" y="2423160"/>
            <a:ext cx="4572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4846320" y="31546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read with System.Text.Json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846320" y="1737360"/>
            <a:ext cx="3931920" cy="13716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a record: just data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sealed record PokemonSpecies(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Name,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BattleSpriteFront,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int BaseHp, ...);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65760" y="37033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does adding a new monster take?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Data-Driven Definitions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2" name="Google Shape;162;p28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Pokemon4.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glass cannon: a new species, only in the JSON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Types: Fire, Water, Grass, and super-effective hits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and load the party, with a round-trip test</a:t>
            </a:r>
            <a:endParaRPr/>
          </a:p>
        </p:txBody>
      </p:sp>
      <p:pic>
        <p:nvPicPr>
          <p:cNvPr id="163" name="Google Shape;163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40862" y="3291840"/>
            <a:ext cx="1737378" cy="1737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Save &amp; Load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data, not objects: what you need to rebuild the game, nothing more.</a:t>
            </a:r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548640" y="1417320"/>
            <a:ext cx="8046720" cy="14173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public record SaveData(List&lt;MonSaveData&gt; Party, int MapX, int MapY);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File.WriteAllText(path, JsonSerializer.Serialize(data));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SaveData loaded = JsonSerializer.Deserialize&lt;SaveData&gt;(File.ReadAllText(path));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10896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You forget to save the HP. When do you find out?</a:t>
            </a:r>
          </a:p>
          <a:p>
            <a:pPr algn="ctr"/>
            <a:r>
              <a:rPr sz="1800" b="1" i="0">
                <a:solidFill>
                  <a:srgbClr val="DEE2E6"/>
                </a:solidFill>
              </a:rPr>
              <a:t>What test would find it first?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Locator</a:t>
            </a:r>
            <a:endParaRPr/>
          </a:p>
        </p:txBody>
      </p:sp>
      <p:sp>
        <p:nvSpPr>
          <p:cNvPr id="169" name="Google Shape;169;p2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Many classes need the audio. How do they find it?</a:t>
            </a:r>
            <a:endParaRPr/>
          </a:p>
        </p:txBody>
      </p:sp>
      <p:sp>
        <p:nvSpPr>
          <p:cNvPr id="170" name="Rounded Rectangle 169"/>
          <p:cNvSpPr/>
          <p:nvPr/>
        </p:nvSpPr>
        <p:spPr>
          <a:xfrm>
            <a:off x="45720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Pass it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explicit, but passed through every layer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29184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easy, but tied to one concrete class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12648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registry, handing out interfaces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57200" y="2560320"/>
            <a:ext cx="81838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300">
                <a:solidFill>
                  <a:srgbClr val="DEE2E6"/>
                </a:solidFill>
                <a:latin typeface="Consolas"/>
              </a:rPr>
              <a:t>Locator.Provide(new SoundManager());   // once, at startup</a:t>
            </a:r>
          </a:p>
          <a:p>
            <a:pPr algn="l"/>
            <a:r>
              <a:rPr sz="1300">
                <a:solidFill>
                  <a:srgbClr val="DEE2E6"/>
                </a:solidFill>
                <a:latin typeface="Consolas"/>
              </a:rPr>
              <a:t>Locator.Audio.PlayHit();               // anywhere</a:t>
            </a:r>
          </a:p>
          <a:p>
            <a:pPr algn="l"/>
            <a:r>
              <a:rPr sz="1300">
                <a:solidFill>
                  <a:srgbClr val="9AA3AB"/>
                </a:solidFill>
                <a:latin typeface="Consolas"/>
              </a:rPr>
              <a:t>// until then, Locator.Audio is a NullAudio that does nothing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57200" y="3931920"/>
            <a:ext cx="8183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Geometry Wars tries the first option: dependency injection.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Some Missing Features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5" name="Google Shape;175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Detailed Level-Up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Catching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Field Menu For Browsing 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Item Inventory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Different Abilities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Other Trainers to Fight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Evolution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Towns, Routes, and Other Levels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Breeding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Day/Night Cycle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 (Fire/Water/Grass)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463040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is a state stack better than a state machine that replaces states?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Service Locator differ from a Singleton?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would you pass a service in instead?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Would your game benefit from layered states?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Pause menus, dialogue, transitions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services do many of your classes need? How do they get them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your game need to save to resume a session later?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11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release build on itch.io, and a README started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load: a round-trip test is a good first test for your project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