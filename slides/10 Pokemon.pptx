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65" r:id="rId15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7.xml"/><Relationship Id="rId27" Type="http://schemas.openxmlformats.org/officeDocument/2006/relationships/slide" Target="slides/slide28.xml"/><Relationship Id="rId28" Type="http://schemas.openxmlformats.org/officeDocument/2006/relationships/slide" Target="slides/slide26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29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scenes and UI, with a state stack and GUI widgets.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GMDCore and the game.</a:t>
            </a:r>
          </a:p>
          <a:p>
            <a:r>
              <a:t>The rule: a class that talks about monsters or battles belongs to the game; one you could reuse belongs to GMDCore.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grass tiles and the trainer.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exactly where you were. Only the top state updates; every state draws, bottom to top.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Everything the real games have that ours doesn’t. Any of these is a good project extension.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data, not objects: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exactly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 rather than a concrete class,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Relationship Id="rId4" Type="http://schemas.openxmlformats.org/officeDocument/2006/relationships/hyperlink" Target="http://interfaceingame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gif-pokem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7088" y="1093999"/>
            <a:ext cx="6329820" cy="3560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 in order to level up your mon!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pokemon-specific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okemon_trai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366" y="1357926"/>
            <a:ext cx="1820718" cy="2427625"/>
          </a:xfrm>
          <a:prstGeom prst="rect">
            <a:avLst/>
          </a:prstGeom>
        </p:spPr>
      </p:pic>
      <p:pic>
        <p:nvPicPr>
          <p:cNvPr id="80" name="Picture 80" descr="pokemon_ti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5400" y="2263650"/>
            <a:ext cx="2464800" cy="61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exactly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exactly where you were.</a:t>
            </a:r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914400" y="3639312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14400" y="3200400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4400" y="2761488"/>
            <a:ext cx="3108960" cy="38404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BattleMenuState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4400" y="40690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bottom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97680" y="23317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Only the top state gets Update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It has the input to itself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97680" y="31546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EE2E6"/>
                </a:solidFill>
              </a:rPr>
              <a:t>Every state draws, bottom to top</a:t>
            </a:r>
          </a:p>
          <a:p>
            <a:pPr algn="l"/>
            <a:r>
              <a:rPr sz="1600" b="0" i="0">
                <a:solidFill>
                  <a:srgbClr val="DEE2E6"/>
                </a:solidFill>
              </a:rPr>
              <a:t>The field and the fight stay visible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4069080" y="2514600"/>
            <a:ext cx="1371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tweens: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pk-figh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80160"/>
            <a:ext cx="5120640" cy="2880359"/>
          </a:xfrm>
          <a:prstGeom prst="rect">
            <a:avLst/>
          </a:prstGeom>
        </p:spPr>
      </p:pic>
      <p:sp>
        <p:nvSpPr>
          <p:cNvPr id="107" name="Rounded Rectangle 106"/>
          <p:cNvSpPr/>
          <p:nvPr/>
        </p:nvSpPr>
        <p:spPr>
          <a:xfrm>
            <a:off x="5806440" y="132588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ProgressBar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current / max: HP and EXP</a:t>
            </a:r>
          </a:p>
        </p:txBody>
      </p:sp>
      <p:cxnSp>
        <p:nvCxnSpPr>
          <p:cNvPr id="108" name="Connector 107"/>
          <p:cNvCxnSpPr/>
          <p:nvPr/>
        </p:nvCxnSpPr>
        <p:spPr>
          <a:xfrm flipH="1">
            <a:off x="4366260" y="1655064"/>
            <a:ext cx="1421892" cy="1521332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5806440" y="214884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Panel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the box behind every widget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2285999" y="2478024"/>
            <a:ext cx="3502153" cy="1202435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806440" y="297180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Menu = Panel + Selection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labels, actions, the cursor</a:t>
            </a:r>
          </a:p>
        </p:txBody>
      </p:sp>
      <p:cxnSp>
        <p:nvCxnSpPr>
          <p:cNvPr id="112" name="Connector 111"/>
          <p:cNvCxnSpPr/>
          <p:nvPr/>
        </p:nvCxnSpPr>
        <p:spPr>
          <a:xfrm flipH="1">
            <a:off x="4846320" y="3300984"/>
            <a:ext cx="941832" cy="459486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806440" y="3794760"/>
            <a:ext cx="2926080" cy="658368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DEE2E6"/>
                </a:solidFill>
              </a:rPr>
              <a:t>Textbox = Panel + text</a:t>
            </a:r>
          </a:p>
          <a:p>
            <a:pPr algn="l"/>
            <a:r>
              <a:rPr sz="1100" b="0">
                <a:solidFill>
                  <a:srgbClr val="9AA3AB"/>
                </a:solidFill>
              </a:rPr>
              <a:t>wrapped, one page at a time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pic>
        <p:nvPicPr>
          <p:cNvPr id="111" name="Google Shape;11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64948" y="866036"/>
            <a:ext cx="4214100" cy="34114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/>
          <p:nvPr/>
        </p:nvSpPr>
        <p:spPr>
          <a:xfrm>
            <a:off x="3497100" y="443170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MapX, MapY: which tile (the rules use this)   ·   X, Y: where it’s drawn (tweened)</a:t>
            </a:r>
            <a:endParaRPr/>
          </a:p>
        </p:txBody>
      </p:sp>
      <p:pic>
        <p:nvPicPr>
          <p:cNvPr id="119" name="Google Shape;119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99072" y="2719575"/>
            <a:ext cx="3145850" cy="2189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  <p:pic>
        <p:nvPicPr>
          <p:cNvPr id="132" name="Google Shape;13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5662" y="2229700"/>
            <a:ext cx="4072677" cy="2564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Push and pop: no state needs to know which one comes next.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  <p:pic>
        <p:nvPicPr>
          <p:cNvPr id="163" name="Google Shape;163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40862" y="3291840"/>
            <a:ext cx="1737378" cy="17373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data, not objects: what you need to rebuild the game, nothing more.</a:t>
            </a:r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548640" y="1417320"/>
            <a:ext cx="804672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public record SaveData(List&lt;MonSaveData&gt; Party, int MapX, int MapY);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File.WriteAllText(path, JsonSerializer.Serialize(data));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SaveData loaded = JsonSerializer.Deserialize&lt;SaveData&gt;(File.ReadAllText(path));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108960"/>
            <a:ext cx="8046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You forget to save the HP. When do you find out?</a:t>
            </a:r>
          </a:p>
          <a:p>
            <a:pPr algn="ctr"/>
            <a:r>
              <a:rPr sz="1800" b="1" i="0">
                <a:solidFill>
                  <a:srgbClr val="DEE2E6"/>
                </a:solidFill>
              </a:rPr>
              <a:t>What test would find it first?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sp>
        <p:nvSpPr>
          <p:cNvPr id="170" name="Rounded Rectangle 169"/>
          <p:cNvSpPr/>
          <p:nvPr/>
        </p:nvSpPr>
        <p:spPr>
          <a:xfrm>
            <a:off x="45720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Pass it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explicit, but passed through every layer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29184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easy, but tied to one concrete class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6480" y="1371600"/>
            <a:ext cx="256032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registry, handing out interfaces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457200" y="2560320"/>
            <a:ext cx="81838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Locator.Provide(new SoundManager());   // once, at startup</a:t>
            </a:r>
          </a:p>
          <a:p>
            <a:pPr algn="l"/>
            <a:r>
              <a:rPr sz="1300">
                <a:solidFill>
                  <a:srgbClr val="DEE2E6"/>
                </a:solidFill>
                <a:latin typeface="Consolas"/>
              </a:rPr>
              <a:t>Locator.Audio.PlayHit();               // anywhere</a:t>
            </a:r>
          </a:p>
          <a:p>
            <a:pPr algn="l"/>
            <a:r>
              <a:rPr sz="1300">
                <a:solidFill>
                  <a:srgbClr val="9AA3AB"/>
                </a:solidFill>
                <a:latin typeface="Consolas"/>
              </a:rPr>
              <a:t>// until then, Locator.Audio is a NullAudio that does nothing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57200" y="3931920"/>
            <a:ext cx="8183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Geometry Wars tries the first option: dependency injection.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Some Missing Features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Detailed Level-Up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Catching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 Menu For Browsing 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 Inventory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Different Abilities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 to Fight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Monster Evolution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Towns, Routes, and Other Levels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Breeding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Day/Night Cycle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 (Fire/Water/Grass)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