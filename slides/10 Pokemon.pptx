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79" r:id="rId38"/>
    <p:sldId id="261" r:id="rId11"/>
    <p:sldId id="262" r:id="rId12"/>
    <p:sldId id="283" r:id="rId41"/>
    <p:sldId id="263" r:id="rId13"/>
    <p:sldId id="264" r:id="rId14"/>
    <p:sldId id="290" r:id="rId47"/>
    <p:sldId id="265" r:id="rId15"/>
    <p:sldId id="289" r:id="rId46"/>
    <p:sldId id="266" r:id="rId16"/>
    <p:sldId id="267" r:id="rId17"/>
    <p:sldId id="285" r:id="rId43"/>
    <p:sldId id="286" r:id="rId44"/>
    <p:sldId id="287" r:id="rId45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80" r:id="rId28"/>
    <p:sldId id="276" r:id="rId26"/>
    <p:sldId id="288" r:id="rId40"/>
    <p:sldId id="277" r:id="rId27"/>
    <p:sldId id="284" r:id="rId42"/>
    <p:sldId id="281" r:id="rId39"/>
  </p:sldIdLst>
  <p:sldSz cy="5143500" cx="9144000"/>
  <p:notesSz cx="6858000" cy="9144000"/>
  <p:embeddedFontLst>
    <p:embeddedFont>
      <p:font typeface="Roboto"/>
      <p:regular r:id="rId29"/>
      <p:bold r:id="rId30"/>
      <p:italic r:id="rId31"/>
      <p:boldItalic r:id="rId32"/>
    </p:embeddedFont>
    <p:embeddedFont>
      <p:font typeface="VT323"/>
      <p:regular r:id="rId33"/>
    </p:embeddedFont>
    <p:embeddedFont>
      <p:font typeface="Roboto Light"/>
      <p:regular r:id="rId34"/>
      <p:bold r:id="rId35"/>
      <p:italic r:id="rId36"/>
      <p:boldItalic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slide" Target="slides/slide25.xml"/><Relationship Id="rId24" Type="http://schemas.openxmlformats.org/officeDocument/2006/relationships/slide" Target="slides/slide26.xml"/><Relationship Id="rId25" Type="http://schemas.openxmlformats.org/officeDocument/2006/relationships/slide" Target="slides/slide27.xml"/><Relationship Id="rId26" Type="http://schemas.openxmlformats.org/officeDocument/2006/relationships/slide" Target="slides/slide29.xml"/><Relationship Id="rId27" Type="http://schemas.openxmlformats.org/officeDocument/2006/relationships/slide" Target="slides/slide31.xml"/><Relationship Id="rId28" Type="http://schemas.openxmlformats.org/officeDocument/2006/relationships/slide" Target="slides/slide28.xml"/><Relationship Id="rId29" Type="http://schemas.openxmlformats.org/officeDocument/2006/relationships/font" Target="fonts/Roboto-regular.fntdata"/><Relationship Id="rId30" Type="http://schemas.openxmlformats.org/officeDocument/2006/relationships/font" Target="fonts/Roboto-bold.fntdata"/><Relationship Id="rId31" Type="http://schemas.openxmlformats.org/officeDocument/2006/relationships/font" Target="fonts/Roboto-italic.fntdata"/><Relationship Id="rId32" Type="http://schemas.openxmlformats.org/officeDocument/2006/relationships/font" Target="fonts/Roboto-boldItalic.fntdata"/><Relationship Id="rId33" Type="http://schemas.openxmlformats.org/officeDocument/2006/relationships/font" Target="fonts/VT323-regular.fntdata"/><Relationship Id="rId34" Type="http://schemas.openxmlformats.org/officeDocument/2006/relationships/font" Target="fonts/RobotoLight-regular.fntdata"/><Relationship Id="rId35" Type="http://schemas.openxmlformats.org/officeDocument/2006/relationships/font" Target="fonts/RobotoLight-bold.fntdata"/><Relationship Id="rId36" Type="http://schemas.openxmlformats.org/officeDocument/2006/relationships/font" Target="fonts/RobotoLight-italic.fntdata"/><Relationship Id="rId37" Type="http://schemas.openxmlformats.org/officeDocument/2006/relationships/font" Target="fonts/RobotoLight-boldItalic.fntdata"/><Relationship Id="rId38" Type="http://schemas.openxmlformats.org/officeDocument/2006/relationships/slide" Target="slides/slide6.xml"/><Relationship Id="rId39" Type="http://schemas.openxmlformats.org/officeDocument/2006/relationships/slide" Target="slides/slide33.xml"/><Relationship Id="rId40" Type="http://schemas.openxmlformats.org/officeDocument/2006/relationships/slide" Target="slides/slide30.xml"/><Relationship Id="rId41" Type="http://schemas.openxmlformats.org/officeDocument/2006/relationships/slide" Target="slides/slide9.xml"/><Relationship Id="rId42" Type="http://schemas.openxmlformats.org/officeDocument/2006/relationships/slide" Target="slides/slide32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14.xml"/><Relationship Id="rId4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Pokemon. The main topic: scenes and UI.</a:t>
            </a:r>
          </a:p>
          <a:p>
            <a:r>
              <a:t>Start by playing the finished game, Pokemon4,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series from the Game Boy to today: a map to walk, and turn-based battles. Ours is the Game Boy kind.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Pokemon4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scenes and UI. Screens stack on a state stack, with GUI widgets on top. Then turn-based battles, the Service Locator, and saving.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gar-games/10-pokemon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a few encounters. Then ask how the code is split between GARCore and the game.</a:t>
            </a:r>
          </a:p>
          <a:p>
            <a:r>
              <a:t>The rule: a class that talks about monsters or battles belongs to the game; one you could reuse belongs to GARCore.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d5955992a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d5955992a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game’s sheets: the town’s tiles and the trainer, in four directions with two steps each.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955992a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d5955992a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Push a state on top; pop it and you’re back where you were. Only the top state updates; every state draws, bottom to top.</a:t>
            </a:r>
          </a:p>
          <a:p>
            <a:r>
              <a:t>BattleMenuState</a:t>
            </a:r>
          </a:p>
          <a:p>
            <a:r>
              <a:t>Only the top state gets Update</a:t>
            </a:r>
          </a:p>
          <a:p>
            <a:r>
              <a:t>It has the input to itself</a:t>
            </a:r>
          </a:p>
          <a:p>
            <a:r>
              <a:t>Every state draws, bottom to top</a:t>
            </a:r>
          </a:p>
          <a:p>
            <a:r>
              <a:t>The field and the fight stay visible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d5955992ae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d5955992ae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the four files open. Take answers: the stack during the menu is PlayState, BattleState, BattleMenuState. For the pause state: push it on P, pop it on P.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d5955992ae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d5955992ae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attack is a chain of tweens, each Finish starting the next. It needs no flags or frame counters.</a:t>
            </a:r>
          </a:p>
          <a:p>
            <a:r>
              <a:t>Two details: tweens update before states, and a tween started in a callback begins next frame (changing a list while looping over it is a classic bug).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576b8b1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d576b8b1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widgets, combined into every screen. Point at each label on the battle screen: the bars, the panels, the menu (a panel plus a selection), the textbox.</a:t>
            </a:r>
          </a:p>
          <a:p>
            <a:r>
              <a:t>current / max: HP and EXP</a:t>
            </a:r>
          </a:p>
          <a:p>
            <a:r>
              <a:t>the box behind every widget</a:t>
            </a:r>
          </a:p>
          <a:p>
            <a:r>
              <a:t>Menu = Panel + Selection</a:t>
            </a:r>
          </a:p>
          <a:p>
            <a:r>
              <a:t>labels, actions, the cursor</a:t>
            </a:r>
          </a:p>
          <a:p>
            <a:r>
              <a:t>Textbox = Panel + text</a:t>
            </a:r>
          </a:p>
          <a:p>
            <a:r>
              <a:t>wrapped, one page at a time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5955992a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5955992a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interfaceingame.com: real game interfaces, for inspiration. For larger UIs, a library like Gum saves a lot of work.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5955992ae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d5955992ae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logic jumps a whole tile at once; the sprite glides after it in half a second. MapX and MapY for the rules, X and Y for drawing.</a:t>
            </a:r>
          </a:p>
          <a:p>
            <a:r>
              <a:t>MapX, MapY: which tile (the rules use this)   ·   X, Y: where it’s drawn (tweened)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d5955992ae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d5955992ae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encounter is only pushes and pops: fade to white, push the battle, fade back. The field never knows a battle happened.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5955992ae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d5955992ae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pairs: find where the battle starts, and what’s on the stack then. What happens when it ends?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d5955992ae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d5955992ae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phase is its own state with one job; BattleState stays underneath and keeps drawing. No state needs to know which comes next.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d5955992ae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d5955992ae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species is the type, a monster one of that type: Type Object again. Stats follow from the level: base plus half the growth value per level. No dice, so a level 5 Cindrel is always the same.</a:t>
            </a:r>
          </a:p>
          <a:p>
            <a:r>
              <a:t>The damage line: attack scaled by the move, minus defence, at least 1.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d5b18a32d2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d5b18a32d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In pairs, with Pokemon4. Take answers: the turn is in TakeTurnState, damage in Mon, the end in TakeTurnState’s checks.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d5955992ae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d5955992ae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JSON on the left becomes the record on the right. Ask the question: what does a new monster take? A JSON entry and two sprites; no code.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5955992ae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d5955992ae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Exercises: a glass cannon, types, save and load.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26904471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26904471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top before showing the boxes. Three answers: pass it in, a Singleton, or a locator.</a:t>
            </a:r>
          </a:p>
          <a:p>
            <a:r>
              <a:t>The locator hands out interfaces, and a NullAudio stands in until the real one is provided. Geometry Wars tries passing things in.</a:t>
            </a:r>
          </a:p>
          <a:p>
            <a:r>
              <a:t>explicit, but passed through every layer</a:t>
            </a:r>
          </a:p>
          <a:p>
            <a:r>
              <a:t>easy, but tied to one concrete class</a:t>
            </a:r>
          </a:p>
          <a:p>
            <a:r>
              <a:t>Service Locator</a:t>
            </a:r>
          </a:p>
          <a:p>
            <a:r>
              <a:t>one registry, handing out interfaces</a:t>
            </a:r>
          </a:p>
          <a:p>
            <a:r>
              <a:t>Locator.Provide(new SoundManager());   // once, at startup</a:t>
            </a:r>
          </a:p>
          <a:p>
            <a:r>
              <a:t>Locator.Audio.PlayHit();               // anywhere</a:t>
            </a:r>
          </a:p>
          <a:p>
            <a:r>
              <a:t>// until then, Locator.Audio is a NullAudio that does nothing</a:t>
            </a:r>
          </a:p>
          <a:p>
            <a:r>
              <a:t>Geometry Wars tries the first option, dependency injection.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5955992ae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5955992ae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What the real games have that ours doesn’t, and what each would take with today’s parts. Ask for one: which states, which widgets, which data?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Don’t show the next slide yet. Ask the question and let them suggest answers: save the field somewhere? Rebuild it? Keep it, and put the battle on top?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Save plain data: what you need to rebuild the game. Ask the question: you forget the HP; when do you find out? The next time someone loads.</a:t>
            </a:r>
          </a:p>
          <a:p>
            <a:r>
              <a:t>A round-trip test finds it first: save, load, compare.</a:t>
            </a:r>
          </a:p>
          <a:p>
            <a:r>
              <a:t>public record SaveData(List&lt;MonSaveData&gt; Party, int MapX, int MapY);</a:t>
            </a:r>
          </a:p>
          <a:p>
            <a:r>
              <a:t>File.WriteAllText(path, JsonSerializer.Serialize(data));</a:t>
            </a:r>
          </a:p>
          <a:p>
            <a:r>
              <a:t>SaveData loaded = JsonSerializer.Deserialize&lt;SaveData&gt;(File.ReadAllText(path));</a:t>
            </a:r>
          </a:p>
          <a:p>
            <a:r>
              <a:t>You forget to save the HP. When do you find out?</a:t>
            </a:r>
          </a:p>
          <a:p>
            <a:r>
              <a:t>What test would find it first?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is a state stack better than a state machine that replaces states?</a:t>
            </a:r>
          </a:p>
          <a:p>
            <a:r>
              <a:t>A: When you need to return to a previous state as you left it (a pause menu, a battle, a dialogue box), or draw several states on top of each other.</a:t>
            </a:r>
          </a:p>
          <a:p/>
          <a:p>
            <a:r>
              <a:t>Q: How does a Service Locator differ from a Singleton?</a:t>
            </a:r>
          </a:p>
          <a:p>
            <a:r>
              <a:t>A: Callers depend on an interface, and the implementation can be swapped at runtime (e.g. a null or logging service). It is still global access, so dependencies stay hidden.</a:t>
            </a:r>
          </a:p>
          <a:p/>
          <a:p>
            <a:r>
              <a:t>Q: When would you prefer dependency injection over a Service Locator?</a:t>
            </a:r>
          </a:p>
          <a:p>
            <a:r>
              <a:t>A: When a class has few dependencies and they are needed close to where the object is created. Constructor parameters make dependencies explicit and easy to replace in tests.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Five steps; the README has the same table with more detail.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One line in Game1: Locator.Provide(new NullAudio()). No other class changes: they only know IAudio.</a:t>
            </a:r>
          </a:p>
          <a:p>
            <a:r>
              <a:t>LoggingAudio implements IAudio with a Console.WriteLine per method. Ask: what would the same change cost with Flappy Bird’s Singleton? Every caller names Audio.Instance.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UiSamples. Go through the options: the textbox pages and closes itself, Damage and Heal tween the bar, the colour changes.</a:t>
            </a:r>
          </a:p>
          <a:p>
            <a:r>
              <a:t>Point out focus: while the textbox is open, the arrows do nothing to the menu. SamplesScreen.Update decides who gets the input.</a:t>
            </a:r>
          </a:p>
          <a:p>
            <a:r>
              <a:t>The samples use Pokemon4’s widgets, so a change there changes the game too.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The option: one line in the menu’s list in SamplesScreen. The colour: in SamplesScreen.Update or Draw, from the bar’s value; ProgressBar itself doesn’t need to change.</a:t>
            </a:r>
          </a:p>
          <a:p>
            <a:r>
              <a:t>Ask: should ProgressBar know about “low”? Answer: better not; the screen decides what low means for its data.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build our own because the lesson is how a UI works: drawing, layout, input and focus.</a:t>
            </a:r>
          </a:p>
          <a:p>
            <a:r>
              <a:t>For the projects, Gum is the obvious choice when the UI grows. The site links MonoGame’s Gum tutorials.</a:t>
            </a:r>
          </a:p>
          <a:p>
            <a:r>
              <a:t>Ask: what UI does your game need? Is any of it more than menus, bars and text?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4 minutes. FadeDuration and WalkTweenDuration. No state changes: the timing lives in the tweens.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_stack.Push(new DialogueState(_stack, "...")) on WasKeyJustPressed(Keys.M) (add using Microsoft.Xna.Framework.Input).</a:t>
            </a:r>
          </a:p>
          <a:p>
            <a:r>
              <a:t>Dismissing pops it, and PlayState is on top again, as it was. PlayState needs to know nothing about what comes after.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14.png"/><Relationship Id="rId7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2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Metamate/gar-games/tree/main/10-pokemon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github.com/Metamate/gmd2-pokemon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8" Type="http://schemas.openxmlformats.org/officeDocument/2006/relationships/image" Target="../media/image19.png"/><Relationship Id="rId10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gi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4" Type="http://schemas.openxmlformats.org/officeDocument/2006/relationships/hyperlink" Target="http://interfaceingame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4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4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10: Pokemon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Pokemon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557" y="973490"/>
            <a:ext cx="1971021" cy="1779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05459" y="960120"/>
            <a:ext cx="2058428" cy="18688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483788" y="960129"/>
            <a:ext cx="2645654" cy="1779277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413858" y="3009833"/>
            <a:ext cx="2740158" cy="1653606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30856" y="3043834"/>
            <a:ext cx="3025982" cy="1585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TextBox 5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Pokémon, from the first games (Game Freak, 1996) on. Screenshots © Nintendo / Game Freak.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6" name="Picture 56" descr="pokemon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7090" y="1093999"/>
            <a:ext cx="6329815" cy="35605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Scenes and UI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Tweens (from Zelda)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GUIs &amp; Separating UI from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Turn-Based Battles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&amp; Load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10-pokemon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(Pokemon0 to Pokemon4),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Pokemon0: the overworld, tile-based movement with tweens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Pokemon1: the state stack (title, fades and dialogue)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Pokemon2: battles (encounters, battle scene and menus; run only)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Pokemon3: turn-based combat and RPG mechanics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Pokemon4: audio through the service locator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Pokemon4.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Go through a few encounters, and level up your monster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Pokemon project?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Picture 80" descr="play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15366" y="1357926"/>
            <a:ext cx="1820718" cy="2427624"/>
          </a:xfrm>
          <a:prstGeom prst="rect">
            <a:avLst/>
          </a:prstGeom>
        </p:spPr>
      </p:pic>
      <p:pic>
        <p:nvPicPr>
          <p:cNvPr id="80" name="Picture 80" descr="ti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8976" y="1364730"/>
            <a:ext cx="2861056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Where Were We?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521208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is mid-step in the tall grass. A battle starts.</a:t>
            </a:r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PlayState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field, the player, the grass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66160" y="2148840"/>
            <a:ext cx="128016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79" y="1856232"/>
            <a:ext cx="16459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SetState(battle)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73736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BattleState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fight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D45D35"/>
                </a:solidFill>
              </a:rPr>
              <a:t>thrown away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6766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EE2E6"/>
                </a:solidFill>
              </a:rPr>
              <a:t>The battle ends. How do we get back to where we were?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Stack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state on top; pop it to return to where you were.</a:t>
            </a:r>
            <a:endParaRPr/>
          </a:p>
        </p:txBody>
      </p:sp>
      <p:pic>
        <p:nvPicPr>
          <p:cNvPr id="87" name="Picture 86" descr="state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254" y="1371600"/>
            <a:ext cx="71174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Stack Trace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2" name="Google Shape;92;p1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Files: StateStack.cs, BattleState.cs, BattleMenuState.cs, FadeState.cs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battle just triggered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every state on the stack (bottom to top) once BattleMenuState is showing.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state gets Update calls? Which states still Draw?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FadeState pushes on top, animates, then pops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would break if it swapped the current state instead of push/pop?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PauseState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you push/pop it?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Message of Your Own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PlayState.Update: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Push a DialogueState with your own text when M is pressed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Dismiss it: where does the game carry 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did PlayState need to know?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Tweens Everywhere (from Zelda)</a:t>
            </a:r>
            <a:endParaRPr/>
          </a:p>
        </p:txBody>
      </p:sp>
      <p:sp>
        <p:nvSpPr>
          <p:cNvPr id="98" name="Google Shape;98;p1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attack is a chain of tweens, where each one’s Finish starts the next.</a:t>
            </a:r>
            <a:endParaRPr/>
          </a:p>
        </p:txBody>
      </p:sp>
      <p:pic>
        <p:nvPicPr>
          <p:cNvPr id="99" name="Google Shape;99;p18" title="ezgif-2687dbd41c83dbc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3688" y="3141124"/>
            <a:ext cx="2556624" cy="1917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Rounded Rectangle 99"/>
          <p:cNvSpPr/>
          <p:nvPr/>
        </p:nvSpPr>
        <p:spPr>
          <a:xfrm>
            <a:off x="41148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After(pause)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80136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205740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Lunge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344728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370332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Hit sound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5093208" y="16687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5349240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Blink × 6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739127" y="16687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995159" y="141732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HP bar drops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2057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timing lives in the tween system, without flags, frame counters or if/else chains.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Slower Fades, Faster Steps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GameSettings: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fades twice as slow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walk between tiles twice as fast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any state change?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</a:t>
            </a:r>
            <a:r>
              <a:rPr lang="en"/>
              <a:t>s</a:t>
            </a:r>
            <a:endParaRPr/>
          </a:p>
        </p:txBody>
      </p:sp>
      <p:sp>
        <p:nvSpPr>
          <p:cNvPr id="105" name="Google Shape;105;p1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small widgets, combined into every screen.</a:t>
            </a:r>
            <a:endParaRPr/>
          </a:p>
        </p:txBody>
      </p:sp>
      <p:pic>
        <p:nvPicPr>
          <p:cNvPr id="106" name="Picture 105" descr="widg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905" y="1371600"/>
            <a:ext cx="693018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GUIs</a:t>
            </a:r>
            <a:endParaRPr/>
          </a:p>
        </p:txBody>
      </p:sp>
      <p:sp>
        <p:nvSpPr>
          <p:cNvPr id="112" name="Google Shape;112;p20"/>
          <p:cNvSpPr txBox="1"/>
          <p:nvPr/>
        </p:nvSpPr>
        <p:spPr>
          <a:xfrm>
            <a:off x="3497100" y="2651760"/>
            <a:ext cx="2149800" cy="40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interfaceingame.com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A collection of real game interfaces, for inspiration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UI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to the steps: UiSamples, the widgets on one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dotnet run --project UiSamples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menu, a panel, a progress bar, a textbox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While the textbox is open, the menu waits: focus</a:t>
            </a:r>
            <a:endParaRPr/>
          </a:p>
        </p:txBody>
      </p:sp>
      <p:pic>
        <p:nvPicPr>
          <p:cNvPr id="4" name="Picture 4" descr="f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880" y="2148840"/>
            <a:ext cx="471424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Samples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UiSamples: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fifth option that fills the bar again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bar turn red below a quarter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did each change need?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UI Library?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Our own widgets: small, readable, and you see how a UI works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Gum: layouts, scrolling lists, text input, a visual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cost: a dependency, and a new way of working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project: a few menus and bars, build them; an inventory, reach for Gum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Tile-Based Movement</a:t>
            </a:r>
            <a:endParaRPr/>
          </a:p>
        </p:txBody>
      </p:sp>
      <p:sp>
        <p:nvSpPr>
          <p:cNvPr id="118" name="Google Shape;118;p21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logic jumps a whole tile; the sprite glides after it.</a:t>
            </a:r>
            <a:endParaRPr/>
          </a:p>
        </p:txBody>
      </p:sp>
      <p:pic>
        <p:nvPicPr>
          <p:cNvPr id="119" name="Picture 118" descr="tile-m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Overworld &amp; Random Encounters</a:t>
            </a:r>
            <a:endParaRPr/>
          </a:p>
        </p:txBody>
      </p:sp>
      <p:sp>
        <p:nvSpPr>
          <p:cNvPr id="125" name="Google Shape;125;p2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random encounter is just pushes and pops.</a:t>
            </a:r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45720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5720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→ white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6576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1  Fade to white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297180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29184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329184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329184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FadeState ← white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20040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2  At white: push the battle, fade back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5806440" y="2926080"/>
            <a:ext cx="27432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/>
          <p:cNvSpPr/>
          <p:nvPr/>
        </p:nvSpPr>
        <p:spPr>
          <a:xfrm>
            <a:off x="6126480" y="3337559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PlayState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126480" y="2871215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DEE2E6"/>
                </a:solidFill>
              </a:rPr>
              <a:t>BattleState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126480" y="2404871"/>
            <a:ext cx="2468880" cy="411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1">
                <a:solidFill>
                  <a:srgbClr val="DEE2E6"/>
                </a:solidFill>
              </a:rPr>
              <a:t>BattleMessageState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035040" y="3840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EE2E6"/>
                </a:solidFill>
              </a:rPr>
              <a:t>3  The fight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Each fade pops itself when it’s done. The field never knows a battle happened.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Overworld Encounters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battle start?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Find out where in the code the game transitions from PlayState to BattleState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other states are involved in the StateStack at this moment?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happens when a battle ends?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Battle System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phase of a battle is its own state, with one job.</a:t>
            </a:r>
            <a:endParaRPr/>
          </a:p>
        </p:txBody>
      </p:sp>
      <p:sp>
        <p:nvSpPr>
          <p:cNvPr id="139" name="Rounded Rectangle 138"/>
          <p:cNvSpPr/>
          <p:nvPr/>
        </p:nvSpPr>
        <p:spPr>
          <a:xfrm>
            <a:off x="548640" y="3429000"/>
            <a:ext cx="80467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BattleState: the scene (sprites, bars), always drawn underneath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4864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BattleMenuState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choice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294436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276148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Fight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338328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TakeTurnState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one turn’s events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5779008" y="1984248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5596128" y="1691639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attack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0" y="1600200"/>
            <a:ext cx="237744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BattleMessageState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message, until Confirm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1737360" y="2651760"/>
            <a:ext cx="54864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1828800" y="2697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both still standing: back to the menu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AA3AB"/>
                </a:solidFill>
              </a:rPr>
              <a:t>With push and pop, no state needs to know which one comes next.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RPG Mechanics</a:t>
            </a:r>
            <a:endParaRPr/>
          </a:p>
        </p:txBody>
      </p:sp>
      <p:sp>
        <p:nvSpPr>
          <p:cNvPr id="144" name="Google Shape;144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PokemonSpecies is the type; a Mon is one monster of that type.</a:t>
            </a:r>
            <a:endParaRPr/>
          </a:p>
        </p:txBody>
      </p:sp>
      <p:sp>
        <p:nvSpPr>
          <p:cNvPr id="145" name="Rounded Rectangle 144"/>
          <p:cNvSpPr/>
          <p:nvPr/>
        </p:nvSpPr>
        <p:spPr>
          <a:xfrm>
            <a:off x="73152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PokemonSpecies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name, base stats, growth values, sprites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120640" y="1463040"/>
            <a:ext cx="3108960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Mon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level, stats, HP, EXP</a:t>
            </a:r>
          </a:p>
        </p:txBody>
      </p:sp>
      <p:cxnSp>
        <p:nvCxnSpPr>
          <p:cNvPr id="147" name="Connector 146"/>
          <p:cNvCxnSpPr/>
          <p:nvPr/>
        </p:nvCxnSpPr>
        <p:spPr>
          <a:xfrm flipH="1">
            <a:off x="3886200" y="2011680"/>
            <a:ext cx="1188720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/>
          <p:cNvSpPr txBox="1"/>
          <p:nvPr/>
        </p:nvSpPr>
        <p:spPr>
          <a:xfrm>
            <a:off x="3703320" y="1719072"/>
            <a:ext cx="15544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is a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31520" y="4361688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AA3AB"/>
                </a:solidFill>
              </a:rPr>
              <a:t>The Type Object pattern again, as in Plants vs. Zombies.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31520" y="3017520"/>
            <a:ext cx="7498079" cy="123444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stats follow from the level: no dice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Attack =&gt; BaseAttack + AttackGrowth * Level / 2;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9AA3AB"/>
                </a:solidFill>
                <a:latin typeface="Consolas"/>
              </a:rPr>
              <a:t>// damage, at least 1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int damage = Attack * move.BasePower / 10 - defender.Defense;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Monster Battles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0" name="Google Shape;150;p26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Trace one turn: from choosing Fight to the result on screen.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damage calculated?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the game decide the battle is over, and what happens next?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makes a monster level up, and how do its stats grow?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Files</a:t>
            </a:r>
            <a:endParaRPr/>
          </a:p>
        </p:txBody>
      </p:sp>
      <p:sp>
        <p:nvSpPr>
          <p:cNvPr id="156" name="Google Shape;156;p27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 in JSON, behaviour in C#.</a:t>
            </a:r>
            <a:endParaRPr/>
          </a:p>
        </p:txBody>
      </p:sp>
      <p:sp>
        <p:nvSpPr>
          <p:cNvPr id="157" name="Rectangle 156"/>
          <p:cNvSpPr/>
          <p:nvPr/>
        </p:nvSpPr>
        <p:spPr>
          <a:xfrm>
            <a:off x="365760" y="1371600"/>
            <a:ext cx="3931920" cy="21031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DEE2E6"/>
                </a:solidFill>
                <a:latin typeface="Consolas"/>
              </a:rPr>
              <a:t>[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{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"name": "Cindrel",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"baseHp": 12,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"baseAttack": 7,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"hpGrowth": 3,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"battleSpriteFront": "..."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}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]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4343400" y="2423160"/>
            <a:ext cx="45720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4846320" y="31546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AB"/>
                </a:solidFill>
              </a:rPr>
              <a:t>read with System.Text.Json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46320" y="1737360"/>
            <a:ext cx="3931920" cy="137160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200">
                <a:solidFill>
                  <a:srgbClr val="9AA3AB"/>
                </a:solidFill>
                <a:latin typeface="Consolas"/>
              </a:rPr>
              <a:t>// a record: just data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public sealed record PokemonSpecies(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Name,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string BattleSpriteFront,</a:t>
            </a:r>
          </a:p>
          <a:p>
            <a:pPr algn="l"/>
            <a:r>
              <a:rPr sz="1200">
                <a:solidFill>
                  <a:srgbClr val="DEE2E6"/>
                </a:solidFill>
                <a:latin typeface="Consolas"/>
              </a:rPr>
              <a:t>    int BaseHp, ...);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65760" y="37033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does adding a new monster take?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Data-Driven Definitions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2" name="Google Shape;162;p2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Pokemon4.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glass cannon: a new species, only in the JSON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Types: Fire, Water, Grass, and super-effective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and load the party, with a round-trip test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Save &amp; Load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Save plain data: only what you need to rebuild the game.</a:t>
            </a:r>
            <a:endParaRPr/>
          </a:p>
        </p:txBody>
      </p:sp>
      <p:pic>
        <p:nvPicPr>
          <p:cNvPr id="87" name="Picture 86" descr="save-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137160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Service Locator</a:t>
            </a:r>
            <a:endParaRPr/>
          </a:p>
        </p:txBody>
      </p:sp>
      <p:sp>
        <p:nvSpPr>
          <p:cNvPr id="169" name="Google Shape;169;p29"/>
          <p:cNvSpPr txBox="1"/>
          <p:nvPr>
            <p:ph idx="1" type="body"/>
          </p:nvPr>
        </p:nvSpPr>
        <p:spPr>
          <a:xfrm>
            <a:off x="311700" y="886968"/>
            <a:ext cx="8520600" cy="45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Many classes need the audio. How do they find it?</a:t>
            </a:r>
            <a:endParaRPr/>
          </a:p>
        </p:txBody>
      </p:sp>
      <p:pic>
        <p:nvPicPr>
          <p:cNvPr id="170" name="Picture 169" descr="loc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Silence Without Changes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Pokemon4, Game1: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Provide a NullAudio instead of the SoundManager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other classes did you change?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Then: a LoggingAudio that prints each sound’s name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the Real Games Add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5" name="Google Shape;175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Catching: one more option in the battle menu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field menu for the party: more states on the stack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Items: an inventory, built from the widgets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Other trainers: a new opponent, the same battle states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Moves and evolution: more data in the JSON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463040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is a state stack better than a state machine that replaces states?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a Service Locator differ from a Singleton?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would you pass a service in instead?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Google Shape;67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68" name="Google Shape;68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layered states?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Pause menus, dialogue, transitions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services do many of your classes need? How do they get them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your game need to save to resume a session later?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