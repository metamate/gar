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83" r:id="rId41"/>
    <p:sldId id="263" r:id="rId13"/>
    <p:sldId id="264" r:id="rId14"/>
    <p:sldId id="290" r:id="rId47"/>
    <p:sldId id="265" r:id="rId15"/>
    <p:sldId id="289" r:id="rId46"/>
    <p:sldId id="266" r:id="rId16"/>
    <p:sldId id="267" r:id="rId17"/>
    <p:sldId id="285" r:id="rId43"/>
    <p:sldId id="286" r:id="rId44"/>
    <p:sldId id="287" r:id="rId45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88" r:id="rId40"/>
    <p:sldId id="277" r:id="rId27"/>
    <p:sldId id="284" r:id="rId42"/>
    <p:sldId id="281" r:id="rId39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9.xml"/><Relationship Id="rId27" Type="http://schemas.openxmlformats.org/officeDocument/2006/relationships/slide" Target="slides/slide31.xml"/><Relationship Id="rId28" Type="http://schemas.openxmlformats.org/officeDocument/2006/relationships/slide" Target="slides/slide28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33.xml"/><Relationship Id="rId40" Type="http://schemas.openxmlformats.org/officeDocument/2006/relationships/slide" Target="slides/slide30.xml"/><Relationship Id="rId41" Type="http://schemas.openxmlformats.org/officeDocument/2006/relationships/slide" Target="slides/slide9.xml"/><Relationship Id="rId42" Type="http://schemas.openxmlformats.org/officeDocument/2006/relationships/slide" Target="slides/slide32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slide" Target="slides/slide19.xml"/><Relationship Id="rId46" Type="http://schemas.openxmlformats.org/officeDocument/2006/relationships/slide" Target="slides/slide14.xml"/><Relationship Id="rId4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Pokemon. The main topic: scenes and UI.</a:t>
            </a:r>
          </a:p>
          <a:p>
            <a:r>
              <a:t>Start by playing the finished game, Pokemon4,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series from the Game Boy to today: a map to walk, and turn-based battles. Ours is the Game Boy kind.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Pokemon4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scenes and UI. Screens stack on a state stack, with GUI widgets on top. Then turn-based battles, the Service Locator, and saving.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gar-games/10-pokemon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a few encounters. Then ask how the code is split between GARCore and the game.</a:t>
            </a:r>
          </a:p>
          <a:p>
            <a:r>
              <a:t>The rule: a class that talks about monsters or battles belongs to the game; one you could reuse belongs to GARCore.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sheets: the town’s tiles and the trainer, in four directions with two steps each.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Push a state on top; pop it and you’re back where you were. Only the top state updates; every state draws, bottom to top.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the four files open. Take answers: the stack during the menu is PlayState, BattleState, BattleMenuState. For the pause state: push it on P, pop it on 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attack is a chain of tweens, each Finish starting the next. It needs no flags or frame counters.</a:t>
            </a:r>
          </a:p>
          <a:p>
            <a:r>
              <a:t>Two details: tweens update before states, and a tween started in a callback begins next frame (changing a list while looping over it is a classic bug).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widgets, combined into every screen. Point at each label on the battle screen: the bars, the panels, the menu (a panel plus a selection), the textbox.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interfaceingame.com: real game interfaces, for inspiration. For larger UIs, a library like Gum saves a lot of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logic jumps a whole tile at once; the sprite glides after it in half a second. MapX and MapY for the rules, X and Y for drawing.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encounter is only pushes and pops: fade to white, push the battle, fade back. The field never knows a battle happened.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pairs: find where the battle starts, and what’s on the stack then. What happens when it ends?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phase is its own state with one job; BattleState stays underneath and keeps drawing. No state needs to know which comes next.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species is the type, a monster one of that type: Type Object again. Stats follow from the level: base plus half the growth value per level. No dice, so a level 5 Cindrel is always the same.</a:t>
            </a:r>
          </a:p>
          <a:p>
            <a:r>
              <a:t>The damage line: attack scaled by the move, minus defence, at least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Pokemon4. Take answers: the turn is in TakeTurnState, damage in Mon, the end in TakeTurnState’s checks.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JSON on the left becomes the record on the right. Ask the question: what does a new monster take? A JSON entry and two sprites;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Exercises: a glass cannon, types, save and load.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top before showing the boxes. Three answers: pass it in, a Singleton, or a locator.</a:t>
            </a:r>
          </a:p>
          <a:p>
            <a:r>
              <a:t>The locator hands out interfaces, and a NullAudio stands in until the real one is provided. Geometry Wars tries passing things in.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the real games have that ours doesn’t. Any of these is a good project extension.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Don’t show the next slide yet. Ask the question and let them suggest answers: save the field somewhere? Rebuild it? Keep it, and put the battle on top?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Save plain data: what you need to rebuild the game. Ask the question: you forget the HP; when do you find out? The next time someone loads.</a:t>
            </a:r>
          </a:p>
          <a:p>
            <a:r>
              <a:t>A round-trip test finds it first: save, load, compare.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is a state stack better than a state machine that replaces states?</a:t>
            </a:r>
          </a:p>
          <a:p>
            <a:r>
              <a:t>A: When you need to return to a previous state as you left it (a pause menu, a battle, a dialogue box), or draw several states on top of each other.</a:t>
            </a:r>
          </a:p>
          <a:p/>
          <a:p>
            <a:r>
              <a:t>Q: How does a Service Locator differ from a Singleton?</a:t>
            </a:r>
          </a:p>
          <a:p>
            <a:r>
              <a:t>A: Callers depend on an interface, and the implementation can be swapped at runtime (e.g. a null or logging service). It is still global access, so dependencies stay hidden.</a:t>
            </a:r>
          </a:p>
          <a:p/>
          <a:p>
            <a:r>
              <a:t>Q: When would you prefer dependency injection over a Service Locator?</a:t>
            </a:r>
          </a:p>
          <a:p>
            <a:r>
              <a:t>A: When a class has few dependencies and they are needed close to where the object is created. Constructor parameters make dependencies explicit and easy to replace in tests.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steps; the README has the same table with more detail.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One line in Game1: Locator.Provide(new NullAudio()). No other class changes: they only know IAudio.</a:t>
            </a:r>
          </a:p>
          <a:p>
            <a:r>
              <a:t>LoggingAudio implements IAudio with a Console.WriteLine per method. Ask: what would the same change cost with Flappy Bird’s Singleton? Every caller names Audio.Instance.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UiSamples. Go through the options: the textbox pages and closes itself, Damage and Heal tween the bar, the colour changes.</a:t>
            </a:r>
          </a:p>
          <a:p>
            <a:r>
              <a:t>Point out focus: while the textbox is open, the arrows do nothing to the menu. SamplesScreen.Update decides who gets the input.</a:t>
            </a:r>
          </a:p>
          <a:p>
            <a:r>
              <a:t>The samples use Pokemon4’s widgets, so a change there changes the game too.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The option: one line in the menu’s list in SamplesScreen. The colour: in SamplesScreen.Update or Draw, from the bar’s value; ProgressBar itself doesn’t need to change.</a:t>
            </a:r>
          </a:p>
          <a:p>
            <a:r>
              <a:t>Ask: should ProgressBar know about “low”? Answer: better not; the screen decides what low means for its data.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build our own because the lesson is how a UI works: drawing, layout, input and focus.</a:t>
            </a:r>
          </a:p>
          <a:p>
            <a:r>
              <a:t>For the projects, Gum is the obvious choice when the UI grows. The site links MonoGame’s Gum tutorials.</a:t>
            </a:r>
          </a:p>
          <a:p>
            <a:r>
              <a:t>Ask: what UI does your game need? Is any of it more than menus, bars and text?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4 minutes. FadeDuration and WalkTweenDuration. No state changes: the timing lives in the tweens.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_stack.Push(new DialogueState(_stack, "...")) on WasKeyJustPressed(Keys.M) (add using Microsoft.Xna.Framework.Input).</a:t>
            </a:r>
          </a:p>
          <a:p>
            <a:r>
              <a:t>Dismissing pops it, and PlayState is on top again, as it was. PlayState needs to know nothing about what comes after.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9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557" y="973490"/>
            <a:ext cx="1971021" cy="1779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5459" y="960120"/>
            <a:ext cx="2058428" cy="18688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83788" y="960129"/>
            <a:ext cx="2645654" cy="1779277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13858" y="3009833"/>
            <a:ext cx="2740158" cy="1653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30856" y="3043834"/>
            <a:ext cx="3025982" cy="15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TextBox 50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Pokémon, from the first games (Game Freak, 1996) on. Screenshots © Nintendo / Game Freak.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pokemo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7090" y="1093999"/>
            <a:ext cx="6329816" cy="356052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Scenes and UI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(Pokemon0 to Pokemon4),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lay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5366" y="1357926"/>
            <a:ext cx="1820718" cy="2427624"/>
          </a:xfrm>
          <a:prstGeom prst="rect">
            <a:avLst/>
          </a:prstGeom>
        </p:spPr>
      </p:pic>
      <p:pic>
        <p:nvPicPr>
          <p:cNvPr id="80" name="Picture 80" descr="tile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80160" y="1364730"/>
            <a:ext cx="3218688" cy="24140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Where Were We?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is mid-step in the tall grass. A battle starts.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field, the player, the grass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66160" y="2148840"/>
            <a:ext cx="128016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79" y="1856232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SetState(battle)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BattleState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5D35"/>
                </a:solidFill>
              </a:rPr>
              <a:t>thrown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EE2E6"/>
                </a:solidFill>
              </a:rPr>
              <a:t>The battle ends. How do we get back to where we were?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state on top; pop it to return to where you were.</a:t>
            </a:r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914400" y="3639312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14400" y="3200400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14400" y="2761488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BattleMenuState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4400" y="4069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bottom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97680" y="233172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Only the top state gets Update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It has the input to itself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97680" y="315468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Every state draws, bottom to top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The field and the fight stay visible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4069080" y="2514600"/>
            <a:ext cx="1371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Message of Your Own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PlayState.Update: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DialogueState with your own text when M is pressed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Dismiss it: where does the game carry 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did PlayState need to know?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attack is a chain of tweens, where each one’s Finish starts the next.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After(pause)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05740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Lunge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44728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370332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Hit sound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09320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34924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Blink × 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739127" y="16687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95159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HP bar drops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timing lives in the tween system, without flags, frame counters or if/else chains.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Slower Fades, Faster Steps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GameSettings: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fades twice as slow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walk between tiles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any state change?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small widgets, combined into every screen.</a:t>
            </a:r>
            <a:endParaRPr/>
          </a:p>
        </p:txBody>
      </p:sp>
      <p:pic>
        <p:nvPicPr>
          <p:cNvPr id="106" name="Picture 105" descr="pk-figh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80160"/>
            <a:ext cx="5120640" cy="2880359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5806440" y="132588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ProgressBar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current / max: HP and EXP</a:t>
            </a:r>
          </a:p>
        </p:txBody>
      </p:sp>
      <p:cxnSp>
        <p:nvCxnSpPr>
          <p:cNvPr id="108" name="Connector 107"/>
          <p:cNvCxnSpPr/>
          <p:nvPr/>
        </p:nvCxnSpPr>
        <p:spPr>
          <a:xfrm flipH="1">
            <a:off x="4366260" y="1655064"/>
            <a:ext cx="1421892" cy="1521332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5806440" y="214884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Panel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the box behind every widget</a:t>
            </a:r>
          </a:p>
        </p:txBody>
      </p:sp>
      <p:cxnSp>
        <p:nvCxnSpPr>
          <p:cNvPr id="110" name="Connector 109"/>
          <p:cNvCxnSpPr/>
          <p:nvPr/>
        </p:nvCxnSpPr>
        <p:spPr>
          <a:xfrm flipH="1">
            <a:off x="2285999" y="2478024"/>
            <a:ext cx="3502153" cy="1202435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5806440" y="297180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Menu = Panel + Selection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labels, actions, the cursor</a:t>
            </a:r>
          </a:p>
        </p:txBody>
      </p:sp>
      <p:cxnSp>
        <p:nvCxnSpPr>
          <p:cNvPr id="112" name="Connector 111"/>
          <p:cNvCxnSpPr/>
          <p:nvPr/>
        </p:nvCxnSpPr>
        <p:spPr>
          <a:xfrm flipH="1">
            <a:off x="4846320" y="3300984"/>
            <a:ext cx="941832" cy="459486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806440" y="379476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Textbox = Panel + text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wrapped, one page at a time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UI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to the steps: UiSamples, the widgets on one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dotnet run --project UiSamples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menu, a panel, a progress bar, a textbox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While the textbox is open, the menu waits: focus</a:t>
            </a:r>
            <a:endParaRPr/>
          </a:p>
        </p:txBody>
      </p:sp>
      <p:pic>
        <p:nvPicPr>
          <p:cNvPr id="4" name="Picture 4" descr="f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880" y="2148840"/>
            <a:ext cx="471424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UiSamples: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fifth option that fills the bar again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bar turn red below a quarter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did each change need?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UI Library?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Our own widgets: small, readable, and you see how a UI works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Gum: layouts, scrolling lists, text input, a visual editor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cost: a dependency, and a new way of working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Your project: a few menus and bars, build them; an inventory, reach for Gum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logic jumps a whole tile; the sprite glides after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MapX, MapY: which tile (the rules use this)   ·   X, Y: where it’s drawn (tweened)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random encounter is just pushes and pops.</a:t>
            </a:r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5720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→ white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1  Fade to white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97180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29184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9184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29184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← white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0040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2  At white: push the battle, fade back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80644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612648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2648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2648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BattleMessageState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03504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3  The fight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Each fade pops itself when it’s done. The field never knows a battle happened.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phase of a battle is its own state, with one job.</a:t>
            </a:r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48640" y="34290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BattleState: the scene (sprites, bars), always drawn underneath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BattleMenuState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choice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94436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276148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Fight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38328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TakeTurnState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turn’s events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77900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59612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attack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BattleMessageState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message, until Confirm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1737360" y="2651760"/>
            <a:ext cx="54864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182880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both still standing: back to the menu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With push and pop, no state needs to know which one comes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 is the type; a Mon is one monster of that type.</a:t>
            </a:r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152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PokemonSpecies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name, base stats, growth values, sprites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12064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Mon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level, stats, HP, EXP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3886200" y="2011680"/>
            <a:ext cx="118872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3703320" y="1719072"/>
            <a:ext cx="15544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is 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43616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Type Object pattern again, as in Plants vs. Zombies.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31520" y="3017520"/>
            <a:ext cx="74980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stats follow from the level: no dice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Attack =&gt; BaseAttack + AttackGrowth * Level / 2;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AA3AB"/>
                </a:solidFill>
                <a:latin typeface="Consolas"/>
              </a:rPr>
              <a:t>// damage, at least 1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damage = Attack * move.BasePower / 10 - defender.Defense;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one turn: from choosing Fight to the result on screen.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the battle is over, and what happens next?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makes a monster level up, and how do its stats grow?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in JSON, behaviour in C#.</a:t>
            </a:r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5760" y="1371600"/>
            <a:ext cx="3931920" cy="21031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[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"name": "Cindrel",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"baseHp": 12,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"baseAttack": 7,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"hpGrowth": 3,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"battleSpriteFront": "..."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]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343400" y="2423160"/>
            <a:ext cx="4572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846320" y="31546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read with System.Text.Json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46320" y="1737360"/>
            <a:ext cx="3931920" cy="13716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a record: just data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sealed record PokemonSpecies(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Name,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BattleSpriteFront,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int BaseHp, ...);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5760" y="3703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does adding a new monster take?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glass cannon: a new species, only in the 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Types: Fire, Water, Grass, and super-effective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and load the party, with a round-trip test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plain data: only what you need to rebuild the game.</a:t>
            </a:r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548640" y="1417320"/>
            <a:ext cx="804672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public record SaveData(List&lt;MonSaveData&gt; Party, int MapX, int MapY);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File.WriteAllText(path, JsonSerializer.Serialize(data));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SaveData loaded = JsonSerializer.Deserialize&lt;SaveData&gt;(File.ReadAllText(path));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10896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You forget to save the HP. When do you find out?</a:t>
            </a:r>
          </a:p>
          <a:p>
            <a:pPr algn="ctr"/>
            <a:r>
              <a:rPr sz="1800" b="1" i="0">
                <a:solidFill>
                  <a:srgbClr val="DEE2E6"/>
                </a:solidFill>
              </a:rPr>
              <a:t>What test would find it first?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Many classes need the audio. How do they find it?</a:t>
            </a:r>
            <a:endParaRPr/>
          </a:p>
        </p:txBody>
      </p:sp>
      <p:sp>
        <p:nvSpPr>
          <p:cNvPr id="170" name="Rounded Rectangle 169"/>
          <p:cNvSpPr/>
          <p:nvPr/>
        </p:nvSpPr>
        <p:spPr>
          <a:xfrm>
            <a:off x="45720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Pass it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explicit, but passed through every layer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9184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easy, but tied to one concrete class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648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registry, handing out interfaces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57200" y="2560320"/>
            <a:ext cx="81838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Locator.Provide(new SoundManager());   // once, at startup</a:t>
            </a:r>
          </a:p>
          <a:p>
            <a:pPr algn="l"/>
            <a:r>
              <a:rPr sz="1300">
                <a:solidFill>
                  <a:srgbClr val="DEE2E6"/>
                </a:solidFill>
                <a:latin typeface="Consolas"/>
              </a:rPr>
              <a:t>Locator.Audio.PlayHit();               // anywhere</a:t>
            </a:r>
          </a:p>
          <a:p>
            <a:pPr algn="l"/>
            <a:r>
              <a:rPr sz="1300">
                <a:solidFill>
                  <a:srgbClr val="9AA3AB"/>
                </a:solidFill>
                <a:latin typeface="Consolas"/>
              </a:rPr>
              <a:t>// until then, Locator.Audio is a NullAudio that does nothing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57200" y="3931920"/>
            <a:ext cx="8183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Geometry Wars tries the first option, dependency injection.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Silence Without Changes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Provide a NullAudio instead of the SoundManager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other classes did you change?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Then: a LoggingAudio that prints each sound’s name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46304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is a state stack better than a state machine that replaces states?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Service Locator differ from a Singleton?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would you pass a service in instead?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