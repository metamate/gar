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63" r:id="rId13"/>
    <p:sldId id="264" r:id="rId14"/>
    <p:sldId id="265" r:id="rId15"/>
    <p:sldId id="267" r:id="rId17"/>
    <p:sldId id="268" r:id="rId18"/>
    <p:sldId id="295" r:id="rId54"/>
    <p:sldId id="269" r:id="rId19"/>
    <p:sldId id="270" r:id="rId20"/>
    <p:sldId id="299" r:id="rId57"/>
    <p:sldId id="273" r:id="rId23"/>
    <p:sldId id="274" r:id="rId24"/>
    <p:sldId id="275" r:id="rId25"/>
    <p:sldId id="276" r:id="rId26"/>
    <p:sldId id="277" r:id="rId27"/>
    <p:sldId id="278" r:id="rId28"/>
    <p:sldId id="298" r:id="rId56"/>
    <p:sldId id="296" r:id="rId55"/>
    <p:sldId id="279" r:id="rId29"/>
    <p:sldId id="280" r:id="rId30"/>
    <p:sldId id="281" r:id="rId31"/>
    <p:sldId id="282" r:id="rId32"/>
    <p:sldId id="283" r:id="rId33"/>
    <p:sldId id="291" r:id="rId50"/>
    <p:sldId id="297" r:id="rId52"/>
    <p:sldId id="284" r:id="rId34"/>
    <p:sldId id="285" r:id="rId35"/>
    <p:sldId id="289" r:id="rId48"/>
    <p:sldId id="290" r:id="rId49"/>
    <p:sldId id="286" r:id="rId36"/>
    <p:sldId id="292" r:id="rId51"/>
    <p:sldId id="294" r:id="rId53"/>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5.xml"/><Relationship Id="rId20" Type="http://schemas.openxmlformats.org/officeDocument/2006/relationships/slide" Target="slides/slide16.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7.xml"/><Relationship Id="rId37" Type="http://schemas.openxmlformats.org/officeDocument/2006/relationships/slide" Target="slides/slide40.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1.xml"/><Relationship Id="rId51" Type="http://schemas.openxmlformats.org/officeDocument/2006/relationships/slide" Target="slides/slide38.xml"/><Relationship Id="rId52" Type="http://schemas.openxmlformats.org/officeDocument/2006/relationships/slide" Target="slides/slide32.xml"/><Relationship Id="rId53" Type="http://schemas.openxmlformats.org/officeDocument/2006/relationships/slide" Target="slides/slide39.xml"/><Relationship Id="rId54" Type="http://schemas.openxmlformats.org/officeDocument/2006/relationships/slide" Target="slides/slide14.xml"/><Relationship Id="rId55" Type="http://schemas.openxmlformats.org/officeDocument/2006/relationships/slide" Target="slides/slide25.xml"/><Relationship Id="rId56" Type="http://schemas.openxmlformats.org/officeDocument/2006/relationships/slide" Target="slides/slide24.xml"/><Relationship Id="rId57"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The Legend of Zelda. The main topic: events.</a:t>
            </a:r>
          </a:p>
          <a:p>
            <a:r>
              <a:t>Start by playing the finished game, Zelda7,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1986 original: top-down, room by room. Ask who has played a Zelda.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Zelda7 and play it for a minute.</a:t>
            </a:r>
          </a:p>
          <a:p>
            <a:r>
              <a:t>Ask: what would you need to build this? Collect answers on the board, and come back to them at the end.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events. We look at the Observer pattern and how C# does it with delegates, events and lambdas. Also hitboxes, a tweening system, and composition vs. inheritance, which Plants vs. Zombies picks 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gar-games/07-the-legend-of-zelda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finished game’s main classes. Don’t read it all: find Entity, Player, Enemy, Room and Dungeon.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Fifteen minutes in pairs with Zelda7 and the README’s code map. Take answers to two or three of the questions afterwards.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sheets: tiles, the player walking and swinging, and the monsters. Not all on the same grid size.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LabelTiles writes each tile’s number onto a copy of the sheet. The XML refers to tiles by number; nobody can read those off an image. Small tools like this are common in game projects.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sprite is drawn higher than its collision box, so characters stand on the floor. Point at the player’s feet.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room is generated when entered: walls, a random floor, enemies, a switch and doors.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hitbox deals damage (the sword), a hurtbox receives it (the body). Separate, so reach and body don’t have to match the sprite.</a:t>
            </a:r>
          </a:p>
          <a:p>
            <a:r>
              <a:t>Show F1 debug drawing in the game.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Something happens, and other things need to react. The thing that happened shouldn’t need to know them.</a:t>
            </a:r>
          </a:p>
          <a:p>
            <a:r>
              <a:t>Ask: list moments in a game like this. Health changes, an enemy dies, a room clears, the sword swings.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subject announces; observers subscribe. The dependency is flipped: the subject doesn’t know who listens.</a:t>
            </a:r>
          </a:p>
          <a:p>
            <a:r>
              <a:t>Publisher and subscriber are other names for subject and observer.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 C# we don’t write the pattern ourselves: delegates and events are part of the language.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Observer structure, with C# events instead of an interface.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delegate holds a reference to a method. Action and Func are the built-in ones. += adds a handler, Invoke calls them all.</a:t>
            </a:r>
          </a:p>
          <a:p>
            <a:r>
              <a:t>Point at the switch in Room.cs: that’s where the room wires its door logic.</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event is a delegate with guardrails: outside code can only += and -=. The owner fires; everyone else listens.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lambda: a function without a name, written where it’s used. The same IsEven, twice.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switch handler captures switchObj and Doorways from the room: a closure.</a:t>
            </a:r>
          </a:p>
          <a:p>
            <a:r>
              <a:t>Ask: what would this look like as a named method? It would need both as fields or parameters.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pick one of the three and refactor it. The class firing the event must not know who reacts.</a:t>
            </a:r>
          </a:p>
          <a:p>
            <a:r>
              <a:t>The OnPlayerDied chain is the one to trace first: room, dungeon, play state.</a:t>
            </a:r>
          </a:p>
          <a:p>
            <a:r>
              <a:t>The sound queue: a HashSet of names that PlaySound adds to (duplicates merge for free), played and cleared once per frame after the update. A sound can be up to a frame late; nobody hears it.</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original’s scroll between rooms. How would you build this?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tween moves a value from A to B over time. The dots are nine frames of the same move: evenly spaced for linear, bunched up at the end for ease-out.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lerp: a plus a fraction of the way to b. t = 0, a; t = 1, b. Works on positions, colours, angles.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next room is placed one screen away and never moves. The camera tweens towards it while the player walks through the door.</a:t>
            </a:r>
          </a:p>
          <a:p>
            <a:r>
              <a:t>When the tween finishes, the next room becomes the current one.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Without it, the player is drawn over the door arch. Three passes: rooms; arch masks into the stencil buffer only; the player where nothing is marked.</a:t>
            </a:r>
          </a:p>
          <a:p>
            <a:r>
              <a:t>Pass 1: draw the rooms</a:t>
            </a:r>
          </a:p>
          <a:p>
            <a:r>
              <a:t>Pass 2: mark the arches</a:t>
            </a:r>
          </a:p>
          <a:p>
            <a:r>
              <a:t>in the stencil buffer, with no colour</a:t>
            </a:r>
          </a:p>
          <a:p>
            <a:r>
              <a:t>Pass 3: draw the player again</a:t>
            </a:r>
          </a:p>
          <a:p>
            <a:r>
              <a:t>only where nothing is marked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new enemy is one XML block and a row in the sheet. Ask the question: someone writes type="rta". When do you find out? Only at runtime. That’s the cost.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keys dropped by enemies, and locked doors they open.</a:t>
            </a:r>
          </a:p>
          <a:p>
            <a:r>
              <a:t>It joins the two ideas of the day: the key drop is an event, the locked look is data.</a:t>
            </a:r>
          </a:p>
          <a:p>
            <a:r>
              <a:t>Full instructions are on the course site; students work from there. Walk round while they work.</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tree with them: Enemy, then flying, shooting and exploding enemies. Then ask: an enemy that flies and shoots?</a:t>
            </a:r>
          </a:p>
          <a:p>
            <a:r>
              <a:t>Copy the code, or move it up into Enemy until every enemy carries everything. Neither is good.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Zelda already composes in three ways; go through the boxes.</a:t>
            </a:r>
          </a:p>
          <a:p>
            <a:r>
              <a:t>The question to keep asking: is this what something is, or what it can do? Plants vs. Zombies takes it all the way.</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When does inheritance fit, and when is composition better?</a:t>
            </a:r>
          </a:p>
          <a:p>
            <a:r>
              <a:t>A: Inheritance fits when there is one clear "is a" axis and the shared behaviour is needed by every subclass. Composition fits when behaviours combine freely. Instead of one subclass per combination, an object has the parts it needs, and they can even change at runtime.</a:t>
            </a:r>
          </a:p>
          <a:p/>
          <a:p>
            <a:r>
              <a:t>Q: Why does Observer suit UI code particularly well?</a:t>
            </a:r>
          </a:p>
          <a:p>
            <a:r>
              <a:t>A: The UI depends on the game data, but the game shouldn't depend on the UI. With events, a health bar subscribes to an event on the player, and gameplay code never needs to know a health bar exists. The UI also only updates when something actually changes.</a:t>
            </a:r>
          </a:p>
          <a:p/>
          <a:p>
            <a:r>
              <a:t>Q: What is the difference between a delegate and an event in C#?</a:t>
            </a:r>
          </a:p>
          <a:p>
            <a:r>
              <a:t>A: An event is a delegate that outside code can only subscribe to and unsubscribe from. Only the declaring class can invoke it or overwrite its subscriber list.</a:t>
            </a:r>
          </a:p>
          <a:p/>
          <a:p>
            <a:r>
              <a:t>Q: What is the cost of data-driven design?</a:t>
            </a:r>
          </a:p>
          <a:p>
            <a:r>
              <a:t>A: Errors move from compile time to runtime, you need loading and validation code, and behaviour is split between code and data files.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eight steps, one idea each. The README has the same table with more detail.</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Games tween constantly, so GARCore gets a TweenManager: Tween, After, Every, chained with Add and Finish. No progress variables anywhere.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sketch the hierarchy, then the composition, then implement one part (a shooting behaviour any enemy can have).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RoomShiftDuration in GameSettings. The ease-out goes in the two Add setters in Dungeon.BeginShift. It starts fast and settles: most game UI eases out.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SwordReach in GameSettings. The hitbox is built from it when a swing starts; the sprite doesn’t change, so hits now land where the sword isn’t drawn.</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line in PlayState: _dungeon.OnPlayerDied += () =&gt; SoundManager.PlaySound("hit-player");</a:t>
            </a:r>
          </a:p>
          <a:p>
            <a:r>
              <a:t>Room and Dungeon don’t change, and don’t know about the sound: that’s what the event is for.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event is handled inside the call that raises it. A queue stores it and handles it later, at a safe point.</a:t>
            </a:r>
          </a:p>
          <a:p>
            <a:r>
              <a:t>Ask: where have we queued before? Answer: Snake's turns, one per tick.</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room announces, the dungeon passes it on, the play state reacts. The subscriptions point the other way.</a:t>
            </a:r>
          </a:p>
          <a:p>
            <a:r>
              <a:t>Ask: what does Room know about PlayState? Answer: nothing.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4"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6.png"/><Relationship Id="rId6" Type="http://schemas.openxmlformats.org/officeDocument/2006/relationships/image" Target="../media/image10.png"/><Relationship Id="rId7"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4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4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5"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87" y="960120"/>
            <a:ext cx="5410826" cy="3554650"/>
          </a:xfrm>
          <a:prstGeom prst="rect">
            <a:avLst/>
          </a:prstGeom>
          <a:noFill/>
          <a:ln>
            <a:noFill/>
          </a:ln>
        </p:spPr>
      </p:pic>
      <p:sp>
        <p:nvSpPr>
          <p:cNvPr id="47" name="TextBox 46"/>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The Legend of Zelda (Nintendo, 1986).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Picture 52" descr="the-legend-of-zelda.gif"/>
          <p:cNvPicPr>
            <a:picLocks noChangeAspect="1"/>
          </p:cNvPicPr>
          <p:nvPr/>
        </p:nvPicPr>
        <p:blipFill>
          <a:blip r:embed="rId4"/>
          <a:stretch>
            <a:fillRect/>
          </a:stretch>
        </p:blipFill>
        <p:spPr>
          <a:xfrm>
            <a:off x="1412779" y="1203675"/>
            <a:ext cx="6318440" cy="35541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Events</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Data-Driven Design (again)</a:t>
            </a:r>
            <a:endParaRPr/>
          </a:p>
          <a:p>
            <a:pPr indent="-330200" lvl="0" marL="457200" rtl="0" algn="l">
              <a:spcBef>
                <a:spcPts val="0"/>
              </a:spcBef>
              <a:spcAft>
                <a:spcPts val="0"/>
              </a:spcAft>
              <a:buSzPts val="1600"/>
              <a:buChar char="●"/>
            </a:pPr>
            <a:r>
              <a:rPr lang="en"/>
              <a:t>Composition vs. Inheritance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07-the-legend-of-zelda</a:t>
            </a:r>
            <a:endParaRPr/>
          </a:p>
          <a:p>
            <a:pPr indent="-330200" lvl="0" marL="457200" rtl="0" algn="l">
              <a:spcBef>
                <a:spcPts val="0"/>
              </a:spcBef>
              <a:spcAft>
                <a:spcPts val="0"/>
              </a:spcAft>
              <a:buSzPts val="1600"/>
              <a:buChar char="●"/>
            </a:pPr>
            <a:r>
              <a:rPr lang="en"/>
              <a:t>Its README: the steps (Zelda0 to Zelda7),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Picture 85" descr="tilesheet.png"/>
          <p:cNvPicPr>
            <a:picLocks noChangeAspect="1"/>
          </p:cNvPicPr>
          <p:nvPr/>
        </p:nvPicPr>
        <p:blipFill>
          <a:blip r:embed="rId4"/>
          <a:stretch>
            <a:fillRect/>
          </a:stretch>
        </p:blipFill>
        <p:spPr>
          <a:xfrm>
            <a:off x="408714" y="1425731"/>
            <a:ext cx="4573373" cy="3129149"/>
          </a:xfrm>
          <a:prstGeom prst="rect">
            <a:avLst/>
          </a:prstGeom>
        </p:spPr>
      </p:pic>
      <p:pic>
        <p:nvPicPr>
          <p:cNvPr id="83" name="Picture 85" descr="character_swing_sword.png"/>
          <p:cNvPicPr>
            <a:picLocks noChangeAspect="1"/>
          </p:cNvPicPr>
          <p:nvPr/>
        </p:nvPicPr>
        <p:blipFill>
          <a:blip r:embed="rId6"/>
          <a:stretch>
            <a:fillRect/>
          </a:stretch>
        </p:blipFill>
        <p:spPr>
          <a:xfrm>
            <a:off x="6649450" y="899667"/>
            <a:ext cx="1697749" cy="1697749"/>
          </a:xfrm>
          <a:prstGeom prst="rect">
            <a:avLst/>
          </a:prstGeom>
        </p:spPr>
      </p:pic>
      <p:pic>
        <p:nvPicPr>
          <p:cNvPr id="84" name="Picture 85" descr="character_walk.png"/>
          <p:cNvPicPr>
            <a:picLocks noChangeAspect="1"/>
          </p:cNvPicPr>
          <p:nvPr/>
        </p:nvPicPr>
        <p:blipFill>
          <a:blip r:embed="rId7"/>
          <a:stretch>
            <a:fillRect/>
          </a:stretch>
        </p:blipFill>
        <p:spPr>
          <a:xfrm>
            <a:off x="5454471" y="1086222"/>
            <a:ext cx="848874" cy="1273311"/>
          </a:xfrm>
          <a:prstGeom prst="rect">
            <a:avLst/>
          </a:prstGeom>
        </p:spPr>
      </p:pic>
      <p:pic>
        <p:nvPicPr>
          <p:cNvPr id="85" name="Picture 85" descr="entities.png"/>
          <p:cNvPicPr>
            <a:picLocks noChangeAspect="1"/>
          </p:cNvPicPr>
          <p:nvPr/>
        </p:nvPicPr>
        <p:blipFill>
          <a:blip r:embed="rId3"/>
          <a:stretch>
            <a:fillRect/>
          </a:stretch>
        </p:blipFill>
        <p:spPr>
          <a:xfrm>
            <a:off x="5230038" y="2728758"/>
            <a:ext cx="3282825" cy="21885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Picture 91" descr="tilesheet_labeled.png"/>
          <p:cNvPicPr>
            <a:picLocks noChangeAspect="1"/>
          </p:cNvPicPr>
          <p:nvPr/>
        </p:nvPicPr>
        <p:blipFill>
          <a:blip r:embed="rId3"/>
          <a:stretch>
            <a:fillRect/>
          </a:stretch>
        </p:blipFill>
        <p:spPr>
          <a:xfrm>
            <a:off x="1597489" y="920715"/>
            <a:ext cx="5949022" cy="40703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Picture 97" descr="f026.png"/>
          <p:cNvPicPr>
            <a:picLocks noChangeAspect="1"/>
          </p:cNvPicPr>
          <p:nvPr/>
        </p:nvPicPr>
        <p:blipFill>
          <a:blip r:embed="rId3"/>
          <a:stretch>
            <a:fillRect/>
          </a:stretch>
        </p:blipFill>
        <p:spPr>
          <a:xfrm>
            <a:off x="1138226" y="1062675"/>
            <a:ext cx="6867550" cy="38629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Picture 109" descr="room.png"/>
          <p:cNvPicPr>
            <a:picLocks noChangeAspect="1"/>
          </p:cNvPicPr>
          <p:nvPr/>
        </p:nvPicPr>
        <p:blipFill>
          <a:blip r:embed="rId4"/>
          <a:stretch>
            <a:fillRect/>
          </a:stretch>
        </p:blipFill>
        <p:spPr>
          <a:xfrm>
            <a:off x="320039" y="1051560"/>
            <a:ext cx="8503920" cy="389763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Picture 115" descr="hitboxes.png"/>
          <p:cNvPicPr>
            <a:picLocks noChangeAspect="1"/>
          </p:cNvPicPr>
          <p:nvPr/>
        </p:nvPicPr>
        <p:blipFill>
          <a:blip r:embed="rId4"/>
          <a:stretch>
            <a:fillRect/>
          </a:stretch>
        </p:blipFill>
        <p:spPr>
          <a:xfrm>
            <a:off x="320039" y="1051560"/>
            <a:ext cx="8503920" cy="389763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Sword Reach</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Zelda7’s GameSettings:</a:t>
            </a:r>
            <a:endParaRPr/>
          </a:p>
          <a:p>
            <a:pPr indent="-330200" lvl="0" marL="457200" rtl="0" algn="l">
              <a:spcBef>
                <a:spcPts val="0"/>
              </a:spcBef>
              <a:spcAft>
                <a:spcPts val="0"/>
              </a:spcAft>
              <a:buSzPts val="1600"/>
              <a:buChar char="●"/>
            </a:pPr>
            <a:r>
              <a:rPr lang="en"/>
              <a:t>Make the sword reach twice as far</a:t>
            </a:r>
            <a:endParaRPr/>
          </a:p>
          <a:p>
            <a:pPr indent="-330200" lvl="0" marL="457200" rtl="0" algn="l">
              <a:spcBef>
                <a:spcPts val="0"/>
              </a:spcBef>
              <a:spcAft>
                <a:spcPts val="0"/>
              </a:spcAft>
              <a:buSzPts val="1600"/>
              <a:buChar char="●"/>
            </a:pPr>
            <a:r>
              <a:rPr lang="en"/>
              <a:t>Play: does it still feel fair?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Picture 133" descr="observer.png"/>
          <p:cNvPicPr>
            <a:picLocks noChangeAspect="1"/>
          </p:cNvPicPr>
          <p:nvPr/>
        </p:nvPicPr>
        <p:blipFill>
          <a:blip r:embed="rId3"/>
          <a:stretch>
            <a:fillRect/>
          </a:stretch>
        </p:blipFill>
        <p:spPr>
          <a:xfrm>
            <a:off x="320039" y="1051560"/>
            <a:ext cx="8503920" cy="389763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Event Travels Up</a:t>
            </a:r>
            <a:endParaRPr/>
          </a:p>
        </p:txBody>
      </p:sp>
      <p:pic>
        <p:nvPicPr>
          <p:cNvPr id="3" name="Picture 2" descr="event-flow.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 delegate, as a property</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room adds a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to call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It is still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The value of the expression is returned</a:t>
            </a:r>
            <a:endParaRPr/>
          </a:p>
          <a:p>
            <a:pPr indent="-330200" lvl="0" marL="457200" rtl="0" algn="l">
              <a:spcBef>
                <a:spcPts val="0"/>
              </a:spcBef>
              <a:spcAft>
                <a:spcPts val="0"/>
              </a:spcAft>
              <a:buSzPts val="1600"/>
              <a:buChar char="●"/>
            </a:pPr>
            <a:r>
              <a:rPr lang="en"/>
              <a:t>Used to pass behaviour as an argument, and to subscribe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Event Queue</a:t>
            </a:r>
            <a:endParaRPr/>
          </a:p>
        </p:txBody>
      </p:sp>
      <p:pic>
        <p:nvPicPr>
          <p:cNvPr id="3" name="Picture 2" descr="event-queue.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Second Listener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 in PlayState:</a:t>
            </a:r>
            <a:endParaRPr/>
          </a:p>
          <a:p>
            <a:pPr indent="-330200" lvl="0" marL="457200" rtl="0" algn="l">
              <a:spcBef>
                <a:spcPts val="0"/>
              </a:spcBef>
              <a:spcAft>
                <a:spcPts val="0"/>
              </a:spcAft>
              <a:buSzPts val="1600"/>
              <a:buChar char="●"/>
            </a:pPr>
            <a:r>
              <a:rPr lang="en"/>
              <a:t>Add a second subscriber to _dungeon.OnPlayerDied that plays a sound</a:t>
            </a:r>
            <a:endParaRPr/>
          </a:p>
          <a:p>
            <a:pPr indent="-330200" lvl="0" marL="457200" rtl="0" algn="l">
              <a:spcBef>
                <a:spcPts val="0"/>
              </a:spcBef>
              <a:spcAft>
                <a:spcPts val="0"/>
              </a:spcAft>
              <a:buSzPts val="1600"/>
              <a:buChar char="●"/>
            </a:pPr>
            <a:r>
              <a:rPr lang="en"/>
              <a:t>Which classes did you change? Which didn’t need to know?</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Pick one and make it event-driven. The class firing the event must not know who reacts.</a:t>
            </a:r>
            <a:endParaRPr/>
          </a:p>
          <a:p>
            <a:pPr indent="-330200" lvl="0" marL="457200" rtl="0" algn="l">
              <a:spcBef>
                <a:spcPts val="0"/>
              </a:spcBef>
              <a:spcAft>
                <a:spcPts val="0"/>
              </a:spcAft>
              <a:buSzPts val="1600"/>
              <a:buChar char="●"/>
            </a:pPr>
            <a:r>
              <a:rPr lang="en"/>
              <a:t>OnPlayerDied: trace the chain from the room to the game-over screen</a:t>
            </a:r>
            <a:endParaRPr/>
          </a:p>
          <a:p>
            <a:pPr indent="-330200" lvl="0" marL="457200" rtl="0" algn="l">
              <a:spcBef>
                <a:spcPts val="0"/>
              </a:spcBef>
              <a:spcAft>
                <a:spcPts val="0"/>
              </a:spcAft>
              <a:buSzPts val="1600"/>
              <a:buChar char="●"/>
            </a:pPr>
            <a:r>
              <a:rPr lang="en"/>
              <a:t>Enemy death: what could react to an event for it?</a:t>
            </a:r>
            <a:endParaRPr/>
          </a:p>
          <a:p>
            <a:pPr indent="-330200" lvl="0" marL="457200" rtl="0" algn="l">
              <a:spcBef>
                <a:spcPts val="0"/>
              </a:spcBef>
              <a:spcAft>
                <a:spcPts val="0"/>
              </a:spcAft>
              <a:buSzPts val="1600"/>
              <a:buChar char="●"/>
            </a:pPr>
            <a:r>
              <a:rPr lang="en"/>
              <a:t>SoundManager.PlaySound is called from many classes. How would events help? Then queue the sounds, and play each once per frame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Picture 203" descr="room-shift.png"/>
          <p:cNvPicPr>
            <a:picLocks noChangeAspect="1"/>
          </p:cNvPicPr>
          <p:nvPr/>
        </p:nvPicPr>
        <p:blipFill>
          <a:blip r:embed="rId4"/>
          <a:stretch>
            <a:fillRect/>
          </a:stretch>
        </p:blipFill>
        <p:spPr>
          <a:xfrm>
            <a:off x="360381" y="1051560"/>
            <a:ext cx="8423237" cy="397764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Tweening moves a value from A to B over time.</a:t>
            </a:r>
            <a:endParaRPr/>
          </a:p>
        </p:txBody>
      </p:sp>
      <p:sp>
        <p:nvSpPr>
          <p:cNvPr id="211" name="TextBox 210"/>
          <p:cNvSpPr txBox="1"/>
          <p:nvPr/>
        </p:nvSpPr>
        <p:spPr>
          <a:xfrm>
            <a:off x="640080" y="1417320"/>
            <a:ext cx="1463040" cy="274320"/>
          </a:xfrm>
          <a:prstGeom prst="rect">
            <a:avLst/>
          </a:prstGeom>
          <a:noFill/>
        </p:spPr>
        <p:txBody>
          <a:bodyPr wrap="square">
            <a:spAutoFit/>
          </a:bodyPr>
          <a:lstStyle/>
          <a:p>
            <a:pPr algn="l"/>
            <a:r>
              <a:rPr sz="1300" b="0" i="0">
                <a:solidFill>
                  <a:srgbClr val="9AA3AB"/>
                </a:solidFill>
              </a:rPr>
              <a:t>linear</a:t>
            </a:r>
          </a:p>
        </p:txBody>
      </p:sp>
      <p:sp>
        <p:nvSpPr>
          <p:cNvPr id="212" name="TextBox 211"/>
          <p:cNvSpPr txBox="1"/>
          <p:nvPr/>
        </p:nvSpPr>
        <p:spPr>
          <a:xfrm>
            <a:off x="640080" y="2240280"/>
            <a:ext cx="1463040" cy="274320"/>
          </a:xfrm>
          <a:prstGeom prst="rect">
            <a:avLst/>
          </a:prstGeom>
          <a:noFill/>
        </p:spPr>
        <p:txBody>
          <a:bodyPr wrap="square">
            <a:spAutoFit/>
          </a:bodyPr>
          <a:lstStyle/>
          <a:p>
            <a:pPr algn="l"/>
            <a:r>
              <a:rPr sz="1300" b="0" i="0">
                <a:solidFill>
                  <a:srgbClr val="9AA3AB"/>
                </a:solidFill>
              </a:rPr>
              <a:t>ease-out</a:t>
            </a:r>
          </a:p>
        </p:txBody>
      </p:sp>
      <p:sp>
        <p:nvSpPr>
          <p:cNvPr id="213" name="Oval 212"/>
          <p:cNvSpPr/>
          <p:nvPr/>
        </p:nvSpPr>
        <p:spPr>
          <a:xfrm>
            <a:off x="190195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4" name="Oval 213"/>
          <p:cNvSpPr/>
          <p:nvPr/>
        </p:nvSpPr>
        <p:spPr>
          <a:xfrm>
            <a:off x="26791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5" name="Oval 214"/>
          <p:cNvSpPr/>
          <p:nvPr/>
        </p:nvSpPr>
        <p:spPr>
          <a:xfrm>
            <a:off x="34564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6" name="Oval 215"/>
          <p:cNvSpPr/>
          <p:nvPr/>
        </p:nvSpPr>
        <p:spPr>
          <a:xfrm>
            <a:off x="423367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7" name="Oval 216"/>
          <p:cNvSpPr/>
          <p:nvPr/>
        </p:nvSpPr>
        <p:spPr>
          <a:xfrm>
            <a:off x="501091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8" name="Oval 217"/>
          <p:cNvSpPr/>
          <p:nvPr/>
        </p:nvSpPr>
        <p:spPr>
          <a:xfrm>
            <a:off x="578815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9" name="Oval 218"/>
          <p:cNvSpPr/>
          <p:nvPr/>
        </p:nvSpPr>
        <p:spPr>
          <a:xfrm>
            <a:off x="65653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0" name="Oval 219"/>
          <p:cNvSpPr/>
          <p:nvPr/>
        </p:nvSpPr>
        <p:spPr>
          <a:xfrm>
            <a:off x="73426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1" name="Oval 220"/>
          <p:cNvSpPr/>
          <p:nvPr/>
        </p:nvSpPr>
        <p:spPr>
          <a:xfrm>
            <a:off x="811987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2" name="Oval 221"/>
          <p:cNvSpPr/>
          <p:nvPr/>
        </p:nvSpPr>
        <p:spPr>
          <a:xfrm>
            <a:off x="190195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3" name="Oval 222"/>
          <p:cNvSpPr/>
          <p:nvPr/>
        </p:nvSpPr>
        <p:spPr>
          <a:xfrm>
            <a:off x="335927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4" name="Oval 223"/>
          <p:cNvSpPr/>
          <p:nvPr/>
        </p:nvSpPr>
        <p:spPr>
          <a:xfrm>
            <a:off x="46222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5" name="Oval 224"/>
          <p:cNvSpPr/>
          <p:nvPr/>
        </p:nvSpPr>
        <p:spPr>
          <a:xfrm>
            <a:off x="569099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6" name="Oval 225"/>
          <p:cNvSpPr/>
          <p:nvPr/>
        </p:nvSpPr>
        <p:spPr>
          <a:xfrm>
            <a:off x="65653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7" name="Oval 226"/>
          <p:cNvSpPr/>
          <p:nvPr/>
        </p:nvSpPr>
        <p:spPr>
          <a:xfrm>
            <a:off x="7245476"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8" name="Oval 227"/>
          <p:cNvSpPr/>
          <p:nvPr/>
        </p:nvSpPr>
        <p:spPr>
          <a:xfrm>
            <a:off x="773125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9" name="Oval 228"/>
          <p:cNvSpPr/>
          <p:nvPr/>
        </p:nvSpPr>
        <p:spPr>
          <a:xfrm>
            <a:off x="802271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0" name="Oval 229"/>
          <p:cNvSpPr/>
          <p:nvPr/>
        </p:nvSpPr>
        <p:spPr>
          <a:xfrm>
            <a:off x="811987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1" name="TextBox 230"/>
          <p:cNvSpPr txBox="1"/>
          <p:nvPr/>
        </p:nvSpPr>
        <p:spPr>
          <a:xfrm>
            <a:off x="640080" y="3017520"/>
            <a:ext cx="7863840" cy="731520"/>
          </a:xfrm>
          <a:prstGeom prst="rect">
            <a:avLst/>
          </a:prstGeom>
          <a:noFill/>
        </p:spPr>
        <p:txBody>
          <a:bodyPr wrap="square">
            <a:spAutoFit/>
          </a:bodyPr>
          <a:lstStyle/>
          <a:p>
            <a:pPr algn="ctr"/>
            <a:r>
              <a:rPr sz="1400" b="0" i="0">
                <a:solidFill>
                  <a:srgbClr val="9AA3AB"/>
                </a:solidFill>
              </a:rPr>
              <a:t>The same nine frames. Where the dots bunch up, the value moves slowly.</a:t>
            </a:r>
          </a:p>
          <a:p>
            <a:pPr algn="ctr"/>
            <a:r>
              <a:rPr sz="1400" b="0" i="0">
                <a:solidFill>
                  <a:srgbClr val="9AA3AB"/>
                </a:solidFill>
              </a:rPr>
              <a:t>More curves: easings.net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Linear interpolation: the simplest curve.</a:t>
            </a:r>
            <a:endParaRPr/>
          </a:p>
        </p:txBody>
      </p:sp>
      <p:sp>
        <p:nvSpPr>
          <p:cNvPr id="217" name="Rectangle 216"/>
          <p:cNvSpPr/>
          <p:nvPr/>
        </p:nvSpPr>
        <p:spPr>
          <a:xfrm>
            <a:off x="1371600" y="1417320"/>
            <a:ext cx="6400800" cy="6400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500">
                <a:solidFill>
                  <a:srgbClr val="DEE2E6"/>
                </a:solidFill>
                <a:latin typeface="Consolas"/>
              </a:rPr>
              <a:t>lerp(a, b, t) = a + (b - a) * t        // t from 0 to 1</a:t>
            </a:r>
          </a:p>
        </p:txBody>
      </p:sp>
      <p:sp>
        <p:nvSpPr>
          <p:cNvPr id="218" name="Rounded Rectangle 217"/>
          <p:cNvSpPr/>
          <p:nvPr/>
        </p:nvSpPr>
        <p:spPr>
          <a:xfrm>
            <a:off x="137160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a:t>
            </a:r>
          </a:p>
          <a:p>
            <a:pPr algn="ctr"/>
            <a:r>
              <a:rPr sz="1400" b="0">
                <a:solidFill>
                  <a:srgbClr val="9AA3AB"/>
                </a:solidFill>
              </a:rPr>
              <a:t>a</a:t>
            </a:r>
          </a:p>
        </p:txBody>
      </p:sp>
      <p:sp>
        <p:nvSpPr>
          <p:cNvPr id="219" name="Rounded Rectangle 218"/>
          <p:cNvSpPr/>
          <p:nvPr/>
        </p:nvSpPr>
        <p:spPr>
          <a:xfrm>
            <a:off x="361188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0.5</a:t>
            </a:r>
          </a:p>
          <a:p>
            <a:pPr algn="ctr"/>
            <a:r>
              <a:rPr sz="1400" b="0">
                <a:solidFill>
                  <a:srgbClr val="9AA3AB"/>
                </a:solidFill>
              </a:rPr>
              <a:t>halfway</a:t>
            </a:r>
          </a:p>
        </p:txBody>
      </p:sp>
      <p:sp>
        <p:nvSpPr>
          <p:cNvPr id="220" name="Rounded Rectangle 219"/>
          <p:cNvSpPr/>
          <p:nvPr/>
        </p:nvSpPr>
        <p:spPr>
          <a:xfrm>
            <a:off x="585216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1</a:t>
            </a:r>
          </a:p>
          <a:p>
            <a:pPr algn="ctr"/>
            <a:r>
              <a:rPr sz="1400" b="0">
                <a:solidFill>
                  <a:srgbClr val="9AA3AB"/>
                </a:solidFill>
              </a:rPr>
              <a:t>b</a:t>
            </a:r>
          </a:p>
        </p:txBody>
      </p:sp>
      <p:sp>
        <p:nvSpPr>
          <p:cNvPr id="221" name="TextBox 220"/>
          <p:cNvSpPr txBox="1"/>
          <p:nvPr/>
        </p:nvSpPr>
        <p:spPr>
          <a:xfrm>
            <a:off x="1371600" y="3291840"/>
            <a:ext cx="6400800" cy="365760"/>
          </a:xfrm>
          <a:prstGeom prst="rect">
            <a:avLst/>
          </a:prstGeom>
          <a:noFill/>
        </p:spPr>
        <p:txBody>
          <a:bodyPr wrap="square">
            <a:spAutoFit/>
          </a:bodyPr>
          <a:lstStyle/>
          <a:p>
            <a:pPr algn="ctr"/>
            <a:r>
              <a:rPr sz="1400" b="0" i="0">
                <a:solidFill>
                  <a:srgbClr val="9AA3AB"/>
                </a:solidFill>
              </a:rPr>
              <a:t>Works on anything numeric: positions, colours, angles.</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next room waits one screen away. The camera moves, and the player walks with it.</a:t>
            </a:r>
            <a:endParaRPr/>
          </a:p>
        </p:txBody>
      </p:sp>
      <p:sp>
        <p:nvSpPr>
          <p:cNvPr id="223" name="Rectangle 222"/>
          <p:cNvSpPr/>
          <p:nvPr/>
        </p:nvSpPr>
        <p:spPr>
          <a:xfrm>
            <a:off x="54864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This room</a:t>
            </a:r>
          </a:p>
        </p:txBody>
      </p:sp>
      <p:sp>
        <p:nvSpPr>
          <p:cNvPr id="224" name="Rectangle 223"/>
          <p:cNvSpPr/>
          <p:nvPr/>
        </p:nvSpPr>
        <p:spPr>
          <a:xfrm>
            <a:off x="493776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The next room</a:t>
            </a:r>
          </a:p>
          <a:p>
            <a:pPr algn="ctr"/>
            <a:r>
              <a:rPr sz="1400" b="0">
                <a:solidFill>
                  <a:srgbClr val="9AA3AB"/>
                </a:solidFill>
              </a:rPr>
              <a:t>placed one screen away,</a:t>
            </a:r>
          </a:p>
          <a:p>
            <a:pPr algn="ctr"/>
            <a:r>
              <a:rPr sz="1400" b="0">
                <a:solidFill>
                  <a:srgbClr val="9AA3AB"/>
                </a:solidFill>
              </a:rPr>
              <a:t>never moves</a:t>
            </a:r>
          </a:p>
        </p:txBody>
      </p:sp>
      <p:sp>
        <p:nvSpPr>
          <p:cNvPr id="225" name="Rectangle 224"/>
          <p:cNvSpPr/>
          <p:nvPr/>
        </p:nvSpPr>
        <p:spPr>
          <a:xfrm>
            <a:off x="457200" y="1371600"/>
            <a:ext cx="3474720" cy="1645920"/>
          </a:xfrm>
          <a:prstGeom prst="rect">
            <a:avLst/>
          </a:prstGeom>
          <a:no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cxnSp>
        <p:nvCxnSpPr>
          <p:cNvPr id="226" name="Connector 225"/>
          <p:cNvCxnSpPr/>
          <p:nvPr/>
        </p:nvCxnSpPr>
        <p:spPr>
          <a:xfrm>
            <a:off x="3977639" y="2194560"/>
            <a:ext cx="868681"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3794759" y="1901952"/>
            <a:ext cx="1234440" cy="274320"/>
          </a:xfrm>
          <a:prstGeom prst="rect">
            <a:avLst/>
          </a:prstGeom>
          <a:noFill/>
        </p:spPr>
        <p:txBody>
          <a:bodyPr wrap="square">
            <a:spAutoFit/>
          </a:bodyPr>
          <a:lstStyle/>
          <a:p>
            <a:pPr algn="ctr"/>
            <a:r>
              <a:rPr sz="1100" b="0" i="0">
                <a:solidFill>
                  <a:srgbClr val="9AA3AB"/>
                </a:solidFill>
              </a:rPr>
              <a:t>camera</a:t>
            </a:r>
          </a:p>
        </p:txBody>
      </p:sp>
      <p:sp>
        <p:nvSpPr>
          <p:cNvPr id="228" name="Rectangle 227"/>
          <p:cNvSpPr/>
          <p:nvPr/>
        </p:nvSpPr>
        <p:spPr>
          <a:xfrm>
            <a:off x="548640" y="3246120"/>
            <a:ext cx="7680960" cy="9144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_tweens.Tween(GameSettings.RoomShiftDuration)</a:t>
            </a:r>
          </a:p>
          <a:p>
            <a:pPr algn="l"/>
            <a:r>
              <a:rPr sz="1200">
                <a:solidFill>
                  <a:srgbClr val="DEE2E6"/>
                </a:solidFill>
                <a:latin typeface="Consolas"/>
              </a:rPr>
              <a:t>    .Add(t =&gt; /* move the camera */, 0f, 1f).Add(t =&gt; /* walk the player */, 0f, 1f)</a:t>
            </a:r>
          </a:p>
          <a:p>
            <a:pPr algn="l"/>
            <a:r>
              <a:rPr sz="1200">
                <a:solidFill>
                  <a:srgbClr val="DEE2E6"/>
                </a:solidFill>
                <a:latin typeface="Consolas"/>
              </a:rPr>
              <a:t>    .Finish(FinishShift);   // the next room becomes the current one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GARCore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The dungeon keeps no progress variable, and never asks if the scroll is done</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Slower, Softer Scroll</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Zelda7:</a:t>
            </a:r>
            <a:endParaRPr/>
          </a:p>
          <a:p>
            <a:pPr indent="-330200" lvl="0" marL="457200" rtl="0" algn="l">
              <a:spcBef>
                <a:spcPts val="0"/>
              </a:spcBef>
              <a:spcAft>
                <a:spcPts val="0"/>
              </a:spcAft>
              <a:buSzPts val="1600"/>
              <a:buChar char="●"/>
            </a:pPr>
            <a:r>
              <a:rPr lang="en"/>
              <a:t>Make the room shift take twice as long</a:t>
            </a:r>
            <a:endParaRPr/>
          </a:p>
          <a:p>
            <a:pPr indent="-330200" lvl="0" marL="457200" rtl="0" algn="l">
              <a:spcBef>
                <a:spcPts val="0"/>
              </a:spcBef>
              <a:spcAft>
                <a:spcPts val="0"/>
              </a:spcAft>
              <a:buSzPts val="1600"/>
              <a:buChar char="●"/>
            </a:pPr>
            <a:r>
              <a:rPr lang="en"/>
              <a:t>Ease out: pass 1 - (1 - t) * (1 - t) to Vector2.Lerp instead of t</a:t>
            </a:r>
            <a:endParaRPr/>
          </a:p>
          <a:p>
            <a:pPr indent="-330200" lvl="0" marL="457200" rtl="0" algn="l">
              <a:spcBef>
                <a:spcPts val="0"/>
              </a:spcBef>
              <a:spcAft>
                <a:spcPts val="0"/>
              </a:spcAft>
              <a:buSzPts val="1600"/>
              <a:buChar char="●"/>
            </a:pPr>
            <a:r>
              <a:rPr lang="en"/>
              <a:t>How does the scroll feel now?</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Walking through a door, the player should go under the arch.</a:t>
            </a:r>
            <a:endParaRPr/>
          </a:p>
        </p:txBody>
      </p:sp>
      <p:pic>
        <p:nvPicPr>
          <p:cNvPr id="230" name="Picture 229" descr="stencil.png"/>
          <p:cNvPicPr>
            <a:picLocks noChangeAspect="1"/>
          </p:cNvPicPr>
          <p:nvPr/>
        </p:nvPicPr>
        <p:blipFill>
          <a:blip r:embed="rId5"/>
          <a:stretch>
            <a:fillRect/>
          </a:stretch>
        </p:blipFill>
        <p:spPr>
          <a:xfrm>
            <a:off x="320039" y="1371600"/>
            <a:ext cx="8503920" cy="35433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in data, behaviour in C#: a new enemy is one XML block and a row of sprites.</a:t>
            </a:r>
            <a:endParaRPr/>
          </a:p>
        </p:txBody>
      </p:sp>
      <p:sp>
        <p:nvSpPr>
          <p:cNvPr id="237" name="Rectangle 236"/>
          <p:cNvSpPr/>
          <p:nvPr/>
        </p:nvSpPr>
        <p:spPr>
          <a:xfrm>
            <a:off x="457200" y="1417320"/>
            <a:ext cx="8229600" cy="10972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&lt;Enemy type="rat" width="16" height="16" walkSpeed="20" health="1"&gt;</a:t>
            </a:r>
          </a:p>
          <a:p>
            <a:pPr algn="l"/>
            <a:r>
              <a:rPr sz="1200">
                <a:solidFill>
                  <a:srgbClr val="DEE2E6"/>
                </a:solidFill>
                <a:latin typeface="Consolas"/>
              </a:rPr>
              <a:t>  &lt;Animation name="walk-down" frames="9,10,11,10" interval="0.2" /&gt;</a:t>
            </a:r>
          </a:p>
          <a:p>
            <a:pPr algn="l"/>
            <a:r>
              <a:rPr sz="1200">
                <a:solidFill>
                  <a:srgbClr val="DEE2E6"/>
                </a:solidFill>
                <a:latin typeface="Consolas"/>
              </a:rPr>
              <a:t>  &lt;Animation name="idle-down" frames="10"         interval="0.2" /&gt;</a:t>
            </a:r>
          </a:p>
          <a:p>
            <a:pPr algn="l"/>
            <a:r>
              <a:rPr sz="1200">
                <a:solidFill>
                  <a:srgbClr val="DEE2E6"/>
                </a:solidFill>
                <a:latin typeface="Consolas"/>
              </a:rPr>
              <a:t>&lt;/Enemy&gt;</a:t>
            </a:r>
          </a:p>
        </p:txBody>
      </p:sp>
      <p:sp>
        <p:nvSpPr>
          <p:cNvPr id="238" name="TextBox 237"/>
          <p:cNvSpPr txBox="1"/>
          <p:nvPr/>
        </p:nvSpPr>
        <p:spPr>
          <a:xfrm>
            <a:off x="457200" y="2697480"/>
            <a:ext cx="8229600" cy="548640"/>
          </a:xfrm>
          <a:prstGeom prst="rect">
            <a:avLst/>
          </a:prstGeom>
          <a:noFill/>
        </p:spPr>
        <p:txBody>
          <a:bodyPr wrap="square">
            <a:spAutoFit/>
          </a:bodyPr>
          <a:lstStyle/>
          <a:p>
            <a:pPr algn="ctr"/>
            <a:r>
              <a:rPr sz="1400" b="0" i="0">
                <a:solidFill>
                  <a:srgbClr val="9AA3AB"/>
                </a:solidFill>
              </a:rPr>
              <a:t>The definition classes read the XML once; the rest of the code never sees it.</a:t>
            </a:r>
          </a:p>
          <a:p>
            <a:pPr algn="ctr"/>
            <a:r>
              <a:rPr sz="1400" b="0" i="0">
                <a:solidFill>
                  <a:srgbClr val="9AA3AB"/>
                </a:solidFill>
              </a:rPr>
              <a:t>GameObject has no if (type == "switch") anywhere.</a:t>
            </a:r>
          </a:p>
        </p:txBody>
      </p:sp>
      <p:sp>
        <p:nvSpPr>
          <p:cNvPr id="239" name="TextBox 238"/>
          <p:cNvSpPr txBox="1"/>
          <p:nvPr/>
        </p:nvSpPr>
        <p:spPr>
          <a:xfrm>
            <a:off x="457200" y="3429000"/>
            <a:ext cx="8229600" cy="731520"/>
          </a:xfrm>
          <a:prstGeom prst="rect">
            <a:avLst/>
          </a:prstGeom>
          <a:noFill/>
        </p:spPr>
        <p:txBody>
          <a:bodyPr wrap="square">
            <a:spAutoFit/>
          </a:bodyPr>
          <a:lstStyle/>
          <a:p>
            <a:pPr algn="ctr"/>
            <a:r>
              <a:rPr sz="1700" b="1" i="0">
                <a:solidFill>
                  <a:srgbClr val="DEE2E6"/>
                </a:solidFill>
              </a:rPr>
              <a:t>Someone writes type="rta". When do you find out?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An enemy that flies, one that shoots, one that does both. Where do they go?</a:t>
            </a:r>
            <a:endParaRPr/>
          </a:p>
        </p:txBody>
      </p:sp>
      <p:sp>
        <p:nvSpPr>
          <p:cNvPr id="251" name="Rounded Rectangle 250"/>
          <p:cNvSpPr/>
          <p:nvPr/>
        </p:nvSpPr>
        <p:spPr>
          <a:xfrm>
            <a:off x="3566160" y="132588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Entity</a:t>
            </a:r>
          </a:p>
        </p:txBody>
      </p:sp>
      <p:sp>
        <p:nvSpPr>
          <p:cNvPr id="252" name="Rounded Rectangle 251"/>
          <p:cNvSpPr/>
          <p:nvPr/>
        </p:nvSpPr>
        <p:spPr>
          <a:xfrm>
            <a:off x="3566160" y="205740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a:t>
            </a:r>
          </a:p>
        </p:txBody>
      </p:sp>
      <p:cxnSp>
        <p:nvCxnSpPr>
          <p:cNvPr id="253" name="Connector 252"/>
          <p:cNvCxnSpPr/>
          <p:nvPr/>
        </p:nvCxnSpPr>
        <p:spPr>
          <a:xfrm flipV="1">
            <a:off x="4572000" y="1847088"/>
            <a:ext cx="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4" name="Rounded Rectangle 253"/>
          <p:cNvSpPr/>
          <p:nvPr/>
        </p:nvSpPr>
        <p:spPr>
          <a:xfrm>
            <a:off x="109728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FlyingEnemy</a:t>
            </a:r>
          </a:p>
        </p:txBody>
      </p:sp>
      <p:cxnSp>
        <p:nvCxnSpPr>
          <p:cNvPr id="255" name="Connector 254"/>
          <p:cNvCxnSpPr/>
          <p:nvPr/>
        </p:nvCxnSpPr>
        <p:spPr>
          <a:xfrm flipV="1">
            <a:off x="2148840" y="2578608"/>
            <a:ext cx="242316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6" name="Rounded Rectangle 255"/>
          <p:cNvSpPr/>
          <p:nvPr/>
        </p:nvSpPr>
        <p:spPr>
          <a:xfrm>
            <a:off x="347472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ShootingEnemy</a:t>
            </a:r>
          </a:p>
        </p:txBody>
      </p:sp>
      <p:cxnSp>
        <p:nvCxnSpPr>
          <p:cNvPr id="257" name="Connector 256"/>
          <p:cNvCxnSpPr/>
          <p:nvPr/>
        </p:nvCxnSpPr>
        <p:spPr>
          <a:xfrm flipV="1">
            <a:off x="4526280" y="2578608"/>
            <a:ext cx="45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8" name="Rounded Rectangle 257"/>
          <p:cNvSpPr/>
          <p:nvPr/>
        </p:nvSpPr>
        <p:spPr>
          <a:xfrm>
            <a:off x="585216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ExplodingEnemy</a:t>
            </a:r>
          </a:p>
        </p:txBody>
      </p:sp>
      <p:cxnSp>
        <p:nvCxnSpPr>
          <p:cNvPr id="259" name="Connector 258"/>
          <p:cNvCxnSpPr/>
          <p:nvPr/>
        </p:nvCxnSpPr>
        <p:spPr>
          <a:xfrm flipH="1" flipV="1">
            <a:off x="4572000" y="2578608"/>
            <a:ext cx="2331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60" name="Rounded Rectangle 259"/>
          <p:cNvSpPr/>
          <p:nvPr/>
        </p:nvSpPr>
        <p:spPr>
          <a:xfrm>
            <a:off x="2286000" y="3566160"/>
            <a:ext cx="4572000" cy="5029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FlyingShootingEnemy? copy code, or move it all up?</a:t>
            </a:r>
          </a:p>
        </p:txBody>
      </p:sp>
      <p:sp>
        <p:nvSpPr>
          <p:cNvPr id="261" name="TextBox 260"/>
          <p:cNvSpPr txBox="1"/>
          <p:nvPr/>
        </p:nvSpPr>
        <p:spPr>
          <a:xfrm>
            <a:off x="365760" y="4160520"/>
            <a:ext cx="8412480" cy="365760"/>
          </a:xfrm>
          <a:prstGeom prst="rect">
            <a:avLst/>
          </a:prstGeom>
          <a:noFill/>
        </p:spPr>
        <p:txBody>
          <a:bodyPr wrap="square">
            <a:spAutoFit/>
          </a:bodyPr>
          <a:lstStyle/>
          <a:p>
            <a:pPr algn="ctr"/>
            <a:r>
              <a:rPr sz="1300" b="0" i="0">
                <a:solidFill>
                  <a:srgbClr val="9AA3AB"/>
                </a:solidFill>
              </a:rPr>
              <a:t>“Favor object composition over class inheritance.” Gang of Four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 already composes. Ask whether it’s what something is, or what it can do.</a:t>
            </a:r>
            <a:endParaRPr/>
          </a:p>
        </p:txBody>
      </p:sp>
      <p:sp>
        <p:nvSpPr>
          <p:cNvPr id="251" name="Rounded Rectangle 250"/>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in state objects</a:t>
            </a:r>
          </a:p>
          <a:p>
            <a:pPr algn="ctr"/>
            <a:r>
              <a:rPr sz="1300" b="0">
                <a:solidFill>
                  <a:srgbClr val="9AA3AB"/>
                </a:solidFill>
              </a:rPr>
              <a:t>an enemy’s AI is the state</a:t>
            </a:r>
          </a:p>
          <a:p>
            <a:pPr algn="ctr"/>
            <a:r>
              <a:rPr sz="1300" b="0">
                <a:solidFill>
                  <a:srgbClr val="9AA3AB"/>
                </a:solidFill>
              </a:rPr>
              <a:t>it holds</a:t>
            </a:r>
          </a:p>
        </p:txBody>
      </p:sp>
      <p:sp>
        <p:nvSpPr>
          <p:cNvPr id="252" name="Rounded Rectangle 251"/>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wired from outside</a:t>
            </a:r>
          </a:p>
          <a:p>
            <a:pPr algn="ctr"/>
            <a:r>
              <a:rPr sz="1300" b="0">
                <a:solidFill>
                  <a:srgbClr val="9AA3AB"/>
                </a:solidFill>
              </a:rPr>
              <a:t>a switch is a plain GameObject;</a:t>
            </a:r>
          </a:p>
          <a:p>
            <a:pPr algn="ctr"/>
            <a:r>
              <a:rPr sz="1300" b="0">
                <a:solidFill>
                  <a:srgbClr val="9AA3AB"/>
                </a:solidFill>
              </a:rPr>
              <a:t>the room attaches OnCollide</a:t>
            </a:r>
          </a:p>
        </p:txBody>
      </p:sp>
      <p:sp>
        <p:nvSpPr>
          <p:cNvPr id="253" name="Rounded Rectangle 252"/>
          <p:cNvSpPr/>
          <p:nvPr/>
        </p:nvSpPr>
        <p:spPr>
          <a:xfrm>
            <a:off x="608076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types as data</a:t>
            </a:r>
          </a:p>
          <a:p>
            <a:pPr algn="ctr"/>
            <a:r>
              <a:rPr sz="1300" b="0">
                <a:solidFill>
                  <a:srgbClr val="9AA3AB"/>
                </a:solidFill>
              </a:rPr>
              <a:t>they come from XML,</a:t>
            </a:r>
          </a:p>
          <a:p>
            <a:pPr algn="ctr"/>
            <a:r>
              <a:rPr sz="1300" b="0">
                <a:solidFill>
                  <a:srgbClr val="9AA3AB"/>
                </a:solidFill>
              </a:rPr>
              <a:t>with no class for each</a:t>
            </a:r>
          </a:p>
        </p:txBody>
      </p:sp>
      <p:sp>
        <p:nvSpPr>
          <p:cNvPr id="254" name="TextBox 253"/>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Plants vs. Zombies takes this all the way, with the Component pattern.</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Keys and Locked Doors</a:t>
            </a:r>
            <a:endParaRPr>
              <a:solidFill>
                <a:schemeClr val="accent5"/>
              </a:solidFill>
            </a:endParaRPr>
          </a:p>
        </p:txBody>
      </p:sp>
      <p:sp>
        <p:nvSpPr>
          <p:cNvPr id="244" name="Google Shape;244;p39"/>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Full instructions are on the course site.</a:t>
            </a:r>
            <a:endParaRPr/>
          </a:p>
          <a:p>
            <a:pPr indent="-330200" lvl="0" marL="457200" rtl="0" algn="l">
              <a:spcBef>
                <a:spcPts val="0"/>
              </a:spcBef>
              <a:spcAft>
                <a:spcPts val="0"/>
              </a:spcAft>
              <a:buSzPts val="1600"/>
              <a:buChar char="●"/>
            </a:pPr>
            <a:r>
              <a:rPr lang="en"/>
              <a:t>Some enemies drop a key when they die: use an event</a:t>
            </a:r>
            <a:endParaRPr/>
          </a:p>
          <a:p>
            <a:pPr indent="-330200" lvl="0" marL="457200" rtl="0" algn="l">
              <a:spcBef>
                <a:spcPts val="0"/>
              </a:spcBef>
              <a:spcAft>
                <a:spcPts val="0"/>
              </a:spcAft>
              <a:buSzPts val="1600"/>
              <a:buChar char="●"/>
            </a:pPr>
            <a:r>
              <a:rPr lang="en"/>
              <a:t>A locked state for doorways, in door_layouts.xml</a:t>
            </a:r>
            <a:endParaRPr/>
          </a:p>
          <a:p>
            <a:pPr indent="-330200" lvl="0" marL="457200" rtl="0" algn="l">
              <a:spcBef>
                <a:spcPts val="0"/>
              </a:spcBef>
              <a:spcAft>
                <a:spcPts val="0"/>
              </a:spcAft>
              <a:buSzPts val="1600"/>
              <a:buChar char="●"/>
            </a:pPr>
            <a:r>
              <a:rPr lang="en"/>
              <a:t>A key opens a locked door for good; show the keys next to the hearts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When does inheritance fit, and when is composition better?</a:t>
            </a:r>
            <a:endParaRPr/>
          </a:p>
          <a:p>
            <a:pPr indent="-330200" lvl="0" marL="457200" rtl="0" algn="l">
              <a:spcBef>
                <a:spcPts val="0"/>
              </a:spcBef>
              <a:spcAft>
                <a:spcPts val="0"/>
              </a:spcAft>
              <a:buSzPts val="1600"/>
              <a:buChar char="●"/>
            </a:pPr>
            <a:r>
              <a:rPr lang="en"/>
              <a:t>Why does Observer suit UI code particularly well?</a:t>
            </a:r>
            <a:endParaRPr/>
          </a:p>
          <a:p>
            <a:pPr indent="-330200" lvl="0" marL="457200" rtl="0" algn="l">
              <a:spcBef>
                <a:spcPts val="0"/>
              </a:spcBef>
              <a:spcAft>
                <a:spcPts val="0"/>
              </a:spcAft>
              <a:buSzPts val="1600"/>
              <a:buChar char="●"/>
            </a:pPr>
            <a:r>
              <a:rPr lang="en"/>
              <a:t>What is the difference between a delegate and an event in C#?</a:t>
            </a:r>
            <a:endParaRPr/>
          </a:p>
          <a:p>
            <a:pPr indent="-330200" lvl="0" marL="457200" rtl="0" algn="l">
              <a:spcBef>
                <a:spcPts val="0"/>
              </a:spcBef>
              <a:spcAft>
                <a:spcPts val="0"/>
              </a:spcAft>
              <a:buSzPts val="1600"/>
              <a:buChar char="●"/>
            </a:pPr>
            <a:r>
              <a:rPr lang="en"/>
              <a:t>What is the cost of data-driven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