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7" r:id="rId17"/>
    <p:sldId id="268" r:id="rId18"/>
    <p:sldId id="295" r:id="rId54"/>
    <p:sldId id="269" r:id="rId19"/>
    <p:sldId id="270" r:id="rId20"/>
    <p:sldId id="299" r:id="rId57"/>
    <p:sldId id="273" r:id="rId23"/>
    <p:sldId id="274" r:id="rId24"/>
    <p:sldId id="275" r:id="rId25"/>
    <p:sldId id="276" r:id="rId26"/>
    <p:sldId id="277" r:id="rId27"/>
    <p:sldId id="278" r:id="rId28"/>
    <p:sldId id="298" r:id="rId56"/>
    <p:sldId id="296" r:id="rId55"/>
    <p:sldId id="279" r:id="rId29"/>
    <p:sldId id="280" r:id="rId30"/>
    <p:sldId id="281" r:id="rId31"/>
    <p:sldId id="282" r:id="rId32"/>
    <p:sldId id="283" r:id="rId33"/>
    <p:sldId id="291" r:id="rId50"/>
    <p:sldId id="297" r:id="rId52"/>
    <p:sldId id="284" r:id="rId34"/>
    <p:sldId id="285" r:id="rId35"/>
    <p:sldId id="289" r:id="rId48"/>
    <p:sldId id="290" r:id="rId49"/>
    <p:sldId id="300" r:id="rId22"/>
    <p:sldId id="301" r:id="rId21"/>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42.xml"/><Relationship Id="rId22" Type="http://schemas.openxmlformats.org/officeDocument/2006/relationships/slide" Target="slides/slide41.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40.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1.xml"/><Relationship Id="rId51" Type="http://schemas.openxmlformats.org/officeDocument/2006/relationships/slide" Target="slides/slide38.xml"/><Relationship Id="rId52" Type="http://schemas.openxmlformats.org/officeDocument/2006/relationships/slide" Target="slides/slide32.xml"/><Relationship Id="rId53" Type="http://schemas.openxmlformats.org/officeDocument/2006/relationships/slide" Target="slides/slide39.xml"/><Relationship Id="rId54" Type="http://schemas.openxmlformats.org/officeDocument/2006/relationships/slide" Target="slides/slide14.xml"/><Relationship Id="rId55" Type="http://schemas.openxmlformats.org/officeDocument/2006/relationships/slide" Target="slides/slide25.xml"/><Relationship Id="rId56" Type="http://schemas.openxmlformats.org/officeDocument/2006/relationships/slide" Target="slides/slide24.xml"/><Relationship Id="rId57"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a:p>
            <a:r>
              <a:t>Publisher and subscriber are other names for subject and observer.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Zelda. Each class knows the one below it only.</a:t>
            </a:r>
          </a:p>
          <a:p>
            <a:r>
              <a:t>Trace OnPlayerDied upwards with a finger: room, dungeon, play state. No arrow points that way.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a:p>
            <a:r>
              <a:t>Pass 1: draw the rooms</a:t>
            </a:r>
          </a:p>
          <a:p>
            <a:r>
              <a:t>Pass 2: mark the arches</a:t>
            </a:r>
          </a:p>
          <a:p>
            <a:r>
              <a:t>in the stencil buffer, with no colour</a:t>
            </a:r>
          </a:p>
          <a:p>
            <a:r>
              <a:t>Pass 3: draw the player again</a:t>
            </a:r>
          </a:p>
          <a:p>
            <a:r>
              <a:t>only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a health bar subscribes to an event on the player,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event is handled inside the call that raises it. A queue stores it and handles it later, at a safe point.</a:t>
            </a:r>
          </a:p>
          <a:p>
            <a:r>
              <a:t>Ask: where have we queued before? Answer: Snake's turns, one per tick.</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room announces, the dungeon passes it on, the play state reacts. The subscriptions point the other way.</a:t>
            </a:r>
          </a:p>
          <a:p>
            <a:r>
              <a:t>Ask: what does Room know about PlayState? Answer: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4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5"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Picture 109" descr="room.png"/>
          <p:cNvPicPr>
            <a:picLocks noChangeAspect="1"/>
          </p:cNvPicPr>
          <p:nvPr/>
        </p:nvPicPr>
        <p:blipFill>
          <a:blip r:embed="rId4"/>
          <a:stretch>
            <a:fillRect/>
          </a:stretch>
        </p:blipFill>
        <p:spPr>
          <a:xfrm>
            <a:off x="320039" y="1051560"/>
            <a:ext cx="8503920" cy="38976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Picture 115" descr="hitboxes.png"/>
          <p:cNvPicPr>
            <a:picLocks noChangeAspect="1"/>
          </p:cNvPicPr>
          <p:nvPr/>
        </p:nvPicPr>
        <p:blipFill>
          <a:blip r:embed="rId4"/>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Picture 133" descr="observer.png"/>
          <p:cNvPicPr>
            <a:picLocks noChangeAspect="1"/>
          </p:cNvPicPr>
          <p:nvPr/>
        </p:nvPicPr>
        <p:blipFill>
          <a:blip r:embed="rId3"/>
          <a:stretch>
            <a:fillRect/>
          </a:stretch>
        </p:blipFill>
        <p:spPr>
          <a:xfrm>
            <a:off x="320039" y="1051560"/>
            <a:ext cx="8503920" cy="389763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Event Travels Up</a:t>
            </a:r>
            <a:endParaRPr/>
          </a:p>
        </p:txBody>
      </p:sp>
      <p:pic>
        <p:nvPicPr>
          <p:cNvPr id="3" name="Picture 2" descr="event-flow.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 delegate, as a property</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room adds a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The value of the expression is returned</a:t>
            </a:r>
            <a:endParaRPr/>
          </a:p>
          <a:p>
            <a:pPr indent="-330200" lvl="0" marL="457200" rtl="0" algn="l">
              <a:spcBef>
                <a:spcPts val="0"/>
              </a:spcBef>
              <a:spcAft>
                <a:spcPts val="0"/>
              </a:spcAft>
              <a:buSzPts val="1600"/>
              <a:buChar char="●"/>
            </a:pPr>
            <a:r>
              <a:rPr lang="en"/>
              <a:t>Used to pass behaviour as an argument, and to subscribe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Event Queue</a:t>
            </a:r>
            <a:endParaRPr/>
          </a:p>
        </p:txBody>
      </p:sp>
      <p:pic>
        <p:nvPicPr>
          <p:cNvPr id="3" name="Picture 2" descr="event-queu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Picture 203" descr="room-shift.png"/>
          <p:cNvPicPr>
            <a:picLocks noChangeAspect="1"/>
          </p:cNvPicPr>
          <p:nvPr/>
        </p:nvPicPr>
        <p:blipFill>
          <a:blip r:embed="rId4"/>
          <a:stretch>
            <a:fillRect/>
          </a:stretch>
        </p:blipFill>
        <p:spPr>
          <a:xfrm>
            <a:off x="360381" y="1051560"/>
            <a:ext cx="8423237" cy="39776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Picture 229" descr="stencil.png"/>
          <p:cNvPicPr>
            <a:picLocks noChangeAspect="1"/>
          </p:cNvPicPr>
          <p:nvPr/>
        </p:nvPicPr>
        <p:blipFill>
          <a:blip r:embed="rId5"/>
          <a:stretch>
            <a:fillRect/>
          </a:stretch>
        </p:blipFill>
        <p:spPr>
          <a:xfrm>
            <a:off x="320039" y="1371600"/>
            <a:ext cx="8503920" cy="35433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Zelda7 adds music and sounds. Arrows point down, and events travel up.</a:t>
            </a:r>
            <a:endParaRPr/>
          </a:p>
        </p:txBody>
      </p:sp>
      <p:sp>
        <p:nvSpPr>
          <p:cNvPr id="4" name="Rounded Rectangle 3"/>
          <p:cNvSpPr/>
          <p:nvPr/>
        </p:nvSpPr>
        <p:spPr>
          <a:xfrm>
            <a:off x="3429000" y="1481328"/>
            <a:ext cx="2286000" cy="4572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a:p>
            <a:pPr algn="ctr"/>
            <a:r>
              <a:rPr sz="1100" b="0">
                <a:solidFill>
                  <a:srgbClr val="9AA3AB"/>
                </a:solidFill>
              </a:rPr>
              <a:t>the current game state</a:t>
            </a:r>
          </a:p>
        </p:txBody>
      </p:sp>
      <p:sp>
        <p:nvSpPr>
          <p:cNvPr id="5" name="Rounded Rectangle 4"/>
          <p:cNvSpPr/>
          <p:nvPr/>
        </p:nvSpPr>
        <p:spPr>
          <a:xfrm>
            <a:off x="2720339" y="2082545"/>
            <a:ext cx="2286000"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PlayState</a:t>
            </a:r>
          </a:p>
        </p:txBody>
      </p:sp>
      <p:sp>
        <p:nvSpPr>
          <p:cNvPr id="6" name="Rounded Rectangle 5"/>
          <p:cNvSpPr/>
          <p:nvPr/>
        </p:nvSpPr>
        <p:spPr>
          <a:xfrm>
            <a:off x="374903" y="2683764"/>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Player</a:t>
            </a:r>
          </a:p>
        </p:txBody>
      </p:sp>
      <p:cxnSp>
        <p:nvCxnSpPr>
          <p:cNvPr id="7" name="Connector 6"/>
          <p:cNvCxnSpPr/>
          <p:nvPr/>
        </p:nvCxnSpPr>
        <p:spPr>
          <a:xfrm flipH="1">
            <a:off x="1028700" y="2558034"/>
            <a:ext cx="2834639" cy="107441"/>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429000" y="2683764"/>
            <a:ext cx="2286000"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Dungeon</a:t>
            </a:r>
          </a:p>
        </p:txBody>
      </p:sp>
      <p:sp>
        <p:nvSpPr>
          <p:cNvPr id="9" name="Rounded Rectangle 8"/>
          <p:cNvSpPr/>
          <p:nvPr/>
        </p:nvSpPr>
        <p:spPr>
          <a:xfrm>
            <a:off x="2720339" y="3284982"/>
            <a:ext cx="2286000"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Room</a:t>
            </a:r>
          </a:p>
          <a:p>
            <a:pPr algn="ctr"/>
            <a:r>
              <a:rPr sz="1100" b="0">
                <a:solidFill>
                  <a:srgbClr val="9AA3AB"/>
                </a:solidFill>
              </a:rPr>
              <a:t>current and next</a:t>
            </a:r>
          </a:p>
        </p:txBody>
      </p:sp>
      <p:sp>
        <p:nvSpPr>
          <p:cNvPr id="10" name="Rounded Rectangle 9"/>
          <p:cNvSpPr/>
          <p:nvPr/>
        </p:nvSpPr>
        <p:spPr>
          <a:xfrm>
            <a:off x="1792223" y="3886200"/>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Enemy</a:t>
            </a:r>
          </a:p>
          <a:p>
            <a:pPr algn="ctr"/>
            <a:r>
              <a:rPr sz="1000" b="0">
                <a:solidFill>
                  <a:srgbClr val="9AA3AB"/>
                </a:solidFill>
              </a:rPr>
              <a:t>many</a:t>
            </a:r>
          </a:p>
        </p:txBody>
      </p:sp>
      <p:cxnSp>
        <p:nvCxnSpPr>
          <p:cNvPr id="11" name="Connector 10"/>
          <p:cNvCxnSpPr/>
          <p:nvPr/>
        </p:nvCxnSpPr>
        <p:spPr>
          <a:xfrm flipH="1">
            <a:off x="2446020" y="3760470"/>
            <a:ext cx="1417319" cy="10744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09544" y="3886200"/>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GameObject</a:t>
            </a:r>
          </a:p>
          <a:p>
            <a:pPr algn="ctr"/>
            <a:r>
              <a:rPr sz="1000" b="0">
                <a:solidFill>
                  <a:srgbClr val="9AA3AB"/>
                </a:solidFill>
              </a:rPr>
              <a:t>many</a:t>
            </a:r>
          </a:p>
        </p:txBody>
      </p:sp>
      <p:cxnSp>
        <p:nvCxnSpPr>
          <p:cNvPr id="13" name="Connector 12"/>
          <p:cNvCxnSpPr/>
          <p:nvPr/>
        </p:nvCxnSpPr>
        <p:spPr>
          <a:xfrm>
            <a:off x="3863339" y="3760470"/>
            <a:ext cx="1" cy="10744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26864" y="3886200"/>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Doorway</a:t>
            </a:r>
          </a:p>
          <a:p>
            <a:pPr algn="ctr"/>
            <a:r>
              <a:rPr sz="1000" b="0">
                <a:solidFill>
                  <a:srgbClr val="9AA3AB"/>
                </a:solidFill>
              </a:rPr>
              <a:t>many</a:t>
            </a:r>
          </a:p>
        </p:txBody>
      </p:sp>
      <p:cxnSp>
        <p:nvCxnSpPr>
          <p:cNvPr id="15" name="Connector 14"/>
          <p:cNvCxnSpPr/>
          <p:nvPr/>
        </p:nvCxnSpPr>
        <p:spPr>
          <a:xfrm>
            <a:off x="3863339" y="3760470"/>
            <a:ext cx="1417321" cy="10744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863339" y="3159252"/>
            <a:ext cx="708661" cy="10744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44184" y="3284982"/>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Camera</a:t>
            </a:r>
          </a:p>
        </p:txBody>
      </p:sp>
      <p:cxnSp>
        <p:nvCxnSpPr>
          <p:cNvPr id="18" name="Connector 17"/>
          <p:cNvCxnSpPr/>
          <p:nvPr/>
        </p:nvCxnSpPr>
        <p:spPr>
          <a:xfrm>
            <a:off x="4572000" y="3159252"/>
            <a:ext cx="2125980" cy="107442"/>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63339" y="2558034"/>
            <a:ext cx="708661" cy="107441"/>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863339" y="1956816"/>
            <a:ext cx="708661" cy="107441"/>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61504" y="2082545"/>
            <a:ext cx="1307592" cy="4572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The other states</a:t>
            </a:r>
          </a:p>
          <a:p>
            <a:pPr algn="ctr"/>
            <a:r>
              <a:rPr sz="1000" b="0">
                <a:solidFill>
                  <a:srgbClr val="9AA3AB"/>
                </a:solidFill>
              </a:rPr>
              <a:t>start, game over</a:t>
            </a:r>
          </a:p>
        </p:txBody>
      </p:sp>
      <p:cxnSp>
        <p:nvCxnSpPr>
          <p:cNvPr id="22" name="Connector 21"/>
          <p:cNvCxnSpPr/>
          <p:nvPr/>
        </p:nvCxnSpPr>
        <p:spPr>
          <a:xfrm>
            <a:off x="4572000" y="1956816"/>
            <a:ext cx="3543300" cy="107441"/>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A room announces the player’s death without knowing the play state.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Six concerns, and this session’s answer to each.</a:t>
            </a:r>
            <a:endParaRPr/>
          </a:p>
        </p:txBody>
      </p:sp>
      <p:sp>
        <p:nvSpPr>
          <p:cNvPr id="4" name="Rounded Rectangle 3"/>
          <p:cNvSpPr/>
          <p:nvPr/>
        </p:nvSpPr>
        <p:spPr>
          <a:xfrm>
            <a:off x="5486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Reacting to what happened elsewhere</a:t>
            </a:r>
          </a:p>
          <a:p>
            <a:pPr algn="ctr"/>
            <a:r>
              <a:rPr sz="1300" b="0">
                <a:solidFill>
                  <a:srgbClr val="9AA3AB"/>
                </a:solidFill>
              </a:rPr>
              <a:t>Observer, as C# events</a:t>
            </a:r>
          </a:p>
        </p:txBody>
      </p:sp>
      <p:sp>
        <p:nvSpPr>
          <p:cNvPr id="5" name="Rounded Rectangle 4"/>
          <p:cNvSpPr/>
          <p:nvPr/>
        </p:nvSpPr>
        <p:spPr>
          <a:xfrm>
            <a:off x="32918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Reacting later, at a safe point</a:t>
            </a:r>
          </a:p>
          <a:p>
            <a:pPr algn="ctr"/>
            <a:r>
              <a:rPr sz="1300" b="0">
                <a:solidFill>
                  <a:srgbClr val="9AA3AB"/>
                </a:solidFill>
              </a:rPr>
              <a:t>An event queue</a:t>
            </a:r>
          </a:p>
        </p:txBody>
      </p:sp>
      <p:sp>
        <p:nvSpPr>
          <p:cNvPr id="6" name="Rounded Rectangle 5"/>
          <p:cNvSpPr/>
          <p:nvPr/>
        </p:nvSpPr>
        <p:spPr>
          <a:xfrm>
            <a:off x="60350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Dealing and taking damage</a:t>
            </a:r>
          </a:p>
          <a:p>
            <a:pPr algn="ctr"/>
            <a:r>
              <a:rPr sz="1300" b="0">
                <a:solidFill>
                  <a:srgbClr val="9AA3AB"/>
                </a:solidFill>
              </a:rPr>
              <a:t>A hitbox and a hurtbox</a:t>
            </a:r>
          </a:p>
        </p:txBody>
      </p:sp>
      <p:sp>
        <p:nvSpPr>
          <p:cNvPr id="7" name="Rounded Rectangle 6"/>
          <p:cNvSpPr/>
          <p:nvPr/>
        </p:nvSpPr>
        <p:spPr>
          <a:xfrm>
            <a:off x="5486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value that changes over time</a:t>
            </a:r>
          </a:p>
          <a:p>
            <a:pPr algn="ctr"/>
            <a:r>
              <a:rPr sz="1300" b="0">
                <a:solidFill>
                  <a:srgbClr val="9AA3AB"/>
                </a:solidFill>
              </a:rPr>
              <a:t>A tween</a:t>
            </a:r>
          </a:p>
        </p:txBody>
      </p:sp>
      <p:sp>
        <p:nvSpPr>
          <p:cNvPr id="8" name="Rounded Rectangle 7"/>
          <p:cNvSpPr/>
          <p:nvPr/>
        </p:nvSpPr>
        <p:spPr>
          <a:xfrm>
            <a:off x="32918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Many kinds of things</a:t>
            </a:r>
          </a:p>
          <a:p>
            <a:pPr algn="ctr"/>
            <a:r>
              <a:rPr sz="1300" b="0">
                <a:solidFill>
                  <a:srgbClr val="9AA3AB"/>
                </a:solidFill>
              </a:rPr>
              <a:t>Parts an object has</a:t>
            </a:r>
          </a:p>
        </p:txBody>
      </p:sp>
      <p:sp>
        <p:nvSpPr>
          <p:cNvPr id="9" name="Rounded Rectangle 8"/>
          <p:cNvSpPr/>
          <p:nvPr/>
        </p:nvSpPr>
        <p:spPr>
          <a:xfrm>
            <a:off x="60350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and object types</a:t>
            </a:r>
          </a:p>
          <a:p>
            <a:pPr algn="ctr"/>
            <a:r>
              <a:rPr sz="1300" b="0">
                <a:solidFill>
                  <a:srgbClr val="9AA3AB"/>
                </a:solidFill>
              </a:rPr>
              <a:t>Definitions in XML</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