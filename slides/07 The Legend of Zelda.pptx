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88" r:id="rId47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95" r:id="rId54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96" r:id="rId55"/>
    <p:sldId id="279" r:id="rId29"/>
    <p:sldId id="280" r:id="rId30"/>
    <p:sldId id="281" r:id="rId31"/>
    <p:sldId id="282" r:id="rId32"/>
    <p:sldId id="283" r:id="rId33"/>
    <p:sldId id="291" r:id="rId50"/>
    <p:sldId id="284" r:id="rId34"/>
    <p:sldId id="285" r:id="rId35"/>
    <p:sldId id="289" r:id="rId48"/>
    <p:sldId id="290" r:id="rId49"/>
    <p:sldId id="286" r:id="rId36"/>
    <p:sldId id="292" r:id="rId51"/>
    <p:sldId id="294" r:id="rId53"/>
    <p:sldId id="287" r:id="rId37"/>
  </p:sldIdLst>
  <p:sldSz cy="5143500" cx="9144000"/>
  <p:notesSz cx="6858000" cy="9144000"/>
  <p:embeddedFontLst>
    <p:embeddedFont>
      <p:font typeface="Roboto"/>
      <p:regular r:id="rId38"/>
      <p:bold r:id="rId39"/>
      <p:italic r:id="rId40"/>
      <p:boldItalic r:id="rId41"/>
    </p:embeddedFont>
    <p:embeddedFont>
      <p:font typeface="VT323"/>
      <p:regular r:id="rId42"/>
    </p:embeddedFont>
    <p:embeddedFont>
      <p:font typeface="Roboto Light"/>
      <p:regular r:id="rId43"/>
      <p:bold r:id="rId44"/>
      <p:italic r:id="rId45"/>
      <p:boldItalic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7.xml"/><Relationship Id="rId37" Type="http://schemas.openxmlformats.org/officeDocument/2006/relationships/slide" Target="slides/slide40.xml"/><Relationship Id="rId38" Type="http://schemas.openxmlformats.org/officeDocument/2006/relationships/font" Target="fonts/Roboto-regular.fntdata"/><Relationship Id="rId39" Type="http://schemas.openxmlformats.org/officeDocument/2006/relationships/font" Target="fonts/Roboto-bold.fntdata"/><Relationship Id="rId40" Type="http://schemas.openxmlformats.org/officeDocument/2006/relationships/font" Target="fonts/Roboto-italic.fntdata"/><Relationship Id="rId41" Type="http://schemas.openxmlformats.org/officeDocument/2006/relationships/font" Target="fonts/Roboto-boldItalic.fntdata"/><Relationship Id="rId42" Type="http://schemas.openxmlformats.org/officeDocument/2006/relationships/font" Target="fonts/VT323-regular.fntdata"/><Relationship Id="rId43" Type="http://schemas.openxmlformats.org/officeDocument/2006/relationships/font" Target="fonts/RobotoLight-regular.fntdata"/><Relationship Id="rId44" Type="http://schemas.openxmlformats.org/officeDocument/2006/relationships/font" Target="fonts/RobotoLight-bold.fntdata"/><Relationship Id="rId45" Type="http://schemas.openxmlformats.org/officeDocument/2006/relationships/font" Target="fonts/RobotoLight-italic.fntdata"/><Relationship Id="rId46" Type="http://schemas.openxmlformats.org/officeDocument/2006/relationships/font" Target="fonts/RobotoLight-boldItalic.fntdata"/><Relationship Id="rId47" Type="http://schemas.openxmlformats.org/officeDocument/2006/relationships/slide" Target="slides/slide6.xml"/><Relationship Id="rId48" Type="http://schemas.openxmlformats.org/officeDocument/2006/relationships/slide" Target="slides/slide35.xml"/><Relationship Id="rId49" Type="http://schemas.openxmlformats.org/officeDocument/2006/relationships/slide" Target="slides/slide36.xml"/><Relationship Id="rId50" Type="http://schemas.openxmlformats.org/officeDocument/2006/relationships/slide" Target="slides/slide32.xml"/><Relationship Id="rId51" Type="http://schemas.openxmlformats.org/officeDocument/2006/relationships/slide" Target="slides/slide38.xml"/><Relationship Id="rId53" Type="http://schemas.openxmlformats.org/officeDocument/2006/relationships/slide" Target="slides/slide39.xml"/><Relationship Id="rId54" Type="http://schemas.openxmlformats.org/officeDocument/2006/relationships/slide" Target="slides/slide15.xml"/><Relationship Id="rId55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The Legend of Zelda. The main topic: composition vs. inheritance.</a:t>
            </a:r>
          </a:p>
          <a:p>
            <a:r>
              <a:t>Start by playing the finished game, Zelda7,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d14c6fc9de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d14c6fc9de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1986 original: top-down, room by room. Ask who has played a Zelda.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Zelda7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main topic: composition vs. inheritance. With it: the Observer pattern and C# events, hitboxes, and a tweening system.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cce57fd848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cce57fd84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gar-games/07-the-legend-of-zelda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d10de0346e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d10de0346e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finished game’s main classes. Don’t read it all: find Entity, Player, Enemy, Room and Dungeon.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d17f311e2b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d17f311e2b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Fifteen minutes in pairs with Zelda7 and the README’s code map. Take answers to two or three of the questions afterwards.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d10de0346e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d10de0346e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sheets: tiles, the player walking and swinging, and the monsters. Not all on the same grid size.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d10de0346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3d10de0346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LabelTiles writes each tile’s number onto a copy of the sheet. The XML refers to tiles by number; nobody can read those off an image. Small tools like this are common in game projects.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d10de0346e_0_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" name="Google Shape;94;g3d10de0346e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sprite is drawn higher than its collision box, so characters stand on the floor. Point at the player’s feet.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d0d4f8444f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3d0d4f8444f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Real dungeon maps: rooms connected by doors. Ours is simpler: an endless series of rooms.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d14c6fc9de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3d14c6fc9de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Each room is generated when entered: walls, a random floor, enemies, a switch and doors.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d0d4f8444f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" name="Google Shape;113;g3d0d4f8444f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hitbox deals damage (the sword), a hurtbox receives it (the body). Separate, so reach and body don’t have to match the sprite.</a:t>
            </a:r>
          </a:p>
          <a:p>
            <a:r>
              <a:t>Show F1 debug drawing in the game.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3d0d4f8444f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" name="Google Shape;124;g3d0d4f8444f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Something happens, and other things need to react. The thing that happened shouldn’t need to know them.</a:t>
            </a:r>
          </a:p>
          <a:p>
            <a:r>
              <a:t>Ask: list moments in a game like this. Health changes, an enemy dies, a room clears, the sword swings.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3d1261d8a3d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" name="Google Shape;131;g3d1261d8a3d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subject announces; observers subscribe. The dependency is flipped: the subject doesn’t know who listens.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cde4e978fb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3cde4e978fb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structure: a list of observers, and notify calls each.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d1261d8a3d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3d1261d8a3d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Two names for the same idea. Publisher-subscriber usually means there’s something in between.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3d17f311e2b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" name="Google Shape;150;g3d17f311e2b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C# we don’t write the pattern ourselves: delegates and events are part of the language.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d1261d8a3d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" name="Google Shape;156;g3d1261d8a3d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same Observer structure, with C# events instead of an interface.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3d14c6fc9de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" name="Google Shape;163;g3d14c6fc9de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delegate holds a reference to a method. Action and Func are the built-in ones. += adds a handler, Invoke calls them all.</a:t>
            </a:r>
          </a:p>
          <a:p>
            <a:r>
              <a:t>Point at the switch in Room.cs: that’s where the room wires its door logic.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d10de0346e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" name="Google Shape;173;g3d10de0346e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An event is a delegate with guardrails: outside code can only += and -=. The owner fires; everyone else listens.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3d14c6fc9de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" name="Google Shape;180;g3d14c6fc9de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lambda: a function without a name, written where it’s used. The same IsEven, twice.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d17f311e2b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d17f311e2b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switch handler captures switchObj and Doorways from the room: a closure.</a:t>
            </a:r>
          </a:p>
          <a:p>
            <a:r>
              <a:t>Ask: what would this look like as a named method? It would need both as fields or parameters.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d17f311e2b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3d17f311e2b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pick one of the three and refactor it. The class firing the event must not know who reacts.</a:t>
            </a:r>
          </a:p>
          <a:p>
            <a:r>
              <a:t>The OnPlayerDied chain is the one to trace first: room, dungeon, play state.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3d17f311e2b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1" name="Google Shape;201;g3d17f311e2b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original’s scroll between rooms. How would you build this?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g3d17f311e2b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7" name="Google Shape;207;g3d17f311e2b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tween moves a value from A to B over time. The dots are nine frames of the same move: evenly spaced for linear, bunched up at the end for ease-out.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g3d17f311e2b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3" name="Google Shape;213;g3d17f311e2b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lerp: a plus a fraction of the way to b. t = 0, a; t = 1, b. Works on positions, colours, angles.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d17f311e2b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d17f311e2b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next room is placed one screen away and never moves. The camera tweens towards it while the player walks through the door.</a:t>
            </a:r>
          </a:p>
          <a:p>
            <a:r>
              <a:t>When the tween finishes, the next room becomes the current one.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3d0d4f8444f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6" name="Google Shape;226;g3d0d4f8444f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Without it, the player is drawn over the door arch. Three passes: rooms; arch masks into the stencil buffer only; the player where nothing is marked.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g3d17f311e2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3" name="Google Shape;233;g3d17f311e2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new enemy is one XML block and a row in the sheet. Ask the question: someone writes type="skelton". When do you find out? At runtime, not compile time. That’s the cost.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3d10de0346e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1" name="Google Shape;241;g3d10de0346e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keys dropped by enemies, and locked doors they open.</a:t>
            </a:r>
          </a:p>
          <a:p>
            <a:r>
              <a:t>It joins the two ideas of the day: the key drop is an event, the locked look is data.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g3d14c6fc9de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7" name="Google Shape;247;g3d14c6fc9de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Build the tree with them: Enemy, then flying, shooting and exploding enemies. Then ask: an enemy that flies and shoots?</a:t>
            </a:r>
          </a:p>
          <a:p>
            <a:r>
              <a:t>Copy the code, or move it up into Enemy until every enemy carries everything. Neither is good.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Zelda already composes in three ways; go through the boxes.</a:t>
            </a:r>
          </a:p>
          <a:p>
            <a:r>
              <a:t>The question to keep asking: is this what something is, or what it can do? Plants vs. Zombies takes it all the way.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When does inheritance fit, and when is composition better?</a:t>
            </a:r>
          </a:p>
          <a:p>
            <a:r>
              <a:t>A: Inheritance fits when there is one clear "is a" axis and the shared behaviour is needed by every subclass. Composition fits when behaviours combine freely: instead of one subclass per combination, an object has the parts it needs, and they can even change at runtime.</a:t>
            </a:r>
          </a:p>
          <a:p/>
          <a:p>
            <a:r>
              <a:t>Q: Why does Observer suit UI code particularly well?</a:t>
            </a:r>
          </a:p>
          <a:p>
            <a:r>
              <a:t>A: The UI depends on the game data, but the game shouldn't depend on the UI. With events, the health bar subscribes to HealthChanged and gameplay code never needs to know a health bar exists. The UI also only updates when something actually changes.</a:t>
            </a:r>
          </a:p>
          <a:p/>
          <a:p>
            <a:r>
              <a:t>Q: What is the difference between a delegate and an event in C#?</a:t>
            </a:r>
          </a:p>
          <a:p>
            <a:r>
              <a:t>A: An event is a delegate that outside code can only subscribe to and unsubscribe from. Only the declaring class can invoke it or overwrite its subscriber list.</a:t>
            </a:r>
          </a:p>
          <a:p/>
          <a:p>
            <a:r>
              <a:t>Q: What is the cost of data-driven design?</a:t>
            </a:r>
          </a:p>
          <a:p>
            <a:r>
              <a:t>A: Errors move from compile time to runtime, you need loading and validation code, and behaviour is split between code and data files.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eight steps, one idea each. The README has the same table with more detail.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Games tween constantly, so GMDCore gets a TweenManager: Tween, After, Every, chained with Add and Finish. No progress variables anywhere.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Exercise: sketch the hierarchy, then the composition, then implement one part (a shooting behaviour any enemy can have).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SwordReach in GameSettings. The hitbox is built from it when a swing starts; the sprite doesn’t change, so hits now land where the sword isn’t drawn.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One line in PlayState: _dungeon.OnPlayerDied += () =&gt; SoundManager.PlaySound("hit-player");</a:t>
            </a:r>
          </a:p>
          <a:p>
            <a:r>
              <a:t>Room and Dungeon don’t change, and don’t know about the sound: that’s what the event is for.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github.com/Metamate/gar-games/tree/main/08-zelda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github.com/Metamate/gmd2-zelda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5" Type="http://schemas.openxmlformats.org/officeDocument/2006/relationships/image" Target="../media/image2.png"/><Relationship Id="rId6" Type="http://schemas.openxmlformats.org/officeDocument/2006/relationships/image" Target="../media/image1.png"/><Relationship Id="rId7" Type="http://schemas.openxmlformats.org/officeDocument/2006/relationships/image" Target="../media/image26.png"/><Relationship Id="rId10" Type="http://schemas.openxmlformats.org/officeDocument/2006/relationships/image" Target="../media/image2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4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4.png"/><Relationship Id="rId4" Type="http://schemas.openxmlformats.org/officeDocument/2006/relationships/hyperlink" Target="https://tartarus.rpgclassics.com/zelda1/1stquest/dungeonmaps.shtml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9.png"/><Relationship Id="rId4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3.png"/><Relationship Id="rId4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2.png"/><Relationship Id="rId4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4.gif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://easings.net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docs.monogame.net/articles/getting_to_know/whatis/graphics/WhatIs_StencilBuffer.html" TargetMode="External"/><Relationship Id="rId4" Type="http://schemas.openxmlformats.org/officeDocument/2006/relationships/image" Target="../media/image1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3" Type="http://schemas.openxmlformats.org/officeDocument/2006/relationships/hyperlink" Target="https://drive.google.com/drive/folders/1jW4p7mRIVKq429lcZrWH-ANjmsq2l0sH?usp=drive_link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07: The Legend of Zelda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Legend of Zelda</a:t>
            </a:r>
            <a:endParaRPr/>
          </a:p>
        </p:txBody>
      </p:sp>
      <p:pic>
        <p:nvPicPr>
          <p:cNvPr id="46" name="Google Shape;4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66587" y="960120"/>
            <a:ext cx="5410826" cy="3554650"/>
          </a:xfrm>
          <a:prstGeom prst="rect">
            <a:avLst/>
          </a:prstGeom>
          <a:noFill/>
          <a:ln>
            <a:noFill/>
          </a:ln>
        </p:spPr>
      </p:pic>
      <p:sp>
        <p:nvSpPr>
          <p:cNvPr id="47" name="TextBox 46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The Legend of Zelda (Nintendo, 1986). Screenshot © Nintendo.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52" name="Picture 52" descr="the-legend-of-zelda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2777" y="1203675"/>
            <a:ext cx="6318444" cy="355412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Composition vs. Inheritance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Observer Pattern (Delegates &amp; Events)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Hitboxes/Hurtboxes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Tweening System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Dungeon Generation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Data-Driven Design (again)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64" name="Google Shape;64;p13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07-the-legend-of-zelda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(Zelda0 to Zelda7),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</a:t>
            </a:r>
            <a:endParaRPr/>
          </a:p>
        </p:txBody>
      </p:sp>
      <p:sp>
        <p:nvSpPr>
          <p:cNvPr id="64" name="Google Shape;64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Zelda0: rooms generated as tilemaps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Zelda1: the player, top-down movement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Zelda2: enemies and AI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Zelda3: combat (hitboxes, hurtboxes and damage)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Zelda4: events (player death, the floor switch and doorways)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Zelda5: screen scrolling between rooms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Zelda6: stenciling the door arches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Zelda7: audio (the finished game)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Diagram</a:t>
            </a:r>
            <a:endParaRPr/>
          </a:p>
        </p:txBody>
      </p:sp>
      <p:pic>
        <p:nvPicPr>
          <p:cNvPr id="70" name="Google Shape;70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302340"/>
            <a:ext cx="8839200" cy="274615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Explore the Codebase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76" name="Google Shape;76;p1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Take ~15 minutes to browse the finished game, Zelda7. Use the README as a guide if you need it.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Find where the game transitions between the title screen, gameplay, and game over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the player move?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Find where a new room is generated and what it contains when it is created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 and enemies share a lot of code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Find the common base and explain what it provides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Trace what happens from the moment the player presses the spacebar to an enemy taking damage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Assets</a:t>
            </a:r>
            <a:endParaRPr/>
          </a:p>
        </p:txBody>
      </p:sp>
      <p:pic>
        <p:nvPicPr>
          <p:cNvPr id="82" name="Picture 85" descr="zelda_tileshee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8714" y="1425731"/>
            <a:ext cx="4573373" cy="3129150"/>
          </a:xfrm>
          <a:prstGeom prst="rect">
            <a:avLst/>
          </a:prstGeom>
        </p:spPr>
      </p:pic>
      <p:pic>
        <p:nvPicPr>
          <p:cNvPr id="83" name="Picture 85" descr="character_swing_swor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9450" y="899667"/>
            <a:ext cx="1697749" cy="1697749"/>
          </a:xfrm>
          <a:prstGeom prst="rect">
            <a:avLst/>
          </a:prstGeom>
        </p:spPr>
      </p:pic>
      <p:pic>
        <p:nvPicPr>
          <p:cNvPr id="84" name="Picture 85" descr="character_wal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54471" y="874004"/>
            <a:ext cx="848874" cy="1697748"/>
          </a:xfrm>
          <a:prstGeom prst="rect">
            <a:avLst/>
          </a:prstGeom>
        </p:spPr>
      </p:pic>
      <p:pic>
        <p:nvPicPr>
          <p:cNvPr id="85" name="Picture 85" descr="zelda_entitie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30038" y="2728758"/>
            <a:ext cx="3282825" cy="218855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Tooling</a:t>
            </a:r>
            <a:endParaRPr/>
          </a:p>
        </p:txBody>
      </p:sp>
      <p:pic>
        <p:nvPicPr>
          <p:cNvPr id="91" name="Picture 91" descr="tilesheet_label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7488" y="920715"/>
            <a:ext cx="5949024" cy="407038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Top-Down Perspective</a:t>
            </a:r>
            <a:endParaRPr/>
          </a:p>
        </p:txBody>
      </p:sp>
      <p:pic>
        <p:nvPicPr>
          <p:cNvPr id="97" name="Picture 97" descr="topdow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8225" y="1062675"/>
            <a:ext cx="6867553" cy="386299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Dungeon Generation</a:t>
            </a:r>
            <a:endParaRPr/>
          </a:p>
        </p:txBody>
      </p:sp>
      <p:pic>
        <p:nvPicPr>
          <p:cNvPr id="103" name="Google Shape;103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88337" y="1363350"/>
            <a:ext cx="5167327" cy="3552550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1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4"/>
              </a:rPr>
              <a:t>Dungeon Maps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Dungeon Generation</a:t>
            </a:r>
            <a:endParaRPr/>
          </a:p>
        </p:txBody>
      </p:sp>
      <p:pic>
        <p:nvPicPr>
          <p:cNvPr id="110" name="Google Shape;110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57900" y="888915"/>
            <a:ext cx="7228193" cy="407038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Hitboxes/Hurtboxes</a:t>
            </a:r>
            <a:endParaRPr/>
          </a:p>
        </p:txBody>
      </p:sp>
      <p:pic>
        <p:nvPicPr>
          <p:cNvPr id="116" name="Google Shape;116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0250" y="1033600"/>
            <a:ext cx="3436050" cy="1935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171546" y="2254075"/>
            <a:ext cx="4735726" cy="26551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18" name="Google Shape;118;p21"/>
          <p:cNvCxnSpPr>
            <a:stCxn id="119" idx="1"/>
          </p:cNvCxnSpPr>
          <p:nvPr/>
        </p:nvCxnSpPr>
        <p:spPr>
          <a:xfrm flipH="1">
            <a:off x="2667075" y="1824150"/>
            <a:ext cx="1590900" cy="758100"/>
          </a:xfrm>
          <a:prstGeom prst="straightConnector1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20" name="Google Shape;120;p21"/>
          <p:cNvCxnSpPr>
            <a:stCxn id="121" idx="0"/>
          </p:cNvCxnSpPr>
          <p:nvPr/>
        </p:nvCxnSpPr>
        <p:spPr>
          <a:xfrm rot="10800000">
            <a:off x="1877175" y="2471025"/>
            <a:ext cx="599100" cy="1272600"/>
          </a:xfrm>
          <a:prstGeom prst="straightConnector1">
            <a:avLst/>
          </a:prstGeom>
          <a:noFill/>
          <a:ln cap="flat" cmpd="sng" w="9525">
            <a:solidFill>
              <a:srgbClr val="00FF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19" name="Google Shape;119;p21"/>
          <p:cNvSpPr txBox="1"/>
          <p:nvPr/>
        </p:nvSpPr>
        <p:spPr>
          <a:xfrm>
            <a:off x="4257975" y="1633200"/>
            <a:ext cx="843000" cy="38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FF0000"/>
                </a:solidFill>
                <a:latin typeface="Roboto Light"/>
                <a:ea typeface="Roboto Light"/>
                <a:cs typeface="Roboto Light"/>
                <a:sym typeface="Roboto Light"/>
              </a:rPr>
              <a:t>Hitbox</a:t>
            </a:r>
            <a:endParaRPr sz="1600">
              <a:solidFill>
                <a:srgbClr val="FF0000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21" name="Google Shape;121;p21"/>
          <p:cNvSpPr txBox="1"/>
          <p:nvPr/>
        </p:nvSpPr>
        <p:spPr>
          <a:xfrm>
            <a:off x="2004375" y="3743625"/>
            <a:ext cx="943800" cy="42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00FF00"/>
                </a:solidFill>
                <a:latin typeface="Roboto Light"/>
                <a:ea typeface="Roboto Light"/>
                <a:cs typeface="Roboto Light"/>
                <a:sym typeface="Roboto Light"/>
              </a:rPr>
              <a:t>Hurtbox</a:t>
            </a:r>
            <a:endParaRPr sz="1600">
              <a:solidFill>
                <a:srgbClr val="00FF00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Sword Reach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Zelda7’s GameSettings: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sword reach twice as far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Play: does it still feel fair?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Events in Games</a:t>
            </a:r>
            <a:endParaRPr/>
          </a:p>
        </p:txBody>
      </p:sp>
      <p:sp>
        <p:nvSpPr>
          <p:cNvPr id="127" name="Google Shape;127;p22"/>
          <p:cNvSpPr txBox="1"/>
          <p:nvPr>
            <p:ph idx="1" type="body"/>
          </p:nvPr>
        </p:nvSpPr>
        <p:spPr>
          <a:xfrm>
            <a:off x="311700" y="885950"/>
            <a:ext cx="8520600" cy="108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Games are full of moments where something happens and other things need to react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thing that happened shouldn't need to know what those other things are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Events let you flip that around: the trigger just announces, anything that cares subscribes</a:t>
            </a:r>
            <a:endParaRPr/>
          </a:p>
        </p:txBody>
      </p:sp>
      <p:pic>
        <p:nvPicPr>
          <p:cNvPr id="128" name="Google Shape;128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89977" y="2267725"/>
            <a:ext cx="7164024" cy="2169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Observer Pattern</a:t>
            </a:r>
            <a:endParaRPr/>
          </a:p>
        </p:txBody>
      </p:sp>
      <p:pic>
        <p:nvPicPr>
          <p:cNvPr id="134" name="Google Shape;134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47900" y="1280598"/>
            <a:ext cx="4648200" cy="2905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Observer Pattern</a:t>
            </a:r>
            <a:endParaRPr/>
          </a:p>
        </p:txBody>
      </p:sp>
      <p:pic>
        <p:nvPicPr>
          <p:cNvPr id="140" name="Google Shape;140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17138" y="1498598"/>
            <a:ext cx="7109724" cy="2936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Publisher-Subscriber / Subject-Observer</a:t>
            </a:r>
            <a:endParaRPr/>
          </a:p>
        </p:txBody>
      </p:sp>
      <p:pic>
        <p:nvPicPr>
          <p:cNvPr id="146" name="Google Shape;146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50600" y="2017251"/>
            <a:ext cx="4487800" cy="1734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7" name="Google Shape;147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233567"/>
            <a:ext cx="3901575" cy="31382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However…</a:t>
            </a:r>
            <a:endParaRPr/>
          </a:p>
        </p:txBody>
      </p:sp>
      <p:sp>
        <p:nvSpPr>
          <p:cNvPr id="153" name="Google Shape;153;p2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In C#, we don’t need to implement the observer pattern. Events are part of the language!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C# Events</a:t>
            </a:r>
            <a:endParaRPr/>
          </a:p>
        </p:txBody>
      </p:sp>
      <p:pic>
        <p:nvPicPr>
          <p:cNvPr id="159" name="Google Shape;159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0" y="1645271"/>
            <a:ext cx="3573650" cy="2392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0" name="Google Shape;160;p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10100" y="1297490"/>
            <a:ext cx="4953849" cy="30876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Delegates</a:t>
            </a:r>
            <a:endParaRPr/>
          </a:p>
        </p:txBody>
      </p:sp>
      <p:sp>
        <p:nvSpPr>
          <p:cNvPr id="166" name="Google Shape;166;p28"/>
          <p:cNvSpPr txBox="1"/>
          <p:nvPr>
            <p:ph idx="1" type="body"/>
          </p:nvPr>
        </p:nvSpPr>
        <p:spPr>
          <a:xfrm>
            <a:off x="311700" y="1353550"/>
            <a:ext cx="3999900" cy="10764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Built-in delegate types: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</a:t>
            </a: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returns void, no args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Action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</a:t>
            </a: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returns void, takes T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Func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</a:t>
            </a: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returns T, no args</a:t>
            </a:r>
            <a:endParaRPr/>
          </a:p>
        </p:txBody>
      </p:sp>
      <p:sp>
        <p:nvSpPr>
          <p:cNvPr id="167" name="Google Shape;167;p28"/>
          <p:cNvSpPr txBox="1"/>
          <p:nvPr>
            <p:ph idx="2" type="body"/>
          </p:nvPr>
        </p:nvSpPr>
        <p:spPr>
          <a:xfrm>
            <a:off x="4832400" y="1353550"/>
            <a:ext cx="3999900" cy="2082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GameObject.cs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OnCollide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Room.cs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switchObj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OnCollide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switchObj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"pressed"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foreach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Doorways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IsOpen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};</a:t>
            </a:r>
            <a:endParaRPr/>
          </a:p>
        </p:txBody>
      </p:sp>
      <p:sp>
        <p:nvSpPr>
          <p:cNvPr id="168" name="Google Shape;168;p28"/>
          <p:cNvSpPr txBox="1"/>
          <p:nvPr>
            <p:ph idx="1" type="body"/>
          </p:nvPr>
        </p:nvSpPr>
        <p:spPr>
          <a:xfrm>
            <a:off x="311700" y="887200"/>
            <a:ext cx="8520600" cy="40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A delegate is a variable that holds a reference to a method, to call later from anywhere.</a:t>
            </a:r>
            <a:endParaRPr/>
          </a:p>
        </p:txBody>
      </p:sp>
      <p:sp>
        <p:nvSpPr>
          <p:cNvPr id="169" name="Google Shape;169;p28"/>
          <p:cNvSpPr txBox="1"/>
          <p:nvPr>
            <p:ph idx="1" type="body"/>
          </p:nvPr>
        </p:nvSpPr>
        <p:spPr>
          <a:xfrm>
            <a:off x="311700" y="2571750"/>
            <a:ext cx="3999900" cy="15369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Assign one handler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OnCollide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Console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WriteLine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"hit"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Add multiple handlers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OnCollide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PlaySound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"hit"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OnCollide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FlashRed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/>
          </a:p>
        </p:txBody>
      </p:sp>
      <p:sp>
        <p:nvSpPr>
          <p:cNvPr id="170" name="Google Shape;170;p28"/>
          <p:cNvSpPr txBox="1"/>
          <p:nvPr>
            <p:ph idx="1" type="body"/>
          </p:nvPr>
        </p:nvSpPr>
        <p:spPr>
          <a:xfrm>
            <a:off x="311700" y="4250450"/>
            <a:ext cx="3999900" cy="609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Call all subscribers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OnCollide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?.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Invoke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C# Events</a:t>
            </a:r>
            <a:endParaRPr/>
          </a:p>
        </p:txBody>
      </p:sp>
      <p:pic>
        <p:nvPicPr>
          <p:cNvPr id="176" name="Google Shape;176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3111" y="1975100"/>
            <a:ext cx="7437776" cy="2037250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29"/>
          <p:cNvSpPr txBox="1"/>
          <p:nvPr>
            <p:ph idx="1" type="body"/>
          </p:nvPr>
        </p:nvSpPr>
        <p:spPr>
          <a:xfrm>
            <a:off x="311700" y="885950"/>
            <a:ext cx="8520600" cy="83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</a:t>
            </a:r>
            <a:r>
              <a:rPr lang="en"/>
              <a:t>n </a:t>
            </a:r>
            <a:r>
              <a:rPr lang="en"/>
              <a:t>event is a delegate with guardrails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It is still a delegate, but the event keyword restricts what outside code can do with it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Lambda Expressions</a:t>
            </a:r>
            <a:endParaRPr/>
          </a:p>
        </p:txBody>
      </p:sp>
      <p:sp>
        <p:nvSpPr>
          <p:cNvPr id="183" name="Google Shape;183;p30"/>
          <p:cNvSpPr txBox="1"/>
          <p:nvPr>
            <p:ph idx="1" type="body"/>
          </p:nvPr>
        </p:nvSpPr>
        <p:spPr>
          <a:xfrm>
            <a:off x="311700" y="1989425"/>
            <a:ext cx="8520600" cy="1566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lambda is an anonymous function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function defined inline, without a name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short piece of behaviour in one place without declaring a whole method for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Implicit return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Common use: passing behaviour as an argument, or subscribing to events</a:t>
            </a:r>
            <a:endParaRPr/>
          </a:p>
        </p:txBody>
      </p:sp>
      <p:sp>
        <p:nvSpPr>
          <p:cNvPr id="184" name="Google Shape;184;p30"/>
          <p:cNvSpPr txBox="1"/>
          <p:nvPr>
            <p:ph idx="1" type="body"/>
          </p:nvPr>
        </p:nvSpPr>
        <p:spPr>
          <a:xfrm>
            <a:off x="311700" y="3795886"/>
            <a:ext cx="8520600" cy="8637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IsEven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%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The same thing as a lambda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%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endParaRPr/>
          </a:p>
        </p:txBody>
      </p:sp>
      <p:sp>
        <p:nvSpPr>
          <p:cNvPr id="185" name="Google Shape;185;p30"/>
          <p:cNvSpPr txBox="1"/>
          <p:nvPr>
            <p:ph idx="1" type="body"/>
          </p:nvPr>
        </p:nvSpPr>
        <p:spPr>
          <a:xfrm>
            <a:off x="311700" y="1066157"/>
            <a:ext cx="8520600" cy="802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400"/>
              <a:t>(parameters) =&gt; expression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1"/>
          <p:cNvSpPr txBox="1"/>
          <p:nvPr>
            <p:ph idx="1" type="body"/>
          </p:nvPr>
        </p:nvSpPr>
        <p:spPr>
          <a:xfrm>
            <a:off x="2965500" y="1018600"/>
            <a:ext cx="3213000" cy="23424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switchObj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OnCollide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endParaRPr sz="1000">
              <a:solidFill>
                <a:srgbClr val="D4D4D4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switchObj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"unpressed"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switchObj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"pressed"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foreach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Doorways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IsOpen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};</a:t>
            </a:r>
            <a:endParaRPr sz="1000">
              <a:solidFill>
                <a:srgbClr val="569CD6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1" name="Google Shape;191;p3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Lambda Expressions &amp; Events</a:t>
            </a:r>
            <a:endParaRPr/>
          </a:p>
        </p:txBody>
      </p:sp>
      <p:sp>
        <p:nvSpPr>
          <p:cNvPr id="192" name="Google Shape;192;p31"/>
          <p:cNvSpPr txBox="1"/>
          <p:nvPr>
            <p:ph idx="1" type="body"/>
          </p:nvPr>
        </p:nvSpPr>
        <p:spPr>
          <a:xfrm>
            <a:off x="311700" y="3527800"/>
            <a:ext cx="8520600" cy="137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lambda captures variables from its surrounding scope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E.g. switchObj &amp; Doorways. This is called a closure.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Without lambdas, the switch behaviour would need to be a separate named method that somehow still had access to switchObj and Doorways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Second Listener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Zelda7, in PlayState: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second subscriber to _dungeon.OnPlayerDied that plays a sound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classes did you change? Which didn’t need to know?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Making Zelda (more) Event-driven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98" name="Google Shape;198;p32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Pick one and make it event-driven. The class firing the event must not know who reacts.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OnPlayerDied: trace the chain from the room to the game-over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Enemy death: what could react to an event for it?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SoundManager.PlaySound is called from many classes. How would events help?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Screen Scrolling</a:t>
            </a:r>
            <a:endParaRPr/>
          </a:p>
        </p:txBody>
      </p:sp>
      <p:pic>
        <p:nvPicPr>
          <p:cNvPr id="204" name="Google Shape;204;p33" title="R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42337" y="1240300"/>
            <a:ext cx="3459325" cy="3243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Tweening</a:t>
            </a:r>
            <a:endParaRPr/>
          </a:p>
        </p:txBody>
      </p:sp>
      <p:sp>
        <p:nvSpPr>
          <p:cNvPr id="210" name="Google Shape;210;p34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Tweening: move a value from A to B over time, instead of snapping it there.</a:t>
            </a:r>
            <a:endParaRPr/>
          </a:p>
        </p:txBody>
      </p:sp>
      <p:sp>
        <p:nvSpPr>
          <p:cNvPr id="211" name="TextBox 210"/>
          <p:cNvSpPr txBox="1"/>
          <p:nvPr/>
        </p:nvSpPr>
        <p:spPr>
          <a:xfrm>
            <a:off x="640080" y="14173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linear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640080" y="224028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ease-out</a:t>
            </a:r>
          </a:p>
        </p:txBody>
      </p:sp>
      <p:sp>
        <p:nvSpPr>
          <p:cNvPr id="213" name="Oval 212"/>
          <p:cNvSpPr/>
          <p:nvPr/>
        </p:nvSpPr>
        <p:spPr>
          <a:xfrm>
            <a:off x="1901952" y="1417320"/>
            <a:ext cx="219456" cy="219456"/>
          </a:xfrm>
          <a:prstGeom prst="ellipse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14" name="Oval 213"/>
          <p:cNvSpPr/>
          <p:nvPr/>
        </p:nvSpPr>
        <p:spPr>
          <a:xfrm>
            <a:off x="2679192" y="141732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15" name="Oval 214"/>
          <p:cNvSpPr/>
          <p:nvPr/>
        </p:nvSpPr>
        <p:spPr>
          <a:xfrm>
            <a:off x="3456432" y="141732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16" name="Oval 215"/>
          <p:cNvSpPr/>
          <p:nvPr/>
        </p:nvSpPr>
        <p:spPr>
          <a:xfrm>
            <a:off x="4233672" y="141732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17" name="Oval 216"/>
          <p:cNvSpPr/>
          <p:nvPr/>
        </p:nvSpPr>
        <p:spPr>
          <a:xfrm>
            <a:off x="5010912" y="141732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18" name="Oval 217"/>
          <p:cNvSpPr/>
          <p:nvPr/>
        </p:nvSpPr>
        <p:spPr>
          <a:xfrm>
            <a:off x="5788152" y="141732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19" name="Oval 218"/>
          <p:cNvSpPr/>
          <p:nvPr/>
        </p:nvSpPr>
        <p:spPr>
          <a:xfrm>
            <a:off x="6565392" y="141732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0" name="Oval 219"/>
          <p:cNvSpPr/>
          <p:nvPr/>
        </p:nvSpPr>
        <p:spPr>
          <a:xfrm>
            <a:off x="7342632" y="141732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1" name="Oval 220"/>
          <p:cNvSpPr/>
          <p:nvPr/>
        </p:nvSpPr>
        <p:spPr>
          <a:xfrm>
            <a:off x="8119872" y="1417320"/>
            <a:ext cx="219456" cy="219456"/>
          </a:xfrm>
          <a:prstGeom prst="ellipse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2" name="Oval 221"/>
          <p:cNvSpPr/>
          <p:nvPr/>
        </p:nvSpPr>
        <p:spPr>
          <a:xfrm>
            <a:off x="1901952" y="2240280"/>
            <a:ext cx="219456" cy="219456"/>
          </a:xfrm>
          <a:prstGeom prst="ellipse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3" name="Oval 222"/>
          <p:cNvSpPr/>
          <p:nvPr/>
        </p:nvSpPr>
        <p:spPr>
          <a:xfrm>
            <a:off x="3359277" y="224028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4" name="Oval 223"/>
          <p:cNvSpPr/>
          <p:nvPr/>
        </p:nvSpPr>
        <p:spPr>
          <a:xfrm>
            <a:off x="4622292" y="224028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5" name="Oval 224"/>
          <p:cNvSpPr/>
          <p:nvPr/>
        </p:nvSpPr>
        <p:spPr>
          <a:xfrm>
            <a:off x="5690997" y="224028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6" name="Oval 225"/>
          <p:cNvSpPr/>
          <p:nvPr/>
        </p:nvSpPr>
        <p:spPr>
          <a:xfrm>
            <a:off x="6565392" y="224028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7" name="Oval 226"/>
          <p:cNvSpPr/>
          <p:nvPr/>
        </p:nvSpPr>
        <p:spPr>
          <a:xfrm>
            <a:off x="7245476" y="224028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8" name="Oval 227"/>
          <p:cNvSpPr/>
          <p:nvPr/>
        </p:nvSpPr>
        <p:spPr>
          <a:xfrm>
            <a:off x="7731252" y="224028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29" name="Oval 228"/>
          <p:cNvSpPr/>
          <p:nvPr/>
        </p:nvSpPr>
        <p:spPr>
          <a:xfrm>
            <a:off x="8022717" y="2240280"/>
            <a:ext cx="219456" cy="219456"/>
          </a:xfrm>
          <a:prstGeom prst="ellipse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30" name="Oval 229"/>
          <p:cNvSpPr/>
          <p:nvPr/>
        </p:nvSpPr>
        <p:spPr>
          <a:xfrm>
            <a:off x="8119872" y="2240280"/>
            <a:ext cx="219456" cy="219456"/>
          </a:xfrm>
          <a:prstGeom prst="ellipse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640080" y="3017520"/>
            <a:ext cx="7863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same nine frames. Where the dots bunch up, the value moves slowly.</a:t>
            </a:r>
          </a:p>
          <a:p>
            <a:pPr algn="ctr"/>
            <a:r>
              <a:rPr sz="1400" b="0" i="0">
                <a:solidFill>
                  <a:srgbClr val="9AA3AB"/>
                </a:solidFill>
              </a:rPr>
              <a:t>More curves: easings.net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Linear Interpolation</a:t>
            </a:r>
            <a:endParaRPr/>
          </a:p>
        </p:txBody>
      </p:sp>
      <p:sp>
        <p:nvSpPr>
          <p:cNvPr id="216" name="Google Shape;216;p3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Linear interpolation: the simplest curve.</a:t>
            </a:r>
            <a:endParaRPr/>
          </a:p>
        </p:txBody>
      </p:sp>
      <p:sp>
        <p:nvSpPr>
          <p:cNvPr id="217" name="Rectangle 216"/>
          <p:cNvSpPr/>
          <p:nvPr/>
        </p:nvSpPr>
        <p:spPr>
          <a:xfrm>
            <a:off x="1371600" y="1417320"/>
            <a:ext cx="6400800" cy="64008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500">
                <a:solidFill>
                  <a:srgbClr val="DEE2E6"/>
                </a:solidFill>
                <a:latin typeface="Consolas"/>
              </a:rPr>
              <a:t>lerp(a, b, t) = a + (b - a) * t        // t from 0 to 1</a:t>
            </a:r>
          </a:p>
        </p:txBody>
      </p:sp>
      <p:sp>
        <p:nvSpPr>
          <p:cNvPr id="218" name="Rounded Rectangle 217"/>
          <p:cNvSpPr/>
          <p:nvPr/>
        </p:nvSpPr>
        <p:spPr>
          <a:xfrm>
            <a:off x="1371600" y="2377440"/>
            <a:ext cx="1920240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t = 0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a</a:t>
            </a:r>
          </a:p>
        </p:txBody>
      </p:sp>
      <p:sp>
        <p:nvSpPr>
          <p:cNvPr id="219" name="Rounded Rectangle 218"/>
          <p:cNvSpPr/>
          <p:nvPr/>
        </p:nvSpPr>
        <p:spPr>
          <a:xfrm>
            <a:off x="3611880" y="2377440"/>
            <a:ext cx="1920240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t = 0.5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halfway</a:t>
            </a:r>
          </a:p>
        </p:txBody>
      </p:sp>
      <p:sp>
        <p:nvSpPr>
          <p:cNvPr id="220" name="Rounded Rectangle 219"/>
          <p:cNvSpPr/>
          <p:nvPr/>
        </p:nvSpPr>
        <p:spPr>
          <a:xfrm>
            <a:off x="5852160" y="2377440"/>
            <a:ext cx="1920240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t = 1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b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371600" y="329184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Works on anything numeric: positions, colours, angles.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3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Screen Scrolling</a:t>
            </a:r>
            <a:endParaRPr/>
          </a:p>
        </p:txBody>
      </p:sp>
      <p:sp>
        <p:nvSpPr>
          <p:cNvPr id="222" name="Google Shape;222;p3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next room waits one screen away. The camera moves, and the player walks with it.</a:t>
            </a:r>
            <a:endParaRPr/>
          </a:p>
        </p:txBody>
      </p:sp>
      <p:sp>
        <p:nvSpPr>
          <p:cNvPr id="223" name="Rectangle 222"/>
          <p:cNvSpPr/>
          <p:nvPr/>
        </p:nvSpPr>
        <p:spPr>
          <a:xfrm>
            <a:off x="548640" y="1463040"/>
            <a:ext cx="3291840" cy="1463040"/>
          </a:xfrm>
          <a:prstGeom prst="rect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This room</a:t>
            </a:r>
          </a:p>
        </p:txBody>
      </p:sp>
      <p:sp>
        <p:nvSpPr>
          <p:cNvPr id="224" name="Rectangle 223"/>
          <p:cNvSpPr/>
          <p:nvPr/>
        </p:nvSpPr>
        <p:spPr>
          <a:xfrm>
            <a:off x="4937760" y="1463040"/>
            <a:ext cx="3291840" cy="1463040"/>
          </a:xfrm>
          <a:prstGeom prst="rect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The next room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placed one screen away,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never moves</a:t>
            </a:r>
          </a:p>
        </p:txBody>
      </p:sp>
      <p:sp>
        <p:nvSpPr>
          <p:cNvPr id="225" name="Rectangle 224"/>
          <p:cNvSpPr/>
          <p:nvPr/>
        </p:nvSpPr>
        <p:spPr>
          <a:xfrm>
            <a:off x="457200" y="1371600"/>
            <a:ext cx="3474720" cy="1645920"/>
          </a:xfrm>
          <a:prstGeom prst="rect">
            <a:avLst/>
          </a:prstGeom>
          <a:noFill/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cxnSp>
        <p:nvCxnSpPr>
          <p:cNvPr id="226" name="Connector 225"/>
          <p:cNvCxnSpPr/>
          <p:nvPr/>
        </p:nvCxnSpPr>
        <p:spPr>
          <a:xfrm>
            <a:off x="3977639" y="2194560"/>
            <a:ext cx="868681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7" name="TextBox 226"/>
          <p:cNvSpPr txBox="1"/>
          <p:nvPr/>
        </p:nvSpPr>
        <p:spPr>
          <a:xfrm>
            <a:off x="3794759" y="1901952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camera</a:t>
            </a:r>
          </a:p>
        </p:txBody>
      </p:sp>
      <p:sp>
        <p:nvSpPr>
          <p:cNvPr id="228" name="Rectangle 227"/>
          <p:cNvSpPr/>
          <p:nvPr/>
        </p:nvSpPr>
        <p:spPr>
          <a:xfrm>
            <a:off x="548640" y="3246120"/>
            <a:ext cx="7680960" cy="91440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_tweens.Tween(GameSettings.RoomShiftDuration)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.Add(t =&gt; /* move the camera */, 0f, 1f).Add(t =&gt; /* walk the player */, 0f, 1f)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.Finish(FinishShift);   // the next room becomes the current one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65" name="Google Shape;165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Tweening System</a:t>
            </a:r>
            <a:endParaRPr/>
          </a:p>
        </p:txBody>
      </p:sp>
      <p:sp>
        <p:nvSpPr>
          <p:cNvPr id="249" name="Google Shape;249;p40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Games tween all the time: fades, flashes, menus, floating numbers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GMDCore gets a reusable TweenManager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Tween: values from A to B over time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After: run a method later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Every: repeat at an interval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Chaining: .Add() and .Finish()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dungeon keeps no progress variable, and never asks if the scroll is done</a:t>
            </a:r>
            <a:endParaRPr/>
          </a:p>
        </p:txBody>
      </p:sp>
      <p:sp>
        <p:nvSpPr>
          <p:cNvPr id="166" name="Google Shape;166;p28"/>
          <p:cNvSpPr txBox="1"/>
          <p:nvPr>
            <p:ph idx="1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_tweens.Tween(duration)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.Add(t =&gt; _camera.Position =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Vector2.Lerp(from, to, t), 0f, 1f)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.Finish(FinishShift);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_tweens.After(0.5f, () =&gt; Flash());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_tweens.Every(0.1f, Blink).Limit(6);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Every frame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_tweens.Update(gameTime);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Stenciling</a:t>
            </a:r>
            <a:endParaRPr/>
          </a:p>
        </p:txBody>
      </p:sp>
      <p:sp>
        <p:nvSpPr>
          <p:cNvPr id="229" name="Google Shape;229;p37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Walking through a door, the player should go under the arch, not over it.</a:t>
            </a:r>
            <a:endParaRPr/>
          </a:p>
        </p:txBody>
      </p:sp>
      <p:pic>
        <p:nvPicPr>
          <p:cNvPr id="230" name="Google Shape;230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760720" y="1463040"/>
            <a:ext cx="2926080" cy="1864572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Rounded Rectangle 230"/>
          <p:cNvSpPr/>
          <p:nvPr/>
        </p:nvSpPr>
        <p:spPr>
          <a:xfrm>
            <a:off x="457200" y="1417320"/>
            <a:ext cx="493776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500" b="1">
                <a:solidFill>
                  <a:srgbClr val="DEE2E6"/>
                </a:solidFill>
              </a:rPr>
              <a:t>Pass 1: draw the rooms</a:t>
            </a:r>
          </a:p>
          <a:p>
            <a:pPr algn="l"/>
            <a:r>
              <a:rPr sz="1300" b="0">
                <a:solidFill>
                  <a:srgbClr val="9AA3AB"/>
                </a:solidFill>
              </a:rPr>
              <a:t>as usual</a:t>
            </a:r>
          </a:p>
        </p:txBody>
      </p:sp>
      <p:sp>
        <p:nvSpPr>
          <p:cNvPr id="232" name="Rounded Rectangle 231"/>
          <p:cNvSpPr/>
          <p:nvPr/>
        </p:nvSpPr>
        <p:spPr>
          <a:xfrm>
            <a:off x="457200" y="2286000"/>
            <a:ext cx="493776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500" b="1">
                <a:solidFill>
                  <a:srgbClr val="DEE2E6"/>
                </a:solidFill>
              </a:rPr>
              <a:t>Pass 2: mark the arches</a:t>
            </a:r>
          </a:p>
          <a:p>
            <a:pPr algn="l"/>
            <a:r>
              <a:rPr sz="1300" b="0">
                <a:solidFill>
                  <a:srgbClr val="9AA3AB"/>
                </a:solidFill>
              </a:rPr>
              <a:t>in the stencil buffer, with no colour</a:t>
            </a:r>
          </a:p>
        </p:txBody>
      </p:sp>
      <p:sp>
        <p:nvSpPr>
          <p:cNvPr id="233" name="Rounded Rectangle 232"/>
          <p:cNvSpPr/>
          <p:nvPr/>
        </p:nvSpPr>
        <p:spPr>
          <a:xfrm>
            <a:off x="457200" y="3154680"/>
            <a:ext cx="493776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500" b="1">
                <a:solidFill>
                  <a:srgbClr val="DEE2E6"/>
                </a:solidFill>
              </a:rPr>
              <a:t>Pass 3: draw the player again</a:t>
            </a:r>
          </a:p>
          <a:p>
            <a:pPr algn="l"/>
            <a:r>
              <a:rPr sz="1300" b="0">
                <a:solidFill>
                  <a:srgbClr val="9AA3AB"/>
                </a:solidFill>
              </a:rPr>
              <a:t>only where nothing is marked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Data Driven Design</a:t>
            </a:r>
            <a:endParaRPr/>
          </a:p>
        </p:txBody>
      </p:sp>
      <p:sp>
        <p:nvSpPr>
          <p:cNvPr id="236" name="Google Shape;236;p3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Content in data, behaviour in C#: a new enemy is one XML block and a row of sprites.</a:t>
            </a:r>
            <a:endParaRPr/>
          </a:p>
        </p:txBody>
      </p:sp>
      <p:sp>
        <p:nvSpPr>
          <p:cNvPr id="237" name="Rectangle 236"/>
          <p:cNvSpPr/>
          <p:nvPr/>
        </p:nvSpPr>
        <p:spPr>
          <a:xfrm>
            <a:off x="457200" y="1417320"/>
            <a:ext cx="8229600" cy="109728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&lt;Enemy type="skeleton" width="16" height="16" walkSpeed="20" health="1"&gt;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&lt;Animation name="walk-down" frames="9,10,11,10" interval="0.2" /&gt;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&lt;Animation name="idle-down" frames="10"         interval="0.2" /&gt;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&lt;/Enemy&gt;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457200" y="26974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definition classes read the XML once; the rest of the code never sees it.</a:t>
            </a:r>
          </a:p>
          <a:p>
            <a:pPr algn="ctr"/>
            <a:r>
              <a:rPr sz="1400" b="0" i="0">
                <a:solidFill>
                  <a:srgbClr val="9AA3AB"/>
                </a:solidFill>
              </a:rPr>
              <a:t>GameObject has no if (type == "switch") anywhere.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457200" y="34290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DEE2E6"/>
                </a:solidFill>
              </a:rPr>
              <a:t>Someone writes type="skelton". When do you find out?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9" name="Google Shape;249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Composition vs. Inheritance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0" name="Google Shape;250;p4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 enemy that flies, one that shoots, one that does both. Where do they go?</a:t>
            </a:r>
            <a:endParaRPr/>
          </a:p>
        </p:txBody>
      </p:sp>
      <p:sp>
        <p:nvSpPr>
          <p:cNvPr id="251" name="Rounded Rectangle 250"/>
          <p:cNvSpPr/>
          <p:nvPr/>
        </p:nvSpPr>
        <p:spPr>
          <a:xfrm>
            <a:off x="3566160" y="1325880"/>
            <a:ext cx="20116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Entity</a:t>
            </a:r>
          </a:p>
        </p:txBody>
      </p:sp>
      <p:sp>
        <p:nvSpPr>
          <p:cNvPr id="252" name="Rounded Rectangle 251"/>
          <p:cNvSpPr/>
          <p:nvPr/>
        </p:nvSpPr>
        <p:spPr>
          <a:xfrm>
            <a:off x="3566160" y="2057400"/>
            <a:ext cx="20116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Enemy</a:t>
            </a:r>
          </a:p>
        </p:txBody>
      </p:sp>
      <p:cxnSp>
        <p:nvCxnSpPr>
          <p:cNvPr id="253" name="Connector 252"/>
          <p:cNvCxnSpPr/>
          <p:nvPr/>
        </p:nvCxnSpPr>
        <p:spPr>
          <a:xfrm flipV="1">
            <a:off x="4572000" y="1847088"/>
            <a:ext cx="0" cy="19202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4" name="Rounded Rectangle 253"/>
          <p:cNvSpPr/>
          <p:nvPr/>
        </p:nvSpPr>
        <p:spPr>
          <a:xfrm>
            <a:off x="1097280" y="2788920"/>
            <a:ext cx="210312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FlyingEnemy</a:t>
            </a:r>
          </a:p>
        </p:txBody>
      </p:sp>
      <p:cxnSp>
        <p:nvCxnSpPr>
          <p:cNvPr id="255" name="Connector 254"/>
          <p:cNvCxnSpPr/>
          <p:nvPr/>
        </p:nvCxnSpPr>
        <p:spPr>
          <a:xfrm flipV="1">
            <a:off x="2148840" y="2578608"/>
            <a:ext cx="2423160" cy="19202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6" name="Rounded Rectangle 255"/>
          <p:cNvSpPr/>
          <p:nvPr/>
        </p:nvSpPr>
        <p:spPr>
          <a:xfrm>
            <a:off x="3474720" y="2788920"/>
            <a:ext cx="210312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ShootingEnemy</a:t>
            </a:r>
          </a:p>
        </p:txBody>
      </p:sp>
      <p:cxnSp>
        <p:nvCxnSpPr>
          <p:cNvPr id="257" name="Connector 256"/>
          <p:cNvCxnSpPr/>
          <p:nvPr/>
        </p:nvCxnSpPr>
        <p:spPr>
          <a:xfrm flipV="1">
            <a:off x="4526280" y="2578608"/>
            <a:ext cx="45720" cy="19202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Rounded Rectangle 257"/>
          <p:cNvSpPr/>
          <p:nvPr/>
        </p:nvSpPr>
        <p:spPr>
          <a:xfrm>
            <a:off x="5852160" y="2788920"/>
            <a:ext cx="210312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ExplodingEnemy</a:t>
            </a:r>
          </a:p>
        </p:txBody>
      </p:sp>
      <p:cxnSp>
        <p:nvCxnSpPr>
          <p:cNvPr id="259" name="Connector 258"/>
          <p:cNvCxnSpPr/>
          <p:nvPr/>
        </p:nvCxnSpPr>
        <p:spPr>
          <a:xfrm flipH="1" flipV="1">
            <a:off x="4572000" y="2578608"/>
            <a:ext cx="2331720" cy="19202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0" name="Rounded Rectangle 259"/>
          <p:cNvSpPr/>
          <p:nvPr/>
        </p:nvSpPr>
        <p:spPr>
          <a:xfrm>
            <a:off x="2286000" y="3566160"/>
            <a:ext cx="45720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FlyingShootingEnemy? copy code, or move it all up?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“Favor object composition over class inheritance.” Gang of Four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9" name="Google Shape;249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Composition in Zelda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0" name="Google Shape;250;p4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Zelda already composes: ask whether it’s what something is, or what it can do.</a:t>
            </a:r>
            <a:endParaRPr/>
          </a:p>
        </p:txBody>
      </p:sp>
      <p:sp>
        <p:nvSpPr>
          <p:cNvPr id="251" name="Rounded Rectangle 250"/>
          <p:cNvSpPr/>
          <p:nvPr/>
        </p:nvSpPr>
        <p:spPr>
          <a:xfrm>
            <a:off x="411480" y="146304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Behaviour in state objects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an enemy’s AI is the state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it holds, not the Enemy class</a:t>
            </a:r>
          </a:p>
        </p:txBody>
      </p:sp>
      <p:sp>
        <p:nvSpPr>
          <p:cNvPr id="252" name="Rounded Rectangle 251"/>
          <p:cNvSpPr/>
          <p:nvPr/>
        </p:nvSpPr>
        <p:spPr>
          <a:xfrm>
            <a:off x="3246120" y="146304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Behaviour wired from outside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switch is a plain GameObject;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the room attaches OnCollide</a:t>
            </a:r>
          </a:p>
        </p:txBody>
      </p:sp>
      <p:sp>
        <p:nvSpPr>
          <p:cNvPr id="253" name="Rounded Rectangle 252"/>
          <p:cNvSpPr/>
          <p:nvPr/>
        </p:nvSpPr>
        <p:spPr>
          <a:xfrm>
            <a:off x="6080760" y="146304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Data instead of subclasses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enemy types come from XML,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not one class each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411480" y="2926080"/>
            <a:ext cx="8321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Plants vs. Zombies takes this all the way: the Component pattern.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3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Keys and Locked Doors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44" name="Google Shape;244;p39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Zelda7. Full instructions are on the course site.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Some enemies drop a key when they die: use an event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locked state for doorways, in door_layouts.xml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key opens a locked door for good; show the keys next to the hearts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9" name="Google Shape;249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Composition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0" name="Google Shape;250;p4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Sketch the class hierarchy for enemies that can walk, fly, shoot or explode, in any combination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 sketch it with composition: which parts would an enemy have?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Implement one part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E.g. a shooting behaviour that any enemy can be given</a:t>
            </a:r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71907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does inheritance fit, and when is composition better?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does Observer suit UI code particularly well?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the difference between a delegate and an event in C#?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the cost of data-driven design?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1821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Apply It to Your Project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0" name="Google Shape;250;p4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are the meaningful moments in your game?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 things that happen that other systems might care about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Map out at least two of them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fires the event, and what should react?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Is there anywhere a class knows too much about another?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Could an event fix that?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does your game use inheritance?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Is each subclass what something is, or what it can do?</a:t>
            </a:r>
            <a:endParaRPr/>
          </a:p>
        </p:txBody>
      </p:sp>
      <p:pic>
        <p:nvPicPr>
          <p:cNvPr id="251" name="Google Shape;251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51113" y="3209325"/>
            <a:ext cx="2241775" cy="16999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