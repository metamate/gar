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95" r:id="rId54"/>
    <p:sldId id="269" r:id="rId19"/>
    <p:sldId id="270" r:id="rId20"/>
    <p:sldId id="271" r:id="rId21"/>
    <p:sldId id="272" r:id="rId22"/>
    <p:sldId id="273" r:id="rId23"/>
    <p:sldId id="274" r:id="rId24"/>
    <p:sldId id="275" r:id="rId25"/>
    <p:sldId id="276" r:id="rId26"/>
    <p:sldId id="277" r:id="rId27"/>
    <p:sldId id="278" r:id="rId28"/>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41.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2.xml"/><Relationship Id="rId51" Type="http://schemas.openxmlformats.org/officeDocument/2006/relationships/slide" Target="slides/slide39.xml"/><Relationship Id="rId52" Type="http://schemas.openxmlformats.org/officeDocument/2006/relationships/slide" Target="slides/slide33.xml"/><Relationship Id="rId53" Type="http://schemas.openxmlformats.org/officeDocument/2006/relationships/slide" Target="slides/slide40.xml"/><Relationship Id="rId54" Type="http://schemas.openxmlformats.org/officeDocument/2006/relationships/slide" Target="slides/slide15.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dungeon maps: rooms connected by doors. Ours is simpler: an endless series of rooms.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 list of observers, and notify calls each.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names for the same idea. Publisher-subscriber usually means there’s something in between.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type="rta".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a health bar subscribes to an event on the player,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4"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21.png"/><Relationship Id="rId4" Type="http://schemas.openxmlformats.org/officeDocument/2006/relationships/image" Target="../media/image6.png"/><Relationship Id="rId6" Type="http://schemas.openxmlformats.org/officeDocument/2006/relationships/image" Target="../media/image10.png"/><Relationship Id="rId7"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4"/>
          <a:stretch>
            <a:fillRect/>
          </a:stretch>
        </p:blipFill>
        <p:spPr>
          <a:xfrm>
            <a:off x="1412779" y="1203675"/>
            <a:ext cx="6318440" cy="355412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tilesheet.png"/>
          <p:cNvPicPr>
            <a:picLocks noChangeAspect="1"/>
          </p:cNvPicPr>
          <p:nvPr/>
        </p:nvPicPr>
        <p:blipFill>
          <a:blip r:embed="rId4"/>
          <a:stretch>
            <a:fillRect/>
          </a:stretch>
        </p:blipFill>
        <p:spPr>
          <a:xfrm>
            <a:off x="408714" y="1425731"/>
            <a:ext cx="4573373" cy="3129149"/>
          </a:xfrm>
          <a:prstGeom prst="rect">
            <a:avLst/>
          </a:prstGeom>
        </p:spPr>
      </p:pic>
      <p:pic>
        <p:nvPicPr>
          <p:cNvPr id="83" name="Picture 85" descr="character_swing_sword.png"/>
          <p:cNvPicPr>
            <a:picLocks noChangeAspect="1"/>
          </p:cNvPicPr>
          <p:nvPr/>
        </p:nvPicPr>
        <p:blipFill>
          <a:blip r:embed="rId6"/>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7"/>
          <a:stretch>
            <a:fillRect/>
          </a:stretch>
        </p:blipFill>
        <p:spPr>
          <a:xfrm>
            <a:off x="5454471" y="1086222"/>
            <a:ext cx="848874" cy="1273311"/>
          </a:xfrm>
          <a:prstGeom prst="rect">
            <a:avLst/>
          </a:prstGeom>
        </p:spPr>
      </p:pic>
      <p:pic>
        <p:nvPicPr>
          <p:cNvPr id="85" name="Picture 85" descr="entities.png"/>
          <p:cNvPicPr>
            <a:picLocks noChangeAspect="1"/>
          </p:cNvPicPr>
          <p:nvPr/>
        </p:nvPicPr>
        <p:blipFill>
          <a:blip r:embed="rId3"/>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3"/>
          <a:stretch>
            <a:fillRect/>
          </a:stretch>
        </p:blipFill>
        <p:spPr>
          <a:xfrm>
            <a:off x="1597489" y="920715"/>
            <a:ext cx="5949022"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f026.png"/>
          <p:cNvPicPr>
            <a:picLocks noChangeAspect="1"/>
          </p:cNvPicPr>
          <p:nvPr/>
        </p:nvPicPr>
        <p:blipFill>
          <a:blip r:embed="rId3"/>
          <a:stretch>
            <a:fillRect/>
          </a:stretch>
        </p:blipFill>
        <p:spPr>
          <a:xfrm>
            <a:off x="1138226" y="1062675"/>
            <a:ext cx="6867550" cy="386299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 delegate, as a property</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room adds a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The value of the expression is returned</a:t>
            </a:r>
            <a:endParaRPr/>
          </a:p>
          <a:p>
            <a:pPr indent="-330200" lvl="0" marL="457200" rtl="0" algn="l">
              <a:spcBef>
                <a:spcPts val="0"/>
              </a:spcBef>
              <a:spcAft>
                <a:spcPts val="0"/>
              </a:spcAft>
              <a:buSzPts val="1600"/>
              <a:buChar char="●"/>
            </a:pPr>
            <a:r>
              <a:rPr lang="en"/>
              <a:t>Used to pass behaviour as an argument, and to subscribe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Google Shape;230;p37"/>
          <p:cNvPicPr preferRelativeResize="0"/>
          <p:nvPr/>
        </p:nvPicPr>
        <p:blipFill>
          <a:blip r:embed="rId4">
            <a:alphaModFix/>
          </a:blip>
          <a:stretch>
            <a:fillRect/>
          </a:stretch>
        </p:blipFill>
        <p:spPr>
          <a:xfrm>
            <a:off x="5760720" y="1463040"/>
            <a:ext cx="2926080" cy="1864572"/>
          </a:xfrm>
          <a:prstGeom prst="rect">
            <a:avLst/>
          </a:prstGeom>
          <a:noFill/>
          <a:ln>
            <a:noFill/>
          </a:ln>
        </p:spPr>
      </p:pic>
      <p:sp>
        <p:nvSpPr>
          <p:cNvPr id="231" name="Rounded Rectangle 230"/>
          <p:cNvSpPr/>
          <p:nvPr/>
        </p:nvSpPr>
        <p:spPr>
          <a:xfrm>
            <a:off x="457200" y="141732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1: draw the rooms</a:t>
            </a:r>
          </a:p>
          <a:p>
            <a:pPr algn="l"/>
            <a:r>
              <a:rPr sz="1300" b="0">
                <a:solidFill>
                  <a:srgbClr val="9AA3AB"/>
                </a:solidFill>
              </a:rPr>
              <a:t>as usual</a:t>
            </a:r>
          </a:p>
        </p:txBody>
      </p:sp>
      <p:sp>
        <p:nvSpPr>
          <p:cNvPr id="232" name="Rounded Rectangle 231"/>
          <p:cNvSpPr/>
          <p:nvPr/>
        </p:nvSpPr>
        <p:spPr>
          <a:xfrm>
            <a:off x="457200" y="2286000"/>
            <a:ext cx="4937760" cy="7315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2: mark the arches</a:t>
            </a:r>
          </a:p>
          <a:p>
            <a:pPr algn="l"/>
            <a:r>
              <a:rPr sz="1300" b="0">
                <a:solidFill>
                  <a:srgbClr val="9AA3AB"/>
                </a:solidFill>
              </a:rPr>
              <a:t>in the stencil buffer, with no colour</a:t>
            </a:r>
          </a:p>
        </p:txBody>
      </p:sp>
      <p:sp>
        <p:nvSpPr>
          <p:cNvPr id="233" name="Rounded Rectangle 232"/>
          <p:cNvSpPr/>
          <p:nvPr/>
        </p:nvSpPr>
        <p:spPr>
          <a:xfrm>
            <a:off x="457200" y="315468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3: draw the player again</a:t>
            </a:r>
          </a:p>
          <a:p>
            <a:pPr algn="l"/>
            <a:r>
              <a:rPr sz="1300" b="0">
                <a:solidFill>
                  <a:srgbClr val="9AA3AB"/>
                </a:solidFill>
              </a:rPr>
              <a:t>only where nothing is marked</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type="rat"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type="rta".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