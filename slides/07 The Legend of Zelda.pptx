
<file path=[Content_Types].xml><?xml version="1.0" encoding="utf-8"?>
<Types xmlns="http://schemas.openxmlformats.org/package/2006/content-types">
  <Default Extension="fntdata" ContentType="application/x-fontdata"/>
  <Default Extension="gif" ContentType="image/gif"/>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5" r:id="rId4"/>
  </p:sldMasterIdLst>
  <p:notesMasterIdLst>
    <p:notesMasterId r:id="rId5"/>
  </p:notesMasterIdLst>
  <p:sldIdLst>
    <p:sldId id="256" r:id="rId6"/>
    <p:sldId id="257" r:id="rId7"/>
    <p:sldId id="258" r:id="rId8"/>
    <p:sldId id="259" r:id="rId9"/>
    <p:sldId id="260" r:id="rId10"/>
    <p:sldId id="288" r:id="rId47"/>
    <p:sldId id="261" r:id="rId11"/>
    <p:sldId id="262" r:id="rId12"/>
    <p:sldId id="263" r:id="rId13"/>
    <p:sldId id="264" r:id="rId14"/>
    <p:sldId id="265" r:id="rId15"/>
    <p:sldId id="267" r:id="rId17"/>
    <p:sldId id="268" r:id="rId18"/>
    <p:sldId id="295" r:id="rId54"/>
    <p:sldId id="269" r:id="rId19"/>
    <p:sldId id="270" r:id="rId20"/>
    <p:sldId id="299" r:id="rId57"/>
    <p:sldId id="273" r:id="rId23"/>
    <p:sldId id="274" r:id="rId24"/>
    <p:sldId id="275" r:id="rId25"/>
    <p:sldId id="276" r:id="rId26"/>
    <p:sldId id="277" r:id="rId27"/>
    <p:sldId id="278" r:id="rId28"/>
    <p:sldId id="298" r:id="rId56"/>
    <p:sldId id="296" r:id="rId55"/>
    <p:sldId id="279" r:id="rId29"/>
    <p:sldId id="280" r:id="rId30"/>
    <p:sldId id="281" r:id="rId31"/>
    <p:sldId id="282" r:id="rId32"/>
    <p:sldId id="283" r:id="rId33"/>
    <p:sldId id="291" r:id="rId50"/>
    <p:sldId id="297" r:id="rId52"/>
    <p:sldId id="284" r:id="rId34"/>
    <p:sldId id="285" r:id="rId35"/>
    <p:sldId id="289" r:id="rId48"/>
    <p:sldId id="290" r:id="rId49"/>
    <p:sldId id="286" r:id="rId36"/>
    <p:sldId id="292" r:id="rId51"/>
    <p:sldId id="294" r:id="rId53"/>
    <p:sldId id="287" r:id="rId37"/>
  </p:sldIdLst>
  <p:sldSz cy="5143500" cx="9144000"/>
  <p:notesSz cx="6858000" cy="9144000"/>
  <p:embeddedFontLst>
    <p:embeddedFont>
      <p:font typeface="Roboto"/>
      <p:regular r:id="rId38"/>
      <p:bold r:id="rId39"/>
      <p:italic r:id="rId40"/>
      <p:boldItalic r:id="rId41"/>
    </p:embeddedFont>
    <p:embeddedFont>
      <p:font typeface="VT323"/>
      <p:regular r:id="rId42"/>
    </p:embeddedFont>
    <p:embeddedFont>
      <p:font typeface="Roboto Light"/>
      <p:regular r:id="rId43"/>
      <p:bold r:id="rId44"/>
      <p:italic r:id="rId45"/>
      <p:boldItalic r:id="rId4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5.xml"/><Relationship Id="rId20" Type="http://schemas.openxmlformats.org/officeDocument/2006/relationships/slide" Target="slides/slide16.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7.xml"/><Relationship Id="rId37" Type="http://schemas.openxmlformats.org/officeDocument/2006/relationships/slide" Target="slides/slide40.xml"/><Relationship Id="rId38" Type="http://schemas.openxmlformats.org/officeDocument/2006/relationships/font" Target="fonts/Roboto-regular.fntdata"/><Relationship Id="rId39" Type="http://schemas.openxmlformats.org/officeDocument/2006/relationships/font" Target="fonts/Roboto-bold.fntdata"/><Relationship Id="rId40" Type="http://schemas.openxmlformats.org/officeDocument/2006/relationships/font" Target="fonts/Roboto-italic.fntdata"/><Relationship Id="rId41" Type="http://schemas.openxmlformats.org/officeDocument/2006/relationships/font" Target="fonts/Roboto-boldItalic.fntdata"/><Relationship Id="rId42" Type="http://schemas.openxmlformats.org/officeDocument/2006/relationships/font" Target="fonts/VT323-regular.fntdata"/><Relationship Id="rId43" Type="http://schemas.openxmlformats.org/officeDocument/2006/relationships/font" Target="fonts/RobotoLight-regular.fntdata"/><Relationship Id="rId44" Type="http://schemas.openxmlformats.org/officeDocument/2006/relationships/font" Target="fonts/RobotoLight-bold.fntdata"/><Relationship Id="rId45" Type="http://schemas.openxmlformats.org/officeDocument/2006/relationships/font" Target="fonts/RobotoLight-italic.fntdata"/><Relationship Id="rId46" Type="http://schemas.openxmlformats.org/officeDocument/2006/relationships/font" Target="fonts/RobotoLight-boldItalic.fntdata"/><Relationship Id="rId47" Type="http://schemas.openxmlformats.org/officeDocument/2006/relationships/slide" Target="slides/slide6.xml"/><Relationship Id="rId48" Type="http://schemas.openxmlformats.org/officeDocument/2006/relationships/slide" Target="slides/slide35.xml"/><Relationship Id="rId49" Type="http://schemas.openxmlformats.org/officeDocument/2006/relationships/slide" Target="slides/slide36.xml"/><Relationship Id="rId50" Type="http://schemas.openxmlformats.org/officeDocument/2006/relationships/slide" Target="slides/slide31.xml"/><Relationship Id="rId51" Type="http://schemas.openxmlformats.org/officeDocument/2006/relationships/slide" Target="slides/slide38.xml"/><Relationship Id="rId52" Type="http://schemas.openxmlformats.org/officeDocument/2006/relationships/slide" Target="slides/slide32.xml"/><Relationship Id="rId53" Type="http://schemas.openxmlformats.org/officeDocument/2006/relationships/slide" Target="slides/slide39.xml"/><Relationship Id="rId54" Type="http://schemas.openxmlformats.org/officeDocument/2006/relationships/slide" Target="slides/slide14.xml"/><Relationship Id="rId55" Type="http://schemas.openxmlformats.org/officeDocument/2006/relationships/slide" Target="slides/slide25.xml"/><Relationship Id="rId56" Type="http://schemas.openxmlformats.org/officeDocument/2006/relationships/slide" Target="slides/slide24.xml"/><Relationship Id="rId57"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 name="Shape 35"/>
        <p:cNvGrpSpPr/>
        <p:nvPr/>
      </p:nvGrpSpPr>
      <p:grpSpPr>
        <a:xfrm>
          <a:off x="0" y="0"/>
          <a:ext cx="0" cy="0"/>
          <a:chOff x="0" y="0"/>
          <a:chExt cx="0" cy="0"/>
        </a:xfrm>
      </p:grpSpPr>
      <p:sp>
        <p:nvSpPr>
          <p:cNvPr id="36" name="Google Shape;3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37" name="Google Shape;3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Welcome. Today we build The Legend of Zelda. The main topic: events.</a:t>
            </a:r>
          </a:p>
          <a:p>
            <a:r>
              <a:t>Start by playing the finished game, Zelda7, before any code.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 name="Shape 41"/>
        <p:cNvGrpSpPr/>
        <p:nvPr/>
      </p:nvGrpSpPr>
      <p:grpSpPr>
        <a:xfrm>
          <a:off x="0" y="0"/>
          <a:ext cx="0" cy="0"/>
          <a:chOff x="0" y="0"/>
          <a:chExt cx="0" cy="0"/>
        </a:xfrm>
      </p:grpSpPr>
      <p:sp>
        <p:nvSpPr>
          <p:cNvPr id="42" name="Google Shape;42;g3d14c6fc9de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 name="Google Shape;43;g3d14c6fc9de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The 1986 original: top-down, room by room. Ask who has played a Zelda.</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 name="Shape 47"/>
        <p:cNvGrpSpPr/>
        <p:nvPr/>
      </p:nvGrpSpPr>
      <p:grpSpPr>
        <a:xfrm>
          <a:off x="0" y="0"/>
          <a:ext cx="0" cy="0"/>
          <a:chOff x="0" y="0"/>
          <a:chExt cx="0" cy="0"/>
        </a:xfrm>
      </p:grpSpPr>
      <p:sp>
        <p:nvSpPr>
          <p:cNvPr id="48" name="Google Shape;48;g3c8f6ac40ed_0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 name="Google Shape;49;g3c8f6ac40ed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Run Zelda7 and play it for a minute.</a:t>
            </a:r>
          </a:p>
          <a:p>
            <a:r>
              <a:t>Ask: what would you need to build this? Collect answers on the board, and come back to them at the end.</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g3c8f6ac40ed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 name="Google Shape;55;g3c8f6ac40ed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Today’s main topic is events. We look at the Observer pattern and how C# does it with delegates, events and lambdas. Also hitboxes, a tweening system, and composition vs. inheritance, which Plants vs. Zombies picks up.</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g3cce57fd84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g3cce57fd84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Open gar-games/07-the-legend-of-zelda live. Show the README: the step table, the code map, how to run a step.</a:t>
            </a:r>
          </a:p>
          <a:p>
            <a:r>
              <a:t>Say: the site explains the ideas, the README helps you find them in the code, the slides are for today.</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d10de0346e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d10de0346e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The finished game’s main classes. Don’t read it all: find Entity, Player, Enemy, Room and Dungeon.</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d17f311e2b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3d17f311e2b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Fifteen minutes in pairs with Zelda7 and the README’s code map. Take answers to two or three of the questions afterwards.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d10de0346e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d10de0346e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The sheets: tiles, the player walking and swinging, and the monsters. Not all on the same grid size.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d10de0346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d10de0346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LabelTiles writes each tile’s number onto a copy of the sheet. The XML refers to tiles by number; nobody can read those off an image. Small tools like this are common in game projects.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d10de0346e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d10de0346e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The sprite is drawn higher than its collision box, so characters stand on the floor. Point at the player’s feet.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d14c6fc9de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d14c6fc9de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Each room is generated when entered: walls, a random floor, enemies, a switch and doors.</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d0d4f8444f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d0d4f8444f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A hitbox deals damage (the sword), a hurtbox receives it (the body). Separate, so reach and body don’t have to match the sprite.</a:t>
            </a:r>
          </a:p>
          <a:p>
            <a:r>
              <a:t>Show F1 debug drawing in the game.</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d0d4f8444f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d0d4f8444f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Something happens, and other things need to react. The thing that happened shouldn’t need to know them.</a:t>
            </a:r>
          </a:p>
          <a:p>
            <a:r>
              <a:t>Ask: list moments in a game like this. Health changes, an enemy dies, a room clears, the sword swings.</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d1261d8a3d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d1261d8a3d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The subject announces; observers subscribe. The dependency is flipped: the subject doesn’t know who listens.</a:t>
            </a:r>
          </a:p>
          <a:p>
            <a:r>
              <a:t>Publisher and subscriber are other names for subject and observer.</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d17f311e2b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d17f311e2b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In C# we don’t write the pattern ourselves: delegates and events are part of the language.</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d1261d8a3d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d1261d8a3d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The same Observer structure, with C# events instead of an interface.</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d14c6fc9de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d14c6fc9de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A delegate holds a reference to a method. Action and Func are the built-in ones. += adds a handler, Invoke calls them all.</a:t>
            </a:r>
          </a:p>
          <a:p>
            <a:r>
              <a:t>Point at the switch in Room.cs: that’s where the room wires its door logic.</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d10de0346e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3d10de0346e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An event is a delegate with guardrails: outside code can only += and -=. The owner fires; everyone else listens.</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d14c6fc9de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3d14c6fc9de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A lambda: a function without a name, written where it’s used. The same IsEven, twice.</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d17f311e2b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3d17f311e2b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The switch handler captures switchObj and Doorways from the room: a closure.</a:t>
            </a:r>
          </a:p>
          <a:p>
            <a:r>
              <a:t>Ask: what would this look like as a named method? It would need both as fields or parameters.</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d17f311e2b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3d17f311e2b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Exercise: pick one of the three and refactor it. The class firing the event must not know who reacts.</a:t>
            </a:r>
          </a:p>
          <a:p>
            <a:r>
              <a:t>The OnPlayerDied chain is the one to trace first: room, dungeon, play state.</a:t>
            </a:r>
          </a:p>
          <a:p>
            <a:r>
              <a:t>The sound queue: a HashSet of names that PlaySound adds to (duplicates merge for free), played and cleared once per frame after the update. A sound can be up to a frame late; nobody hears it.</a:t>
            </a:r>
          </a:p>
          <a:p>
            <a:r>
              <a:t>Full instructions are on the course site; students work from there. Walk round while they work.</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d17f311e2b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3d17f311e2b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The original’s scroll between rooms. How would you build this?</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d17f311e2b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3d17f311e2b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A tween moves a value from A to B over time. The dots are nine frames of the same move: evenly spaced for linear, bunched up at the end for ease-out.</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d17f311e2b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3d17f311e2b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lerp: a plus a fraction of the way to b. t = 0, a; t = 1, b. Works on positions, colours, angles.</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d17f311e2b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3d17f311e2b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The next room is placed one screen away and never moves. The camera tweens towards it while the player walks through the door.</a:t>
            </a:r>
          </a:p>
          <a:p>
            <a:r>
              <a:t>When the tween finishes, the next room becomes the current one.</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d0d4f8444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3d0d4f8444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Without it, the player is drawn over the door arch. Three passes: rooms; arch masks into the stencil buffer only; the player where nothing is marked.</a:t>
            </a:r>
          </a:p>
          <a:p>
            <a:r>
              <a:t>Pass 1: draw the rooms</a:t>
            </a:r>
          </a:p>
          <a:p>
            <a:r>
              <a:t>Pass 2: mark the arches</a:t>
            </a:r>
          </a:p>
          <a:p>
            <a:r>
              <a:t>in the stencil buffer, with no colour</a:t>
            </a:r>
          </a:p>
          <a:p>
            <a:r>
              <a:t>Pass 3: draw the player again</a:t>
            </a:r>
          </a:p>
          <a:p>
            <a:r>
              <a:t>only where nothing is marked</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d17f311e2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3d17f311e2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A new enemy is one XML block and a row in the sheet. Ask the question: someone writes type="rta". When do you find out? Only at runtime. That’s the cost.</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d10de0346e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3d10de0346e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Exercise: keys dropped by enemies, and locked doors they open.</a:t>
            </a:r>
          </a:p>
          <a:p>
            <a:r>
              <a:t>It joins the two ideas of the day: the key drop is an event, the locked look is data.</a:t>
            </a:r>
          </a:p>
          <a:p>
            <a:r>
              <a:t>Full instructions are on the course site; students work from there. Walk round while they work.</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d14c6fc9de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3d14c6fc9de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Give the project groups five minutes with these questions.</a:t>
            </a:r>
          </a:p>
          <a:p>
            <a:r>
              <a:t>Ask two groups to share one answer each, and push them to name actual classes and files.</a:t>
            </a:r>
          </a:p>
        </p:txBody>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Build the tree with them: Enemy, then flying, shooting and exploding enemies. Then ask: an enemy that flies and shoots?</a:t>
            </a:r>
          </a:p>
          <a:p>
            <a:r>
              <a:t>Copy the code, or move it up into Enemy until every enemy carries everything. Neither is good.</a:t>
            </a:r>
          </a:p>
        </p:txBody>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Zelda already composes in three ways; go through the boxes.</a:t>
            </a:r>
          </a:p>
          <a:p>
            <a:r>
              <a:t>The question to keep asking: is this what something is, or what it can do? Plants vs. Zombies takes it all the way.</a:t>
            </a:r>
          </a:p>
        </p:txBody>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Ask one question at a time. Pairs discuss for a minute, then take two or three answers.</a:t>
            </a:r>
          </a:p>
          <a:p>
            <a:r>
              <a:t>Expected answers (from the course site):</a:t>
            </a:r>
          </a:p>
          <a:p/>
          <a:p>
            <a:r>
              <a:t>Q: When does inheritance fit, and when is composition better?</a:t>
            </a:r>
          </a:p>
          <a:p>
            <a:r>
              <a:t>A: Inheritance fits when there is one clear "is a" axis and the shared behaviour is needed by every subclass. Composition fits when behaviours combine freely. Instead of one subclass per combination, an object has the parts it needs, and they can even change at runtime.</a:t>
            </a:r>
          </a:p>
          <a:p/>
          <a:p>
            <a:r>
              <a:t>Q: Why does Observer suit UI code particularly well?</a:t>
            </a:r>
          </a:p>
          <a:p>
            <a:r>
              <a:t>A: The UI depends on the game data, but the game shouldn't depend on the UI. With events, a health bar subscribes to an event on the player, and gameplay code never needs to know a health bar exists. The UI also only updates when something actually changes.</a:t>
            </a:r>
          </a:p>
          <a:p/>
          <a:p>
            <a:r>
              <a:t>Q: What is the difference between a delegate and an event in C#?</a:t>
            </a:r>
          </a:p>
          <a:p>
            <a:r>
              <a:t>A: An event is a delegate that outside code can only subscribe to and unsubscribe from. Only the declaring class can invoke it or overwrite its subscriber list.</a:t>
            </a:r>
          </a:p>
          <a:p/>
          <a:p>
            <a:r>
              <a:t>Q: What is the cost of data-driven design?</a:t>
            </a:r>
          </a:p>
          <a:p>
            <a:r>
              <a:t>A: Errors move from compile time to runtime, you need loading and validation code, and behaviour is split between code and data files.</a:t>
            </a:r>
          </a:p>
        </p:txBody>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eight steps, one idea each. The README has the same table with more detail.</a:t>
            </a:r>
          </a:p>
        </p:txBody>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Games tween constantly, so GARCore gets a TweenManager: Tween, After, Every, chained with Add and Finish. No progress variables anywhere.</a:t>
            </a:r>
          </a:p>
        </p:txBody>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Exercise: sketch the hierarchy, then the composition, then implement one part (a shooting behaviour any enemy can have).</a:t>
            </a:r>
          </a:p>
        </p:txBody>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Pairs, about 5 minutes. RoomShiftDuration in GameSettings. The ease-out goes in the two Add setters in Dungeon.BeginShift. It starts fast and settles: most game UI eases out.</a:t>
            </a:r>
          </a:p>
        </p:txBody>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Pairs, about 5 minutes. SwordReach in GameSettings. The hitbox is built from it when a swing starts; the sprite doesn’t change, so hits now land where the sword isn’t drawn.</a:t>
            </a:r>
          </a:p>
        </p:txBody>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Pairs, about 5 minutes. One line in PlayState: _dungeon.OnPlayerDied += () =&gt; SoundManager.PlaySound("hit-player");</a:t>
            </a:r>
          </a:p>
          <a:p>
            <a:r>
              <a:t>Room and Dungeon don’t change, and don’t know about the sound: that’s what the event is for.</a:t>
            </a:r>
          </a:p>
        </p:txBody>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An event is handled inside the call that raises it. A queue stores it and handles it later, at a safe point.</a:t>
            </a:r>
          </a:p>
          <a:p>
            <a:r>
              <a:t>Ask: where have we queued before? Answer: Snake's turns, one per tick.</a:t>
            </a:r>
          </a:p>
        </p:txBody>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room announces, the dungeon passes it on, the play state reacts. The subscriptions point the other way.</a:t>
            </a:r>
          </a:p>
          <a:p>
            <a:r>
              <a:t>Ask: what does Room know about PlayState? Answer: nothing.</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865675" y="4835575"/>
            <a:ext cx="249900" cy="277800"/>
          </a:xfrm>
          <a:prstGeom prst="rect">
            <a:avLst/>
          </a:prstGeom>
        </p:spPr>
        <p:txBody>
          <a:bodyPr anchorCtr="0" anchor="ctr" bIns="91425" lIns="91425" spcFirstLastPara="1" rIns="91425" wrap="square" tIns="91425">
            <a:normAutofit fontScale="77500" lnSpcReduction="20000"/>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865675" y="4835575"/>
            <a:ext cx="249900" cy="277800"/>
          </a:xfrm>
          <a:prstGeom prst="rect">
            <a:avLst/>
          </a:prstGeom>
        </p:spPr>
        <p:txBody>
          <a:bodyPr anchorCtr="0" anchor="ctr" bIns="91425" lIns="91425" spcFirstLastPara="1" rIns="91425" wrap="square" tIns="91425">
            <a:normAutofit fontScale="77500" lnSpcReduction="20000"/>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19561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3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885950"/>
            <a:ext cx="8520600" cy="4023300"/>
          </a:xfrm>
          <a:prstGeom prst="rect">
            <a:avLst/>
          </a:prstGeom>
        </p:spPr>
        <p:txBody>
          <a:bodyPr anchorCtr="0" anchor="t" bIns="91425" lIns="91425" spcFirstLastPara="1" rIns="91425" wrap="square" tIns="91425">
            <a:normAutofit/>
          </a:bodyPr>
          <a:lstStyle>
            <a:lvl1pPr indent="-330200" lvl="0" marL="457200">
              <a:spcBef>
                <a:spcPts val="0"/>
              </a:spcBef>
              <a:spcAft>
                <a:spcPts val="0"/>
              </a:spcAft>
              <a:buSzPts val="1600"/>
              <a:buChar char="●"/>
              <a:defRPr/>
            </a:lvl1pPr>
            <a:lvl2pPr indent="-317500" lvl="1" marL="914400">
              <a:spcBef>
                <a:spcPts val="0"/>
              </a:spcBef>
              <a:spcAft>
                <a:spcPts val="0"/>
              </a:spcAft>
              <a:buSzPts val="14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9" name="Google Shape;19;p4"/>
          <p:cNvSpPr txBox="1"/>
          <p:nvPr>
            <p:ph idx="12" type="sldNum"/>
          </p:nvPr>
        </p:nvSpPr>
        <p:spPr>
          <a:xfrm>
            <a:off x="8865675" y="4835575"/>
            <a:ext cx="249900" cy="277800"/>
          </a:xfrm>
          <a:prstGeom prst="rect">
            <a:avLst/>
          </a:prstGeom>
        </p:spPr>
        <p:txBody>
          <a:bodyPr anchorCtr="0" anchor="ctr" bIns="91425" lIns="91425" spcFirstLastPara="1" rIns="91425" wrap="square" tIns="91425">
            <a:normAutofit fontScale="77500" lnSpcReduction="20000"/>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19561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3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885950"/>
            <a:ext cx="3999900" cy="40233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886075"/>
            <a:ext cx="3999900" cy="40233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865675" y="4835575"/>
            <a:ext cx="249900" cy="277800"/>
          </a:xfrm>
          <a:prstGeom prst="rect">
            <a:avLst/>
          </a:prstGeom>
        </p:spPr>
        <p:txBody>
          <a:bodyPr anchorCtr="0" anchor="ctr" bIns="91425" lIns="91425" spcFirstLastPara="1" rIns="91425" wrap="square" tIns="91425">
            <a:normAutofit fontScale="77500" lnSpcReduction="20000"/>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code)">
  <p:cSld name="TITLE_AND_TWO_COLUMNS_1">
    <p:spTree>
      <p:nvGrpSpPr>
        <p:cNvPr id="25" name="Shape 25"/>
        <p:cNvGrpSpPr/>
        <p:nvPr/>
      </p:nvGrpSpPr>
      <p:grpSpPr>
        <a:xfrm>
          <a:off x="0" y="0"/>
          <a:ext cx="0" cy="0"/>
          <a:chOff x="0" y="0"/>
          <a:chExt cx="0" cy="0"/>
        </a:xfrm>
      </p:grpSpPr>
      <p:sp>
        <p:nvSpPr>
          <p:cNvPr id="26" name="Google Shape;26;p6"/>
          <p:cNvSpPr txBox="1"/>
          <p:nvPr>
            <p:ph type="title"/>
          </p:nvPr>
        </p:nvSpPr>
        <p:spPr>
          <a:xfrm>
            <a:off x="311700" y="19561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3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 type="body"/>
          </p:nvPr>
        </p:nvSpPr>
        <p:spPr>
          <a:xfrm>
            <a:off x="311700" y="885950"/>
            <a:ext cx="3999900" cy="40233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6"/>
          <p:cNvSpPr txBox="1"/>
          <p:nvPr>
            <p:ph idx="2" type="body"/>
          </p:nvPr>
        </p:nvSpPr>
        <p:spPr>
          <a:xfrm>
            <a:off x="4832400" y="886075"/>
            <a:ext cx="3999900" cy="4023300"/>
          </a:xfrm>
          <a:prstGeom prst="rect">
            <a:avLst/>
          </a:prstGeom>
          <a:solidFill>
            <a:schemeClr val="dk2"/>
          </a:solidFill>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 name="Google Shape;29;p6"/>
          <p:cNvSpPr txBox="1"/>
          <p:nvPr>
            <p:ph idx="12" type="sldNum"/>
          </p:nvPr>
        </p:nvSpPr>
        <p:spPr>
          <a:xfrm>
            <a:off x="8865675" y="4835575"/>
            <a:ext cx="249900" cy="277800"/>
          </a:xfrm>
          <a:prstGeom prst="rect">
            <a:avLst/>
          </a:prstGeom>
        </p:spPr>
        <p:txBody>
          <a:bodyPr anchorCtr="0" anchor="ctr" bIns="91425" lIns="91425" spcFirstLastPara="1" rIns="91425" wrap="square" tIns="91425">
            <a:normAutofit fontScale="77500" lnSpcReduction="20000"/>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0" name="Shape 30"/>
        <p:cNvGrpSpPr/>
        <p:nvPr/>
      </p:nvGrpSpPr>
      <p:grpSpPr>
        <a:xfrm>
          <a:off x="0" y="0"/>
          <a:ext cx="0" cy="0"/>
          <a:chOff x="0" y="0"/>
          <a:chExt cx="0" cy="0"/>
        </a:xfrm>
      </p:grpSpPr>
      <p:sp>
        <p:nvSpPr>
          <p:cNvPr id="31" name="Google Shape;31;p7"/>
          <p:cNvSpPr txBox="1"/>
          <p:nvPr>
            <p:ph type="title"/>
          </p:nvPr>
        </p:nvSpPr>
        <p:spPr>
          <a:xfrm>
            <a:off x="311700" y="19561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3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2" name="Google Shape;32;p7"/>
          <p:cNvSpPr txBox="1"/>
          <p:nvPr>
            <p:ph idx="12" type="sldNum"/>
          </p:nvPr>
        </p:nvSpPr>
        <p:spPr>
          <a:xfrm>
            <a:off x="8865675" y="4835575"/>
            <a:ext cx="249900" cy="277800"/>
          </a:xfrm>
          <a:prstGeom prst="rect">
            <a:avLst/>
          </a:prstGeom>
        </p:spPr>
        <p:txBody>
          <a:bodyPr anchorCtr="0" anchor="ctr" bIns="91425" lIns="91425" spcFirstLastPara="1" rIns="91425" wrap="square" tIns="91425">
            <a:normAutofit fontScale="77500" lnSpcReduction="20000"/>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3" name="Shape 33"/>
        <p:cNvGrpSpPr/>
        <p:nvPr/>
      </p:nvGrpSpPr>
      <p:grpSpPr>
        <a:xfrm>
          <a:off x="0" y="0"/>
          <a:ext cx="0" cy="0"/>
          <a:chOff x="0" y="0"/>
          <a:chExt cx="0" cy="0"/>
        </a:xfrm>
      </p:grpSpPr>
      <p:sp>
        <p:nvSpPr>
          <p:cNvPr id="34" name="Google Shape;34;p8"/>
          <p:cNvSpPr txBox="1"/>
          <p:nvPr>
            <p:ph idx="12" type="sldNum"/>
          </p:nvPr>
        </p:nvSpPr>
        <p:spPr>
          <a:xfrm>
            <a:off x="8865675" y="4835575"/>
            <a:ext cx="249900" cy="277800"/>
          </a:xfrm>
          <a:prstGeom prst="rect">
            <a:avLst/>
          </a:prstGeom>
        </p:spPr>
        <p:txBody>
          <a:bodyPr anchorCtr="0" anchor="ctr" bIns="91425" lIns="91425" spcFirstLastPara="1" rIns="91425" wrap="square" tIns="91425">
            <a:normAutofit fontScale="77500" lnSpcReduction="20000"/>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212529"/>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19561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1"/>
              </a:buClr>
              <a:buSzPts val="3300"/>
              <a:buFont typeface="VT323"/>
              <a:buNone/>
              <a:defRPr sz="3300">
                <a:solidFill>
                  <a:schemeClr val="accent1"/>
                </a:solidFill>
                <a:latin typeface="VT323"/>
                <a:ea typeface="VT323"/>
                <a:cs typeface="VT323"/>
                <a:sym typeface="VT323"/>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885950"/>
            <a:ext cx="8520600" cy="4023300"/>
          </a:xfrm>
          <a:prstGeom prst="rect">
            <a:avLst/>
          </a:prstGeom>
          <a:noFill/>
          <a:ln>
            <a:noFill/>
          </a:ln>
        </p:spPr>
        <p:txBody>
          <a:bodyPr anchorCtr="0" anchor="t" bIns="91425" lIns="91425" spcFirstLastPara="1" rIns="91425" wrap="square" tIns="91425">
            <a:normAutofit/>
          </a:bodyPr>
          <a:lstStyle>
            <a:lvl1pPr indent="-330200" lvl="0" marL="457200">
              <a:lnSpc>
                <a:spcPct val="115000"/>
              </a:lnSpc>
              <a:spcBef>
                <a:spcPts val="0"/>
              </a:spcBef>
              <a:spcAft>
                <a:spcPts val="0"/>
              </a:spcAft>
              <a:buClr>
                <a:schemeClr val="dk1"/>
              </a:buClr>
              <a:buSzPts val="1600"/>
              <a:buFont typeface="Roboto Light"/>
              <a:buChar char="●"/>
              <a:defRPr sz="1600">
                <a:solidFill>
                  <a:schemeClr val="dk1"/>
                </a:solidFill>
                <a:latin typeface="Roboto Light"/>
                <a:ea typeface="Roboto Light"/>
                <a:cs typeface="Roboto Light"/>
                <a:sym typeface="Roboto Light"/>
              </a:defRPr>
            </a:lvl1pPr>
            <a:lvl2pPr indent="-317500" lvl="1" marL="914400">
              <a:lnSpc>
                <a:spcPct val="115000"/>
              </a:lnSpc>
              <a:spcBef>
                <a:spcPts val="0"/>
              </a:spcBef>
              <a:spcAft>
                <a:spcPts val="0"/>
              </a:spcAft>
              <a:buClr>
                <a:srgbClr val="6C757D"/>
              </a:buClr>
              <a:buSzPts val="1400"/>
              <a:buFont typeface="Roboto Light"/>
              <a:buChar char="○"/>
              <a:defRPr>
                <a:solidFill>
                  <a:srgbClr val="6C757D"/>
                </a:solidFill>
                <a:latin typeface="Roboto Light"/>
                <a:ea typeface="Roboto Light"/>
                <a:cs typeface="Roboto Light"/>
                <a:sym typeface="Roboto Light"/>
              </a:defRPr>
            </a:lvl2pPr>
            <a:lvl3pPr indent="-304800" lvl="2" marL="1371600">
              <a:lnSpc>
                <a:spcPct val="115000"/>
              </a:lnSpc>
              <a:spcBef>
                <a:spcPts val="0"/>
              </a:spcBef>
              <a:spcAft>
                <a:spcPts val="0"/>
              </a:spcAft>
              <a:buClr>
                <a:srgbClr val="6C757D"/>
              </a:buClr>
              <a:buSzPts val="1200"/>
              <a:buFont typeface="Roboto Light"/>
              <a:buChar char="■"/>
              <a:defRPr sz="1200">
                <a:solidFill>
                  <a:srgbClr val="6C757D"/>
                </a:solidFill>
                <a:latin typeface="Roboto Light"/>
                <a:ea typeface="Roboto Light"/>
                <a:cs typeface="Roboto Light"/>
                <a:sym typeface="Roboto Light"/>
              </a:defRPr>
            </a:lvl3pPr>
            <a:lvl4pPr indent="-304800" lvl="3" marL="1828800">
              <a:lnSpc>
                <a:spcPct val="115000"/>
              </a:lnSpc>
              <a:spcBef>
                <a:spcPts val="0"/>
              </a:spcBef>
              <a:spcAft>
                <a:spcPts val="0"/>
              </a:spcAft>
              <a:buClr>
                <a:srgbClr val="6C757D"/>
              </a:buClr>
              <a:buSzPts val="1200"/>
              <a:buFont typeface="Roboto Light"/>
              <a:buChar char="●"/>
              <a:defRPr sz="1200">
                <a:solidFill>
                  <a:srgbClr val="6C757D"/>
                </a:solidFill>
                <a:latin typeface="Roboto Light"/>
                <a:ea typeface="Roboto Light"/>
                <a:cs typeface="Roboto Light"/>
                <a:sym typeface="Roboto Light"/>
              </a:defRPr>
            </a:lvl4pPr>
            <a:lvl5pPr indent="-304800" lvl="4" marL="2286000">
              <a:lnSpc>
                <a:spcPct val="115000"/>
              </a:lnSpc>
              <a:spcBef>
                <a:spcPts val="0"/>
              </a:spcBef>
              <a:spcAft>
                <a:spcPts val="0"/>
              </a:spcAft>
              <a:buClr>
                <a:srgbClr val="6C757D"/>
              </a:buClr>
              <a:buSzPts val="1200"/>
              <a:buFont typeface="Roboto Light"/>
              <a:buChar char="○"/>
              <a:defRPr sz="1200">
                <a:solidFill>
                  <a:srgbClr val="6C757D"/>
                </a:solidFill>
                <a:latin typeface="Roboto Light"/>
                <a:ea typeface="Roboto Light"/>
                <a:cs typeface="Roboto Light"/>
                <a:sym typeface="Roboto Light"/>
              </a:defRPr>
            </a:lvl5pPr>
            <a:lvl6pPr indent="-304800" lvl="5" marL="2743200">
              <a:lnSpc>
                <a:spcPct val="115000"/>
              </a:lnSpc>
              <a:spcBef>
                <a:spcPts val="0"/>
              </a:spcBef>
              <a:spcAft>
                <a:spcPts val="0"/>
              </a:spcAft>
              <a:buClr>
                <a:srgbClr val="6C757D"/>
              </a:buClr>
              <a:buSzPts val="1200"/>
              <a:buFont typeface="Roboto Light"/>
              <a:buChar char="■"/>
              <a:defRPr sz="1200">
                <a:solidFill>
                  <a:srgbClr val="6C757D"/>
                </a:solidFill>
                <a:latin typeface="Roboto Light"/>
                <a:ea typeface="Roboto Light"/>
                <a:cs typeface="Roboto Light"/>
                <a:sym typeface="Roboto Light"/>
              </a:defRPr>
            </a:lvl6pPr>
            <a:lvl7pPr indent="-304800" lvl="6" marL="3200400">
              <a:lnSpc>
                <a:spcPct val="115000"/>
              </a:lnSpc>
              <a:spcBef>
                <a:spcPts val="0"/>
              </a:spcBef>
              <a:spcAft>
                <a:spcPts val="0"/>
              </a:spcAft>
              <a:buClr>
                <a:srgbClr val="6C757D"/>
              </a:buClr>
              <a:buSzPts val="1200"/>
              <a:buFont typeface="Roboto Light"/>
              <a:buChar char="●"/>
              <a:defRPr sz="1200">
                <a:solidFill>
                  <a:srgbClr val="6C757D"/>
                </a:solidFill>
                <a:latin typeface="Roboto Light"/>
                <a:ea typeface="Roboto Light"/>
                <a:cs typeface="Roboto Light"/>
                <a:sym typeface="Roboto Light"/>
              </a:defRPr>
            </a:lvl7pPr>
            <a:lvl8pPr indent="-304800" lvl="7" marL="3657600">
              <a:lnSpc>
                <a:spcPct val="115000"/>
              </a:lnSpc>
              <a:spcBef>
                <a:spcPts val="0"/>
              </a:spcBef>
              <a:spcAft>
                <a:spcPts val="0"/>
              </a:spcAft>
              <a:buClr>
                <a:srgbClr val="6C757D"/>
              </a:buClr>
              <a:buSzPts val="1200"/>
              <a:buFont typeface="Roboto Light"/>
              <a:buChar char="○"/>
              <a:defRPr sz="1200">
                <a:solidFill>
                  <a:srgbClr val="6C757D"/>
                </a:solidFill>
                <a:latin typeface="Roboto Light"/>
                <a:ea typeface="Roboto Light"/>
                <a:cs typeface="Roboto Light"/>
                <a:sym typeface="Roboto Light"/>
              </a:defRPr>
            </a:lvl8pPr>
            <a:lvl9pPr indent="-304800" lvl="8" marL="4114800">
              <a:lnSpc>
                <a:spcPct val="115000"/>
              </a:lnSpc>
              <a:spcBef>
                <a:spcPts val="0"/>
              </a:spcBef>
              <a:spcAft>
                <a:spcPts val="0"/>
              </a:spcAft>
              <a:buClr>
                <a:srgbClr val="6C757D"/>
              </a:buClr>
              <a:buSzPts val="1200"/>
              <a:buFont typeface="Roboto Light"/>
              <a:buChar char="■"/>
              <a:defRPr sz="1200">
                <a:solidFill>
                  <a:srgbClr val="6C757D"/>
                </a:solidFill>
                <a:latin typeface="Roboto Light"/>
                <a:ea typeface="Roboto Light"/>
                <a:cs typeface="Roboto Light"/>
                <a:sym typeface="Roboto Light"/>
              </a:defRPr>
            </a:lvl9pPr>
          </a:lstStyle>
          <a:p/>
        </p:txBody>
      </p:sp>
      <p:sp>
        <p:nvSpPr>
          <p:cNvPr id="8" name="Google Shape;8;p1"/>
          <p:cNvSpPr txBox="1"/>
          <p:nvPr>
            <p:ph idx="12" type="sldNum"/>
          </p:nvPr>
        </p:nvSpPr>
        <p:spPr>
          <a:xfrm>
            <a:off x="8865675" y="4835575"/>
            <a:ext cx="249900" cy="277800"/>
          </a:xfrm>
          <a:prstGeom prst="rect">
            <a:avLst/>
          </a:prstGeom>
          <a:noFill/>
          <a:ln>
            <a:noFill/>
          </a:ln>
        </p:spPr>
        <p:txBody>
          <a:bodyPr anchorCtr="0" anchor="ctr" bIns="91425" lIns="91425" spcFirstLastPara="1" rIns="91425" wrap="square" tIns="91425">
            <a:normAutofit fontScale="77500" lnSpcReduction="20000"/>
          </a:bodyPr>
          <a:lstStyle>
            <a:lvl1pPr lvl="0" algn="r">
              <a:buNone/>
              <a:defRPr sz="1000">
                <a:solidFill>
                  <a:schemeClr val="lt1"/>
                </a:solidFill>
              </a:defRPr>
            </a:lvl1pPr>
            <a:lvl2pPr lvl="1" algn="r">
              <a:buNone/>
              <a:defRPr sz="1000">
                <a:solidFill>
                  <a:schemeClr val="lt1"/>
                </a:solidFill>
              </a:defRPr>
            </a:lvl2pPr>
            <a:lvl3pPr lvl="2" algn="r">
              <a:buNone/>
              <a:defRPr sz="1000">
                <a:solidFill>
                  <a:schemeClr val="lt1"/>
                </a:solidFill>
              </a:defRPr>
            </a:lvl3pPr>
            <a:lvl4pPr lvl="3" algn="r">
              <a:buNone/>
              <a:defRPr sz="1000">
                <a:solidFill>
                  <a:schemeClr val="lt1"/>
                </a:solidFill>
              </a:defRPr>
            </a:lvl4pPr>
            <a:lvl5pPr lvl="4" algn="r">
              <a:buNone/>
              <a:defRPr sz="1000">
                <a:solidFill>
                  <a:schemeClr val="lt1"/>
                </a:solidFill>
              </a:defRPr>
            </a:lvl5pPr>
            <a:lvl6pPr lvl="5" algn="r">
              <a:buNone/>
              <a:defRPr sz="1000">
                <a:solidFill>
                  <a:schemeClr val="lt1"/>
                </a:solidFill>
              </a:defRPr>
            </a:lvl6pPr>
            <a:lvl7pPr lvl="6" algn="r">
              <a:buNone/>
              <a:defRPr sz="1000">
                <a:solidFill>
                  <a:schemeClr val="lt1"/>
                </a:solidFill>
              </a:defRPr>
            </a:lvl7pPr>
            <a:lvl8pPr lvl="7" algn="r">
              <a:buNone/>
              <a:defRPr sz="1000">
                <a:solidFill>
                  <a:schemeClr val="lt1"/>
                </a:solidFill>
              </a:defRPr>
            </a:lvl8pPr>
            <a:lvl9pPr lvl="8" algn="r">
              <a:buNone/>
              <a:defRPr sz="1000">
                <a:solidFill>
                  <a:schemeClr val="lt1"/>
                </a:solidFill>
              </a:defRPr>
            </a:lvl9pPr>
          </a:lstStyle>
          <a:p>
            <a:pPr indent="0" lvl="0" marL="0" rtl="0" algn="r">
              <a:spcBef>
                <a:spcPts val="0"/>
              </a:spcBef>
              <a:spcAft>
                <a:spcPts val="0"/>
              </a:spcAft>
              <a:buNone/>
            </a:pPr>
            <a:fld id="{00000000-1234-1234-1234-123412341234}" type="slidenum">
              <a:rPr lang="en"/>
              <a:t>‹#›</a:t>
            </a:fld>
            <a:endParaRPr>
              <a:latin typeface="Roboto"/>
              <a:ea typeface="Roboto"/>
              <a:cs typeface="Roboto"/>
              <a:sym typeface="Roboto"/>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image" Target="../media/image1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4" Type="http://schemas.openxmlformats.org/officeDocument/2006/relationships/image" Target="../media/image3.gi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s://github.com/Metamate/gar-games/tree/main/08-zelda"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hyperlink" Target="https://github.com/Metamate/gmd2-zelda"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21.png"/><Relationship Id="rId4" Type="http://schemas.openxmlformats.org/officeDocument/2006/relationships/image" Target="../media/image6.png"/><Relationship Id="rId6" Type="http://schemas.openxmlformats.org/officeDocument/2006/relationships/image" Target="../media/image10.png"/><Relationship Id="rId7"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5" Type="http://schemas.openxmlformats.org/officeDocument/2006/relationships/image" Target="../media/image2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8.png"/><Relationship Id="rId3" Type="http://schemas.openxmlformats.org/officeDocument/2006/relationships/notesSlide" Target="../notesSlides/notesSlide4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 Id="rId3" Type="http://schemas.openxmlformats.org/officeDocument/2006/relationships/image" Target="../media/image22.png"/><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2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6.png"/><Relationship Id="rId3" Type="http://schemas.openxmlformats.org/officeDocument/2006/relationships/notesSlide" Target="../notesSlides/notesSlide4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 Id="rId4" Type="http://schemas.openxmlformats.org/officeDocument/2006/relationships/image" Target="../media/image2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hyperlink" Target="http://easings.net"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hyperlink" Target="https://docs.monogame.net/articles/getting_to_know/whatis/graphics/WhatIs_StencilBuffer.html" TargetMode="External"/><Relationship Id="rId5"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hyperlink" Target="https://drive.google.com/drive/folders/1jW4p7mRIVKq429lcZrWH-ANjmsq2l0sH?usp=drive_link"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 name="Shape 38"/>
        <p:cNvGrpSpPr/>
        <p:nvPr/>
      </p:nvGrpSpPr>
      <p:grpSpPr>
        <a:xfrm>
          <a:off x="0" y="0"/>
          <a:ext cx="0" cy="0"/>
          <a:chOff x="0" y="0"/>
          <a:chExt cx="0" cy="0"/>
        </a:xfrm>
      </p:grpSpPr>
      <p:sp>
        <p:nvSpPr>
          <p:cNvPr id="39" name="Google Shape;39;p9"/>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GAR</a:t>
            </a:r>
            <a:endParaRPr/>
          </a:p>
        </p:txBody>
      </p:sp>
      <p:sp>
        <p:nvSpPr>
          <p:cNvPr id="40" name="Google Shape;40;p9"/>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Session 07: The Legend of Zelda</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 name="Shape 44"/>
        <p:cNvGrpSpPr/>
        <p:nvPr/>
      </p:nvGrpSpPr>
      <p:grpSpPr>
        <a:xfrm>
          <a:off x="0" y="0"/>
          <a:ext cx="0" cy="0"/>
          <a:chOff x="0" y="0"/>
          <a:chExt cx="0" cy="0"/>
        </a:xfrm>
      </p:grpSpPr>
      <p:sp>
        <p:nvSpPr>
          <p:cNvPr id="45" name="Google Shape;45;p10"/>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Legend of Zelda</a:t>
            </a:r>
            <a:endParaRPr/>
          </a:p>
        </p:txBody>
      </p:sp>
      <p:pic>
        <p:nvPicPr>
          <p:cNvPr id="46" name="Google Shape;46;p10"/>
          <p:cNvPicPr preferRelativeResize="0"/>
          <p:nvPr/>
        </p:nvPicPr>
        <p:blipFill>
          <a:blip r:embed="rId3">
            <a:alphaModFix/>
          </a:blip>
          <a:stretch>
            <a:fillRect/>
          </a:stretch>
        </p:blipFill>
        <p:spPr>
          <a:xfrm>
            <a:off x="1866587" y="960120"/>
            <a:ext cx="5410826" cy="3554650"/>
          </a:xfrm>
          <a:prstGeom prst="rect">
            <a:avLst/>
          </a:prstGeom>
          <a:noFill/>
          <a:ln>
            <a:noFill/>
          </a:ln>
        </p:spPr>
      </p:pic>
      <p:sp>
        <p:nvSpPr>
          <p:cNvPr id="47" name="TextBox 46"/>
          <p:cNvSpPr txBox="1"/>
          <p:nvPr/>
        </p:nvSpPr>
        <p:spPr>
          <a:xfrm>
            <a:off x="457200" y="4736592"/>
            <a:ext cx="8229600" cy="274320"/>
          </a:xfrm>
          <a:prstGeom prst="rect">
            <a:avLst/>
          </a:prstGeom>
          <a:noFill/>
        </p:spPr>
        <p:txBody>
          <a:bodyPr wrap="square">
            <a:spAutoFit/>
          </a:bodyPr>
          <a:lstStyle/>
          <a:p>
            <a:pPr algn="ctr"/>
            <a:r>
              <a:rPr sz="900" b="0" i="0">
                <a:solidFill>
                  <a:srgbClr val="9AA3AB"/>
                </a:solidFill>
              </a:rPr>
              <a:t>The Legend of Zelda (Nintendo, 1986). Screenshot © Nintendo.</a:t>
            </a: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
        <p:nvSpPr>
          <p:cNvPr id="51" name="Google Shape;51;p11"/>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Today’s Goal</a:t>
            </a:r>
            <a:endParaRPr/>
          </a:p>
        </p:txBody>
      </p:sp>
      <p:pic>
        <p:nvPicPr>
          <p:cNvPr id="52" name="Picture 52" descr="the-legend-of-zelda.gif"/>
          <p:cNvPicPr>
            <a:picLocks noChangeAspect="1"/>
          </p:cNvPicPr>
          <p:nvPr/>
        </p:nvPicPr>
        <p:blipFill>
          <a:blip r:embed="rId4"/>
          <a:stretch>
            <a:fillRect/>
          </a:stretch>
        </p:blipFill>
        <p:spPr>
          <a:xfrm>
            <a:off x="1412779" y="1203675"/>
            <a:ext cx="6318440" cy="355412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 name="Shape 56"/>
        <p:cNvGrpSpPr/>
        <p:nvPr/>
      </p:nvGrpSpPr>
      <p:grpSpPr>
        <a:xfrm>
          <a:off x="0" y="0"/>
          <a:ext cx="0" cy="0"/>
          <a:chOff x="0" y="0"/>
          <a:chExt cx="0" cy="0"/>
        </a:xfrm>
      </p:grpSpPr>
      <p:sp>
        <p:nvSpPr>
          <p:cNvPr id="57" name="Google Shape;57;p12"/>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Today’s Topics</a:t>
            </a:r>
            <a:endParaRPr/>
          </a:p>
        </p:txBody>
      </p:sp>
      <p:sp>
        <p:nvSpPr>
          <p:cNvPr id="58" name="Google Shape;58;p12"/>
          <p:cNvSpPr txBox="1"/>
          <p:nvPr>
            <p:ph idx="1" type="body"/>
          </p:nvPr>
        </p:nvSpPr>
        <p:spPr>
          <a:xfrm>
            <a:off x="311700" y="885950"/>
            <a:ext cx="8520600" cy="2825496"/>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n" b="1"/>
              <a:t>Main topic: Events</a:t>
            </a:r>
            <a:endParaRPr/>
          </a:p>
          <a:p>
            <a:pPr indent="-330200" lvl="0" marL="457200" rtl="0" algn="l">
              <a:spcBef>
                <a:spcPts val="0"/>
              </a:spcBef>
              <a:spcAft>
                <a:spcPts val="0"/>
              </a:spcAft>
              <a:buSzPts val="1600"/>
              <a:buChar char="●"/>
            </a:pPr>
            <a:r>
              <a:rPr lang="en"/>
              <a:t>Dungeon Generation</a:t>
            </a:r>
            <a:endParaRPr/>
          </a:p>
          <a:p>
            <a:pPr indent="-330200" lvl="0" marL="457200" rtl="0" algn="l">
              <a:spcBef>
                <a:spcPts val="0"/>
              </a:spcBef>
              <a:spcAft>
                <a:spcPts val="0"/>
              </a:spcAft>
              <a:buSzPts val="1600"/>
              <a:buChar char="●"/>
            </a:pPr>
            <a:r>
              <a:rPr lang="en"/>
              <a:t>Hitboxes/Hurtboxes</a:t>
            </a:r>
            <a:endParaRPr/>
          </a:p>
          <a:p>
            <a:pPr indent="-330200" lvl="0" marL="457200" rtl="0" algn="l">
              <a:spcBef>
                <a:spcPts val="0"/>
              </a:spcBef>
              <a:spcAft>
                <a:spcPts val="0"/>
              </a:spcAft>
              <a:buSzPts val="1600"/>
              <a:buChar char="●"/>
            </a:pPr>
            <a:r>
              <a:rPr lang="en"/>
              <a:t>Observer Pattern (Delegates &amp; Events)</a:t>
            </a:r>
            <a:endParaRPr/>
          </a:p>
          <a:p>
            <a:pPr indent="-330200" lvl="0" marL="457200" rtl="0" algn="l">
              <a:spcBef>
                <a:spcPts val="0"/>
              </a:spcBef>
              <a:spcAft>
                <a:spcPts val="0"/>
              </a:spcAft>
              <a:buSzPts val="1600"/>
              <a:buChar char="●"/>
            </a:pPr>
            <a:r>
              <a:rPr lang="en"/>
              <a:t>A Tweening System</a:t>
            </a:r>
            <a:endParaRPr/>
          </a:p>
          <a:p>
            <a:pPr indent="-330200" lvl="0" marL="457200" rtl="0" algn="l">
              <a:spcBef>
                <a:spcPts val="0"/>
              </a:spcBef>
              <a:spcAft>
                <a:spcPts val="0"/>
              </a:spcAft>
              <a:buSzPts val="1600"/>
              <a:buChar char="●"/>
            </a:pPr>
            <a:r>
              <a:rPr lang="en"/>
              <a:t>Data-Driven Design (again)</a:t>
            </a:r>
            <a:endParaRPr/>
          </a:p>
          <a:p>
            <a:pPr indent="-330200" lvl="0" marL="457200" rtl="0" algn="l">
              <a:spcBef>
                <a:spcPts val="0"/>
              </a:spcBef>
              <a:spcAft>
                <a:spcPts val="0"/>
              </a:spcAft>
              <a:buSzPts val="1600"/>
              <a:buChar char="●"/>
            </a:pPr>
            <a:r>
              <a:rPr lang="en"/>
              <a:t>Composition vs. Inheritance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3"/>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Source Code</a:t>
            </a:r>
            <a:endParaRPr/>
          </a:p>
        </p:txBody>
      </p:sp>
      <p:sp>
        <p:nvSpPr>
          <p:cNvPr id="64" name="Google Shape;64;p13"/>
          <p:cNvSpPr txBox="1"/>
          <p:nvPr>
            <p:ph idx="1" type="body"/>
          </p:nvPr>
        </p:nvSpPr>
        <p:spPr>
          <a:xfrm>
            <a:off x="311700" y="885950"/>
            <a:ext cx="8520600" cy="1289304"/>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n"/>
              <a:t>github.com/Metamate/gar-games, folder 07-the-legend-of-zelda</a:t>
            </a:r>
            <a:endParaRPr/>
          </a:p>
          <a:p>
            <a:pPr indent="-330200" lvl="0" marL="457200" rtl="0" algn="l">
              <a:spcBef>
                <a:spcPts val="0"/>
              </a:spcBef>
              <a:spcAft>
                <a:spcPts val="0"/>
              </a:spcAft>
              <a:buSzPts val="1600"/>
              <a:buChar char="●"/>
            </a:pPr>
            <a:r>
              <a:rPr lang="en"/>
              <a:t>Its README: the steps (Zelda0 to Zelda7), where things are in the code, how to run it</a:t>
            </a:r>
            <a:endParaRPr/>
          </a:p>
          <a:p>
            <a:pPr indent="-330200" lvl="0" marL="457200" rtl="0" algn="l">
              <a:spcBef>
                <a:spcPts val="0"/>
              </a:spcBef>
              <a:spcAft>
                <a:spcPts val="0"/>
              </a:spcAft>
              <a:buSzPts val="1600"/>
              <a:buChar char="●"/>
            </a:pPr>
            <a:r>
              <a:rPr lang="en"/>
              <a:t>The course site: today’s concepts in full, the exercises, and questions to check yourself</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4">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3"/>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Steps</a:t>
            </a:r>
            <a:endParaRPr/>
          </a:p>
        </p:txBody>
      </p:sp>
      <p:sp>
        <p:nvSpPr>
          <p:cNvPr id="64" name="Google Shape;64;p13"/>
          <p:cNvSpPr txBox="1"/>
          <p:nvPr>
            <p:ph idx="1" type="body"/>
          </p:nvPr>
        </p:nvSpPr>
        <p:spPr>
          <a:xfrm>
            <a:off x="311700" y="885950"/>
            <a:ext cx="8520600" cy="40233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n"/>
              <a:t>Zelda0: rooms generated as tilemaps</a:t>
            </a:r>
            <a:endParaRPr/>
          </a:p>
          <a:p>
            <a:pPr indent="-330200" lvl="0" marL="457200" rtl="0" algn="l">
              <a:spcBef>
                <a:spcPts val="0"/>
              </a:spcBef>
              <a:spcAft>
                <a:spcPts val="0"/>
              </a:spcAft>
              <a:buSzPts val="1600"/>
              <a:buChar char="●"/>
            </a:pPr>
            <a:r>
              <a:rPr lang="en"/>
              <a:t>Zelda1: the player, top-down movement</a:t>
            </a:r>
            <a:endParaRPr/>
          </a:p>
          <a:p>
            <a:pPr indent="-330200" lvl="0" marL="457200" rtl="0" algn="l">
              <a:spcBef>
                <a:spcPts val="0"/>
              </a:spcBef>
              <a:spcAft>
                <a:spcPts val="0"/>
              </a:spcAft>
              <a:buSzPts val="1600"/>
              <a:buChar char="●"/>
            </a:pPr>
            <a:r>
              <a:rPr lang="en"/>
              <a:t>Zelda2: enemies and AI</a:t>
            </a:r>
            <a:endParaRPr/>
          </a:p>
          <a:p>
            <a:pPr indent="-330200" lvl="0" marL="457200" rtl="0" algn="l">
              <a:spcBef>
                <a:spcPts val="0"/>
              </a:spcBef>
              <a:spcAft>
                <a:spcPts val="0"/>
              </a:spcAft>
              <a:buSzPts val="1600"/>
              <a:buChar char="●"/>
            </a:pPr>
            <a:r>
              <a:rPr lang="en"/>
              <a:t>Zelda3: combat (hitboxes, hurtboxes and damage)</a:t>
            </a:r>
            <a:endParaRPr/>
          </a:p>
          <a:p>
            <a:pPr indent="-330200" lvl="0" marL="457200" rtl="0" algn="l">
              <a:spcBef>
                <a:spcPts val="0"/>
              </a:spcBef>
              <a:spcAft>
                <a:spcPts val="0"/>
              </a:spcAft>
              <a:buSzPts val="1600"/>
              <a:buChar char="●"/>
            </a:pPr>
            <a:r>
              <a:rPr lang="en"/>
              <a:t>Zelda4: events (player death, the floor switch and doorways)</a:t>
            </a:r>
            <a:endParaRPr/>
          </a:p>
          <a:p>
            <a:pPr indent="-330200" lvl="0" marL="457200" rtl="0" algn="l">
              <a:spcBef>
                <a:spcPts val="0"/>
              </a:spcBef>
              <a:spcAft>
                <a:spcPts val="0"/>
              </a:spcAft>
              <a:buSzPts val="1600"/>
              <a:buChar char="●"/>
            </a:pPr>
            <a:r>
              <a:rPr lang="en"/>
              <a:t>Zelda5: screen scrolling between rooms</a:t>
            </a:r>
            <a:endParaRPr/>
          </a:p>
          <a:p>
            <a:pPr indent="-330200" lvl="0" marL="457200" rtl="0" algn="l">
              <a:spcBef>
                <a:spcPts val="0"/>
              </a:spcBef>
              <a:spcAft>
                <a:spcPts val="0"/>
              </a:spcAft>
              <a:buSzPts val="1600"/>
              <a:buChar char="●"/>
            </a:pPr>
            <a:r>
              <a:rPr lang="en"/>
              <a:t>Zelda6: stenciling the door arches</a:t>
            </a:r>
            <a:endParaRPr/>
          </a:p>
          <a:p>
            <a:pPr indent="-330200" lvl="0" marL="457200" rtl="0" algn="l">
              <a:spcBef>
                <a:spcPts val="0"/>
              </a:spcBef>
              <a:spcAft>
                <a:spcPts val="0"/>
              </a:spcAft>
              <a:buSzPts val="1600"/>
              <a:buChar char="●"/>
            </a:pPr>
            <a:r>
              <a:rPr lang="en"/>
              <a:t>Zelda7: audio (the finished game)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4">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4"/>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Diagram</a:t>
            </a:r>
            <a:endParaRPr/>
          </a:p>
        </p:txBody>
      </p:sp>
      <p:pic>
        <p:nvPicPr>
          <p:cNvPr id="70" name="Google Shape;70;p14"/>
          <p:cNvPicPr preferRelativeResize="0"/>
          <p:nvPr/>
        </p:nvPicPr>
        <p:blipFill>
          <a:blip r:embed="rId3">
            <a:alphaModFix/>
          </a:blip>
          <a:stretch>
            <a:fillRect/>
          </a:stretch>
        </p:blipFill>
        <p:spPr>
          <a:xfrm>
            <a:off x="152400" y="1302340"/>
            <a:ext cx="8839200" cy="274615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5"/>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accent5"/>
                </a:solidFill>
              </a:rPr>
              <a:t>Explore the Codebase</a:t>
            </a:r>
            <a:endParaRPr>
              <a:solidFill>
                <a:schemeClr val="accent5"/>
              </a:solidFill>
            </a:endParaRPr>
          </a:p>
        </p:txBody>
      </p:sp>
      <p:sp>
        <p:nvSpPr>
          <p:cNvPr id="76" name="Google Shape;76;p15"/>
          <p:cNvSpPr txBox="1"/>
          <p:nvPr>
            <p:ph idx="1" type="body"/>
          </p:nvPr>
        </p:nvSpPr>
        <p:spPr>
          <a:xfrm>
            <a:off x="311700" y="885950"/>
            <a:ext cx="8520600" cy="4023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Take ~15 minutes to browse the finished game, Zelda7. Use the README as a guide if you need it.</a:t>
            </a:r>
            <a:endParaRPr/>
          </a:p>
          <a:p>
            <a:pPr indent="-330200" lvl="0" marL="457200" rtl="0" algn="l">
              <a:spcBef>
                <a:spcPts val="1200"/>
              </a:spcBef>
              <a:spcAft>
                <a:spcPts val="0"/>
              </a:spcAft>
              <a:buSzPts val="1600"/>
              <a:buChar char="●"/>
            </a:pPr>
            <a:r>
              <a:rPr lang="en"/>
              <a:t>Find where the game transitions between the title screen, gameplay, and game over</a:t>
            </a:r>
            <a:endParaRPr/>
          </a:p>
          <a:p>
            <a:pPr indent="-330200" lvl="0" marL="457200" rtl="0" algn="l">
              <a:spcBef>
                <a:spcPts val="0"/>
              </a:spcBef>
              <a:spcAft>
                <a:spcPts val="0"/>
              </a:spcAft>
              <a:buSzPts val="1600"/>
              <a:buChar char="●"/>
            </a:pPr>
            <a:r>
              <a:rPr lang="en"/>
              <a:t>How does the player move?</a:t>
            </a:r>
            <a:endParaRPr/>
          </a:p>
          <a:p>
            <a:pPr indent="-330200" lvl="0" marL="457200" rtl="0" algn="l">
              <a:spcBef>
                <a:spcPts val="0"/>
              </a:spcBef>
              <a:spcAft>
                <a:spcPts val="0"/>
              </a:spcAft>
              <a:buSzPts val="1600"/>
              <a:buChar char="●"/>
            </a:pPr>
            <a:r>
              <a:rPr lang="en"/>
              <a:t>Find where a new room is generated and what it contains when it is created</a:t>
            </a:r>
            <a:endParaRPr/>
          </a:p>
          <a:p>
            <a:pPr indent="-330200" lvl="0" marL="457200" rtl="0" algn="l">
              <a:spcBef>
                <a:spcPts val="0"/>
              </a:spcBef>
              <a:spcAft>
                <a:spcPts val="0"/>
              </a:spcAft>
              <a:buSzPts val="1600"/>
              <a:buChar char="●"/>
            </a:pPr>
            <a:r>
              <a:rPr lang="en"/>
              <a:t>The player and enemies share a lot of code</a:t>
            </a:r>
            <a:endParaRPr/>
          </a:p>
          <a:p>
            <a:pPr indent="-317500" lvl="1" marL="914400" rtl="0" algn="l">
              <a:spcBef>
                <a:spcPts val="0"/>
              </a:spcBef>
              <a:spcAft>
                <a:spcPts val="0"/>
              </a:spcAft>
              <a:buSzPts val="1400"/>
              <a:buChar char="○"/>
            </a:pPr>
            <a:r>
              <a:rPr lang="en"/>
              <a:t>Find the common base and explain what it provides</a:t>
            </a:r>
            <a:endParaRPr/>
          </a:p>
          <a:p>
            <a:pPr indent="-330200" lvl="0" marL="457200" rtl="0" algn="l">
              <a:spcBef>
                <a:spcPts val="0"/>
              </a:spcBef>
              <a:spcAft>
                <a:spcPts val="0"/>
              </a:spcAft>
              <a:buSzPts val="1600"/>
              <a:buChar char="●"/>
            </a:pPr>
            <a:r>
              <a:rPr lang="en"/>
              <a:t>Trace what happens from the moment the player presses the spacebar to an enemy taking damage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6">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6"/>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Assets</a:t>
            </a:r>
            <a:endParaRPr/>
          </a:p>
        </p:txBody>
      </p:sp>
      <p:pic>
        <p:nvPicPr>
          <p:cNvPr id="82" name="Picture 85" descr="tilesheet.png"/>
          <p:cNvPicPr>
            <a:picLocks noChangeAspect="1"/>
          </p:cNvPicPr>
          <p:nvPr/>
        </p:nvPicPr>
        <p:blipFill>
          <a:blip r:embed="rId4"/>
          <a:stretch>
            <a:fillRect/>
          </a:stretch>
        </p:blipFill>
        <p:spPr>
          <a:xfrm>
            <a:off x="408714" y="1425731"/>
            <a:ext cx="4573373" cy="3129149"/>
          </a:xfrm>
          <a:prstGeom prst="rect">
            <a:avLst/>
          </a:prstGeom>
        </p:spPr>
      </p:pic>
      <p:pic>
        <p:nvPicPr>
          <p:cNvPr id="83" name="Picture 85" descr="character_swing_sword.png"/>
          <p:cNvPicPr>
            <a:picLocks noChangeAspect="1"/>
          </p:cNvPicPr>
          <p:nvPr/>
        </p:nvPicPr>
        <p:blipFill>
          <a:blip r:embed="rId6"/>
          <a:stretch>
            <a:fillRect/>
          </a:stretch>
        </p:blipFill>
        <p:spPr>
          <a:xfrm>
            <a:off x="6649450" y="899667"/>
            <a:ext cx="1697749" cy="1697749"/>
          </a:xfrm>
          <a:prstGeom prst="rect">
            <a:avLst/>
          </a:prstGeom>
        </p:spPr>
      </p:pic>
      <p:pic>
        <p:nvPicPr>
          <p:cNvPr id="84" name="Picture 85" descr="character_walk.png"/>
          <p:cNvPicPr>
            <a:picLocks noChangeAspect="1"/>
          </p:cNvPicPr>
          <p:nvPr/>
        </p:nvPicPr>
        <p:blipFill>
          <a:blip r:embed="rId7"/>
          <a:stretch>
            <a:fillRect/>
          </a:stretch>
        </p:blipFill>
        <p:spPr>
          <a:xfrm>
            <a:off x="5454471" y="1086222"/>
            <a:ext cx="848874" cy="1273311"/>
          </a:xfrm>
          <a:prstGeom prst="rect">
            <a:avLst/>
          </a:prstGeom>
        </p:spPr>
      </p:pic>
      <p:pic>
        <p:nvPicPr>
          <p:cNvPr id="85" name="Picture 85" descr="entities.png"/>
          <p:cNvPicPr>
            <a:picLocks noChangeAspect="1"/>
          </p:cNvPicPr>
          <p:nvPr/>
        </p:nvPicPr>
        <p:blipFill>
          <a:blip r:embed="rId3"/>
          <a:stretch>
            <a:fillRect/>
          </a:stretch>
        </p:blipFill>
        <p:spPr>
          <a:xfrm>
            <a:off x="5230038" y="2728758"/>
            <a:ext cx="3282825" cy="21885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7"/>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Tooling</a:t>
            </a:r>
            <a:endParaRPr/>
          </a:p>
        </p:txBody>
      </p:sp>
      <p:pic>
        <p:nvPicPr>
          <p:cNvPr id="91" name="Picture 91" descr="tilesheet_labeled.png"/>
          <p:cNvPicPr>
            <a:picLocks noChangeAspect="1"/>
          </p:cNvPicPr>
          <p:nvPr/>
        </p:nvPicPr>
        <p:blipFill>
          <a:blip r:embed="rId3"/>
          <a:stretch>
            <a:fillRect/>
          </a:stretch>
        </p:blipFill>
        <p:spPr>
          <a:xfrm>
            <a:off x="1597489" y="920715"/>
            <a:ext cx="5949022" cy="407038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8"/>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Top-Down Perspective</a:t>
            </a:r>
            <a:endParaRPr/>
          </a:p>
        </p:txBody>
      </p:sp>
      <p:pic>
        <p:nvPicPr>
          <p:cNvPr id="97" name="Picture 97" descr="f026.png"/>
          <p:cNvPicPr>
            <a:picLocks noChangeAspect="1"/>
          </p:cNvPicPr>
          <p:nvPr/>
        </p:nvPicPr>
        <p:blipFill>
          <a:blip r:embed="rId3"/>
          <a:stretch>
            <a:fillRect/>
          </a:stretch>
        </p:blipFill>
        <p:spPr>
          <a:xfrm>
            <a:off x="1138226" y="1062675"/>
            <a:ext cx="6867550" cy="386299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0"/>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Dungeon Generation</a:t>
            </a:r>
            <a:endParaRPr/>
          </a:p>
        </p:txBody>
      </p:sp>
      <p:pic>
        <p:nvPicPr>
          <p:cNvPr id="110" name="Picture 109" descr="room.png"/>
          <p:cNvPicPr>
            <a:picLocks noChangeAspect="1"/>
          </p:cNvPicPr>
          <p:nvPr/>
        </p:nvPicPr>
        <p:blipFill>
          <a:blip r:embed="rId4"/>
          <a:stretch>
            <a:fillRect/>
          </a:stretch>
        </p:blipFill>
        <p:spPr>
          <a:xfrm>
            <a:off x="320039" y="1051560"/>
            <a:ext cx="8503920" cy="389763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1"/>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Hitboxes/Hurtboxes</a:t>
            </a:r>
            <a:endParaRPr/>
          </a:p>
        </p:txBody>
      </p:sp>
      <p:pic>
        <p:nvPicPr>
          <p:cNvPr id="116" name="Picture 115" descr="hitboxes.png"/>
          <p:cNvPicPr>
            <a:picLocks noChangeAspect="1"/>
          </p:cNvPicPr>
          <p:nvPr/>
        </p:nvPicPr>
        <p:blipFill>
          <a:blip r:embed="rId5"/>
          <a:stretch>
            <a:fillRect/>
          </a:stretch>
        </p:blipFill>
        <p:spPr>
          <a:xfrm>
            <a:off x="320039" y="1051560"/>
            <a:ext cx="8503920" cy="389763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indent="0" lvl="0" marL="0" rtl="0" algn="l">
              <a:spcBef>
                <a:spcPts val="0"/>
              </a:spcBef>
              <a:spcAft>
                <a:spcPts val="0"/>
              </a:spcAft>
              <a:buNone/>
            </a:pPr>
            <a:r>
              <a:rPr lang="en"/>
              <a:t>Try It: Sword Reach</a:t>
            </a:r>
            <a:endParaRPr/>
          </a:p>
        </p:txBody>
      </p:sp>
      <p:sp>
        <p:nvSpPr>
          <p:cNvPr id="3" name="Text Placeholder 2"/>
          <p:cNvSpPr>
            <a:spLocks noGrp="1"/>
          </p:cNvSpPr>
          <p:nvPr>
            <p:ph type="body" idx="1"/>
          </p:nvPr>
        </p:nvSpPr>
        <p:spPr>
          <a:xfrm>
            <a:off x="311700" y="885950"/>
            <a:ext cx="8520600" cy="1289304"/>
          </a:xfrm>
        </p:spPr>
        <p:txBody>
          <a:bodyPr/>
          <a:lstStyle/>
          <a:p>
            <a:pPr indent="-330200" lvl="0" marL="457200" rtl="0" algn="l">
              <a:spcBef>
                <a:spcPts val="0"/>
              </a:spcBef>
              <a:spcAft>
                <a:spcPts val="0"/>
              </a:spcAft>
              <a:buSzPts val="1600"/>
              <a:buChar char="●"/>
            </a:pPr>
            <a:r>
              <a:rPr lang="en"/>
              <a:t>In Zelda7’s GameSettings:</a:t>
            </a:r>
            <a:endParaRPr/>
          </a:p>
          <a:p>
            <a:pPr indent="-330200" lvl="0" marL="457200" rtl="0" algn="l">
              <a:spcBef>
                <a:spcPts val="0"/>
              </a:spcBef>
              <a:spcAft>
                <a:spcPts val="0"/>
              </a:spcAft>
              <a:buSzPts val="1600"/>
              <a:buChar char="●"/>
            </a:pPr>
            <a:r>
              <a:rPr lang="en"/>
              <a:t>Make the sword reach twice as far</a:t>
            </a:r>
            <a:endParaRPr/>
          </a:p>
          <a:p>
            <a:pPr indent="-330200" lvl="0" marL="457200" rtl="0" algn="l">
              <a:spcBef>
                <a:spcPts val="0"/>
              </a:spcBef>
              <a:spcAft>
                <a:spcPts val="0"/>
              </a:spcAft>
              <a:buSzPts val="1600"/>
              <a:buChar char="●"/>
            </a:pPr>
            <a:r>
              <a:rPr lang="en"/>
              <a:t>Play: does it still feel fair?</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2"/>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Events in Games</a:t>
            </a:r>
            <a:endParaRPr/>
          </a:p>
        </p:txBody>
      </p:sp>
      <p:sp>
        <p:nvSpPr>
          <p:cNvPr id="127" name="Google Shape;127;p22"/>
          <p:cNvSpPr txBox="1"/>
          <p:nvPr>
            <p:ph idx="1" type="body"/>
          </p:nvPr>
        </p:nvSpPr>
        <p:spPr>
          <a:xfrm>
            <a:off x="311700" y="885950"/>
            <a:ext cx="8520600" cy="10833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n"/>
              <a:t>Games are full of moments where something happens and other things need to react</a:t>
            </a:r>
            <a:endParaRPr/>
          </a:p>
          <a:p>
            <a:pPr indent="-330200" lvl="0" marL="457200" rtl="0" algn="l">
              <a:spcBef>
                <a:spcPts val="0"/>
              </a:spcBef>
              <a:spcAft>
                <a:spcPts val="0"/>
              </a:spcAft>
              <a:buSzPts val="1600"/>
              <a:buChar char="●"/>
            </a:pPr>
            <a:r>
              <a:rPr lang="en"/>
              <a:t>The thing that happened shouldn't need to know what those other things are</a:t>
            </a:r>
            <a:endParaRPr/>
          </a:p>
          <a:p>
            <a:pPr indent="-330200" lvl="0" marL="457200" rtl="0" algn="l">
              <a:spcBef>
                <a:spcPts val="0"/>
              </a:spcBef>
              <a:spcAft>
                <a:spcPts val="0"/>
              </a:spcAft>
              <a:buSzPts val="1600"/>
              <a:buChar char="●"/>
            </a:pPr>
            <a:r>
              <a:rPr lang="en"/>
              <a:t>Events let you flip that around: the trigger just announces, anything that cares subscribes</a:t>
            </a:r>
            <a:endParaRPr/>
          </a:p>
        </p:txBody>
      </p:sp>
      <p:pic>
        <p:nvPicPr>
          <p:cNvPr id="128" name="Google Shape;128;p22"/>
          <p:cNvPicPr preferRelativeResize="0"/>
          <p:nvPr/>
        </p:nvPicPr>
        <p:blipFill>
          <a:blip r:embed="rId3">
            <a:alphaModFix/>
          </a:blip>
          <a:stretch>
            <a:fillRect/>
          </a:stretch>
        </p:blipFill>
        <p:spPr>
          <a:xfrm>
            <a:off x="989977" y="2267725"/>
            <a:ext cx="7164024" cy="2169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3"/>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Observer Pattern</a:t>
            </a:r>
            <a:endParaRPr/>
          </a:p>
        </p:txBody>
      </p:sp>
      <p:pic>
        <p:nvPicPr>
          <p:cNvPr id="134" name="Picture 133" descr="observer.png"/>
          <p:cNvPicPr>
            <a:picLocks noChangeAspect="1"/>
          </p:cNvPicPr>
          <p:nvPr/>
        </p:nvPicPr>
        <p:blipFill>
          <a:blip r:embed="rId3"/>
          <a:stretch>
            <a:fillRect/>
          </a:stretch>
        </p:blipFill>
        <p:spPr>
          <a:xfrm>
            <a:off x="320039" y="1051560"/>
            <a:ext cx="8503920" cy="389763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indent="0" lvl="0" marL="0" rtl="0" algn="l">
              <a:spcBef>
                <a:spcPts val="0"/>
              </a:spcBef>
              <a:spcAft>
                <a:spcPts val="0"/>
              </a:spcAft>
              <a:buNone/>
            </a:pPr>
            <a:r>
              <a:rPr lang="en"/>
              <a:t>The Event Travels Up</a:t>
            </a:r>
            <a:endParaRPr/>
          </a:p>
        </p:txBody>
      </p:sp>
      <p:pic>
        <p:nvPicPr>
          <p:cNvPr id="3" name="Picture 2" descr="event-flow.png"/>
          <p:cNvPicPr>
            <a:picLocks noChangeAspect="1"/>
          </p:cNvPicPr>
          <p:nvPr/>
        </p:nvPicPr>
        <p:blipFill>
          <a:blip r:embed="rId2"/>
          <a:stretch>
            <a:fillRect/>
          </a:stretch>
        </p:blipFill>
        <p:spPr>
          <a:xfrm>
            <a:off x="320039" y="1051560"/>
            <a:ext cx="8503920" cy="389763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6"/>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However…</a:t>
            </a:r>
            <a:endParaRPr/>
          </a:p>
        </p:txBody>
      </p:sp>
      <p:sp>
        <p:nvSpPr>
          <p:cNvPr id="153" name="Google Shape;153;p26"/>
          <p:cNvSpPr txBox="1"/>
          <p:nvPr>
            <p:ph idx="1" type="body"/>
          </p:nvPr>
        </p:nvSpPr>
        <p:spPr>
          <a:xfrm>
            <a:off x="311700" y="885950"/>
            <a:ext cx="8520600" cy="4023300"/>
          </a:xfrm>
          <a:prstGeom prst="rect">
            <a:avLst/>
          </a:prstGeom>
        </p:spPr>
        <p:txBody>
          <a:bodyPr anchorCtr="0" anchor="ctr" bIns="91425" lIns="91425" spcFirstLastPara="1" rIns="91425" wrap="square" tIns="91425">
            <a:normAutofit/>
          </a:bodyPr>
          <a:lstStyle/>
          <a:p>
            <a:pPr indent="0" lvl="0" marL="0" rtl="0" algn="ctr">
              <a:spcBef>
                <a:spcPts val="0"/>
              </a:spcBef>
              <a:spcAft>
                <a:spcPts val="1200"/>
              </a:spcAft>
              <a:buNone/>
            </a:pPr>
            <a:r>
              <a:rPr lang="en"/>
              <a:t>In C#, we don’t need to implement the Observer pattern. Events are part of the language!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7"/>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 Events</a:t>
            </a:r>
            <a:endParaRPr/>
          </a:p>
        </p:txBody>
      </p:sp>
      <p:pic>
        <p:nvPicPr>
          <p:cNvPr id="159" name="Google Shape;159;p27"/>
          <p:cNvPicPr preferRelativeResize="0"/>
          <p:nvPr/>
        </p:nvPicPr>
        <p:blipFill>
          <a:blip r:embed="rId3">
            <a:alphaModFix/>
          </a:blip>
          <a:stretch>
            <a:fillRect/>
          </a:stretch>
        </p:blipFill>
        <p:spPr>
          <a:xfrm>
            <a:off x="311700" y="1645271"/>
            <a:ext cx="3573650" cy="2392125"/>
          </a:xfrm>
          <a:prstGeom prst="rect">
            <a:avLst/>
          </a:prstGeom>
          <a:noFill/>
          <a:ln>
            <a:noFill/>
          </a:ln>
        </p:spPr>
      </p:pic>
      <p:pic>
        <p:nvPicPr>
          <p:cNvPr id="160" name="Google Shape;160;p27"/>
          <p:cNvPicPr preferRelativeResize="0"/>
          <p:nvPr/>
        </p:nvPicPr>
        <p:blipFill>
          <a:blip r:embed="rId4">
            <a:alphaModFix/>
          </a:blip>
          <a:stretch>
            <a:fillRect/>
          </a:stretch>
        </p:blipFill>
        <p:spPr>
          <a:xfrm>
            <a:off x="4010100" y="1297490"/>
            <a:ext cx="4953849" cy="308767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8"/>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Delegates</a:t>
            </a:r>
            <a:endParaRPr/>
          </a:p>
        </p:txBody>
      </p:sp>
      <p:sp>
        <p:nvSpPr>
          <p:cNvPr id="166" name="Google Shape;166;p28"/>
          <p:cNvSpPr txBox="1"/>
          <p:nvPr>
            <p:ph idx="1" type="body"/>
          </p:nvPr>
        </p:nvSpPr>
        <p:spPr>
          <a:xfrm>
            <a:off x="311700" y="1353550"/>
            <a:ext cx="3999900" cy="1076400"/>
          </a:xfrm>
          <a:prstGeom prst="rect">
            <a:avLst/>
          </a:prstGeom>
          <a:solidFill>
            <a:schemeClr val="dk2"/>
          </a:solidFill>
        </p:spPr>
        <p:txBody>
          <a:bodyPr anchorCtr="0" anchor="t" bIns="91425" lIns="91425" spcFirstLastPara="1" rIns="91425" wrap="square" tIns="91425">
            <a:normAutofit/>
          </a:bodyPr>
          <a:lstStyle/>
          <a:p>
            <a:pPr indent="0" lvl="0" marL="0" rtl="0" algn="l">
              <a:lnSpc>
                <a:spcPct val="157500"/>
              </a:lnSpc>
              <a:spcBef>
                <a:spcPts val="0"/>
              </a:spcBef>
              <a:spcAft>
                <a:spcPts val="0"/>
              </a:spcAft>
              <a:buNone/>
            </a:pPr>
            <a:r>
              <a:rPr lang="en" sz="1000">
                <a:solidFill>
                  <a:srgbClr val="6A9955"/>
                </a:solidFill>
                <a:highlight>
                  <a:srgbClr val="1F1F1F"/>
                </a:highlight>
                <a:latin typeface="Consolas"/>
                <a:ea typeface="Consolas"/>
                <a:cs typeface="Consolas"/>
                <a:sym typeface="Consolas"/>
              </a:rPr>
              <a:t>// Built-in delegate types:</a:t>
            </a:r>
            <a:endParaRPr sz="1000">
              <a:solidFill>
                <a:srgbClr val="6A9955"/>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9CDCFE"/>
                </a:solidFill>
                <a:highlight>
                  <a:srgbClr val="1F1F1F"/>
                </a:highlight>
                <a:latin typeface="Consolas"/>
                <a:ea typeface="Consolas"/>
                <a:cs typeface="Consolas"/>
                <a:sym typeface="Consolas"/>
              </a:rPr>
              <a:t>Action</a:t>
            </a:r>
            <a:r>
              <a:rPr lang="en" sz="1000">
                <a:solidFill>
                  <a:srgbClr val="CCCCCC"/>
                </a:solidFill>
                <a:highlight>
                  <a:srgbClr val="1F1F1F"/>
                </a:highlight>
                <a:latin typeface="Consolas"/>
                <a:ea typeface="Consolas"/>
                <a:cs typeface="Consolas"/>
                <a:sym typeface="Consolas"/>
              </a:rPr>
              <a:t>          </a:t>
            </a:r>
            <a:r>
              <a:rPr lang="en" sz="1000">
                <a:solidFill>
                  <a:srgbClr val="6A9955"/>
                </a:solidFill>
                <a:highlight>
                  <a:srgbClr val="1F1F1F"/>
                </a:highlight>
                <a:latin typeface="Consolas"/>
                <a:ea typeface="Consolas"/>
                <a:cs typeface="Consolas"/>
                <a:sym typeface="Consolas"/>
              </a:rPr>
              <a:t>// returns void, no args</a:t>
            </a:r>
            <a:endParaRPr sz="1000">
              <a:solidFill>
                <a:srgbClr val="6A9955"/>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9CDCFE"/>
                </a:solidFill>
                <a:highlight>
                  <a:srgbClr val="1F1F1F"/>
                </a:highlight>
                <a:latin typeface="Consolas"/>
                <a:ea typeface="Consolas"/>
                <a:cs typeface="Consolas"/>
                <a:sym typeface="Consolas"/>
              </a:rPr>
              <a:t>Action</a:t>
            </a:r>
            <a:r>
              <a:rPr lang="en" sz="1000">
                <a:solidFill>
                  <a:srgbClr val="D4D4D4"/>
                </a:solidFill>
                <a:highlight>
                  <a:srgbClr val="1F1F1F"/>
                </a:highlight>
                <a:latin typeface="Consolas"/>
                <a:ea typeface="Consolas"/>
                <a:cs typeface="Consolas"/>
                <a:sym typeface="Consolas"/>
              </a:rPr>
              <a:t>&lt;</a:t>
            </a:r>
            <a:r>
              <a:rPr lang="en" sz="1000">
                <a:solidFill>
                  <a:srgbClr val="569CD6"/>
                </a:solidFill>
                <a:highlight>
                  <a:srgbClr val="1F1F1F"/>
                </a:highlight>
                <a:latin typeface="Consolas"/>
                <a:ea typeface="Consolas"/>
                <a:cs typeface="Consolas"/>
                <a:sym typeface="Consolas"/>
              </a:rPr>
              <a:t>T</a:t>
            </a:r>
            <a:r>
              <a:rPr lang="en" sz="1000">
                <a:solidFill>
                  <a:srgbClr val="D4D4D4"/>
                </a:solidFill>
                <a:highlight>
                  <a:srgbClr val="1F1F1F"/>
                </a:highlight>
                <a:latin typeface="Consolas"/>
                <a:ea typeface="Consolas"/>
                <a:cs typeface="Consolas"/>
                <a:sym typeface="Consolas"/>
              </a:rPr>
              <a:t>&gt;</a:t>
            </a:r>
            <a:r>
              <a:rPr lang="en" sz="1000">
                <a:solidFill>
                  <a:srgbClr val="CCCCCC"/>
                </a:solidFill>
                <a:highlight>
                  <a:srgbClr val="1F1F1F"/>
                </a:highlight>
                <a:latin typeface="Consolas"/>
                <a:ea typeface="Consolas"/>
                <a:cs typeface="Consolas"/>
                <a:sym typeface="Consolas"/>
              </a:rPr>
              <a:t>       </a:t>
            </a:r>
            <a:r>
              <a:rPr lang="en" sz="1000">
                <a:solidFill>
                  <a:srgbClr val="6A9955"/>
                </a:solidFill>
                <a:highlight>
                  <a:srgbClr val="1F1F1F"/>
                </a:highlight>
                <a:latin typeface="Consolas"/>
                <a:ea typeface="Consolas"/>
                <a:cs typeface="Consolas"/>
                <a:sym typeface="Consolas"/>
              </a:rPr>
              <a:t>// returns void, takes T</a:t>
            </a:r>
            <a:endParaRPr sz="1000">
              <a:solidFill>
                <a:srgbClr val="6A9955"/>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9CDCFE"/>
                </a:solidFill>
                <a:highlight>
                  <a:srgbClr val="1F1F1F"/>
                </a:highlight>
                <a:latin typeface="Consolas"/>
                <a:ea typeface="Consolas"/>
                <a:cs typeface="Consolas"/>
                <a:sym typeface="Consolas"/>
              </a:rPr>
              <a:t>Func</a:t>
            </a:r>
            <a:r>
              <a:rPr lang="en" sz="1000">
                <a:solidFill>
                  <a:srgbClr val="D4D4D4"/>
                </a:solidFill>
                <a:highlight>
                  <a:srgbClr val="1F1F1F"/>
                </a:highlight>
                <a:latin typeface="Consolas"/>
                <a:ea typeface="Consolas"/>
                <a:cs typeface="Consolas"/>
                <a:sym typeface="Consolas"/>
              </a:rPr>
              <a:t>&lt;</a:t>
            </a:r>
            <a:r>
              <a:rPr lang="en" sz="1000">
                <a:solidFill>
                  <a:srgbClr val="569CD6"/>
                </a:solidFill>
                <a:highlight>
                  <a:srgbClr val="1F1F1F"/>
                </a:highlight>
                <a:latin typeface="Consolas"/>
                <a:ea typeface="Consolas"/>
                <a:cs typeface="Consolas"/>
                <a:sym typeface="Consolas"/>
              </a:rPr>
              <a:t>T</a:t>
            </a:r>
            <a:r>
              <a:rPr lang="en" sz="1000">
                <a:solidFill>
                  <a:srgbClr val="D4D4D4"/>
                </a:solidFill>
                <a:highlight>
                  <a:srgbClr val="1F1F1F"/>
                </a:highlight>
                <a:latin typeface="Consolas"/>
                <a:ea typeface="Consolas"/>
                <a:cs typeface="Consolas"/>
                <a:sym typeface="Consolas"/>
              </a:rPr>
              <a:t>&gt;</a:t>
            </a:r>
            <a:r>
              <a:rPr lang="en" sz="1000">
                <a:solidFill>
                  <a:srgbClr val="CCCCCC"/>
                </a:solidFill>
                <a:highlight>
                  <a:srgbClr val="1F1F1F"/>
                </a:highlight>
                <a:latin typeface="Consolas"/>
                <a:ea typeface="Consolas"/>
                <a:cs typeface="Consolas"/>
                <a:sym typeface="Consolas"/>
              </a:rPr>
              <a:t>         </a:t>
            </a:r>
            <a:r>
              <a:rPr lang="en" sz="1000">
                <a:solidFill>
                  <a:srgbClr val="6A9955"/>
                </a:solidFill>
                <a:highlight>
                  <a:srgbClr val="1F1F1F"/>
                </a:highlight>
                <a:latin typeface="Consolas"/>
                <a:ea typeface="Consolas"/>
                <a:cs typeface="Consolas"/>
                <a:sym typeface="Consolas"/>
              </a:rPr>
              <a:t>// returns T, no args</a:t>
            </a:r>
            <a:endParaRPr/>
          </a:p>
        </p:txBody>
      </p:sp>
      <p:sp>
        <p:nvSpPr>
          <p:cNvPr id="167" name="Google Shape;167;p28"/>
          <p:cNvSpPr txBox="1"/>
          <p:nvPr>
            <p:ph idx="2" type="body"/>
          </p:nvPr>
        </p:nvSpPr>
        <p:spPr>
          <a:xfrm>
            <a:off x="4832400" y="1353550"/>
            <a:ext cx="3999900" cy="2082000"/>
          </a:xfrm>
          <a:prstGeom prst="rect">
            <a:avLst/>
          </a:prstGeom>
        </p:spPr>
        <p:txBody>
          <a:bodyPr anchorCtr="0" anchor="t" bIns="91425" lIns="91425" spcFirstLastPara="1" rIns="91425" wrap="square" tIns="91425">
            <a:noAutofit/>
          </a:bodyPr>
          <a:lstStyle/>
          <a:p>
            <a:pPr indent="0" lvl="0" marL="0" rtl="0" algn="l">
              <a:lnSpc>
                <a:spcPct val="157500"/>
              </a:lnSpc>
              <a:spcBef>
                <a:spcPts val="0"/>
              </a:spcBef>
              <a:spcAft>
                <a:spcPts val="0"/>
              </a:spcAft>
              <a:buNone/>
            </a:pPr>
            <a:r>
              <a:rPr lang="en" sz="1000">
                <a:solidFill>
                  <a:srgbClr val="6A9955"/>
                </a:solidFill>
                <a:highlight>
                  <a:srgbClr val="1F1F1F"/>
                </a:highlight>
                <a:latin typeface="Consolas"/>
                <a:ea typeface="Consolas"/>
                <a:cs typeface="Consolas"/>
                <a:sym typeface="Consolas"/>
              </a:rPr>
              <a:t>// A delegate, as a property</a:t>
            </a:r>
            <a:endParaRPr sz="1000">
              <a:solidFill>
                <a:srgbClr val="6A9955"/>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569CD6"/>
                </a:solidFill>
                <a:highlight>
                  <a:srgbClr val="1F1F1F"/>
                </a:highlight>
                <a:latin typeface="Consolas"/>
                <a:ea typeface="Consolas"/>
                <a:cs typeface="Consolas"/>
                <a:sym typeface="Consolas"/>
              </a:rPr>
              <a:t>public</a:t>
            </a: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Action</a:t>
            </a: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OnCollide</a:t>
            </a:r>
            <a:r>
              <a:rPr lang="en" sz="1000">
                <a:solidFill>
                  <a:srgbClr val="CCCCCC"/>
                </a:solidFill>
                <a:highlight>
                  <a:srgbClr val="1F1F1F"/>
                </a:highlight>
                <a:latin typeface="Consolas"/>
                <a:ea typeface="Consolas"/>
                <a:cs typeface="Consolas"/>
                <a:sym typeface="Consolas"/>
              </a:rPr>
              <a:t> { </a:t>
            </a:r>
            <a:r>
              <a:rPr lang="en" sz="1000">
                <a:solidFill>
                  <a:srgbClr val="569CD6"/>
                </a:solidFill>
                <a:highlight>
                  <a:srgbClr val="1F1F1F"/>
                </a:highlight>
                <a:latin typeface="Consolas"/>
                <a:ea typeface="Consolas"/>
                <a:cs typeface="Consolas"/>
                <a:sym typeface="Consolas"/>
              </a:rPr>
              <a:t>get</a:t>
            </a:r>
            <a:r>
              <a:rPr lang="en" sz="1000">
                <a:solidFill>
                  <a:srgbClr val="CCCCCC"/>
                </a:solidFill>
                <a:highlight>
                  <a:srgbClr val="1F1F1F"/>
                </a:highlight>
                <a:latin typeface="Consolas"/>
                <a:ea typeface="Consolas"/>
                <a:cs typeface="Consolas"/>
                <a:sym typeface="Consolas"/>
              </a:rPr>
              <a:t>; </a:t>
            </a:r>
            <a:r>
              <a:rPr lang="en" sz="1000">
                <a:solidFill>
                  <a:srgbClr val="569CD6"/>
                </a:solidFill>
                <a:highlight>
                  <a:srgbClr val="1F1F1F"/>
                </a:highlight>
                <a:latin typeface="Consolas"/>
                <a:ea typeface="Consolas"/>
                <a:cs typeface="Consolas"/>
                <a:sym typeface="Consolas"/>
              </a:rPr>
              <a:t>set</a:t>
            </a:r>
            <a:r>
              <a:rPr lang="en" sz="1000">
                <a:solidFill>
                  <a:srgbClr val="CCCCCC"/>
                </a:solidFill>
                <a:highlight>
                  <a:srgbClr val="1F1F1F"/>
                </a:highlight>
                <a:latin typeface="Consolas"/>
                <a:ea typeface="Consolas"/>
                <a:cs typeface="Consolas"/>
                <a:sym typeface="Consolas"/>
              </a:rPr>
              <a:t>; }</a:t>
            </a:r>
            <a:endParaRPr sz="1000">
              <a:solidFill>
                <a:srgbClr val="CCCCCC"/>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a:t/>
            </a:r>
            <a:endParaRPr sz="1000">
              <a:solidFill>
                <a:srgbClr val="CCCCCC"/>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6A9955"/>
                </a:solidFill>
                <a:highlight>
                  <a:srgbClr val="1F1F1F"/>
                </a:highlight>
                <a:latin typeface="Consolas"/>
                <a:ea typeface="Consolas"/>
                <a:cs typeface="Consolas"/>
                <a:sym typeface="Consolas"/>
              </a:rPr>
              <a:t>// The room adds a handler</a:t>
            </a:r>
            <a:endParaRPr sz="1000">
              <a:solidFill>
                <a:srgbClr val="6A9955"/>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9CDCFE"/>
                </a:solidFill>
                <a:highlight>
                  <a:srgbClr val="1F1F1F"/>
                </a:highlight>
                <a:latin typeface="Consolas"/>
                <a:ea typeface="Consolas"/>
                <a:cs typeface="Consolas"/>
                <a:sym typeface="Consolas"/>
              </a:rPr>
              <a:t>switchObj</a:t>
            </a:r>
            <a:r>
              <a:rPr lang="en" sz="1000">
                <a:solidFill>
                  <a:srgbClr val="D4D4D4"/>
                </a:solidFill>
                <a:highlight>
                  <a:srgbClr val="1F1F1F"/>
                </a:highlight>
                <a:latin typeface="Consolas"/>
                <a:ea typeface="Consolas"/>
                <a:cs typeface="Consolas"/>
                <a:sym typeface="Consolas"/>
              </a:rPr>
              <a:t>.</a:t>
            </a:r>
            <a:r>
              <a:rPr lang="en" sz="1000">
                <a:solidFill>
                  <a:srgbClr val="9CDCFE"/>
                </a:solidFill>
                <a:highlight>
                  <a:srgbClr val="1F1F1F"/>
                </a:highlight>
                <a:latin typeface="Consolas"/>
                <a:ea typeface="Consolas"/>
                <a:cs typeface="Consolas"/>
                <a:sym typeface="Consolas"/>
              </a:rPr>
              <a:t>OnCollide</a:t>
            </a:r>
            <a:r>
              <a:rPr lang="en" sz="1000">
                <a:solidFill>
                  <a:srgbClr val="CCCCCC"/>
                </a:solidFill>
                <a:highlight>
                  <a:srgbClr val="1F1F1F"/>
                </a:highlight>
                <a:latin typeface="Consolas"/>
                <a:ea typeface="Consolas"/>
                <a:cs typeface="Consolas"/>
                <a:sym typeface="Consolas"/>
              </a:rPr>
              <a:t> </a:t>
            </a:r>
            <a:r>
              <a:rPr lang="en" sz="1000">
                <a:solidFill>
                  <a:srgbClr val="D4D4D4"/>
                </a:solidFill>
                <a:highlight>
                  <a:srgbClr val="1F1F1F"/>
                </a:highlight>
                <a:latin typeface="Consolas"/>
                <a:ea typeface="Consolas"/>
                <a:cs typeface="Consolas"/>
                <a:sym typeface="Consolas"/>
              </a:rPr>
              <a:t>+=</a:t>
            </a:r>
            <a:r>
              <a:rPr lang="en" sz="1000">
                <a:solidFill>
                  <a:srgbClr val="CCCCCC"/>
                </a:solidFill>
                <a:highlight>
                  <a:srgbClr val="1F1F1F"/>
                </a:highlight>
                <a:latin typeface="Consolas"/>
                <a:ea typeface="Consolas"/>
                <a:cs typeface="Consolas"/>
                <a:sym typeface="Consolas"/>
              </a:rPr>
              <a:t> () </a:t>
            </a:r>
            <a:r>
              <a:rPr lang="en" sz="1000">
                <a:solidFill>
                  <a:srgbClr val="D4D4D4"/>
                </a:solidFill>
                <a:highlight>
                  <a:srgbClr val="1F1F1F"/>
                </a:highlight>
                <a:latin typeface="Consolas"/>
                <a:ea typeface="Consolas"/>
                <a:cs typeface="Consolas"/>
                <a:sym typeface="Consolas"/>
              </a:rPr>
              <a:t>=&gt;</a:t>
            </a:r>
            <a:r>
              <a:rPr lang="en" sz="1000">
                <a:solidFill>
                  <a:srgbClr val="CCCCCC"/>
                </a:solidFill>
                <a:highlight>
                  <a:srgbClr val="1F1F1F"/>
                </a:highlight>
                <a:latin typeface="Consolas"/>
                <a:ea typeface="Consolas"/>
                <a:cs typeface="Consolas"/>
                <a:sym typeface="Consolas"/>
              </a:rPr>
              <a:t> {</a:t>
            </a:r>
            <a:endParaRPr sz="1000">
              <a:solidFill>
                <a:srgbClr val="CCCCCC"/>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switchObj</a:t>
            </a:r>
            <a:r>
              <a:rPr lang="en" sz="1000">
                <a:solidFill>
                  <a:srgbClr val="D4D4D4"/>
                </a:solidFill>
                <a:highlight>
                  <a:srgbClr val="1F1F1F"/>
                </a:highlight>
                <a:latin typeface="Consolas"/>
                <a:ea typeface="Consolas"/>
                <a:cs typeface="Consolas"/>
                <a:sym typeface="Consolas"/>
              </a:rPr>
              <a:t>.</a:t>
            </a:r>
            <a:r>
              <a:rPr lang="en" sz="1000">
                <a:solidFill>
                  <a:srgbClr val="9CDCFE"/>
                </a:solidFill>
                <a:highlight>
                  <a:srgbClr val="1F1F1F"/>
                </a:highlight>
                <a:latin typeface="Consolas"/>
                <a:ea typeface="Consolas"/>
                <a:cs typeface="Consolas"/>
                <a:sym typeface="Consolas"/>
              </a:rPr>
              <a:t>State</a:t>
            </a:r>
            <a:r>
              <a:rPr lang="en" sz="1000">
                <a:solidFill>
                  <a:srgbClr val="CCCCCC"/>
                </a:solidFill>
                <a:highlight>
                  <a:srgbClr val="1F1F1F"/>
                </a:highlight>
                <a:latin typeface="Consolas"/>
                <a:ea typeface="Consolas"/>
                <a:cs typeface="Consolas"/>
                <a:sym typeface="Consolas"/>
              </a:rPr>
              <a:t> </a:t>
            </a:r>
            <a:r>
              <a:rPr lang="en" sz="1000">
                <a:solidFill>
                  <a:srgbClr val="D4D4D4"/>
                </a:solidFill>
                <a:highlight>
                  <a:srgbClr val="1F1F1F"/>
                </a:highlight>
                <a:latin typeface="Consolas"/>
                <a:ea typeface="Consolas"/>
                <a:cs typeface="Consolas"/>
                <a:sym typeface="Consolas"/>
              </a:rPr>
              <a:t>=</a:t>
            </a:r>
            <a:r>
              <a:rPr lang="en" sz="1000">
                <a:solidFill>
                  <a:srgbClr val="CCCCCC"/>
                </a:solidFill>
                <a:highlight>
                  <a:srgbClr val="1F1F1F"/>
                </a:highlight>
                <a:latin typeface="Consolas"/>
                <a:ea typeface="Consolas"/>
                <a:cs typeface="Consolas"/>
                <a:sym typeface="Consolas"/>
              </a:rPr>
              <a:t> </a:t>
            </a:r>
            <a:r>
              <a:rPr lang="en" sz="1000">
                <a:solidFill>
                  <a:srgbClr val="CE9178"/>
                </a:solidFill>
                <a:highlight>
                  <a:srgbClr val="1F1F1F"/>
                </a:highlight>
                <a:latin typeface="Consolas"/>
                <a:ea typeface="Consolas"/>
                <a:cs typeface="Consolas"/>
                <a:sym typeface="Consolas"/>
              </a:rPr>
              <a:t>"pressed"</a:t>
            </a:r>
            <a:r>
              <a:rPr lang="en" sz="1000">
                <a:solidFill>
                  <a:srgbClr val="CCCCCC"/>
                </a:solidFill>
                <a:highlight>
                  <a:srgbClr val="1F1F1F"/>
                </a:highlight>
                <a:latin typeface="Consolas"/>
                <a:ea typeface="Consolas"/>
                <a:cs typeface="Consolas"/>
                <a:sym typeface="Consolas"/>
              </a:rPr>
              <a:t>;</a:t>
            </a:r>
            <a:endParaRPr sz="1000">
              <a:solidFill>
                <a:srgbClr val="CCCCCC"/>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CCCCCC"/>
                </a:solidFill>
                <a:highlight>
                  <a:srgbClr val="1F1F1F"/>
                </a:highlight>
                <a:latin typeface="Consolas"/>
                <a:ea typeface="Consolas"/>
                <a:cs typeface="Consolas"/>
                <a:sym typeface="Consolas"/>
              </a:rPr>
              <a:t>    </a:t>
            </a:r>
            <a:r>
              <a:rPr lang="en" sz="1000">
                <a:solidFill>
                  <a:srgbClr val="569CD6"/>
                </a:solidFill>
                <a:highlight>
                  <a:srgbClr val="1F1F1F"/>
                </a:highlight>
                <a:latin typeface="Consolas"/>
                <a:ea typeface="Consolas"/>
                <a:cs typeface="Consolas"/>
                <a:sym typeface="Consolas"/>
              </a:rPr>
              <a:t>foreach</a:t>
            </a: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var</a:t>
            </a: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d</a:t>
            </a:r>
            <a:r>
              <a:rPr lang="en" sz="1000">
                <a:solidFill>
                  <a:srgbClr val="CCCCCC"/>
                </a:solidFill>
                <a:highlight>
                  <a:srgbClr val="1F1F1F"/>
                </a:highlight>
                <a:latin typeface="Consolas"/>
                <a:ea typeface="Consolas"/>
                <a:cs typeface="Consolas"/>
                <a:sym typeface="Consolas"/>
              </a:rPr>
              <a:t> </a:t>
            </a:r>
            <a:r>
              <a:rPr lang="en" sz="1000">
                <a:solidFill>
                  <a:srgbClr val="569CD6"/>
                </a:solidFill>
                <a:highlight>
                  <a:srgbClr val="1F1F1F"/>
                </a:highlight>
                <a:latin typeface="Consolas"/>
                <a:ea typeface="Consolas"/>
                <a:cs typeface="Consolas"/>
                <a:sym typeface="Consolas"/>
              </a:rPr>
              <a:t>in</a:t>
            </a: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Doorways</a:t>
            </a: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d</a:t>
            </a:r>
            <a:r>
              <a:rPr lang="en" sz="1000">
                <a:solidFill>
                  <a:srgbClr val="D4D4D4"/>
                </a:solidFill>
                <a:highlight>
                  <a:srgbClr val="1F1F1F"/>
                </a:highlight>
                <a:latin typeface="Consolas"/>
                <a:ea typeface="Consolas"/>
                <a:cs typeface="Consolas"/>
                <a:sym typeface="Consolas"/>
              </a:rPr>
              <a:t>.</a:t>
            </a:r>
            <a:r>
              <a:rPr lang="en" sz="1000">
                <a:solidFill>
                  <a:srgbClr val="9CDCFE"/>
                </a:solidFill>
                <a:highlight>
                  <a:srgbClr val="1F1F1F"/>
                </a:highlight>
                <a:latin typeface="Consolas"/>
                <a:ea typeface="Consolas"/>
                <a:cs typeface="Consolas"/>
                <a:sym typeface="Consolas"/>
              </a:rPr>
              <a:t>IsOpen</a:t>
            </a:r>
            <a:r>
              <a:rPr lang="en" sz="1000">
                <a:solidFill>
                  <a:srgbClr val="CCCCCC"/>
                </a:solidFill>
                <a:highlight>
                  <a:srgbClr val="1F1F1F"/>
                </a:highlight>
                <a:latin typeface="Consolas"/>
                <a:ea typeface="Consolas"/>
                <a:cs typeface="Consolas"/>
                <a:sym typeface="Consolas"/>
              </a:rPr>
              <a:t> </a:t>
            </a:r>
            <a:r>
              <a:rPr lang="en" sz="1000">
                <a:solidFill>
                  <a:srgbClr val="D4D4D4"/>
                </a:solidFill>
                <a:highlight>
                  <a:srgbClr val="1F1F1F"/>
                </a:highlight>
                <a:latin typeface="Consolas"/>
                <a:ea typeface="Consolas"/>
                <a:cs typeface="Consolas"/>
                <a:sym typeface="Consolas"/>
              </a:rPr>
              <a:t>=</a:t>
            </a:r>
            <a:r>
              <a:rPr lang="en" sz="1000">
                <a:solidFill>
                  <a:srgbClr val="CCCCCC"/>
                </a:solidFill>
                <a:highlight>
                  <a:srgbClr val="1F1F1F"/>
                </a:highlight>
                <a:latin typeface="Consolas"/>
                <a:ea typeface="Consolas"/>
                <a:cs typeface="Consolas"/>
                <a:sym typeface="Consolas"/>
              </a:rPr>
              <a:t> </a:t>
            </a:r>
            <a:r>
              <a:rPr lang="en" sz="1000">
                <a:solidFill>
                  <a:srgbClr val="569CD6"/>
                </a:solidFill>
                <a:highlight>
                  <a:srgbClr val="1F1F1F"/>
                </a:highlight>
                <a:latin typeface="Consolas"/>
                <a:ea typeface="Consolas"/>
                <a:cs typeface="Consolas"/>
                <a:sym typeface="Consolas"/>
              </a:rPr>
              <a:t>true</a:t>
            </a:r>
            <a:r>
              <a:rPr lang="en" sz="1000">
                <a:solidFill>
                  <a:srgbClr val="CCCCCC"/>
                </a:solidFill>
                <a:highlight>
                  <a:srgbClr val="1F1F1F"/>
                </a:highlight>
                <a:latin typeface="Consolas"/>
                <a:ea typeface="Consolas"/>
                <a:cs typeface="Consolas"/>
                <a:sym typeface="Consolas"/>
              </a:rPr>
              <a:t>;</a:t>
            </a:r>
            <a:endParaRPr sz="1000">
              <a:solidFill>
                <a:srgbClr val="CCCCCC"/>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CCCCCC"/>
                </a:solidFill>
                <a:highlight>
                  <a:srgbClr val="1F1F1F"/>
                </a:highlight>
                <a:latin typeface="Consolas"/>
                <a:ea typeface="Consolas"/>
                <a:cs typeface="Consolas"/>
                <a:sym typeface="Consolas"/>
              </a:rPr>
              <a:t>};</a:t>
            </a:r>
            <a:endParaRPr/>
          </a:p>
        </p:txBody>
      </p:sp>
      <p:sp>
        <p:nvSpPr>
          <p:cNvPr id="168" name="Google Shape;168;p28"/>
          <p:cNvSpPr txBox="1"/>
          <p:nvPr>
            <p:ph idx="1" type="body"/>
          </p:nvPr>
        </p:nvSpPr>
        <p:spPr>
          <a:xfrm>
            <a:off x="311700" y="887200"/>
            <a:ext cx="8520600" cy="4083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A delegate is a variable that holds a reference to a method, to call later from anywhere.</a:t>
            </a:r>
            <a:endParaRPr/>
          </a:p>
        </p:txBody>
      </p:sp>
      <p:sp>
        <p:nvSpPr>
          <p:cNvPr id="169" name="Google Shape;169;p28"/>
          <p:cNvSpPr txBox="1"/>
          <p:nvPr>
            <p:ph idx="1" type="body"/>
          </p:nvPr>
        </p:nvSpPr>
        <p:spPr>
          <a:xfrm>
            <a:off x="311700" y="2571750"/>
            <a:ext cx="3999900" cy="1536900"/>
          </a:xfrm>
          <a:prstGeom prst="rect">
            <a:avLst/>
          </a:prstGeom>
          <a:solidFill>
            <a:schemeClr val="dk2"/>
          </a:solidFill>
        </p:spPr>
        <p:txBody>
          <a:bodyPr anchorCtr="0" anchor="t" bIns="91425" lIns="91425" spcFirstLastPara="1" rIns="91425" wrap="square" tIns="91425">
            <a:normAutofit/>
          </a:bodyPr>
          <a:lstStyle/>
          <a:p>
            <a:pPr indent="0" lvl="0" marL="0" rtl="0" algn="l">
              <a:lnSpc>
                <a:spcPct val="157500"/>
              </a:lnSpc>
              <a:spcBef>
                <a:spcPts val="0"/>
              </a:spcBef>
              <a:spcAft>
                <a:spcPts val="0"/>
              </a:spcAft>
              <a:buNone/>
            </a:pPr>
            <a:r>
              <a:rPr lang="en" sz="1000">
                <a:solidFill>
                  <a:srgbClr val="6A9955"/>
                </a:solidFill>
                <a:highlight>
                  <a:srgbClr val="1F1F1F"/>
                </a:highlight>
                <a:latin typeface="Consolas"/>
                <a:ea typeface="Consolas"/>
                <a:cs typeface="Consolas"/>
                <a:sym typeface="Consolas"/>
              </a:rPr>
              <a:t>// Assign one handler</a:t>
            </a:r>
            <a:endParaRPr sz="1000">
              <a:solidFill>
                <a:srgbClr val="6A9955"/>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9CDCFE"/>
                </a:solidFill>
                <a:highlight>
                  <a:srgbClr val="1F1F1F"/>
                </a:highlight>
                <a:latin typeface="Consolas"/>
                <a:ea typeface="Consolas"/>
                <a:cs typeface="Consolas"/>
                <a:sym typeface="Consolas"/>
              </a:rPr>
              <a:t>obj</a:t>
            </a:r>
            <a:r>
              <a:rPr lang="en" sz="1000">
                <a:solidFill>
                  <a:srgbClr val="D4D4D4"/>
                </a:solidFill>
                <a:highlight>
                  <a:srgbClr val="1F1F1F"/>
                </a:highlight>
                <a:latin typeface="Consolas"/>
                <a:ea typeface="Consolas"/>
                <a:cs typeface="Consolas"/>
                <a:sym typeface="Consolas"/>
              </a:rPr>
              <a:t>.</a:t>
            </a:r>
            <a:r>
              <a:rPr lang="en" sz="1000">
                <a:solidFill>
                  <a:srgbClr val="9CDCFE"/>
                </a:solidFill>
                <a:highlight>
                  <a:srgbClr val="1F1F1F"/>
                </a:highlight>
                <a:latin typeface="Consolas"/>
                <a:ea typeface="Consolas"/>
                <a:cs typeface="Consolas"/>
                <a:sym typeface="Consolas"/>
              </a:rPr>
              <a:t>OnCollide</a:t>
            </a:r>
            <a:r>
              <a:rPr lang="en" sz="1000">
                <a:solidFill>
                  <a:srgbClr val="CCCCCC"/>
                </a:solidFill>
                <a:highlight>
                  <a:srgbClr val="1F1F1F"/>
                </a:highlight>
                <a:latin typeface="Consolas"/>
                <a:ea typeface="Consolas"/>
                <a:cs typeface="Consolas"/>
                <a:sym typeface="Consolas"/>
              </a:rPr>
              <a:t> </a:t>
            </a:r>
            <a:r>
              <a:rPr lang="en" sz="1000">
                <a:solidFill>
                  <a:srgbClr val="D4D4D4"/>
                </a:solidFill>
                <a:highlight>
                  <a:srgbClr val="1F1F1F"/>
                </a:highlight>
                <a:latin typeface="Consolas"/>
                <a:ea typeface="Consolas"/>
                <a:cs typeface="Consolas"/>
                <a:sym typeface="Consolas"/>
              </a:rPr>
              <a:t>=</a:t>
            </a:r>
            <a:r>
              <a:rPr lang="en" sz="1000">
                <a:solidFill>
                  <a:srgbClr val="CCCCCC"/>
                </a:solidFill>
                <a:highlight>
                  <a:srgbClr val="1F1F1F"/>
                </a:highlight>
                <a:latin typeface="Consolas"/>
                <a:ea typeface="Consolas"/>
                <a:cs typeface="Consolas"/>
                <a:sym typeface="Consolas"/>
              </a:rPr>
              <a:t> () </a:t>
            </a:r>
            <a:r>
              <a:rPr lang="en" sz="1000">
                <a:solidFill>
                  <a:srgbClr val="D4D4D4"/>
                </a:solidFill>
                <a:highlight>
                  <a:srgbClr val="1F1F1F"/>
                </a:highlight>
                <a:latin typeface="Consolas"/>
                <a:ea typeface="Consolas"/>
                <a:cs typeface="Consolas"/>
                <a:sym typeface="Consolas"/>
              </a:rPr>
              <a:t>=&gt;</a:t>
            </a: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Console</a:t>
            </a:r>
            <a:r>
              <a:rPr lang="en" sz="1000">
                <a:solidFill>
                  <a:srgbClr val="D4D4D4"/>
                </a:solidFill>
                <a:highlight>
                  <a:srgbClr val="1F1F1F"/>
                </a:highlight>
                <a:latin typeface="Consolas"/>
                <a:ea typeface="Consolas"/>
                <a:cs typeface="Consolas"/>
                <a:sym typeface="Consolas"/>
              </a:rPr>
              <a:t>.</a:t>
            </a:r>
            <a:r>
              <a:rPr lang="en" sz="1000">
                <a:solidFill>
                  <a:srgbClr val="9CDCFE"/>
                </a:solidFill>
                <a:highlight>
                  <a:srgbClr val="1F1F1F"/>
                </a:highlight>
                <a:latin typeface="Consolas"/>
                <a:ea typeface="Consolas"/>
                <a:cs typeface="Consolas"/>
                <a:sym typeface="Consolas"/>
              </a:rPr>
              <a:t>WriteLine</a:t>
            </a:r>
            <a:r>
              <a:rPr lang="en" sz="1000">
                <a:solidFill>
                  <a:srgbClr val="CCCCCC"/>
                </a:solidFill>
                <a:highlight>
                  <a:srgbClr val="1F1F1F"/>
                </a:highlight>
                <a:latin typeface="Consolas"/>
                <a:ea typeface="Consolas"/>
                <a:cs typeface="Consolas"/>
                <a:sym typeface="Consolas"/>
              </a:rPr>
              <a:t>(</a:t>
            </a:r>
            <a:r>
              <a:rPr lang="en" sz="1000">
                <a:solidFill>
                  <a:srgbClr val="CE9178"/>
                </a:solidFill>
                <a:highlight>
                  <a:srgbClr val="1F1F1F"/>
                </a:highlight>
                <a:latin typeface="Consolas"/>
                <a:ea typeface="Consolas"/>
                <a:cs typeface="Consolas"/>
                <a:sym typeface="Consolas"/>
              </a:rPr>
              <a:t>"hit"</a:t>
            </a:r>
            <a:r>
              <a:rPr lang="en" sz="1000">
                <a:solidFill>
                  <a:srgbClr val="CCCCCC"/>
                </a:solidFill>
                <a:highlight>
                  <a:srgbClr val="1F1F1F"/>
                </a:highlight>
                <a:latin typeface="Consolas"/>
                <a:ea typeface="Consolas"/>
                <a:cs typeface="Consolas"/>
                <a:sym typeface="Consolas"/>
              </a:rPr>
              <a:t>);</a:t>
            </a:r>
            <a:endParaRPr sz="1000">
              <a:solidFill>
                <a:srgbClr val="CCCCCC"/>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a:t/>
            </a:r>
            <a:endParaRPr sz="1000">
              <a:solidFill>
                <a:srgbClr val="CCCCCC"/>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6A9955"/>
                </a:solidFill>
                <a:highlight>
                  <a:srgbClr val="1F1F1F"/>
                </a:highlight>
                <a:latin typeface="Consolas"/>
                <a:ea typeface="Consolas"/>
                <a:cs typeface="Consolas"/>
                <a:sym typeface="Consolas"/>
              </a:rPr>
              <a:t>// Add multiple handlers</a:t>
            </a:r>
            <a:endParaRPr sz="1000">
              <a:solidFill>
                <a:srgbClr val="6A9955"/>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9CDCFE"/>
                </a:solidFill>
                <a:highlight>
                  <a:srgbClr val="1F1F1F"/>
                </a:highlight>
                <a:latin typeface="Consolas"/>
                <a:ea typeface="Consolas"/>
                <a:cs typeface="Consolas"/>
                <a:sym typeface="Consolas"/>
              </a:rPr>
              <a:t>obj</a:t>
            </a:r>
            <a:r>
              <a:rPr lang="en" sz="1000">
                <a:solidFill>
                  <a:srgbClr val="D4D4D4"/>
                </a:solidFill>
                <a:highlight>
                  <a:srgbClr val="1F1F1F"/>
                </a:highlight>
                <a:latin typeface="Consolas"/>
                <a:ea typeface="Consolas"/>
                <a:cs typeface="Consolas"/>
                <a:sym typeface="Consolas"/>
              </a:rPr>
              <a:t>.</a:t>
            </a:r>
            <a:r>
              <a:rPr lang="en" sz="1000">
                <a:solidFill>
                  <a:srgbClr val="9CDCFE"/>
                </a:solidFill>
                <a:highlight>
                  <a:srgbClr val="1F1F1F"/>
                </a:highlight>
                <a:latin typeface="Consolas"/>
                <a:ea typeface="Consolas"/>
                <a:cs typeface="Consolas"/>
                <a:sym typeface="Consolas"/>
              </a:rPr>
              <a:t>OnCollide</a:t>
            </a:r>
            <a:r>
              <a:rPr lang="en" sz="1000">
                <a:solidFill>
                  <a:srgbClr val="CCCCCC"/>
                </a:solidFill>
                <a:highlight>
                  <a:srgbClr val="1F1F1F"/>
                </a:highlight>
                <a:latin typeface="Consolas"/>
                <a:ea typeface="Consolas"/>
                <a:cs typeface="Consolas"/>
                <a:sym typeface="Consolas"/>
              </a:rPr>
              <a:t> </a:t>
            </a:r>
            <a:r>
              <a:rPr lang="en" sz="1000">
                <a:solidFill>
                  <a:srgbClr val="D4D4D4"/>
                </a:solidFill>
                <a:highlight>
                  <a:srgbClr val="1F1F1F"/>
                </a:highlight>
                <a:latin typeface="Consolas"/>
                <a:ea typeface="Consolas"/>
                <a:cs typeface="Consolas"/>
                <a:sym typeface="Consolas"/>
              </a:rPr>
              <a:t>+=</a:t>
            </a:r>
            <a:r>
              <a:rPr lang="en" sz="1000">
                <a:solidFill>
                  <a:srgbClr val="CCCCCC"/>
                </a:solidFill>
                <a:highlight>
                  <a:srgbClr val="1F1F1F"/>
                </a:highlight>
                <a:latin typeface="Consolas"/>
                <a:ea typeface="Consolas"/>
                <a:cs typeface="Consolas"/>
                <a:sym typeface="Consolas"/>
              </a:rPr>
              <a:t> () </a:t>
            </a:r>
            <a:r>
              <a:rPr lang="en" sz="1000">
                <a:solidFill>
                  <a:srgbClr val="D4D4D4"/>
                </a:solidFill>
                <a:highlight>
                  <a:srgbClr val="1F1F1F"/>
                </a:highlight>
                <a:latin typeface="Consolas"/>
                <a:ea typeface="Consolas"/>
                <a:cs typeface="Consolas"/>
                <a:sym typeface="Consolas"/>
              </a:rPr>
              <a:t>=&gt;</a:t>
            </a: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PlaySound</a:t>
            </a:r>
            <a:r>
              <a:rPr lang="en" sz="1000">
                <a:solidFill>
                  <a:srgbClr val="CCCCCC"/>
                </a:solidFill>
                <a:highlight>
                  <a:srgbClr val="1F1F1F"/>
                </a:highlight>
                <a:latin typeface="Consolas"/>
                <a:ea typeface="Consolas"/>
                <a:cs typeface="Consolas"/>
                <a:sym typeface="Consolas"/>
              </a:rPr>
              <a:t>(</a:t>
            </a:r>
            <a:r>
              <a:rPr lang="en" sz="1000">
                <a:solidFill>
                  <a:srgbClr val="CE9178"/>
                </a:solidFill>
                <a:highlight>
                  <a:srgbClr val="1F1F1F"/>
                </a:highlight>
                <a:latin typeface="Consolas"/>
                <a:ea typeface="Consolas"/>
                <a:cs typeface="Consolas"/>
                <a:sym typeface="Consolas"/>
              </a:rPr>
              <a:t>"hit"</a:t>
            </a:r>
            <a:r>
              <a:rPr lang="en" sz="1000">
                <a:solidFill>
                  <a:srgbClr val="CCCCCC"/>
                </a:solidFill>
                <a:highlight>
                  <a:srgbClr val="1F1F1F"/>
                </a:highlight>
                <a:latin typeface="Consolas"/>
                <a:ea typeface="Consolas"/>
                <a:cs typeface="Consolas"/>
                <a:sym typeface="Consolas"/>
              </a:rPr>
              <a:t>);</a:t>
            </a:r>
            <a:endParaRPr sz="1000">
              <a:solidFill>
                <a:srgbClr val="CCCCCC"/>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9CDCFE"/>
                </a:solidFill>
                <a:highlight>
                  <a:srgbClr val="1F1F1F"/>
                </a:highlight>
                <a:latin typeface="Consolas"/>
                <a:ea typeface="Consolas"/>
                <a:cs typeface="Consolas"/>
                <a:sym typeface="Consolas"/>
              </a:rPr>
              <a:t>obj</a:t>
            </a:r>
            <a:r>
              <a:rPr lang="en" sz="1000">
                <a:solidFill>
                  <a:srgbClr val="D4D4D4"/>
                </a:solidFill>
                <a:highlight>
                  <a:srgbClr val="1F1F1F"/>
                </a:highlight>
                <a:latin typeface="Consolas"/>
                <a:ea typeface="Consolas"/>
                <a:cs typeface="Consolas"/>
                <a:sym typeface="Consolas"/>
              </a:rPr>
              <a:t>.</a:t>
            </a:r>
            <a:r>
              <a:rPr lang="en" sz="1000">
                <a:solidFill>
                  <a:srgbClr val="9CDCFE"/>
                </a:solidFill>
                <a:highlight>
                  <a:srgbClr val="1F1F1F"/>
                </a:highlight>
                <a:latin typeface="Consolas"/>
                <a:ea typeface="Consolas"/>
                <a:cs typeface="Consolas"/>
                <a:sym typeface="Consolas"/>
              </a:rPr>
              <a:t>OnCollide</a:t>
            </a:r>
            <a:r>
              <a:rPr lang="en" sz="1000">
                <a:solidFill>
                  <a:srgbClr val="CCCCCC"/>
                </a:solidFill>
                <a:highlight>
                  <a:srgbClr val="1F1F1F"/>
                </a:highlight>
                <a:latin typeface="Consolas"/>
                <a:ea typeface="Consolas"/>
                <a:cs typeface="Consolas"/>
                <a:sym typeface="Consolas"/>
              </a:rPr>
              <a:t> </a:t>
            </a:r>
            <a:r>
              <a:rPr lang="en" sz="1000">
                <a:solidFill>
                  <a:srgbClr val="D4D4D4"/>
                </a:solidFill>
                <a:highlight>
                  <a:srgbClr val="1F1F1F"/>
                </a:highlight>
                <a:latin typeface="Consolas"/>
                <a:ea typeface="Consolas"/>
                <a:cs typeface="Consolas"/>
                <a:sym typeface="Consolas"/>
              </a:rPr>
              <a:t>+=</a:t>
            </a:r>
            <a:r>
              <a:rPr lang="en" sz="1000">
                <a:solidFill>
                  <a:srgbClr val="CCCCCC"/>
                </a:solidFill>
                <a:highlight>
                  <a:srgbClr val="1F1F1F"/>
                </a:highlight>
                <a:latin typeface="Consolas"/>
                <a:ea typeface="Consolas"/>
                <a:cs typeface="Consolas"/>
                <a:sym typeface="Consolas"/>
              </a:rPr>
              <a:t> () </a:t>
            </a:r>
            <a:r>
              <a:rPr lang="en" sz="1000">
                <a:solidFill>
                  <a:srgbClr val="D4D4D4"/>
                </a:solidFill>
                <a:highlight>
                  <a:srgbClr val="1F1F1F"/>
                </a:highlight>
                <a:latin typeface="Consolas"/>
                <a:ea typeface="Consolas"/>
                <a:cs typeface="Consolas"/>
                <a:sym typeface="Consolas"/>
              </a:rPr>
              <a:t>=&gt;</a:t>
            </a: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FlashRed</a:t>
            </a:r>
            <a:r>
              <a:rPr lang="en" sz="1000">
                <a:solidFill>
                  <a:srgbClr val="CCCCCC"/>
                </a:solidFill>
                <a:highlight>
                  <a:srgbClr val="1F1F1F"/>
                </a:highlight>
                <a:latin typeface="Consolas"/>
                <a:ea typeface="Consolas"/>
                <a:cs typeface="Consolas"/>
                <a:sym typeface="Consolas"/>
              </a:rPr>
              <a:t>();</a:t>
            </a:r>
            <a:endParaRPr/>
          </a:p>
        </p:txBody>
      </p:sp>
      <p:sp>
        <p:nvSpPr>
          <p:cNvPr id="170" name="Google Shape;170;p28"/>
          <p:cNvSpPr txBox="1"/>
          <p:nvPr>
            <p:ph idx="1" type="body"/>
          </p:nvPr>
        </p:nvSpPr>
        <p:spPr>
          <a:xfrm>
            <a:off x="311700" y="4250450"/>
            <a:ext cx="3999900" cy="609300"/>
          </a:xfrm>
          <a:prstGeom prst="rect">
            <a:avLst/>
          </a:prstGeom>
          <a:solidFill>
            <a:schemeClr val="dk2"/>
          </a:solidFill>
        </p:spPr>
        <p:txBody>
          <a:bodyPr anchorCtr="0" anchor="t" bIns="91425" lIns="91425" spcFirstLastPara="1" rIns="91425" wrap="square" tIns="91425">
            <a:normAutofit/>
          </a:bodyPr>
          <a:lstStyle/>
          <a:p>
            <a:pPr indent="0" lvl="0" marL="0" rtl="0" algn="l">
              <a:lnSpc>
                <a:spcPct val="157500"/>
              </a:lnSpc>
              <a:spcBef>
                <a:spcPts val="0"/>
              </a:spcBef>
              <a:spcAft>
                <a:spcPts val="0"/>
              </a:spcAft>
              <a:buNone/>
            </a:pPr>
            <a:r>
              <a:rPr lang="en" sz="1000">
                <a:solidFill>
                  <a:srgbClr val="6A9955"/>
                </a:solidFill>
                <a:highlight>
                  <a:srgbClr val="1F1F1F"/>
                </a:highlight>
                <a:latin typeface="Consolas"/>
                <a:ea typeface="Consolas"/>
                <a:cs typeface="Consolas"/>
                <a:sym typeface="Consolas"/>
              </a:rPr>
              <a:t>// Call all subscribers</a:t>
            </a:r>
            <a:endParaRPr sz="1000">
              <a:solidFill>
                <a:srgbClr val="6A9955"/>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9CDCFE"/>
                </a:solidFill>
                <a:highlight>
                  <a:srgbClr val="1F1F1F"/>
                </a:highlight>
                <a:latin typeface="Consolas"/>
                <a:ea typeface="Consolas"/>
                <a:cs typeface="Consolas"/>
                <a:sym typeface="Consolas"/>
              </a:rPr>
              <a:t>OnCollide</a:t>
            </a:r>
            <a:r>
              <a:rPr lang="en" sz="1000">
                <a:solidFill>
                  <a:srgbClr val="D4D4D4"/>
                </a:solidFill>
                <a:highlight>
                  <a:srgbClr val="1F1F1F"/>
                </a:highlight>
                <a:latin typeface="Consolas"/>
                <a:ea typeface="Consolas"/>
                <a:cs typeface="Consolas"/>
                <a:sym typeface="Consolas"/>
              </a:rPr>
              <a:t>?.</a:t>
            </a:r>
            <a:r>
              <a:rPr lang="en" sz="1000">
                <a:solidFill>
                  <a:srgbClr val="9CDCFE"/>
                </a:solidFill>
                <a:highlight>
                  <a:srgbClr val="1F1F1F"/>
                </a:highlight>
                <a:latin typeface="Consolas"/>
                <a:ea typeface="Consolas"/>
                <a:cs typeface="Consolas"/>
                <a:sym typeface="Consolas"/>
              </a:rPr>
              <a:t>Invoke</a:t>
            </a:r>
            <a:r>
              <a:rPr lang="en" sz="1000">
                <a:solidFill>
                  <a:srgbClr val="CCCCCC"/>
                </a:solidFill>
                <a:highlight>
                  <a:srgbClr val="1F1F1F"/>
                </a:highlight>
                <a:latin typeface="Consolas"/>
                <a:ea typeface="Consolas"/>
                <a:cs typeface="Consolas"/>
                <a:sym typeface="Consolas"/>
              </a:rPr>
              <a: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9"/>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 Events</a:t>
            </a:r>
            <a:endParaRPr/>
          </a:p>
        </p:txBody>
      </p:sp>
      <p:pic>
        <p:nvPicPr>
          <p:cNvPr id="176" name="Google Shape;176;p29"/>
          <p:cNvPicPr preferRelativeResize="0"/>
          <p:nvPr/>
        </p:nvPicPr>
        <p:blipFill>
          <a:blip r:embed="rId3">
            <a:alphaModFix/>
          </a:blip>
          <a:stretch>
            <a:fillRect/>
          </a:stretch>
        </p:blipFill>
        <p:spPr>
          <a:xfrm>
            <a:off x="853111" y="1975100"/>
            <a:ext cx="7437776" cy="2037250"/>
          </a:xfrm>
          <a:prstGeom prst="rect">
            <a:avLst/>
          </a:prstGeom>
          <a:noFill/>
          <a:ln>
            <a:noFill/>
          </a:ln>
        </p:spPr>
      </p:pic>
      <p:sp>
        <p:nvSpPr>
          <p:cNvPr id="177" name="Google Shape;177;p29"/>
          <p:cNvSpPr txBox="1"/>
          <p:nvPr>
            <p:ph idx="1" type="body"/>
          </p:nvPr>
        </p:nvSpPr>
        <p:spPr>
          <a:xfrm>
            <a:off x="311700" y="885950"/>
            <a:ext cx="8520600" cy="8322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n"/>
              <a:t>A</a:t>
            </a:r>
            <a:r>
              <a:rPr lang="en"/>
              <a:t>n </a:t>
            </a:r>
            <a:r>
              <a:rPr lang="en"/>
              <a:t>event is a delegate with guardrails</a:t>
            </a:r>
            <a:endParaRPr/>
          </a:p>
          <a:p>
            <a:pPr indent="-317500" lvl="1" marL="914400" rtl="0" algn="l">
              <a:spcBef>
                <a:spcPts val="0"/>
              </a:spcBef>
              <a:spcAft>
                <a:spcPts val="0"/>
              </a:spcAft>
              <a:buSzPts val="1400"/>
              <a:buChar char="○"/>
            </a:pPr>
            <a:r>
              <a:rPr lang="en"/>
              <a:t>It is still a delegate, but the event keyword restricts what outside code can do with it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30"/>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Lambda Expressions</a:t>
            </a:r>
            <a:endParaRPr/>
          </a:p>
        </p:txBody>
      </p:sp>
      <p:sp>
        <p:nvSpPr>
          <p:cNvPr id="183" name="Google Shape;183;p30"/>
          <p:cNvSpPr txBox="1"/>
          <p:nvPr>
            <p:ph idx="1" type="body"/>
          </p:nvPr>
        </p:nvSpPr>
        <p:spPr>
          <a:xfrm>
            <a:off x="311700" y="1989425"/>
            <a:ext cx="8520600" cy="15663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n"/>
              <a:t>A lambda is an anonymous function</a:t>
            </a:r>
            <a:endParaRPr/>
          </a:p>
          <a:p>
            <a:pPr indent="-317500" lvl="1" marL="914400" rtl="0" algn="l">
              <a:spcBef>
                <a:spcPts val="0"/>
              </a:spcBef>
              <a:spcAft>
                <a:spcPts val="0"/>
              </a:spcAft>
              <a:buSzPts val="1400"/>
              <a:buChar char="○"/>
            </a:pPr>
            <a:r>
              <a:rPr lang="en"/>
              <a:t>A function defined inline, without a name</a:t>
            </a:r>
            <a:endParaRPr/>
          </a:p>
          <a:p>
            <a:pPr indent="-330200" lvl="0" marL="457200" rtl="0" algn="l">
              <a:spcBef>
                <a:spcPts val="0"/>
              </a:spcBef>
              <a:spcAft>
                <a:spcPts val="0"/>
              </a:spcAft>
              <a:buSzPts val="1600"/>
              <a:buChar char="●"/>
            </a:pPr>
            <a:r>
              <a:rPr lang="en"/>
              <a:t>The value of the expression is returned</a:t>
            </a:r>
            <a:endParaRPr/>
          </a:p>
          <a:p>
            <a:pPr indent="-330200" lvl="0" marL="457200" rtl="0" algn="l">
              <a:spcBef>
                <a:spcPts val="0"/>
              </a:spcBef>
              <a:spcAft>
                <a:spcPts val="0"/>
              </a:spcAft>
              <a:buSzPts val="1600"/>
              <a:buChar char="●"/>
            </a:pPr>
            <a:r>
              <a:rPr lang="en"/>
              <a:t>Used to pass behaviour as an argument, and to subscribe to events</a:t>
            </a:r>
            <a:endParaRPr/>
          </a:p>
        </p:txBody>
      </p:sp>
      <p:sp>
        <p:nvSpPr>
          <p:cNvPr id="184" name="Google Shape;184;p30"/>
          <p:cNvSpPr txBox="1"/>
          <p:nvPr>
            <p:ph idx="1" type="body"/>
          </p:nvPr>
        </p:nvSpPr>
        <p:spPr>
          <a:xfrm>
            <a:off x="311700" y="3795886"/>
            <a:ext cx="8520600" cy="863700"/>
          </a:xfrm>
          <a:prstGeom prst="rect">
            <a:avLst/>
          </a:prstGeom>
          <a:solidFill>
            <a:schemeClr val="dk2"/>
          </a:solidFill>
        </p:spPr>
        <p:txBody>
          <a:bodyPr anchorCtr="0" anchor="t" bIns="91425" lIns="91425" spcFirstLastPara="1" rIns="91425" wrap="square" tIns="91425">
            <a:normAutofit/>
          </a:bodyPr>
          <a:lstStyle/>
          <a:p>
            <a:pPr indent="0" lvl="0" marL="0" rtl="0" algn="l">
              <a:lnSpc>
                <a:spcPct val="157500"/>
              </a:lnSpc>
              <a:spcBef>
                <a:spcPts val="0"/>
              </a:spcBef>
              <a:spcAft>
                <a:spcPts val="0"/>
              </a:spcAft>
              <a:buNone/>
            </a:pPr>
            <a:r>
              <a:rPr lang="en" sz="1000">
                <a:solidFill>
                  <a:srgbClr val="569CD6"/>
                </a:solidFill>
                <a:highlight>
                  <a:srgbClr val="1F1F1F"/>
                </a:highlight>
                <a:latin typeface="Consolas"/>
                <a:ea typeface="Consolas"/>
                <a:cs typeface="Consolas"/>
                <a:sym typeface="Consolas"/>
              </a:rPr>
              <a:t>bool</a:t>
            </a:r>
            <a:r>
              <a:rPr lang="en" sz="1000">
                <a:solidFill>
                  <a:srgbClr val="CCCCCC"/>
                </a:solidFill>
                <a:highlight>
                  <a:srgbClr val="1F1F1F"/>
                </a:highlight>
                <a:latin typeface="Consolas"/>
                <a:ea typeface="Consolas"/>
                <a:cs typeface="Consolas"/>
                <a:sym typeface="Consolas"/>
              </a:rPr>
              <a:t> </a:t>
            </a:r>
            <a:r>
              <a:rPr lang="en" sz="1000">
                <a:solidFill>
                  <a:srgbClr val="DCDCAA"/>
                </a:solidFill>
                <a:highlight>
                  <a:srgbClr val="1F1F1F"/>
                </a:highlight>
                <a:latin typeface="Consolas"/>
                <a:ea typeface="Consolas"/>
                <a:cs typeface="Consolas"/>
                <a:sym typeface="Consolas"/>
              </a:rPr>
              <a:t>IsEven</a:t>
            </a:r>
            <a:r>
              <a:rPr lang="en" sz="1000">
                <a:solidFill>
                  <a:srgbClr val="CCCCCC"/>
                </a:solidFill>
                <a:highlight>
                  <a:srgbClr val="1F1F1F"/>
                </a:highlight>
                <a:latin typeface="Consolas"/>
                <a:ea typeface="Consolas"/>
                <a:cs typeface="Consolas"/>
                <a:sym typeface="Consolas"/>
              </a:rPr>
              <a:t>(</a:t>
            </a:r>
            <a:r>
              <a:rPr lang="en" sz="1000">
                <a:solidFill>
                  <a:srgbClr val="569CD6"/>
                </a:solidFill>
                <a:highlight>
                  <a:srgbClr val="1F1F1F"/>
                </a:highlight>
                <a:latin typeface="Consolas"/>
                <a:ea typeface="Consolas"/>
                <a:cs typeface="Consolas"/>
                <a:sym typeface="Consolas"/>
              </a:rPr>
              <a:t>int</a:t>
            </a: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n</a:t>
            </a:r>
            <a:r>
              <a:rPr lang="en" sz="1000">
                <a:solidFill>
                  <a:srgbClr val="CCCCCC"/>
                </a:solidFill>
                <a:highlight>
                  <a:srgbClr val="1F1F1F"/>
                </a:highlight>
                <a:latin typeface="Consolas"/>
                <a:ea typeface="Consolas"/>
                <a:cs typeface="Consolas"/>
                <a:sym typeface="Consolas"/>
              </a:rPr>
              <a:t>) { </a:t>
            </a:r>
            <a:r>
              <a:rPr lang="en" sz="1000">
                <a:solidFill>
                  <a:srgbClr val="C586C0"/>
                </a:solidFill>
                <a:highlight>
                  <a:srgbClr val="1F1F1F"/>
                </a:highlight>
                <a:latin typeface="Consolas"/>
                <a:ea typeface="Consolas"/>
                <a:cs typeface="Consolas"/>
                <a:sym typeface="Consolas"/>
              </a:rPr>
              <a:t>return</a:t>
            </a: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n</a:t>
            </a:r>
            <a:r>
              <a:rPr lang="en" sz="1000">
                <a:solidFill>
                  <a:srgbClr val="CCCCCC"/>
                </a:solidFill>
                <a:highlight>
                  <a:srgbClr val="1F1F1F"/>
                </a:highlight>
                <a:latin typeface="Consolas"/>
                <a:ea typeface="Consolas"/>
                <a:cs typeface="Consolas"/>
                <a:sym typeface="Consolas"/>
              </a:rPr>
              <a:t> </a:t>
            </a:r>
            <a:r>
              <a:rPr lang="en" sz="1000">
                <a:solidFill>
                  <a:srgbClr val="D4D4D4"/>
                </a:solidFill>
                <a:highlight>
                  <a:srgbClr val="1F1F1F"/>
                </a:highlight>
                <a:latin typeface="Consolas"/>
                <a:ea typeface="Consolas"/>
                <a:cs typeface="Consolas"/>
                <a:sym typeface="Consolas"/>
              </a:rPr>
              <a:t>%</a:t>
            </a:r>
            <a:r>
              <a:rPr lang="en" sz="1000">
                <a:solidFill>
                  <a:srgbClr val="CCCCCC"/>
                </a:solidFill>
                <a:highlight>
                  <a:srgbClr val="1F1F1F"/>
                </a:highlight>
                <a:latin typeface="Consolas"/>
                <a:ea typeface="Consolas"/>
                <a:cs typeface="Consolas"/>
                <a:sym typeface="Consolas"/>
              </a:rPr>
              <a:t> </a:t>
            </a:r>
            <a:r>
              <a:rPr lang="en" sz="1000">
                <a:solidFill>
                  <a:srgbClr val="B5CEA8"/>
                </a:solidFill>
                <a:highlight>
                  <a:srgbClr val="1F1F1F"/>
                </a:highlight>
                <a:latin typeface="Consolas"/>
                <a:ea typeface="Consolas"/>
                <a:cs typeface="Consolas"/>
                <a:sym typeface="Consolas"/>
              </a:rPr>
              <a:t>2</a:t>
            </a:r>
            <a:r>
              <a:rPr lang="en" sz="1000">
                <a:solidFill>
                  <a:srgbClr val="CCCCCC"/>
                </a:solidFill>
                <a:highlight>
                  <a:srgbClr val="1F1F1F"/>
                </a:highlight>
                <a:latin typeface="Consolas"/>
                <a:ea typeface="Consolas"/>
                <a:cs typeface="Consolas"/>
                <a:sym typeface="Consolas"/>
              </a:rPr>
              <a:t> </a:t>
            </a:r>
            <a:r>
              <a:rPr lang="en" sz="1000">
                <a:solidFill>
                  <a:srgbClr val="D4D4D4"/>
                </a:solidFill>
                <a:highlight>
                  <a:srgbClr val="1F1F1F"/>
                </a:highlight>
                <a:latin typeface="Consolas"/>
                <a:ea typeface="Consolas"/>
                <a:cs typeface="Consolas"/>
                <a:sym typeface="Consolas"/>
              </a:rPr>
              <a:t>==</a:t>
            </a:r>
            <a:r>
              <a:rPr lang="en" sz="1000">
                <a:solidFill>
                  <a:srgbClr val="CCCCCC"/>
                </a:solidFill>
                <a:highlight>
                  <a:srgbClr val="1F1F1F"/>
                </a:highlight>
                <a:latin typeface="Consolas"/>
                <a:ea typeface="Consolas"/>
                <a:cs typeface="Consolas"/>
                <a:sym typeface="Consolas"/>
              </a:rPr>
              <a:t> </a:t>
            </a:r>
            <a:r>
              <a:rPr lang="en" sz="1000">
                <a:solidFill>
                  <a:srgbClr val="B5CEA8"/>
                </a:solidFill>
                <a:highlight>
                  <a:srgbClr val="1F1F1F"/>
                </a:highlight>
                <a:latin typeface="Consolas"/>
                <a:ea typeface="Consolas"/>
                <a:cs typeface="Consolas"/>
                <a:sym typeface="Consolas"/>
              </a:rPr>
              <a:t>0</a:t>
            </a:r>
            <a:r>
              <a:rPr lang="en" sz="1000">
                <a:solidFill>
                  <a:srgbClr val="CCCCCC"/>
                </a:solidFill>
                <a:highlight>
                  <a:srgbClr val="1F1F1F"/>
                </a:highlight>
                <a:latin typeface="Consolas"/>
                <a:ea typeface="Consolas"/>
                <a:cs typeface="Consolas"/>
                <a:sym typeface="Consolas"/>
              </a:rPr>
              <a:t>; }</a:t>
            </a:r>
            <a:endParaRPr sz="1000">
              <a:solidFill>
                <a:srgbClr val="CCCCCC"/>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6A9955"/>
                </a:solidFill>
                <a:highlight>
                  <a:srgbClr val="1F1F1F"/>
                </a:highlight>
                <a:latin typeface="Consolas"/>
                <a:ea typeface="Consolas"/>
                <a:cs typeface="Consolas"/>
                <a:sym typeface="Consolas"/>
              </a:rPr>
              <a:t>// The same thing as a lambda</a:t>
            </a:r>
            <a:endParaRPr sz="1000">
              <a:solidFill>
                <a:srgbClr val="6A9955"/>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CCCCCC"/>
                </a:solidFill>
                <a:highlight>
                  <a:srgbClr val="1F1F1F"/>
                </a:highlight>
                <a:latin typeface="Consolas"/>
                <a:ea typeface="Consolas"/>
                <a:cs typeface="Consolas"/>
                <a:sym typeface="Consolas"/>
              </a:rPr>
              <a:t>(</a:t>
            </a:r>
            <a:r>
              <a:rPr lang="en" sz="1000">
                <a:solidFill>
                  <a:srgbClr val="569CD6"/>
                </a:solidFill>
                <a:highlight>
                  <a:srgbClr val="1F1F1F"/>
                </a:highlight>
                <a:latin typeface="Consolas"/>
                <a:ea typeface="Consolas"/>
                <a:cs typeface="Consolas"/>
                <a:sym typeface="Consolas"/>
              </a:rPr>
              <a:t>int</a:t>
            </a: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n</a:t>
            </a:r>
            <a:r>
              <a:rPr lang="en" sz="1000">
                <a:solidFill>
                  <a:srgbClr val="CCCCCC"/>
                </a:solidFill>
                <a:highlight>
                  <a:srgbClr val="1F1F1F"/>
                </a:highlight>
                <a:latin typeface="Consolas"/>
                <a:ea typeface="Consolas"/>
                <a:cs typeface="Consolas"/>
                <a:sym typeface="Consolas"/>
              </a:rPr>
              <a:t>) </a:t>
            </a:r>
            <a:r>
              <a:rPr lang="en" sz="1000">
                <a:solidFill>
                  <a:srgbClr val="D4D4D4"/>
                </a:solidFill>
                <a:highlight>
                  <a:srgbClr val="1F1F1F"/>
                </a:highlight>
                <a:latin typeface="Consolas"/>
                <a:ea typeface="Consolas"/>
                <a:cs typeface="Consolas"/>
                <a:sym typeface="Consolas"/>
              </a:rPr>
              <a:t>=&gt;</a:t>
            </a: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n</a:t>
            </a:r>
            <a:r>
              <a:rPr lang="en" sz="1000">
                <a:solidFill>
                  <a:srgbClr val="CCCCCC"/>
                </a:solidFill>
                <a:highlight>
                  <a:srgbClr val="1F1F1F"/>
                </a:highlight>
                <a:latin typeface="Consolas"/>
                <a:ea typeface="Consolas"/>
                <a:cs typeface="Consolas"/>
                <a:sym typeface="Consolas"/>
              </a:rPr>
              <a:t> </a:t>
            </a:r>
            <a:r>
              <a:rPr lang="en" sz="1000">
                <a:solidFill>
                  <a:srgbClr val="D4D4D4"/>
                </a:solidFill>
                <a:highlight>
                  <a:srgbClr val="1F1F1F"/>
                </a:highlight>
                <a:latin typeface="Consolas"/>
                <a:ea typeface="Consolas"/>
                <a:cs typeface="Consolas"/>
                <a:sym typeface="Consolas"/>
              </a:rPr>
              <a:t>%</a:t>
            </a:r>
            <a:r>
              <a:rPr lang="en" sz="1000">
                <a:solidFill>
                  <a:srgbClr val="CCCCCC"/>
                </a:solidFill>
                <a:highlight>
                  <a:srgbClr val="1F1F1F"/>
                </a:highlight>
                <a:latin typeface="Consolas"/>
                <a:ea typeface="Consolas"/>
                <a:cs typeface="Consolas"/>
                <a:sym typeface="Consolas"/>
              </a:rPr>
              <a:t> </a:t>
            </a:r>
            <a:r>
              <a:rPr lang="en" sz="1000">
                <a:solidFill>
                  <a:srgbClr val="B5CEA8"/>
                </a:solidFill>
                <a:highlight>
                  <a:srgbClr val="1F1F1F"/>
                </a:highlight>
                <a:latin typeface="Consolas"/>
                <a:ea typeface="Consolas"/>
                <a:cs typeface="Consolas"/>
                <a:sym typeface="Consolas"/>
              </a:rPr>
              <a:t>2</a:t>
            </a:r>
            <a:r>
              <a:rPr lang="en" sz="1000">
                <a:solidFill>
                  <a:srgbClr val="CCCCCC"/>
                </a:solidFill>
                <a:highlight>
                  <a:srgbClr val="1F1F1F"/>
                </a:highlight>
                <a:latin typeface="Consolas"/>
                <a:ea typeface="Consolas"/>
                <a:cs typeface="Consolas"/>
                <a:sym typeface="Consolas"/>
              </a:rPr>
              <a:t> </a:t>
            </a:r>
            <a:r>
              <a:rPr lang="en" sz="1000">
                <a:solidFill>
                  <a:srgbClr val="D4D4D4"/>
                </a:solidFill>
                <a:highlight>
                  <a:srgbClr val="1F1F1F"/>
                </a:highlight>
                <a:latin typeface="Consolas"/>
                <a:ea typeface="Consolas"/>
                <a:cs typeface="Consolas"/>
                <a:sym typeface="Consolas"/>
              </a:rPr>
              <a:t>==</a:t>
            </a:r>
            <a:r>
              <a:rPr lang="en" sz="1000">
                <a:solidFill>
                  <a:srgbClr val="CCCCCC"/>
                </a:solidFill>
                <a:highlight>
                  <a:srgbClr val="1F1F1F"/>
                </a:highlight>
                <a:latin typeface="Consolas"/>
                <a:ea typeface="Consolas"/>
                <a:cs typeface="Consolas"/>
                <a:sym typeface="Consolas"/>
              </a:rPr>
              <a:t> </a:t>
            </a:r>
            <a:r>
              <a:rPr lang="en" sz="1000">
                <a:solidFill>
                  <a:srgbClr val="B5CEA8"/>
                </a:solidFill>
                <a:highlight>
                  <a:srgbClr val="1F1F1F"/>
                </a:highlight>
                <a:latin typeface="Consolas"/>
                <a:ea typeface="Consolas"/>
                <a:cs typeface="Consolas"/>
                <a:sym typeface="Consolas"/>
              </a:rPr>
              <a:t>0</a:t>
            </a:r>
            <a:endParaRPr/>
          </a:p>
        </p:txBody>
      </p:sp>
      <p:sp>
        <p:nvSpPr>
          <p:cNvPr id="185" name="Google Shape;185;p30"/>
          <p:cNvSpPr txBox="1"/>
          <p:nvPr>
            <p:ph idx="1" type="body"/>
          </p:nvPr>
        </p:nvSpPr>
        <p:spPr>
          <a:xfrm>
            <a:off x="311700" y="1066157"/>
            <a:ext cx="8520600" cy="802800"/>
          </a:xfrm>
          <a:prstGeom prst="rect">
            <a:avLst/>
          </a:prstGeom>
        </p:spPr>
        <p:txBody>
          <a:bodyPr anchorCtr="0" anchor="ctr" bIns="91425" lIns="91425" spcFirstLastPara="1" rIns="91425" wrap="square" tIns="91425">
            <a:normAutofit/>
          </a:bodyPr>
          <a:lstStyle/>
          <a:p>
            <a:pPr indent="0" lvl="0" marL="0" rtl="0" algn="ctr">
              <a:spcBef>
                <a:spcPts val="0"/>
              </a:spcBef>
              <a:spcAft>
                <a:spcPts val="1200"/>
              </a:spcAft>
              <a:buNone/>
            </a:pPr>
            <a:r>
              <a:rPr lang="en" sz="2400"/>
              <a:t>(parameters) =&gt; expression</a:t>
            </a:r>
            <a:endParaRPr sz="24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31"/>
          <p:cNvSpPr txBox="1"/>
          <p:nvPr>
            <p:ph idx="1" type="body"/>
          </p:nvPr>
        </p:nvSpPr>
        <p:spPr>
          <a:xfrm>
            <a:off x="2965500" y="1018600"/>
            <a:ext cx="3213000" cy="2342400"/>
          </a:xfrm>
          <a:prstGeom prst="rect">
            <a:avLst/>
          </a:prstGeom>
          <a:solidFill>
            <a:schemeClr val="dk2"/>
          </a:solidFill>
        </p:spPr>
        <p:txBody>
          <a:bodyPr anchorCtr="0" anchor="t" bIns="91425" lIns="91425" spcFirstLastPara="1" rIns="91425" wrap="square" tIns="91425">
            <a:normAutofit/>
          </a:bodyPr>
          <a:lstStyle/>
          <a:p>
            <a:pPr indent="0" lvl="0" marL="0" rtl="0" algn="l">
              <a:lnSpc>
                <a:spcPct val="157500"/>
              </a:lnSpc>
              <a:spcBef>
                <a:spcPts val="0"/>
              </a:spcBef>
              <a:spcAft>
                <a:spcPts val="0"/>
              </a:spcAft>
              <a:buNone/>
            </a:pPr>
            <a:r>
              <a:rPr lang="en" sz="1000">
                <a:solidFill>
                  <a:srgbClr val="9CDCFE"/>
                </a:solidFill>
                <a:highlight>
                  <a:srgbClr val="1F1F1F"/>
                </a:highlight>
                <a:latin typeface="Consolas"/>
                <a:ea typeface="Consolas"/>
                <a:cs typeface="Consolas"/>
                <a:sym typeface="Consolas"/>
              </a:rPr>
              <a:t>switchObj</a:t>
            </a:r>
            <a:r>
              <a:rPr lang="en" sz="1000">
                <a:solidFill>
                  <a:srgbClr val="D4D4D4"/>
                </a:solidFill>
                <a:highlight>
                  <a:srgbClr val="1F1F1F"/>
                </a:highlight>
                <a:latin typeface="Consolas"/>
                <a:ea typeface="Consolas"/>
                <a:cs typeface="Consolas"/>
                <a:sym typeface="Consolas"/>
              </a:rPr>
              <a:t>.</a:t>
            </a:r>
            <a:r>
              <a:rPr lang="en" sz="1000">
                <a:solidFill>
                  <a:srgbClr val="9CDCFE"/>
                </a:solidFill>
                <a:highlight>
                  <a:srgbClr val="1F1F1F"/>
                </a:highlight>
                <a:latin typeface="Consolas"/>
                <a:ea typeface="Consolas"/>
                <a:cs typeface="Consolas"/>
                <a:sym typeface="Consolas"/>
              </a:rPr>
              <a:t>OnCollide</a:t>
            </a:r>
            <a:r>
              <a:rPr lang="en" sz="1000">
                <a:solidFill>
                  <a:srgbClr val="CCCCCC"/>
                </a:solidFill>
                <a:highlight>
                  <a:srgbClr val="1F1F1F"/>
                </a:highlight>
                <a:latin typeface="Consolas"/>
                <a:ea typeface="Consolas"/>
                <a:cs typeface="Consolas"/>
                <a:sym typeface="Consolas"/>
              </a:rPr>
              <a:t> </a:t>
            </a:r>
            <a:r>
              <a:rPr lang="en" sz="1000">
                <a:solidFill>
                  <a:srgbClr val="D4D4D4"/>
                </a:solidFill>
                <a:highlight>
                  <a:srgbClr val="1F1F1F"/>
                </a:highlight>
                <a:latin typeface="Consolas"/>
                <a:ea typeface="Consolas"/>
                <a:cs typeface="Consolas"/>
                <a:sym typeface="Consolas"/>
              </a:rPr>
              <a:t>+=</a:t>
            </a:r>
            <a:r>
              <a:rPr lang="en" sz="1000">
                <a:solidFill>
                  <a:srgbClr val="CCCCCC"/>
                </a:solidFill>
                <a:highlight>
                  <a:srgbClr val="1F1F1F"/>
                </a:highlight>
                <a:latin typeface="Consolas"/>
                <a:ea typeface="Consolas"/>
                <a:cs typeface="Consolas"/>
                <a:sym typeface="Consolas"/>
              </a:rPr>
              <a:t> () </a:t>
            </a:r>
            <a:r>
              <a:rPr lang="en" sz="1000">
                <a:solidFill>
                  <a:srgbClr val="D4D4D4"/>
                </a:solidFill>
                <a:highlight>
                  <a:srgbClr val="1F1F1F"/>
                </a:highlight>
                <a:latin typeface="Consolas"/>
                <a:ea typeface="Consolas"/>
                <a:cs typeface="Consolas"/>
                <a:sym typeface="Consolas"/>
              </a:rPr>
              <a:t>=&gt;</a:t>
            </a:r>
            <a:endParaRPr sz="1000">
              <a:solidFill>
                <a:srgbClr val="D4D4D4"/>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CCCCCC"/>
                </a:solidFill>
                <a:highlight>
                  <a:srgbClr val="1F1F1F"/>
                </a:highlight>
                <a:latin typeface="Consolas"/>
                <a:ea typeface="Consolas"/>
                <a:cs typeface="Consolas"/>
                <a:sym typeface="Consolas"/>
              </a:rPr>
              <a:t>{</a:t>
            </a:r>
            <a:endParaRPr sz="1000">
              <a:solidFill>
                <a:srgbClr val="CCCCCC"/>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CCCCCC"/>
                </a:solidFill>
                <a:highlight>
                  <a:srgbClr val="1F1F1F"/>
                </a:highlight>
                <a:latin typeface="Consolas"/>
                <a:ea typeface="Consolas"/>
                <a:cs typeface="Consolas"/>
                <a:sym typeface="Consolas"/>
              </a:rPr>
              <a:t>    </a:t>
            </a:r>
            <a:r>
              <a:rPr lang="en" sz="1000">
                <a:solidFill>
                  <a:srgbClr val="C586C0"/>
                </a:solidFill>
                <a:highlight>
                  <a:srgbClr val="1F1F1F"/>
                </a:highlight>
                <a:latin typeface="Consolas"/>
                <a:ea typeface="Consolas"/>
                <a:cs typeface="Consolas"/>
                <a:sym typeface="Consolas"/>
              </a:rPr>
              <a:t>if</a:t>
            </a: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switchObj</a:t>
            </a:r>
            <a:r>
              <a:rPr lang="en" sz="1000">
                <a:solidFill>
                  <a:srgbClr val="D4D4D4"/>
                </a:solidFill>
                <a:highlight>
                  <a:srgbClr val="1F1F1F"/>
                </a:highlight>
                <a:latin typeface="Consolas"/>
                <a:ea typeface="Consolas"/>
                <a:cs typeface="Consolas"/>
                <a:sym typeface="Consolas"/>
              </a:rPr>
              <a:t>.</a:t>
            </a:r>
            <a:r>
              <a:rPr lang="en" sz="1000">
                <a:solidFill>
                  <a:srgbClr val="9CDCFE"/>
                </a:solidFill>
                <a:highlight>
                  <a:srgbClr val="1F1F1F"/>
                </a:highlight>
                <a:latin typeface="Consolas"/>
                <a:ea typeface="Consolas"/>
                <a:cs typeface="Consolas"/>
                <a:sym typeface="Consolas"/>
              </a:rPr>
              <a:t>State</a:t>
            </a:r>
            <a:r>
              <a:rPr lang="en" sz="1000">
                <a:solidFill>
                  <a:srgbClr val="CCCCCC"/>
                </a:solidFill>
                <a:highlight>
                  <a:srgbClr val="1F1F1F"/>
                </a:highlight>
                <a:latin typeface="Consolas"/>
                <a:ea typeface="Consolas"/>
                <a:cs typeface="Consolas"/>
                <a:sym typeface="Consolas"/>
              </a:rPr>
              <a:t> </a:t>
            </a:r>
            <a:r>
              <a:rPr lang="en" sz="1000">
                <a:solidFill>
                  <a:srgbClr val="D4D4D4"/>
                </a:solidFill>
                <a:highlight>
                  <a:srgbClr val="1F1F1F"/>
                </a:highlight>
                <a:latin typeface="Consolas"/>
                <a:ea typeface="Consolas"/>
                <a:cs typeface="Consolas"/>
                <a:sym typeface="Consolas"/>
              </a:rPr>
              <a:t>==</a:t>
            </a:r>
            <a:r>
              <a:rPr lang="en" sz="1000">
                <a:solidFill>
                  <a:srgbClr val="CCCCCC"/>
                </a:solidFill>
                <a:highlight>
                  <a:srgbClr val="1F1F1F"/>
                </a:highlight>
                <a:latin typeface="Consolas"/>
                <a:ea typeface="Consolas"/>
                <a:cs typeface="Consolas"/>
                <a:sym typeface="Consolas"/>
              </a:rPr>
              <a:t> </a:t>
            </a:r>
            <a:r>
              <a:rPr lang="en" sz="1000">
                <a:solidFill>
                  <a:srgbClr val="CE9178"/>
                </a:solidFill>
                <a:highlight>
                  <a:srgbClr val="1F1F1F"/>
                </a:highlight>
                <a:latin typeface="Consolas"/>
                <a:ea typeface="Consolas"/>
                <a:cs typeface="Consolas"/>
                <a:sym typeface="Consolas"/>
              </a:rPr>
              <a:t>"unpressed"</a:t>
            </a:r>
            <a:r>
              <a:rPr lang="en" sz="1000">
                <a:solidFill>
                  <a:srgbClr val="CCCCCC"/>
                </a:solidFill>
                <a:highlight>
                  <a:srgbClr val="1F1F1F"/>
                </a:highlight>
                <a:latin typeface="Consolas"/>
                <a:ea typeface="Consolas"/>
                <a:cs typeface="Consolas"/>
                <a:sym typeface="Consolas"/>
              </a:rPr>
              <a:t>)</a:t>
            </a:r>
            <a:endParaRPr sz="1000">
              <a:solidFill>
                <a:srgbClr val="CCCCCC"/>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CCCCCC"/>
                </a:solidFill>
                <a:highlight>
                  <a:srgbClr val="1F1F1F"/>
                </a:highlight>
                <a:latin typeface="Consolas"/>
                <a:ea typeface="Consolas"/>
                <a:cs typeface="Consolas"/>
                <a:sym typeface="Consolas"/>
              </a:rPr>
              <a:t>    {</a:t>
            </a:r>
            <a:endParaRPr sz="1000">
              <a:solidFill>
                <a:srgbClr val="CCCCCC"/>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switchObj</a:t>
            </a:r>
            <a:r>
              <a:rPr lang="en" sz="1000">
                <a:solidFill>
                  <a:srgbClr val="D4D4D4"/>
                </a:solidFill>
                <a:highlight>
                  <a:srgbClr val="1F1F1F"/>
                </a:highlight>
                <a:latin typeface="Consolas"/>
                <a:ea typeface="Consolas"/>
                <a:cs typeface="Consolas"/>
                <a:sym typeface="Consolas"/>
              </a:rPr>
              <a:t>.</a:t>
            </a:r>
            <a:r>
              <a:rPr lang="en" sz="1000">
                <a:solidFill>
                  <a:srgbClr val="9CDCFE"/>
                </a:solidFill>
                <a:highlight>
                  <a:srgbClr val="1F1F1F"/>
                </a:highlight>
                <a:latin typeface="Consolas"/>
                <a:ea typeface="Consolas"/>
                <a:cs typeface="Consolas"/>
                <a:sym typeface="Consolas"/>
              </a:rPr>
              <a:t>State</a:t>
            </a:r>
            <a:r>
              <a:rPr lang="en" sz="1000">
                <a:solidFill>
                  <a:srgbClr val="CCCCCC"/>
                </a:solidFill>
                <a:highlight>
                  <a:srgbClr val="1F1F1F"/>
                </a:highlight>
                <a:latin typeface="Consolas"/>
                <a:ea typeface="Consolas"/>
                <a:cs typeface="Consolas"/>
                <a:sym typeface="Consolas"/>
              </a:rPr>
              <a:t> </a:t>
            </a:r>
            <a:r>
              <a:rPr lang="en" sz="1000">
                <a:solidFill>
                  <a:srgbClr val="D4D4D4"/>
                </a:solidFill>
                <a:highlight>
                  <a:srgbClr val="1F1F1F"/>
                </a:highlight>
                <a:latin typeface="Consolas"/>
                <a:ea typeface="Consolas"/>
                <a:cs typeface="Consolas"/>
                <a:sym typeface="Consolas"/>
              </a:rPr>
              <a:t>=</a:t>
            </a:r>
            <a:r>
              <a:rPr lang="en" sz="1000">
                <a:solidFill>
                  <a:srgbClr val="CCCCCC"/>
                </a:solidFill>
                <a:highlight>
                  <a:srgbClr val="1F1F1F"/>
                </a:highlight>
                <a:latin typeface="Consolas"/>
                <a:ea typeface="Consolas"/>
                <a:cs typeface="Consolas"/>
                <a:sym typeface="Consolas"/>
              </a:rPr>
              <a:t> </a:t>
            </a:r>
            <a:r>
              <a:rPr lang="en" sz="1000">
                <a:solidFill>
                  <a:srgbClr val="CE9178"/>
                </a:solidFill>
                <a:highlight>
                  <a:srgbClr val="1F1F1F"/>
                </a:highlight>
                <a:latin typeface="Consolas"/>
                <a:ea typeface="Consolas"/>
                <a:cs typeface="Consolas"/>
                <a:sym typeface="Consolas"/>
              </a:rPr>
              <a:t>"pressed"</a:t>
            </a:r>
            <a:r>
              <a:rPr lang="en" sz="1000">
                <a:solidFill>
                  <a:srgbClr val="CCCCCC"/>
                </a:solidFill>
                <a:highlight>
                  <a:srgbClr val="1F1F1F"/>
                </a:highlight>
                <a:latin typeface="Consolas"/>
                <a:ea typeface="Consolas"/>
                <a:cs typeface="Consolas"/>
                <a:sym typeface="Consolas"/>
              </a:rPr>
              <a:t>;</a:t>
            </a:r>
            <a:endParaRPr sz="1000">
              <a:solidFill>
                <a:srgbClr val="CCCCCC"/>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CCCCCC"/>
                </a:solidFill>
                <a:highlight>
                  <a:srgbClr val="1F1F1F"/>
                </a:highlight>
                <a:latin typeface="Consolas"/>
                <a:ea typeface="Consolas"/>
                <a:cs typeface="Consolas"/>
                <a:sym typeface="Consolas"/>
              </a:rPr>
              <a:t>        </a:t>
            </a:r>
            <a:r>
              <a:rPr lang="en" sz="1000">
                <a:solidFill>
                  <a:srgbClr val="C586C0"/>
                </a:solidFill>
                <a:highlight>
                  <a:srgbClr val="1F1F1F"/>
                </a:highlight>
                <a:latin typeface="Consolas"/>
                <a:ea typeface="Consolas"/>
                <a:cs typeface="Consolas"/>
                <a:sym typeface="Consolas"/>
              </a:rPr>
              <a:t>foreach</a:t>
            </a:r>
            <a:r>
              <a:rPr lang="en" sz="1000">
                <a:solidFill>
                  <a:srgbClr val="CCCCCC"/>
                </a:solidFill>
                <a:highlight>
                  <a:srgbClr val="1F1F1F"/>
                </a:highlight>
                <a:latin typeface="Consolas"/>
                <a:ea typeface="Consolas"/>
                <a:cs typeface="Consolas"/>
                <a:sym typeface="Consolas"/>
              </a:rPr>
              <a:t> (</a:t>
            </a:r>
            <a:r>
              <a:rPr lang="en" sz="1000">
                <a:solidFill>
                  <a:srgbClr val="569CD6"/>
                </a:solidFill>
                <a:highlight>
                  <a:srgbClr val="1F1F1F"/>
                </a:highlight>
                <a:latin typeface="Consolas"/>
                <a:ea typeface="Consolas"/>
                <a:cs typeface="Consolas"/>
                <a:sym typeface="Consolas"/>
              </a:rPr>
              <a:t>var</a:t>
            </a: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d</a:t>
            </a:r>
            <a:r>
              <a:rPr lang="en" sz="1000">
                <a:solidFill>
                  <a:srgbClr val="CCCCCC"/>
                </a:solidFill>
                <a:highlight>
                  <a:srgbClr val="1F1F1F"/>
                </a:highlight>
                <a:latin typeface="Consolas"/>
                <a:ea typeface="Consolas"/>
                <a:cs typeface="Consolas"/>
                <a:sym typeface="Consolas"/>
              </a:rPr>
              <a:t> </a:t>
            </a:r>
            <a:r>
              <a:rPr lang="en" sz="1000">
                <a:solidFill>
                  <a:srgbClr val="C586C0"/>
                </a:solidFill>
                <a:highlight>
                  <a:srgbClr val="1F1F1F"/>
                </a:highlight>
                <a:latin typeface="Consolas"/>
                <a:ea typeface="Consolas"/>
                <a:cs typeface="Consolas"/>
                <a:sym typeface="Consolas"/>
              </a:rPr>
              <a:t>in</a:t>
            </a: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Doorways</a:t>
            </a:r>
            <a:r>
              <a:rPr lang="en" sz="1000">
                <a:solidFill>
                  <a:srgbClr val="CCCCCC"/>
                </a:solidFill>
                <a:highlight>
                  <a:srgbClr val="1F1F1F"/>
                </a:highlight>
                <a:latin typeface="Consolas"/>
                <a:ea typeface="Consolas"/>
                <a:cs typeface="Consolas"/>
                <a:sym typeface="Consolas"/>
              </a:rPr>
              <a:t>)</a:t>
            </a:r>
            <a:endParaRPr sz="1000">
              <a:solidFill>
                <a:srgbClr val="CCCCCC"/>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CCCCCC"/>
                </a:solidFill>
                <a:highlight>
                  <a:srgbClr val="1F1F1F"/>
                </a:highlight>
                <a:latin typeface="Consolas"/>
                <a:ea typeface="Consolas"/>
                <a:cs typeface="Consolas"/>
                <a:sym typeface="Consolas"/>
              </a:rPr>
              <a:t>            </a:t>
            </a:r>
            <a:r>
              <a:rPr lang="en" sz="1000">
                <a:solidFill>
                  <a:srgbClr val="9CDCFE"/>
                </a:solidFill>
                <a:highlight>
                  <a:srgbClr val="1F1F1F"/>
                </a:highlight>
                <a:latin typeface="Consolas"/>
                <a:ea typeface="Consolas"/>
                <a:cs typeface="Consolas"/>
                <a:sym typeface="Consolas"/>
              </a:rPr>
              <a:t>d</a:t>
            </a:r>
            <a:r>
              <a:rPr lang="en" sz="1000">
                <a:solidFill>
                  <a:srgbClr val="D4D4D4"/>
                </a:solidFill>
                <a:highlight>
                  <a:srgbClr val="1F1F1F"/>
                </a:highlight>
                <a:latin typeface="Consolas"/>
                <a:ea typeface="Consolas"/>
                <a:cs typeface="Consolas"/>
                <a:sym typeface="Consolas"/>
              </a:rPr>
              <a:t>.</a:t>
            </a:r>
            <a:r>
              <a:rPr lang="en" sz="1000">
                <a:solidFill>
                  <a:srgbClr val="9CDCFE"/>
                </a:solidFill>
                <a:highlight>
                  <a:srgbClr val="1F1F1F"/>
                </a:highlight>
                <a:latin typeface="Consolas"/>
                <a:ea typeface="Consolas"/>
                <a:cs typeface="Consolas"/>
                <a:sym typeface="Consolas"/>
              </a:rPr>
              <a:t>IsOpen</a:t>
            </a:r>
            <a:r>
              <a:rPr lang="en" sz="1000">
                <a:solidFill>
                  <a:srgbClr val="CCCCCC"/>
                </a:solidFill>
                <a:highlight>
                  <a:srgbClr val="1F1F1F"/>
                </a:highlight>
                <a:latin typeface="Consolas"/>
                <a:ea typeface="Consolas"/>
                <a:cs typeface="Consolas"/>
                <a:sym typeface="Consolas"/>
              </a:rPr>
              <a:t> </a:t>
            </a:r>
            <a:r>
              <a:rPr lang="en" sz="1000">
                <a:solidFill>
                  <a:srgbClr val="D4D4D4"/>
                </a:solidFill>
                <a:highlight>
                  <a:srgbClr val="1F1F1F"/>
                </a:highlight>
                <a:latin typeface="Consolas"/>
                <a:ea typeface="Consolas"/>
                <a:cs typeface="Consolas"/>
                <a:sym typeface="Consolas"/>
              </a:rPr>
              <a:t>=</a:t>
            </a:r>
            <a:r>
              <a:rPr lang="en" sz="1000">
                <a:solidFill>
                  <a:srgbClr val="CCCCCC"/>
                </a:solidFill>
                <a:highlight>
                  <a:srgbClr val="1F1F1F"/>
                </a:highlight>
                <a:latin typeface="Consolas"/>
                <a:ea typeface="Consolas"/>
                <a:cs typeface="Consolas"/>
                <a:sym typeface="Consolas"/>
              </a:rPr>
              <a:t> </a:t>
            </a:r>
            <a:r>
              <a:rPr lang="en" sz="1000">
                <a:solidFill>
                  <a:srgbClr val="569CD6"/>
                </a:solidFill>
                <a:highlight>
                  <a:srgbClr val="1F1F1F"/>
                </a:highlight>
                <a:latin typeface="Consolas"/>
                <a:ea typeface="Consolas"/>
                <a:cs typeface="Consolas"/>
                <a:sym typeface="Consolas"/>
              </a:rPr>
              <a:t>true</a:t>
            </a:r>
            <a:r>
              <a:rPr lang="en" sz="1000">
                <a:solidFill>
                  <a:srgbClr val="CCCCCC"/>
                </a:solidFill>
                <a:highlight>
                  <a:srgbClr val="1F1F1F"/>
                </a:highlight>
                <a:latin typeface="Consolas"/>
                <a:ea typeface="Consolas"/>
                <a:cs typeface="Consolas"/>
                <a:sym typeface="Consolas"/>
              </a:rPr>
              <a:t>;</a:t>
            </a:r>
            <a:endParaRPr sz="1000">
              <a:solidFill>
                <a:srgbClr val="CCCCCC"/>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CCCCCC"/>
                </a:solidFill>
                <a:highlight>
                  <a:srgbClr val="1F1F1F"/>
                </a:highlight>
                <a:latin typeface="Consolas"/>
                <a:ea typeface="Consolas"/>
                <a:cs typeface="Consolas"/>
                <a:sym typeface="Consolas"/>
              </a:rPr>
              <a:t>    }</a:t>
            </a:r>
            <a:endParaRPr sz="1000">
              <a:solidFill>
                <a:srgbClr val="CCCCCC"/>
              </a:solidFill>
              <a:highlight>
                <a:srgbClr val="1F1F1F"/>
              </a:highlight>
              <a:latin typeface="Consolas"/>
              <a:ea typeface="Consolas"/>
              <a:cs typeface="Consolas"/>
              <a:sym typeface="Consolas"/>
            </a:endParaRPr>
          </a:p>
          <a:p>
            <a:pPr indent="0" lvl="0" marL="0" rtl="0" algn="l">
              <a:lnSpc>
                <a:spcPct val="157500"/>
              </a:lnSpc>
              <a:spcBef>
                <a:spcPts val="0"/>
              </a:spcBef>
              <a:spcAft>
                <a:spcPts val="0"/>
              </a:spcAft>
              <a:buNone/>
            </a:pPr>
            <a:r>
              <a:rPr lang="en" sz="1000">
                <a:solidFill>
                  <a:srgbClr val="CCCCCC"/>
                </a:solidFill>
                <a:highlight>
                  <a:srgbClr val="1F1F1F"/>
                </a:highlight>
                <a:latin typeface="Consolas"/>
                <a:ea typeface="Consolas"/>
                <a:cs typeface="Consolas"/>
                <a:sym typeface="Consolas"/>
              </a:rPr>
              <a:t>};</a:t>
            </a:r>
            <a:endParaRPr sz="1000">
              <a:solidFill>
                <a:srgbClr val="569CD6"/>
              </a:solidFill>
              <a:highlight>
                <a:srgbClr val="1F1F1F"/>
              </a:highlight>
              <a:latin typeface="Consolas"/>
              <a:ea typeface="Consolas"/>
              <a:cs typeface="Consolas"/>
              <a:sym typeface="Consolas"/>
            </a:endParaRPr>
          </a:p>
        </p:txBody>
      </p:sp>
      <p:sp>
        <p:nvSpPr>
          <p:cNvPr id="191" name="Google Shape;191;p31"/>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Lambda Expressions &amp; Events</a:t>
            </a:r>
            <a:endParaRPr/>
          </a:p>
        </p:txBody>
      </p:sp>
      <p:sp>
        <p:nvSpPr>
          <p:cNvPr id="192" name="Google Shape;192;p31"/>
          <p:cNvSpPr txBox="1"/>
          <p:nvPr>
            <p:ph idx="1" type="body"/>
          </p:nvPr>
        </p:nvSpPr>
        <p:spPr>
          <a:xfrm>
            <a:off x="311700" y="3527800"/>
            <a:ext cx="8520600" cy="13716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n"/>
              <a:t>The lambda captures variables from its surrounding scope</a:t>
            </a:r>
            <a:endParaRPr/>
          </a:p>
          <a:p>
            <a:pPr indent="-317500" lvl="1" marL="914400" rtl="0" algn="l">
              <a:spcBef>
                <a:spcPts val="0"/>
              </a:spcBef>
              <a:spcAft>
                <a:spcPts val="0"/>
              </a:spcAft>
              <a:buSzPts val="1400"/>
              <a:buChar char="○"/>
            </a:pPr>
            <a:r>
              <a:rPr lang="en"/>
              <a:t>E.g. switchObj &amp; Doorways. This is called a closure.</a:t>
            </a:r>
            <a:endParaRPr/>
          </a:p>
          <a:p>
            <a:pPr indent="-330200" lvl="0" marL="457200" rtl="0" algn="l">
              <a:spcBef>
                <a:spcPts val="0"/>
              </a:spcBef>
              <a:spcAft>
                <a:spcPts val="0"/>
              </a:spcAft>
              <a:buSzPts val="1600"/>
              <a:buChar char="●"/>
            </a:pPr>
            <a:r>
              <a:rPr lang="en"/>
              <a:t>Without lambdas, the switch behaviour would need to be a separate named method that somehow still had access to switchObj and Doorways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2">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indent="0" lvl="0" marL="0" rtl="0" algn="l">
              <a:spcBef>
                <a:spcPts val="0"/>
              </a:spcBef>
              <a:spcAft>
                <a:spcPts val="0"/>
              </a:spcAft>
              <a:buNone/>
            </a:pPr>
            <a:r>
              <a:rPr lang="en"/>
              <a:t>Event Queue</a:t>
            </a:r>
            <a:endParaRPr/>
          </a:p>
        </p:txBody>
      </p:sp>
      <p:pic>
        <p:nvPicPr>
          <p:cNvPr id="3" name="Picture 2" descr="event-queue.png"/>
          <p:cNvPicPr>
            <a:picLocks noChangeAspect="1"/>
          </p:cNvPicPr>
          <p:nvPr/>
        </p:nvPicPr>
        <p:blipFill>
          <a:blip r:embed="rId2"/>
          <a:stretch>
            <a:fillRect/>
          </a:stretch>
        </p:blipFill>
        <p:spPr>
          <a:xfrm>
            <a:off x="320039" y="1051560"/>
            <a:ext cx="8503920" cy="389763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indent="0" lvl="0" marL="0" rtl="0" algn="l">
              <a:spcBef>
                <a:spcPts val="0"/>
              </a:spcBef>
              <a:spcAft>
                <a:spcPts val="0"/>
              </a:spcAft>
              <a:buNone/>
            </a:pPr>
            <a:r>
              <a:rPr lang="en"/>
              <a:t>Try It: A Second Listener</a:t>
            </a:r>
            <a:endParaRPr/>
          </a:p>
        </p:txBody>
      </p:sp>
      <p:sp>
        <p:nvSpPr>
          <p:cNvPr id="3" name="Text Placeholder 2"/>
          <p:cNvSpPr>
            <a:spLocks noGrp="1"/>
          </p:cNvSpPr>
          <p:nvPr>
            <p:ph type="body" idx="1"/>
          </p:nvPr>
        </p:nvSpPr>
        <p:spPr>
          <a:xfrm>
            <a:off x="311700" y="885950"/>
            <a:ext cx="8520600" cy="1289304"/>
          </a:xfrm>
        </p:spPr>
        <p:txBody>
          <a:bodyPr/>
          <a:lstStyle/>
          <a:p>
            <a:pPr indent="-330200" lvl="0" marL="457200" rtl="0" algn="l">
              <a:spcBef>
                <a:spcPts val="0"/>
              </a:spcBef>
              <a:spcAft>
                <a:spcPts val="0"/>
              </a:spcAft>
              <a:buSzPts val="1600"/>
              <a:buChar char="●"/>
            </a:pPr>
            <a:r>
              <a:rPr lang="en"/>
              <a:t>In Zelda7, in PlayState:</a:t>
            </a:r>
            <a:endParaRPr/>
          </a:p>
          <a:p>
            <a:pPr indent="-330200" lvl="0" marL="457200" rtl="0" algn="l">
              <a:spcBef>
                <a:spcPts val="0"/>
              </a:spcBef>
              <a:spcAft>
                <a:spcPts val="0"/>
              </a:spcAft>
              <a:buSzPts val="1600"/>
              <a:buChar char="●"/>
            </a:pPr>
            <a:r>
              <a:rPr lang="en"/>
              <a:t>Add a second subscriber to _dungeon.OnPlayerDied that plays a sound</a:t>
            </a:r>
            <a:endParaRPr/>
          </a:p>
          <a:p>
            <a:pPr indent="-330200" lvl="0" marL="457200" rtl="0" algn="l">
              <a:spcBef>
                <a:spcPts val="0"/>
              </a:spcBef>
              <a:spcAft>
                <a:spcPts val="0"/>
              </a:spcAft>
              <a:buSzPts val="1600"/>
              <a:buChar char="●"/>
            </a:pPr>
            <a:r>
              <a:rPr lang="en"/>
              <a:t>Which classes did you change? Which didn’t need to know?</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32"/>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accent5"/>
                </a:solidFill>
              </a:rPr>
              <a:t>Making Zelda (more) Event-driven</a:t>
            </a:r>
            <a:endParaRPr>
              <a:solidFill>
                <a:schemeClr val="accent5"/>
              </a:solidFill>
            </a:endParaRPr>
          </a:p>
        </p:txBody>
      </p:sp>
      <p:sp>
        <p:nvSpPr>
          <p:cNvPr id="198" name="Google Shape;198;p32"/>
          <p:cNvSpPr txBox="1"/>
          <p:nvPr>
            <p:ph idx="1" type="body"/>
          </p:nvPr>
        </p:nvSpPr>
        <p:spPr>
          <a:xfrm>
            <a:off x="311700" y="885950"/>
            <a:ext cx="8520600" cy="1673352"/>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n"/>
              <a:t>Pick one and make it event-driven. The class firing the event must not know who reacts.</a:t>
            </a:r>
            <a:endParaRPr/>
          </a:p>
          <a:p>
            <a:pPr indent="-330200" lvl="0" marL="457200" rtl="0" algn="l">
              <a:spcBef>
                <a:spcPts val="0"/>
              </a:spcBef>
              <a:spcAft>
                <a:spcPts val="0"/>
              </a:spcAft>
              <a:buSzPts val="1600"/>
              <a:buChar char="●"/>
            </a:pPr>
            <a:r>
              <a:rPr lang="en"/>
              <a:t>OnPlayerDied: trace the chain from the room to the game-over screen</a:t>
            </a:r>
            <a:endParaRPr/>
          </a:p>
          <a:p>
            <a:pPr indent="-330200" lvl="0" marL="457200" rtl="0" algn="l">
              <a:spcBef>
                <a:spcPts val="0"/>
              </a:spcBef>
              <a:spcAft>
                <a:spcPts val="0"/>
              </a:spcAft>
              <a:buSzPts val="1600"/>
              <a:buChar char="●"/>
            </a:pPr>
            <a:r>
              <a:rPr lang="en"/>
              <a:t>Enemy death: what could react to an event for it?</a:t>
            </a:r>
            <a:endParaRPr/>
          </a:p>
          <a:p>
            <a:pPr indent="-330200" lvl="0" marL="457200" rtl="0" algn="l">
              <a:spcBef>
                <a:spcPts val="0"/>
              </a:spcBef>
              <a:spcAft>
                <a:spcPts val="0"/>
              </a:spcAft>
              <a:buSzPts val="1600"/>
              <a:buChar char="●"/>
            </a:pPr>
            <a:r>
              <a:rPr lang="en"/>
              <a:t>SoundManager.PlaySound is called from many classes. How would events help? Then queue the sounds, and play each once per frame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8">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8">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3"/>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Screen Scrolling</a:t>
            </a:r>
            <a:endParaRPr/>
          </a:p>
        </p:txBody>
      </p:sp>
      <p:pic>
        <p:nvPicPr>
          <p:cNvPr id="204" name="Picture 203" descr="room-shift.png"/>
          <p:cNvPicPr>
            <a:picLocks noChangeAspect="1"/>
          </p:cNvPicPr>
          <p:nvPr/>
        </p:nvPicPr>
        <p:blipFill>
          <a:blip r:embed="rId4"/>
          <a:stretch>
            <a:fillRect/>
          </a:stretch>
        </p:blipFill>
        <p:spPr>
          <a:xfrm>
            <a:off x="360381" y="1051560"/>
            <a:ext cx="8423237" cy="397764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34"/>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Tweening</a:t>
            </a:r>
            <a:endParaRPr/>
          </a:p>
        </p:txBody>
      </p:sp>
      <p:sp>
        <p:nvSpPr>
          <p:cNvPr id="210" name="Google Shape;210;p34"/>
          <p:cNvSpPr txBox="1"/>
          <p:nvPr>
            <p:ph idx="1" type="body"/>
          </p:nvPr>
        </p:nvSpPr>
        <p:spPr>
          <a:xfrm>
            <a:off x="311700" y="885950"/>
            <a:ext cx="8520600" cy="521208"/>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n"/>
              <a:t>Tweening moves a value from A to B over time.</a:t>
            </a:r>
            <a:endParaRPr/>
          </a:p>
        </p:txBody>
      </p:sp>
      <p:sp>
        <p:nvSpPr>
          <p:cNvPr id="211" name="TextBox 210"/>
          <p:cNvSpPr txBox="1"/>
          <p:nvPr/>
        </p:nvSpPr>
        <p:spPr>
          <a:xfrm>
            <a:off x="640080" y="1417320"/>
            <a:ext cx="1463040" cy="274320"/>
          </a:xfrm>
          <a:prstGeom prst="rect">
            <a:avLst/>
          </a:prstGeom>
          <a:noFill/>
        </p:spPr>
        <p:txBody>
          <a:bodyPr wrap="square">
            <a:spAutoFit/>
          </a:bodyPr>
          <a:lstStyle/>
          <a:p>
            <a:pPr algn="l"/>
            <a:r>
              <a:rPr sz="1300" b="0" i="0">
                <a:solidFill>
                  <a:srgbClr val="9AA3AB"/>
                </a:solidFill>
              </a:rPr>
              <a:t>linear</a:t>
            </a:r>
          </a:p>
        </p:txBody>
      </p:sp>
      <p:sp>
        <p:nvSpPr>
          <p:cNvPr id="212" name="TextBox 211"/>
          <p:cNvSpPr txBox="1"/>
          <p:nvPr/>
        </p:nvSpPr>
        <p:spPr>
          <a:xfrm>
            <a:off x="640080" y="2240280"/>
            <a:ext cx="1463040" cy="274320"/>
          </a:xfrm>
          <a:prstGeom prst="rect">
            <a:avLst/>
          </a:prstGeom>
          <a:noFill/>
        </p:spPr>
        <p:txBody>
          <a:bodyPr wrap="square">
            <a:spAutoFit/>
          </a:bodyPr>
          <a:lstStyle/>
          <a:p>
            <a:pPr algn="l"/>
            <a:r>
              <a:rPr sz="1300" b="0" i="0">
                <a:solidFill>
                  <a:srgbClr val="9AA3AB"/>
                </a:solidFill>
              </a:rPr>
              <a:t>ease-out</a:t>
            </a:r>
          </a:p>
        </p:txBody>
      </p:sp>
      <p:sp>
        <p:nvSpPr>
          <p:cNvPr id="213" name="Oval 212"/>
          <p:cNvSpPr/>
          <p:nvPr/>
        </p:nvSpPr>
        <p:spPr>
          <a:xfrm>
            <a:off x="1901952" y="1417320"/>
            <a:ext cx="219456" cy="219456"/>
          </a:xfrm>
          <a:prstGeom prst="ellipse">
            <a:avLst/>
          </a:prstGeom>
          <a:solidFill>
            <a:srgbClr val="D45D3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0">
                <a:solidFill>
                  <a:srgbClr val="DEE2E6"/>
                </a:solidFill>
              </a:rPr>
              <a:t/>
            </a:r>
          </a:p>
        </p:txBody>
      </p:sp>
      <p:sp>
        <p:nvSpPr>
          <p:cNvPr id="214" name="Oval 213"/>
          <p:cNvSpPr/>
          <p:nvPr/>
        </p:nvSpPr>
        <p:spPr>
          <a:xfrm>
            <a:off x="2679192" y="1417320"/>
            <a:ext cx="219456" cy="219456"/>
          </a:xfrm>
          <a:prstGeom prst="ellipse">
            <a:avLst/>
          </a:prstGeom>
          <a:solidFill>
            <a:srgbClr val="2E33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0">
                <a:solidFill>
                  <a:srgbClr val="DEE2E6"/>
                </a:solidFill>
              </a:rPr>
              <a:t/>
            </a:r>
          </a:p>
        </p:txBody>
      </p:sp>
      <p:sp>
        <p:nvSpPr>
          <p:cNvPr id="215" name="Oval 214"/>
          <p:cNvSpPr/>
          <p:nvPr/>
        </p:nvSpPr>
        <p:spPr>
          <a:xfrm>
            <a:off x="3456432" y="1417320"/>
            <a:ext cx="219456" cy="219456"/>
          </a:xfrm>
          <a:prstGeom prst="ellipse">
            <a:avLst/>
          </a:prstGeom>
          <a:solidFill>
            <a:srgbClr val="2E33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0">
                <a:solidFill>
                  <a:srgbClr val="DEE2E6"/>
                </a:solidFill>
              </a:rPr>
              <a:t/>
            </a:r>
          </a:p>
        </p:txBody>
      </p:sp>
      <p:sp>
        <p:nvSpPr>
          <p:cNvPr id="216" name="Oval 215"/>
          <p:cNvSpPr/>
          <p:nvPr/>
        </p:nvSpPr>
        <p:spPr>
          <a:xfrm>
            <a:off x="4233672" y="1417320"/>
            <a:ext cx="219456" cy="219456"/>
          </a:xfrm>
          <a:prstGeom prst="ellipse">
            <a:avLst/>
          </a:prstGeom>
          <a:solidFill>
            <a:srgbClr val="2E33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0">
                <a:solidFill>
                  <a:srgbClr val="DEE2E6"/>
                </a:solidFill>
              </a:rPr>
              <a:t/>
            </a:r>
          </a:p>
        </p:txBody>
      </p:sp>
      <p:sp>
        <p:nvSpPr>
          <p:cNvPr id="217" name="Oval 216"/>
          <p:cNvSpPr/>
          <p:nvPr/>
        </p:nvSpPr>
        <p:spPr>
          <a:xfrm>
            <a:off x="5010912" y="1417320"/>
            <a:ext cx="219456" cy="219456"/>
          </a:xfrm>
          <a:prstGeom prst="ellipse">
            <a:avLst/>
          </a:prstGeom>
          <a:solidFill>
            <a:srgbClr val="2E33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0">
                <a:solidFill>
                  <a:srgbClr val="DEE2E6"/>
                </a:solidFill>
              </a:rPr>
              <a:t/>
            </a:r>
          </a:p>
        </p:txBody>
      </p:sp>
      <p:sp>
        <p:nvSpPr>
          <p:cNvPr id="218" name="Oval 217"/>
          <p:cNvSpPr/>
          <p:nvPr/>
        </p:nvSpPr>
        <p:spPr>
          <a:xfrm>
            <a:off x="5788152" y="1417320"/>
            <a:ext cx="219456" cy="219456"/>
          </a:xfrm>
          <a:prstGeom prst="ellipse">
            <a:avLst/>
          </a:prstGeom>
          <a:solidFill>
            <a:srgbClr val="2E33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0">
                <a:solidFill>
                  <a:srgbClr val="DEE2E6"/>
                </a:solidFill>
              </a:rPr>
              <a:t/>
            </a:r>
          </a:p>
        </p:txBody>
      </p:sp>
      <p:sp>
        <p:nvSpPr>
          <p:cNvPr id="219" name="Oval 218"/>
          <p:cNvSpPr/>
          <p:nvPr/>
        </p:nvSpPr>
        <p:spPr>
          <a:xfrm>
            <a:off x="6565392" y="1417320"/>
            <a:ext cx="219456" cy="219456"/>
          </a:xfrm>
          <a:prstGeom prst="ellipse">
            <a:avLst/>
          </a:prstGeom>
          <a:solidFill>
            <a:srgbClr val="2E33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0">
                <a:solidFill>
                  <a:srgbClr val="DEE2E6"/>
                </a:solidFill>
              </a:rPr>
              <a:t/>
            </a:r>
          </a:p>
        </p:txBody>
      </p:sp>
      <p:sp>
        <p:nvSpPr>
          <p:cNvPr id="220" name="Oval 219"/>
          <p:cNvSpPr/>
          <p:nvPr/>
        </p:nvSpPr>
        <p:spPr>
          <a:xfrm>
            <a:off x="7342632" y="1417320"/>
            <a:ext cx="219456" cy="219456"/>
          </a:xfrm>
          <a:prstGeom prst="ellipse">
            <a:avLst/>
          </a:prstGeom>
          <a:solidFill>
            <a:srgbClr val="2E33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0">
                <a:solidFill>
                  <a:srgbClr val="DEE2E6"/>
                </a:solidFill>
              </a:rPr>
              <a:t/>
            </a:r>
          </a:p>
        </p:txBody>
      </p:sp>
      <p:sp>
        <p:nvSpPr>
          <p:cNvPr id="221" name="Oval 220"/>
          <p:cNvSpPr/>
          <p:nvPr/>
        </p:nvSpPr>
        <p:spPr>
          <a:xfrm>
            <a:off x="8119872" y="1417320"/>
            <a:ext cx="219456" cy="219456"/>
          </a:xfrm>
          <a:prstGeom prst="ellipse">
            <a:avLst/>
          </a:prstGeom>
          <a:solidFill>
            <a:srgbClr val="D45D3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0">
                <a:solidFill>
                  <a:srgbClr val="DEE2E6"/>
                </a:solidFill>
              </a:rPr>
              <a:t/>
            </a:r>
          </a:p>
        </p:txBody>
      </p:sp>
      <p:sp>
        <p:nvSpPr>
          <p:cNvPr id="222" name="Oval 221"/>
          <p:cNvSpPr/>
          <p:nvPr/>
        </p:nvSpPr>
        <p:spPr>
          <a:xfrm>
            <a:off x="1901952" y="2240280"/>
            <a:ext cx="219456" cy="219456"/>
          </a:xfrm>
          <a:prstGeom prst="ellipse">
            <a:avLst/>
          </a:prstGeom>
          <a:solidFill>
            <a:srgbClr val="D45D3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0">
                <a:solidFill>
                  <a:srgbClr val="DEE2E6"/>
                </a:solidFill>
              </a:rPr>
              <a:t/>
            </a:r>
          </a:p>
        </p:txBody>
      </p:sp>
      <p:sp>
        <p:nvSpPr>
          <p:cNvPr id="223" name="Oval 222"/>
          <p:cNvSpPr/>
          <p:nvPr/>
        </p:nvSpPr>
        <p:spPr>
          <a:xfrm>
            <a:off x="3359277" y="2240280"/>
            <a:ext cx="219456" cy="219456"/>
          </a:xfrm>
          <a:prstGeom prst="ellipse">
            <a:avLst/>
          </a:prstGeom>
          <a:solidFill>
            <a:srgbClr val="2E33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0">
                <a:solidFill>
                  <a:srgbClr val="DEE2E6"/>
                </a:solidFill>
              </a:rPr>
              <a:t/>
            </a:r>
          </a:p>
        </p:txBody>
      </p:sp>
      <p:sp>
        <p:nvSpPr>
          <p:cNvPr id="224" name="Oval 223"/>
          <p:cNvSpPr/>
          <p:nvPr/>
        </p:nvSpPr>
        <p:spPr>
          <a:xfrm>
            <a:off x="4622292" y="2240280"/>
            <a:ext cx="219456" cy="219456"/>
          </a:xfrm>
          <a:prstGeom prst="ellipse">
            <a:avLst/>
          </a:prstGeom>
          <a:solidFill>
            <a:srgbClr val="2E33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0">
                <a:solidFill>
                  <a:srgbClr val="DEE2E6"/>
                </a:solidFill>
              </a:rPr>
              <a:t/>
            </a:r>
          </a:p>
        </p:txBody>
      </p:sp>
      <p:sp>
        <p:nvSpPr>
          <p:cNvPr id="225" name="Oval 224"/>
          <p:cNvSpPr/>
          <p:nvPr/>
        </p:nvSpPr>
        <p:spPr>
          <a:xfrm>
            <a:off x="5690997" y="2240280"/>
            <a:ext cx="219456" cy="219456"/>
          </a:xfrm>
          <a:prstGeom prst="ellipse">
            <a:avLst/>
          </a:prstGeom>
          <a:solidFill>
            <a:srgbClr val="2E33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0">
                <a:solidFill>
                  <a:srgbClr val="DEE2E6"/>
                </a:solidFill>
              </a:rPr>
              <a:t/>
            </a:r>
          </a:p>
        </p:txBody>
      </p:sp>
      <p:sp>
        <p:nvSpPr>
          <p:cNvPr id="226" name="Oval 225"/>
          <p:cNvSpPr/>
          <p:nvPr/>
        </p:nvSpPr>
        <p:spPr>
          <a:xfrm>
            <a:off x="6565392" y="2240280"/>
            <a:ext cx="219456" cy="219456"/>
          </a:xfrm>
          <a:prstGeom prst="ellipse">
            <a:avLst/>
          </a:prstGeom>
          <a:solidFill>
            <a:srgbClr val="2E33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0">
                <a:solidFill>
                  <a:srgbClr val="DEE2E6"/>
                </a:solidFill>
              </a:rPr>
              <a:t/>
            </a:r>
          </a:p>
        </p:txBody>
      </p:sp>
      <p:sp>
        <p:nvSpPr>
          <p:cNvPr id="227" name="Oval 226"/>
          <p:cNvSpPr/>
          <p:nvPr/>
        </p:nvSpPr>
        <p:spPr>
          <a:xfrm>
            <a:off x="7245476" y="2240280"/>
            <a:ext cx="219456" cy="219456"/>
          </a:xfrm>
          <a:prstGeom prst="ellipse">
            <a:avLst/>
          </a:prstGeom>
          <a:solidFill>
            <a:srgbClr val="2E33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0">
                <a:solidFill>
                  <a:srgbClr val="DEE2E6"/>
                </a:solidFill>
              </a:rPr>
              <a:t/>
            </a:r>
          </a:p>
        </p:txBody>
      </p:sp>
      <p:sp>
        <p:nvSpPr>
          <p:cNvPr id="228" name="Oval 227"/>
          <p:cNvSpPr/>
          <p:nvPr/>
        </p:nvSpPr>
        <p:spPr>
          <a:xfrm>
            <a:off x="7731252" y="2240280"/>
            <a:ext cx="219456" cy="219456"/>
          </a:xfrm>
          <a:prstGeom prst="ellipse">
            <a:avLst/>
          </a:prstGeom>
          <a:solidFill>
            <a:srgbClr val="2E33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0">
                <a:solidFill>
                  <a:srgbClr val="DEE2E6"/>
                </a:solidFill>
              </a:rPr>
              <a:t/>
            </a:r>
          </a:p>
        </p:txBody>
      </p:sp>
      <p:sp>
        <p:nvSpPr>
          <p:cNvPr id="229" name="Oval 228"/>
          <p:cNvSpPr/>
          <p:nvPr/>
        </p:nvSpPr>
        <p:spPr>
          <a:xfrm>
            <a:off x="8022717" y="2240280"/>
            <a:ext cx="219456" cy="219456"/>
          </a:xfrm>
          <a:prstGeom prst="ellipse">
            <a:avLst/>
          </a:prstGeom>
          <a:solidFill>
            <a:srgbClr val="2E33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0">
                <a:solidFill>
                  <a:srgbClr val="DEE2E6"/>
                </a:solidFill>
              </a:rPr>
              <a:t/>
            </a:r>
          </a:p>
        </p:txBody>
      </p:sp>
      <p:sp>
        <p:nvSpPr>
          <p:cNvPr id="230" name="Oval 229"/>
          <p:cNvSpPr/>
          <p:nvPr/>
        </p:nvSpPr>
        <p:spPr>
          <a:xfrm>
            <a:off x="8119872" y="2240280"/>
            <a:ext cx="219456" cy="219456"/>
          </a:xfrm>
          <a:prstGeom prst="ellipse">
            <a:avLst/>
          </a:prstGeom>
          <a:solidFill>
            <a:srgbClr val="D45D3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0">
                <a:solidFill>
                  <a:srgbClr val="DEE2E6"/>
                </a:solidFill>
              </a:rPr>
              <a:t/>
            </a:r>
          </a:p>
        </p:txBody>
      </p:sp>
      <p:sp>
        <p:nvSpPr>
          <p:cNvPr id="231" name="TextBox 230"/>
          <p:cNvSpPr txBox="1"/>
          <p:nvPr/>
        </p:nvSpPr>
        <p:spPr>
          <a:xfrm>
            <a:off x="640080" y="3017520"/>
            <a:ext cx="7863840" cy="731520"/>
          </a:xfrm>
          <a:prstGeom prst="rect">
            <a:avLst/>
          </a:prstGeom>
          <a:noFill/>
        </p:spPr>
        <p:txBody>
          <a:bodyPr wrap="square">
            <a:spAutoFit/>
          </a:bodyPr>
          <a:lstStyle/>
          <a:p>
            <a:pPr algn="ctr"/>
            <a:r>
              <a:rPr sz="1400" b="0" i="0">
                <a:solidFill>
                  <a:srgbClr val="9AA3AB"/>
                </a:solidFill>
              </a:rPr>
              <a:t>The same nine frames. Where the dots bunch up, the value moves slowly.</a:t>
            </a:r>
          </a:p>
          <a:p>
            <a:pPr algn="ctr"/>
            <a:r>
              <a:rPr sz="1400" b="0" i="0">
                <a:solidFill>
                  <a:srgbClr val="9AA3AB"/>
                </a:solidFill>
              </a:rPr>
              <a:t>More curves: easings.net</a:t>
            </a: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0">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0">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0">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0">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0">
                                            <p:txEl>
                                              <p:pRg end="9" st="9"/>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35"/>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Linear Interpolation</a:t>
            </a:r>
            <a:endParaRPr/>
          </a:p>
        </p:txBody>
      </p:sp>
      <p:sp>
        <p:nvSpPr>
          <p:cNvPr id="216" name="Google Shape;216;p35"/>
          <p:cNvSpPr txBox="1"/>
          <p:nvPr>
            <p:ph idx="1" type="body"/>
          </p:nvPr>
        </p:nvSpPr>
        <p:spPr>
          <a:xfrm>
            <a:off x="311700" y="885950"/>
            <a:ext cx="8520600" cy="521208"/>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n"/>
              <a:t>Linear interpolation: the simplest curve.</a:t>
            </a:r>
            <a:endParaRPr/>
          </a:p>
        </p:txBody>
      </p:sp>
      <p:sp>
        <p:nvSpPr>
          <p:cNvPr id="217" name="Rectangle 216"/>
          <p:cNvSpPr/>
          <p:nvPr/>
        </p:nvSpPr>
        <p:spPr>
          <a:xfrm>
            <a:off x="1371600" y="1417320"/>
            <a:ext cx="6400800" cy="640080"/>
          </a:xfrm>
          <a:prstGeom prst="rect">
            <a:avLst/>
          </a:prstGeom>
          <a:solidFill>
            <a:srgbClr val="171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73152"/>
          <a:lstStyle/>
          <a:p>
            <a:pPr algn="l"/>
            <a:r>
              <a:rPr sz="1400" b="0">
                <a:solidFill>
                  <a:srgbClr val="DEE2E6"/>
                </a:solidFill>
              </a:rPr>
              <a:t/>
            </a:r>
            <a:r>
              <a:rPr sz="1500">
                <a:solidFill>
                  <a:srgbClr val="DEE2E6"/>
                </a:solidFill>
                <a:latin typeface="Consolas"/>
              </a:rPr>
              <a:t>lerp(a, b, t) = a + (b - a) * t        // t from 0 to 1</a:t>
            </a:r>
          </a:p>
        </p:txBody>
      </p:sp>
      <p:sp>
        <p:nvSpPr>
          <p:cNvPr id="218" name="Rounded Rectangle 217"/>
          <p:cNvSpPr/>
          <p:nvPr/>
        </p:nvSpPr>
        <p:spPr>
          <a:xfrm>
            <a:off x="1371600" y="2377440"/>
            <a:ext cx="1920240" cy="685800"/>
          </a:xfrm>
          <a:prstGeom prst="roundRect">
            <a:avLst>
              <a:gd name="adj" fmla="val 12000"/>
            </a:avLst>
          </a:prstGeom>
          <a:solidFill>
            <a:srgbClr val="2E33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600" b="1">
                <a:solidFill>
                  <a:srgbClr val="DEE2E6"/>
                </a:solidFill>
              </a:rPr>
              <a:t>t = 0</a:t>
            </a:r>
          </a:p>
          <a:p>
            <a:pPr algn="ctr"/>
            <a:r>
              <a:rPr sz="1400" b="0">
                <a:solidFill>
                  <a:srgbClr val="9AA3AB"/>
                </a:solidFill>
              </a:rPr>
              <a:t>a</a:t>
            </a:r>
          </a:p>
        </p:txBody>
      </p:sp>
      <p:sp>
        <p:nvSpPr>
          <p:cNvPr id="219" name="Rounded Rectangle 218"/>
          <p:cNvSpPr/>
          <p:nvPr/>
        </p:nvSpPr>
        <p:spPr>
          <a:xfrm>
            <a:off x="3611880" y="2377440"/>
            <a:ext cx="1920240" cy="685800"/>
          </a:xfrm>
          <a:prstGeom prst="roundRect">
            <a:avLst>
              <a:gd name="adj" fmla="val 12000"/>
            </a:avLst>
          </a:prstGeom>
          <a:solidFill>
            <a:srgbClr val="2E33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600" b="1">
                <a:solidFill>
                  <a:srgbClr val="DEE2E6"/>
                </a:solidFill>
              </a:rPr>
              <a:t>t = 0.5</a:t>
            </a:r>
          </a:p>
          <a:p>
            <a:pPr algn="ctr"/>
            <a:r>
              <a:rPr sz="1400" b="0">
                <a:solidFill>
                  <a:srgbClr val="9AA3AB"/>
                </a:solidFill>
              </a:rPr>
              <a:t>halfway</a:t>
            </a:r>
          </a:p>
        </p:txBody>
      </p:sp>
      <p:sp>
        <p:nvSpPr>
          <p:cNvPr id="220" name="Rounded Rectangle 219"/>
          <p:cNvSpPr/>
          <p:nvPr/>
        </p:nvSpPr>
        <p:spPr>
          <a:xfrm>
            <a:off x="5852160" y="2377440"/>
            <a:ext cx="1920240" cy="685800"/>
          </a:xfrm>
          <a:prstGeom prst="roundRect">
            <a:avLst>
              <a:gd name="adj" fmla="val 12000"/>
            </a:avLst>
          </a:prstGeom>
          <a:solidFill>
            <a:srgbClr val="2E33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600" b="1">
                <a:solidFill>
                  <a:srgbClr val="DEE2E6"/>
                </a:solidFill>
              </a:rPr>
              <a:t>t = 1</a:t>
            </a:r>
          </a:p>
          <a:p>
            <a:pPr algn="ctr"/>
            <a:r>
              <a:rPr sz="1400" b="0">
                <a:solidFill>
                  <a:srgbClr val="9AA3AB"/>
                </a:solidFill>
              </a:rPr>
              <a:t>b</a:t>
            </a:r>
          </a:p>
        </p:txBody>
      </p:sp>
      <p:sp>
        <p:nvSpPr>
          <p:cNvPr id="221" name="TextBox 220"/>
          <p:cNvSpPr txBox="1"/>
          <p:nvPr/>
        </p:nvSpPr>
        <p:spPr>
          <a:xfrm>
            <a:off x="1371600" y="3291840"/>
            <a:ext cx="6400800" cy="365760"/>
          </a:xfrm>
          <a:prstGeom prst="rect">
            <a:avLst/>
          </a:prstGeom>
          <a:noFill/>
        </p:spPr>
        <p:txBody>
          <a:bodyPr wrap="square">
            <a:spAutoFit/>
          </a:bodyPr>
          <a:lstStyle/>
          <a:p>
            <a:pPr algn="ctr"/>
            <a:r>
              <a:rPr sz="1400" b="0" i="0">
                <a:solidFill>
                  <a:srgbClr val="9AA3AB"/>
                </a:solidFill>
              </a:rPr>
              <a:t>Works on anything numeric: positions, colours, angles.</a:t>
            </a: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6">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6">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6">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6">
                                            <p:txEl>
                                              <p:pRg end="9" st="9"/>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36"/>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Screen Scrolling</a:t>
            </a:r>
            <a:endParaRPr/>
          </a:p>
        </p:txBody>
      </p:sp>
      <p:sp>
        <p:nvSpPr>
          <p:cNvPr id="222" name="Google Shape;222;p36"/>
          <p:cNvSpPr txBox="1"/>
          <p:nvPr>
            <p:ph idx="1" type="body"/>
          </p:nvPr>
        </p:nvSpPr>
        <p:spPr>
          <a:xfrm>
            <a:off x="311700" y="885950"/>
            <a:ext cx="8520600" cy="521208"/>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n"/>
              <a:t>The next room waits one screen away. The camera moves, and the player walks with it.</a:t>
            </a:r>
            <a:endParaRPr/>
          </a:p>
        </p:txBody>
      </p:sp>
      <p:sp>
        <p:nvSpPr>
          <p:cNvPr id="223" name="Rectangle 222"/>
          <p:cNvSpPr/>
          <p:nvPr/>
        </p:nvSpPr>
        <p:spPr>
          <a:xfrm>
            <a:off x="548640" y="1463040"/>
            <a:ext cx="3291840" cy="1463040"/>
          </a:xfrm>
          <a:prstGeom prst="rect">
            <a:avLst/>
          </a:prstGeom>
          <a:solidFill>
            <a:srgbClr val="2E33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600" b="1">
                <a:solidFill>
                  <a:srgbClr val="DEE2E6"/>
                </a:solidFill>
              </a:rPr>
              <a:t>This room</a:t>
            </a:r>
          </a:p>
        </p:txBody>
      </p:sp>
      <p:sp>
        <p:nvSpPr>
          <p:cNvPr id="224" name="Rectangle 223"/>
          <p:cNvSpPr/>
          <p:nvPr/>
        </p:nvSpPr>
        <p:spPr>
          <a:xfrm>
            <a:off x="4937760" y="1463040"/>
            <a:ext cx="3291840" cy="1463040"/>
          </a:xfrm>
          <a:prstGeom prst="rect">
            <a:avLst/>
          </a:prstGeom>
          <a:solidFill>
            <a:srgbClr val="2E33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600" b="1">
                <a:solidFill>
                  <a:srgbClr val="DEE2E6"/>
                </a:solidFill>
              </a:rPr>
              <a:t>The next room</a:t>
            </a:r>
          </a:p>
          <a:p>
            <a:pPr algn="ctr"/>
            <a:r>
              <a:rPr sz="1400" b="0">
                <a:solidFill>
                  <a:srgbClr val="9AA3AB"/>
                </a:solidFill>
              </a:rPr>
              <a:t>placed one screen away,</a:t>
            </a:r>
          </a:p>
          <a:p>
            <a:pPr algn="ctr"/>
            <a:r>
              <a:rPr sz="1400" b="0">
                <a:solidFill>
                  <a:srgbClr val="9AA3AB"/>
                </a:solidFill>
              </a:rPr>
              <a:t>never moves</a:t>
            </a:r>
          </a:p>
        </p:txBody>
      </p:sp>
      <p:sp>
        <p:nvSpPr>
          <p:cNvPr id="225" name="Rectangle 224"/>
          <p:cNvSpPr/>
          <p:nvPr/>
        </p:nvSpPr>
        <p:spPr>
          <a:xfrm>
            <a:off x="457200" y="1371600"/>
            <a:ext cx="3474720" cy="1645920"/>
          </a:xfrm>
          <a:prstGeom prst="rect">
            <a:avLst/>
          </a:prstGeom>
          <a:noFill/>
          <a:ln w="25400">
            <a:solidFill>
              <a:srgbClr val="D45D3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0">
                <a:solidFill>
                  <a:srgbClr val="DEE2E6"/>
                </a:solidFill>
              </a:rPr>
              <a:t/>
            </a:r>
          </a:p>
        </p:txBody>
      </p:sp>
      <p:cxnSp>
        <p:nvCxnSpPr>
          <p:cNvPr id="226" name="Connector 225"/>
          <p:cNvCxnSpPr/>
          <p:nvPr/>
        </p:nvCxnSpPr>
        <p:spPr>
          <a:xfrm>
            <a:off x="3977639" y="2194560"/>
            <a:ext cx="868681" cy="0"/>
          </a:xfrm>
          <a:prstGeom prst="line">
            <a:avLst/>
          </a:prstGeom>
          <a:ln w="25400">
            <a:solidFill>
              <a:srgbClr val="D45D35"/>
            </a:solidFill>
            <a:tailEnd type="triangle"/>
          </a:ln>
        </p:spPr>
        <p:style>
          <a:lnRef idx="2">
            <a:schemeClr val="accent1"/>
          </a:lnRef>
          <a:fillRef idx="0">
            <a:schemeClr val="accent1"/>
          </a:fillRef>
          <a:effectRef idx="1">
            <a:schemeClr val="accent1"/>
          </a:effectRef>
          <a:fontRef idx="minor">
            <a:schemeClr val="tx1"/>
          </a:fontRef>
        </p:style>
      </p:cxnSp>
      <p:sp>
        <p:nvSpPr>
          <p:cNvPr id="227" name="TextBox 226"/>
          <p:cNvSpPr txBox="1"/>
          <p:nvPr/>
        </p:nvSpPr>
        <p:spPr>
          <a:xfrm>
            <a:off x="3794759" y="1901952"/>
            <a:ext cx="1234440" cy="274320"/>
          </a:xfrm>
          <a:prstGeom prst="rect">
            <a:avLst/>
          </a:prstGeom>
          <a:noFill/>
        </p:spPr>
        <p:txBody>
          <a:bodyPr wrap="square">
            <a:spAutoFit/>
          </a:bodyPr>
          <a:lstStyle/>
          <a:p>
            <a:pPr algn="ctr"/>
            <a:r>
              <a:rPr sz="1100" b="0" i="0">
                <a:solidFill>
                  <a:srgbClr val="9AA3AB"/>
                </a:solidFill>
              </a:rPr>
              <a:t>camera</a:t>
            </a:r>
          </a:p>
        </p:txBody>
      </p:sp>
      <p:sp>
        <p:nvSpPr>
          <p:cNvPr id="228" name="Rectangle 227"/>
          <p:cNvSpPr/>
          <p:nvPr/>
        </p:nvSpPr>
        <p:spPr>
          <a:xfrm>
            <a:off x="548640" y="3246120"/>
            <a:ext cx="7680960" cy="914400"/>
          </a:xfrm>
          <a:prstGeom prst="rect">
            <a:avLst/>
          </a:prstGeom>
          <a:solidFill>
            <a:srgbClr val="171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73152"/>
          <a:lstStyle/>
          <a:p>
            <a:pPr algn="l"/>
            <a:r>
              <a:rPr sz="1400" b="0">
                <a:solidFill>
                  <a:srgbClr val="DEE2E6"/>
                </a:solidFill>
              </a:rPr>
              <a:t/>
            </a:r>
            <a:r>
              <a:rPr sz="1200">
                <a:solidFill>
                  <a:srgbClr val="DEE2E6"/>
                </a:solidFill>
                <a:latin typeface="Consolas"/>
              </a:rPr>
              <a:t>_tweens.Tween(GameSettings.RoomShiftDuration)</a:t>
            </a:r>
          </a:p>
          <a:p>
            <a:pPr algn="l"/>
            <a:r>
              <a:rPr sz="1200">
                <a:solidFill>
                  <a:srgbClr val="DEE2E6"/>
                </a:solidFill>
                <a:latin typeface="Consolas"/>
              </a:rPr>
              <a:t>    .Add(t =&gt; /* move the camera */, 0f, 1f).Add(t =&gt; /* walk the player */, 0f, 1f)</a:t>
            </a:r>
          </a:p>
          <a:p>
            <a:pPr algn="l"/>
            <a:r>
              <a:rPr sz="1200">
                <a:solidFill>
                  <a:srgbClr val="DEE2E6"/>
                </a:solidFill>
                <a:latin typeface="Consolas"/>
              </a:rPr>
              <a:t>    .Finish(FinishShift);   // the next room becomes the current one</a:t>
            </a: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2">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2">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2">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2">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5" name="Google Shape;165;p28"/>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 Tweening System</a:t>
            </a:r>
            <a:endParaRPr/>
          </a:p>
        </p:txBody>
      </p:sp>
      <p:sp>
        <p:nvSpPr>
          <p:cNvPr id="249" name="Google Shape;249;p40"/>
          <p:cNvSpPr txBox="1"/>
          <p:nvPr>
            <p:ph type="title"/>
          </p:nvPr>
        </p:nvSpPr>
        <p:spPr>
          <a:xfrm>
            <a:off x="311700" y="1152475"/>
            <a:ext cx="3700000" cy="3500000"/>
          </a:xfrm>
          <a:prstGeom prst="rect">
            <a:avLst/>
          </a:prstGeom>
        </p:spPr>
        <p:txBody>
          <a:bodyPr anchorCtr="0" anchor="t" bIns="91425" lIns="91425" spcFirstLastPara="1" rIns="91425" wrap="square" tIns="91425">
            <a:normAutofit fontScale="90000"/>
          </a:bodyPr>
          <a:lstStyle/>
          <a:p>
            <a:pPr indent="-330200" lvl="0" marL="457200" rtl="0" algn="l">
              <a:buClr>
                <a:srgbClr val="DEE2E6"/>
              </a:buClr>
              <a:spcBef>
                <a:spcPts val="0"/>
              </a:spcBef>
              <a:spcAft>
                <a:spcPts val="0"/>
              </a:spcAft>
              <a:buSzPts val="1600"/>
              <a:buChar char="●"/>
            </a:pPr>
            <a:r>
              <a:rPr lang="en" sz="1600">
                <a:solidFill>
                  <a:srgbClr val="DEE2E6"/>
                </a:solidFill>
              </a:rPr>
              <a:t>Games tween all the time: fades, flashes, menus, floating numbers</a:t>
            </a:r>
            <a:endParaRPr/>
          </a:p>
          <a:p>
            <a:pPr indent="-330200" lvl="0" marL="457200" rtl="0" algn="l">
              <a:buClr>
                <a:srgbClr val="DEE2E6"/>
              </a:buClr>
              <a:spcBef>
                <a:spcPts val="0"/>
              </a:spcBef>
              <a:spcAft>
                <a:spcPts val="0"/>
              </a:spcAft>
              <a:buSzPts val="1600"/>
              <a:buChar char="●"/>
            </a:pPr>
            <a:r>
              <a:rPr lang="en" sz="1600">
                <a:solidFill>
                  <a:srgbClr val="DEE2E6"/>
                </a:solidFill>
              </a:rPr>
              <a:t>GARCore gets a reusable TweenManager</a:t>
            </a:r>
            <a:endParaRPr/>
          </a:p>
          <a:p>
            <a:pPr indent="-317500" lvl="1" marL="914400" rtl="0" algn="l">
              <a:buClr>
                <a:srgbClr val="6C757D"/>
              </a:buClr>
              <a:spcBef>
                <a:spcPts val="0"/>
              </a:spcBef>
              <a:spcAft>
                <a:spcPts val="0"/>
              </a:spcAft>
              <a:buSzPts val="1400"/>
              <a:buChar char="○"/>
            </a:pPr>
            <a:r>
              <a:rPr lang="en" sz="1400">
                <a:solidFill>
                  <a:srgbClr val="6C757D"/>
                </a:solidFill>
              </a:rPr>
              <a:t>Tween: values from A to B over time</a:t>
            </a:r>
            <a:endParaRPr/>
          </a:p>
          <a:p>
            <a:pPr indent="-317500" lvl="1" marL="914400" rtl="0" algn="l">
              <a:buClr>
                <a:srgbClr val="6C757D"/>
              </a:buClr>
              <a:spcBef>
                <a:spcPts val="0"/>
              </a:spcBef>
              <a:spcAft>
                <a:spcPts val="0"/>
              </a:spcAft>
              <a:buSzPts val="1400"/>
              <a:buChar char="○"/>
            </a:pPr>
            <a:r>
              <a:rPr lang="en" sz="1400">
                <a:solidFill>
                  <a:srgbClr val="6C757D"/>
                </a:solidFill>
              </a:rPr>
              <a:t>After: run a method later</a:t>
            </a:r>
            <a:endParaRPr/>
          </a:p>
          <a:p>
            <a:pPr indent="-317500" lvl="1" marL="914400" rtl="0" algn="l">
              <a:buClr>
                <a:srgbClr val="6C757D"/>
              </a:buClr>
              <a:spcBef>
                <a:spcPts val="0"/>
              </a:spcBef>
              <a:spcAft>
                <a:spcPts val="0"/>
              </a:spcAft>
              <a:buSzPts val="1400"/>
              <a:buChar char="○"/>
            </a:pPr>
            <a:r>
              <a:rPr lang="en" sz="1400">
                <a:solidFill>
                  <a:srgbClr val="6C757D"/>
                </a:solidFill>
              </a:rPr>
              <a:t>Every: repeat at an interval</a:t>
            </a:r>
            <a:endParaRPr/>
          </a:p>
          <a:p>
            <a:pPr indent="-317500" lvl="1" marL="914400" rtl="0" algn="l">
              <a:buClr>
                <a:srgbClr val="6C757D"/>
              </a:buClr>
              <a:spcBef>
                <a:spcPts val="0"/>
              </a:spcBef>
              <a:spcAft>
                <a:spcPts val="0"/>
              </a:spcAft>
              <a:buSzPts val="1400"/>
              <a:buChar char="○"/>
            </a:pPr>
            <a:r>
              <a:rPr lang="en" sz="1400">
                <a:solidFill>
                  <a:srgbClr val="6C757D"/>
                </a:solidFill>
              </a:rPr>
              <a:t>Chaining: .Add() and .Finish()</a:t>
            </a:r>
            <a:endParaRPr/>
          </a:p>
          <a:p>
            <a:pPr indent="-330200" lvl="0" marL="457200" rtl="0" algn="l">
              <a:buClr>
                <a:srgbClr val="DEE2E6"/>
              </a:buClr>
              <a:spcBef>
                <a:spcPts val="0"/>
              </a:spcBef>
              <a:spcAft>
                <a:spcPts val="0"/>
              </a:spcAft>
              <a:buSzPts val="1600"/>
              <a:buChar char="●"/>
            </a:pPr>
            <a:r>
              <a:rPr lang="en" sz="1600">
                <a:solidFill>
                  <a:srgbClr val="DEE2E6"/>
                </a:solidFill>
              </a:rPr>
              <a:t>The dungeon keeps no progress variable, and never asks if the scroll is done</a:t>
            </a:r>
            <a:endParaRPr/>
          </a:p>
        </p:txBody>
      </p:sp>
      <p:sp>
        <p:nvSpPr>
          <p:cNvPr id="166" name="Google Shape;166;p28"/>
          <p:cNvSpPr txBox="1"/>
          <p:nvPr>
            <p:ph idx="1" type="body"/>
          </p:nvPr>
        </p:nvSpPr>
        <p:spPr>
          <a:xfrm>
            <a:off x="4150000" y="1152475"/>
            <a:ext cx="4750000" cy="3600000"/>
          </a:xfrm>
          <a:prstGeom prst="rect">
            <a:avLst/>
          </a:prstGeom>
          <a:solidFill>
            <a:schemeClr val="dk2"/>
          </a:solidFill>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lang="en" sz="1000">
                <a:highlight>
                  <a:srgbClr val="1F1F1F"/>
                </a:highlight>
                <a:latin typeface="Consolas"/>
                <a:ea typeface="Consolas"/>
                <a:cs typeface="Consolas"/>
                <a:sym typeface="Consolas"/>
              </a:rPr>
              <a:t>_tweens.Tween(duration)</a:t>
            </a:r>
            <a:endParaRPr sz="1000">
              <a:solidFill>
                <a:srgbClr val="6A9955"/>
              </a:solidFill>
              <a:highlight>
                <a:srgbClr val="1F1F1F"/>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rgbClr val="1F1F1F"/>
                </a:highlight>
                <a:latin typeface="Consolas"/>
                <a:ea typeface="Consolas"/>
                <a:cs typeface="Consolas"/>
                <a:sym typeface="Consolas"/>
              </a:rPr>
              <a:t>    .Add(t =&gt; _camera.Position =</a:t>
            </a:r>
            <a:endParaRPr sz="1000">
              <a:solidFill>
                <a:srgbClr val="6A9955"/>
              </a:solidFill>
              <a:highlight>
                <a:srgbClr val="1F1F1F"/>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rgbClr val="1F1F1F"/>
                </a:highlight>
                <a:latin typeface="Consolas"/>
                <a:ea typeface="Consolas"/>
                <a:cs typeface="Consolas"/>
                <a:sym typeface="Consolas"/>
              </a:rPr>
              <a:t>        Vector2.Lerp(from, to, t), 0f, 1f)</a:t>
            </a:r>
            <a:endParaRPr sz="1000">
              <a:solidFill>
                <a:srgbClr val="6A9955"/>
              </a:solidFill>
              <a:highlight>
                <a:srgbClr val="1F1F1F"/>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rgbClr val="1F1F1F"/>
                </a:highlight>
                <a:latin typeface="Consolas"/>
                <a:ea typeface="Consolas"/>
                <a:cs typeface="Consolas"/>
                <a:sym typeface="Consolas"/>
              </a:rPr>
              <a:t>    .Finish(FinishShift);</a:t>
            </a:r>
            <a:endParaRPr sz="1000">
              <a:solidFill>
                <a:srgbClr val="6A9955"/>
              </a:solidFill>
              <a:highlight>
                <a:srgbClr val="1F1F1F"/>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rgbClr val="1F1F1F"/>
                </a:highlight>
                <a:latin typeface="Consolas"/>
                <a:ea typeface="Consolas"/>
                <a:cs typeface="Consolas"/>
                <a:sym typeface="Consolas"/>
              </a:rPr>
              <a:t/>
            </a:r>
            <a:endParaRPr sz="1000">
              <a:solidFill>
                <a:srgbClr val="6A9955"/>
              </a:solidFill>
              <a:highlight>
                <a:srgbClr val="1F1F1F"/>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rgbClr val="1F1F1F"/>
                </a:highlight>
                <a:latin typeface="Consolas"/>
                <a:ea typeface="Consolas"/>
                <a:cs typeface="Consolas"/>
                <a:sym typeface="Consolas"/>
              </a:rPr>
              <a:t>_tweens.After(0.5f, () =&gt; Flash());</a:t>
            </a:r>
            <a:endParaRPr sz="1000">
              <a:solidFill>
                <a:srgbClr val="6A9955"/>
              </a:solidFill>
              <a:highlight>
                <a:srgbClr val="1F1F1F"/>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rgbClr val="1F1F1F"/>
                </a:highlight>
                <a:latin typeface="Consolas"/>
                <a:ea typeface="Consolas"/>
                <a:cs typeface="Consolas"/>
                <a:sym typeface="Consolas"/>
              </a:rPr>
              <a:t/>
            </a:r>
            <a:endParaRPr sz="1000">
              <a:solidFill>
                <a:srgbClr val="6A9955"/>
              </a:solidFill>
              <a:highlight>
                <a:srgbClr val="1F1F1F"/>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rgbClr val="1F1F1F"/>
                </a:highlight>
                <a:latin typeface="Consolas"/>
                <a:ea typeface="Consolas"/>
                <a:cs typeface="Consolas"/>
                <a:sym typeface="Consolas"/>
              </a:rPr>
              <a:t>_tweens.Every(0.1f, Blink).Limit(6);</a:t>
            </a:r>
            <a:endParaRPr sz="1000">
              <a:solidFill>
                <a:srgbClr val="6A9955"/>
              </a:solidFill>
              <a:highlight>
                <a:srgbClr val="1F1F1F"/>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rgbClr val="1F1F1F"/>
                </a:highlight>
                <a:latin typeface="Consolas"/>
                <a:ea typeface="Consolas"/>
                <a:cs typeface="Consolas"/>
                <a:sym typeface="Consolas"/>
              </a:rPr>
              <a:t/>
            </a:r>
            <a:endParaRPr sz="1000">
              <a:solidFill>
                <a:srgbClr val="6A9955"/>
              </a:solidFill>
              <a:highlight>
                <a:srgbClr val="1F1F1F"/>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rgbClr val="1F1F1F"/>
                </a:highlight>
                <a:latin typeface="Consolas"/>
                <a:ea typeface="Consolas"/>
                <a:cs typeface="Consolas"/>
                <a:sym typeface="Consolas"/>
              </a:rPr>
              <a:t>// Every frame</a:t>
            </a:r>
            <a:endParaRPr sz="1000">
              <a:solidFill>
                <a:srgbClr val="6A9955"/>
              </a:solidFill>
              <a:highlight>
                <a:srgbClr val="1F1F1F"/>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rgbClr val="1F1F1F"/>
                </a:highlight>
                <a:latin typeface="Consolas"/>
                <a:ea typeface="Consolas"/>
                <a:cs typeface="Consolas"/>
                <a:sym typeface="Consolas"/>
              </a:rPr>
              <a:t>_tweens.Update(gameTime);</a:t>
            </a:r>
            <a:endParaRPr sz="1000">
              <a:solidFill>
                <a:srgbClr val="6A9955"/>
              </a:solidFill>
              <a:highlight>
                <a:srgbClr val="1F1F1F"/>
              </a:highlight>
              <a:latin typeface="Consolas"/>
              <a:ea typeface="Consolas"/>
              <a:cs typeface="Consolas"/>
              <a:sym typeface="Consolas"/>
            </a:endParaRP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indent="0" lvl="0" marL="0" rtl="0" algn="l">
              <a:spcBef>
                <a:spcPts val="0"/>
              </a:spcBef>
              <a:spcAft>
                <a:spcPts val="0"/>
              </a:spcAft>
              <a:buNone/>
            </a:pPr>
            <a:r>
              <a:rPr lang="en"/>
              <a:t>Try It: A Slower, Softer Scroll</a:t>
            </a:r>
            <a:endParaRPr/>
          </a:p>
        </p:txBody>
      </p:sp>
      <p:sp>
        <p:nvSpPr>
          <p:cNvPr id="3" name="Text Placeholder 2"/>
          <p:cNvSpPr>
            <a:spLocks noGrp="1"/>
          </p:cNvSpPr>
          <p:nvPr>
            <p:ph type="body" idx="1"/>
          </p:nvPr>
        </p:nvSpPr>
        <p:spPr>
          <a:xfrm>
            <a:off x="311700" y="885950"/>
            <a:ext cx="8520600" cy="1673352"/>
          </a:xfrm>
        </p:spPr>
        <p:txBody>
          <a:bodyPr/>
          <a:lstStyle/>
          <a:p>
            <a:pPr indent="-330200" lvl="0" marL="457200" rtl="0" algn="l">
              <a:spcBef>
                <a:spcPts val="0"/>
              </a:spcBef>
              <a:spcAft>
                <a:spcPts val="0"/>
              </a:spcAft>
              <a:buSzPts val="1600"/>
              <a:buChar char="●"/>
            </a:pPr>
            <a:r>
              <a:rPr lang="en"/>
              <a:t>In Zelda7:</a:t>
            </a:r>
            <a:endParaRPr/>
          </a:p>
          <a:p>
            <a:pPr indent="-330200" lvl="0" marL="457200" rtl="0" algn="l">
              <a:spcBef>
                <a:spcPts val="0"/>
              </a:spcBef>
              <a:spcAft>
                <a:spcPts val="0"/>
              </a:spcAft>
              <a:buSzPts val="1600"/>
              <a:buChar char="●"/>
            </a:pPr>
            <a:r>
              <a:rPr lang="en"/>
              <a:t>Make the room shift take twice as long</a:t>
            </a:r>
            <a:endParaRPr/>
          </a:p>
          <a:p>
            <a:pPr indent="-330200" lvl="0" marL="457200" rtl="0" algn="l">
              <a:spcBef>
                <a:spcPts val="0"/>
              </a:spcBef>
              <a:spcAft>
                <a:spcPts val="0"/>
              </a:spcAft>
              <a:buSzPts val="1600"/>
              <a:buChar char="●"/>
            </a:pPr>
            <a:r>
              <a:rPr lang="en"/>
              <a:t>Ease out: pass 1 - (1 - t) * (1 - t) to Vector2.Lerp instead of t</a:t>
            </a:r>
            <a:endParaRPr/>
          </a:p>
          <a:p>
            <a:pPr indent="-330200" lvl="0" marL="457200" rtl="0" algn="l">
              <a:spcBef>
                <a:spcPts val="0"/>
              </a:spcBef>
              <a:spcAft>
                <a:spcPts val="0"/>
              </a:spcAft>
              <a:buSzPts val="1600"/>
              <a:buChar char="●"/>
            </a:pPr>
            <a:r>
              <a:rPr lang="en"/>
              <a:t>How does the scroll feel now?</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7"/>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Stenciling</a:t>
            </a:r>
            <a:endParaRPr/>
          </a:p>
        </p:txBody>
      </p:sp>
      <p:sp>
        <p:nvSpPr>
          <p:cNvPr id="229" name="Google Shape;229;p37"/>
          <p:cNvSpPr txBox="1"/>
          <p:nvPr>
            <p:ph idx="1" type="body"/>
          </p:nvPr>
        </p:nvSpPr>
        <p:spPr>
          <a:xfrm>
            <a:off x="311700" y="886968"/>
            <a:ext cx="8520600" cy="4572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n"/>
              <a:t>Walking through a door, the player should go under the arch.</a:t>
            </a:r>
            <a:endParaRPr/>
          </a:p>
        </p:txBody>
      </p:sp>
      <p:pic>
        <p:nvPicPr>
          <p:cNvPr id="230" name="Picture 229" descr="stencil.png"/>
          <p:cNvPicPr>
            <a:picLocks noChangeAspect="1"/>
          </p:cNvPicPr>
          <p:nvPr/>
        </p:nvPicPr>
        <p:blipFill>
          <a:blip r:embed="rId5"/>
          <a:stretch>
            <a:fillRect/>
          </a:stretch>
        </p:blipFill>
        <p:spPr>
          <a:xfrm>
            <a:off x="320039" y="1371600"/>
            <a:ext cx="8503920" cy="354330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38"/>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Driven Design</a:t>
            </a:r>
            <a:endParaRPr/>
          </a:p>
        </p:txBody>
      </p:sp>
      <p:sp>
        <p:nvSpPr>
          <p:cNvPr id="236" name="Google Shape;236;p38"/>
          <p:cNvSpPr txBox="1"/>
          <p:nvPr>
            <p:ph idx="1" type="body"/>
          </p:nvPr>
        </p:nvSpPr>
        <p:spPr>
          <a:xfrm>
            <a:off x="311700" y="885950"/>
            <a:ext cx="8520600" cy="521208"/>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n"/>
              <a:t>Content in data, behaviour in C#: a new enemy is one XML block and a row of sprites.</a:t>
            </a:r>
            <a:endParaRPr/>
          </a:p>
        </p:txBody>
      </p:sp>
      <p:sp>
        <p:nvSpPr>
          <p:cNvPr id="237" name="Rectangle 236"/>
          <p:cNvSpPr/>
          <p:nvPr/>
        </p:nvSpPr>
        <p:spPr>
          <a:xfrm>
            <a:off x="457200" y="1417320"/>
            <a:ext cx="8229600" cy="1097280"/>
          </a:xfrm>
          <a:prstGeom prst="rect">
            <a:avLst/>
          </a:prstGeom>
          <a:solidFill>
            <a:srgbClr val="171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73152"/>
          <a:lstStyle/>
          <a:p>
            <a:pPr algn="l"/>
            <a:r>
              <a:rPr sz="1400" b="0">
                <a:solidFill>
                  <a:srgbClr val="DEE2E6"/>
                </a:solidFill>
              </a:rPr>
              <a:t/>
            </a:r>
            <a:r>
              <a:rPr sz="1200">
                <a:solidFill>
                  <a:srgbClr val="DEE2E6"/>
                </a:solidFill>
                <a:latin typeface="Consolas"/>
              </a:rPr>
              <a:t>&lt;Enemy type="rat" width="16" height="16" walkSpeed="20" health="1"&gt;</a:t>
            </a:r>
          </a:p>
          <a:p>
            <a:pPr algn="l"/>
            <a:r>
              <a:rPr sz="1200">
                <a:solidFill>
                  <a:srgbClr val="DEE2E6"/>
                </a:solidFill>
                <a:latin typeface="Consolas"/>
              </a:rPr>
              <a:t>  &lt;Animation name="walk-down" frames="9,10,11,10" interval="0.2" /&gt;</a:t>
            </a:r>
          </a:p>
          <a:p>
            <a:pPr algn="l"/>
            <a:r>
              <a:rPr sz="1200">
                <a:solidFill>
                  <a:srgbClr val="DEE2E6"/>
                </a:solidFill>
                <a:latin typeface="Consolas"/>
              </a:rPr>
              <a:t>  &lt;Animation name="idle-down" frames="10"         interval="0.2" /&gt;</a:t>
            </a:r>
          </a:p>
          <a:p>
            <a:pPr algn="l"/>
            <a:r>
              <a:rPr sz="1200">
                <a:solidFill>
                  <a:srgbClr val="DEE2E6"/>
                </a:solidFill>
                <a:latin typeface="Consolas"/>
              </a:rPr>
              <a:t>&lt;/Enemy&gt;</a:t>
            </a:r>
          </a:p>
        </p:txBody>
      </p:sp>
      <p:sp>
        <p:nvSpPr>
          <p:cNvPr id="238" name="TextBox 237"/>
          <p:cNvSpPr txBox="1"/>
          <p:nvPr/>
        </p:nvSpPr>
        <p:spPr>
          <a:xfrm>
            <a:off x="457200" y="2697480"/>
            <a:ext cx="8229600" cy="548640"/>
          </a:xfrm>
          <a:prstGeom prst="rect">
            <a:avLst/>
          </a:prstGeom>
          <a:noFill/>
        </p:spPr>
        <p:txBody>
          <a:bodyPr wrap="square">
            <a:spAutoFit/>
          </a:bodyPr>
          <a:lstStyle/>
          <a:p>
            <a:pPr algn="ctr"/>
            <a:r>
              <a:rPr sz="1400" b="0" i="0">
                <a:solidFill>
                  <a:srgbClr val="9AA3AB"/>
                </a:solidFill>
              </a:rPr>
              <a:t>The definition classes read the XML once; the rest of the code never sees it.</a:t>
            </a:r>
          </a:p>
          <a:p>
            <a:pPr algn="ctr"/>
            <a:r>
              <a:rPr sz="1400" b="0" i="0">
                <a:solidFill>
                  <a:srgbClr val="9AA3AB"/>
                </a:solidFill>
              </a:rPr>
              <a:t>GameObject has no if (type == "switch") anywhere.</a:t>
            </a:r>
          </a:p>
        </p:txBody>
      </p:sp>
      <p:sp>
        <p:nvSpPr>
          <p:cNvPr id="239" name="TextBox 238"/>
          <p:cNvSpPr txBox="1"/>
          <p:nvPr/>
        </p:nvSpPr>
        <p:spPr>
          <a:xfrm>
            <a:off x="457200" y="3429000"/>
            <a:ext cx="8229600" cy="731520"/>
          </a:xfrm>
          <a:prstGeom prst="rect">
            <a:avLst/>
          </a:prstGeom>
          <a:noFill/>
        </p:spPr>
        <p:txBody>
          <a:bodyPr wrap="square">
            <a:spAutoFit/>
          </a:bodyPr>
          <a:lstStyle/>
          <a:p>
            <a:pPr algn="ctr"/>
            <a:r>
              <a:rPr sz="1700" b="1" i="0">
                <a:solidFill>
                  <a:srgbClr val="DEE2E6"/>
                </a:solidFill>
              </a:rPr>
              <a:t>Someone writes type="rta". When do you find out?</a:t>
            </a: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6">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6">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49" name="Google Shape;249;p40"/>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accent5"/>
                </a:solidFill>
              </a:rPr>
              <a:t>Composition vs. Inheritance</a:t>
            </a:r>
            <a:endParaRPr>
              <a:solidFill>
                <a:schemeClr val="accent5"/>
              </a:solidFill>
            </a:endParaRPr>
          </a:p>
        </p:txBody>
      </p:sp>
      <p:sp>
        <p:nvSpPr>
          <p:cNvPr id="250" name="Google Shape;250;p40"/>
          <p:cNvSpPr txBox="1"/>
          <p:nvPr>
            <p:ph idx="1" type="body"/>
          </p:nvPr>
        </p:nvSpPr>
        <p:spPr>
          <a:xfrm>
            <a:off x="311700" y="885950"/>
            <a:ext cx="8520600" cy="521208"/>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n"/>
              <a:t>An enemy that flies, one that shoots, one that does both. Where do they go?</a:t>
            </a:r>
            <a:endParaRPr/>
          </a:p>
        </p:txBody>
      </p:sp>
      <p:sp>
        <p:nvSpPr>
          <p:cNvPr id="251" name="Rounded Rectangle 250"/>
          <p:cNvSpPr/>
          <p:nvPr/>
        </p:nvSpPr>
        <p:spPr>
          <a:xfrm>
            <a:off x="3566160" y="1325880"/>
            <a:ext cx="2011680" cy="502920"/>
          </a:xfrm>
          <a:prstGeom prst="roundRect">
            <a:avLst>
              <a:gd name="adj" fmla="val 12000"/>
            </a:avLst>
          </a:prstGeom>
          <a:solidFill>
            <a:srgbClr val="2E33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DEE2E6"/>
                </a:solidFill>
              </a:rPr>
              <a:t>Entity</a:t>
            </a:r>
          </a:p>
        </p:txBody>
      </p:sp>
      <p:sp>
        <p:nvSpPr>
          <p:cNvPr id="252" name="Rounded Rectangle 251"/>
          <p:cNvSpPr/>
          <p:nvPr/>
        </p:nvSpPr>
        <p:spPr>
          <a:xfrm>
            <a:off x="3566160" y="2057400"/>
            <a:ext cx="2011680" cy="502920"/>
          </a:xfrm>
          <a:prstGeom prst="roundRect">
            <a:avLst>
              <a:gd name="adj" fmla="val 12000"/>
            </a:avLst>
          </a:prstGeom>
          <a:solidFill>
            <a:srgbClr val="2E33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DEE2E6"/>
                </a:solidFill>
              </a:rPr>
              <a:t>Enemy</a:t>
            </a:r>
          </a:p>
        </p:txBody>
      </p:sp>
      <p:cxnSp>
        <p:nvCxnSpPr>
          <p:cNvPr id="253" name="Connector 252"/>
          <p:cNvCxnSpPr/>
          <p:nvPr/>
        </p:nvCxnSpPr>
        <p:spPr>
          <a:xfrm flipV="1">
            <a:off x="4572000" y="1847088"/>
            <a:ext cx="0" cy="192024"/>
          </a:xfrm>
          <a:prstGeom prst="line">
            <a:avLst/>
          </a:prstGeom>
          <a:ln w="25400">
            <a:solidFill>
              <a:srgbClr val="9AA3AB"/>
            </a:solidFill>
            <a:tailEnd type="triangle"/>
          </a:ln>
        </p:spPr>
        <p:style>
          <a:lnRef idx="2">
            <a:schemeClr val="accent1"/>
          </a:lnRef>
          <a:fillRef idx="0">
            <a:schemeClr val="accent1"/>
          </a:fillRef>
          <a:effectRef idx="1">
            <a:schemeClr val="accent1"/>
          </a:effectRef>
          <a:fontRef idx="minor">
            <a:schemeClr val="tx1"/>
          </a:fontRef>
        </p:style>
      </p:cxnSp>
      <p:sp>
        <p:nvSpPr>
          <p:cNvPr id="254" name="Rounded Rectangle 253"/>
          <p:cNvSpPr/>
          <p:nvPr/>
        </p:nvSpPr>
        <p:spPr>
          <a:xfrm>
            <a:off x="1097280" y="2788920"/>
            <a:ext cx="2103120" cy="502920"/>
          </a:xfrm>
          <a:prstGeom prst="roundRect">
            <a:avLst>
              <a:gd name="adj" fmla="val 12000"/>
            </a:avLst>
          </a:prstGeom>
          <a:solidFill>
            <a:srgbClr val="2E33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a:solidFill>
                  <a:srgbClr val="DEE2E6"/>
                </a:solidFill>
              </a:rPr>
              <a:t>FlyingEnemy</a:t>
            </a:r>
          </a:p>
        </p:txBody>
      </p:sp>
      <p:cxnSp>
        <p:nvCxnSpPr>
          <p:cNvPr id="255" name="Connector 254"/>
          <p:cNvCxnSpPr/>
          <p:nvPr/>
        </p:nvCxnSpPr>
        <p:spPr>
          <a:xfrm flipV="1">
            <a:off x="2148840" y="2578608"/>
            <a:ext cx="2423160" cy="192024"/>
          </a:xfrm>
          <a:prstGeom prst="line">
            <a:avLst/>
          </a:prstGeom>
          <a:ln w="25400">
            <a:solidFill>
              <a:srgbClr val="9AA3AB"/>
            </a:solidFill>
            <a:tailEnd type="triangle"/>
          </a:ln>
        </p:spPr>
        <p:style>
          <a:lnRef idx="2">
            <a:schemeClr val="accent1"/>
          </a:lnRef>
          <a:fillRef idx="0">
            <a:schemeClr val="accent1"/>
          </a:fillRef>
          <a:effectRef idx="1">
            <a:schemeClr val="accent1"/>
          </a:effectRef>
          <a:fontRef idx="minor">
            <a:schemeClr val="tx1"/>
          </a:fontRef>
        </p:style>
      </p:cxnSp>
      <p:sp>
        <p:nvSpPr>
          <p:cNvPr id="256" name="Rounded Rectangle 255"/>
          <p:cNvSpPr/>
          <p:nvPr/>
        </p:nvSpPr>
        <p:spPr>
          <a:xfrm>
            <a:off x="3474720" y="2788920"/>
            <a:ext cx="2103120" cy="502920"/>
          </a:xfrm>
          <a:prstGeom prst="roundRect">
            <a:avLst>
              <a:gd name="adj" fmla="val 12000"/>
            </a:avLst>
          </a:prstGeom>
          <a:solidFill>
            <a:srgbClr val="2E33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a:solidFill>
                  <a:srgbClr val="DEE2E6"/>
                </a:solidFill>
              </a:rPr>
              <a:t>ShootingEnemy</a:t>
            </a:r>
          </a:p>
        </p:txBody>
      </p:sp>
      <p:cxnSp>
        <p:nvCxnSpPr>
          <p:cNvPr id="257" name="Connector 256"/>
          <p:cNvCxnSpPr/>
          <p:nvPr/>
        </p:nvCxnSpPr>
        <p:spPr>
          <a:xfrm flipV="1">
            <a:off x="4526280" y="2578608"/>
            <a:ext cx="45720" cy="192024"/>
          </a:xfrm>
          <a:prstGeom prst="line">
            <a:avLst/>
          </a:prstGeom>
          <a:ln w="25400">
            <a:solidFill>
              <a:srgbClr val="9AA3AB"/>
            </a:solidFill>
            <a:tailEnd type="triangle"/>
          </a:ln>
        </p:spPr>
        <p:style>
          <a:lnRef idx="2">
            <a:schemeClr val="accent1"/>
          </a:lnRef>
          <a:fillRef idx="0">
            <a:schemeClr val="accent1"/>
          </a:fillRef>
          <a:effectRef idx="1">
            <a:schemeClr val="accent1"/>
          </a:effectRef>
          <a:fontRef idx="minor">
            <a:schemeClr val="tx1"/>
          </a:fontRef>
        </p:style>
      </p:cxnSp>
      <p:sp>
        <p:nvSpPr>
          <p:cNvPr id="258" name="Rounded Rectangle 257"/>
          <p:cNvSpPr/>
          <p:nvPr/>
        </p:nvSpPr>
        <p:spPr>
          <a:xfrm>
            <a:off x="5852160" y="2788920"/>
            <a:ext cx="2103120" cy="502920"/>
          </a:xfrm>
          <a:prstGeom prst="roundRect">
            <a:avLst>
              <a:gd name="adj" fmla="val 12000"/>
            </a:avLst>
          </a:prstGeom>
          <a:solidFill>
            <a:srgbClr val="2E33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a:solidFill>
                  <a:srgbClr val="DEE2E6"/>
                </a:solidFill>
              </a:rPr>
              <a:t>ExplodingEnemy</a:t>
            </a:r>
          </a:p>
        </p:txBody>
      </p:sp>
      <p:cxnSp>
        <p:nvCxnSpPr>
          <p:cNvPr id="259" name="Connector 258"/>
          <p:cNvCxnSpPr/>
          <p:nvPr/>
        </p:nvCxnSpPr>
        <p:spPr>
          <a:xfrm flipH="1" flipV="1">
            <a:off x="4572000" y="2578608"/>
            <a:ext cx="2331720" cy="192024"/>
          </a:xfrm>
          <a:prstGeom prst="line">
            <a:avLst/>
          </a:prstGeom>
          <a:ln w="25400">
            <a:solidFill>
              <a:srgbClr val="9AA3AB"/>
            </a:solidFill>
            <a:tailEnd type="triangle"/>
          </a:ln>
        </p:spPr>
        <p:style>
          <a:lnRef idx="2">
            <a:schemeClr val="accent1"/>
          </a:lnRef>
          <a:fillRef idx="0">
            <a:schemeClr val="accent1"/>
          </a:fillRef>
          <a:effectRef idx="1">
            <a:schemeClr val="accent1"/>
          </a:effectRef>
          <a:fontRef idx="minor">
            <a:schemeClr val="tx1"/>
          </a:fontRef>
        </p:style>
      </p:cxnSp>
      <p:sp>
        <p:nvSpPr>
          <p:cNvPr id="260" name="Rounded Rectangle 259"/>
          <p:cNvSpPr/>
          <p:nvPr/>
        </p:nvSpPr>
        <p:spPr>
          <a:xfrm>
            <a:off x="2286000" y="3566160"/>
            <a:ext cx="4572000" cy="502920"/>
          </a:xfrm>
          <a:prstGeom prst="roundRect">
            <a:avLst>
              <a:gd name="adj" fmla="val 12000"/>
            </a:avLst>
          </a:prstGeom>
          <a:solidFill>
            <a:srgbClr val="2E3338"/>
          </a:solidFill>
          <a:ln w="25400">
            <a:solidFill>
              <a:srgbClr val="D45D3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a:solidFill>
                  <a:srgbClr val="DEE2E6"/>
                </a:solidFill>
              </a:rPr>
              <a:t>FlyingShootingEnemy? copy code, or move it all up?</a:t>
            </a:r>
          </a:p>
        </p:txBody>
      </p:sp>
      <p:sp>
        <p:nvSpPr>
          <p:cNvPr id="261" name="TextBox 260"/>
          <p:cNvSpPr txBox="1"/>
          <p:nvPr/>
        </p:nvSpPr>
        <p:spPr>
          <a:xfrm>
            <a:off x="365760" y="4160520"/>
            <a:ext cx="8412480" cy="365760"/>
          </a:xfrm>
          <a:prstGeom prst="rect">
            <a:avLst/>
          </a:prstGeom>
          <a:noFill/>
        </p:spPr>
        <p:txBody>
          <a:bodyPr wrap="square">
            <a:spAutoFit/>
          </a:bodyPr>
          <a:lstStyle/>
          <a:p>
            <a:pPr algn="ctr"/>
            <a:r>
              <a:rPr sz="1300" b="0" i="0">
                <a:solidFill>
                  <a:srgbClr val="9AA3AB"/>
                </a:solidFill>
              </a:rPr>
              <a:t>“Favor object composition over class inheritance.” Gang of Four</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49" name="Google Shape;249;p40"/>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accent5"/>
                </a:solidFill>
              </a:rPr>
              <a:t>Composition in Zelda</a:t>
            </a:r>
            <a:endParaRPr>
              <a:solidFill>
                <a:schemeClr val="accent5"/>
              </a:solidFill>
            </a:endParaRPr>
          </a:p>
        </p:txBody>
      </p:sp>
      <p:sp>
        <p:nvSpPr>
          <p:cNvPr id="250" name="Google Shape;250;p40"/>
          <p:cNvSpPr txBox="1"/>
          <p:nvPr>
            <p:ph idx="1" type="body"/>
          </p:nvPr>
        </p:nvSpPr>
        <p:spPr>
          <a:xfrm>
            <a:off x="311700" y="885950"/>
            <a:ext cx="8520600" cy="521208"/>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n"/>
              <a:t>Zelda already composes. Ask whether it’s what something is, or what it can do.</a:t>
            </a:r>
            <a:endParaRPr/>
          </a:p>
        </p:txBody>
      </p:sp>
      <p:sp>
        <p:nvSpPr>
          <p:cNvPr id="251" name="Rounded Rectangle 250"/>
          <p:cNvSpPr/>
          <p:nvPr/>
        </p:nvSpPr>
        <p:spPr>
          <a:xfrm>
            <a:off x="411480" y="1463040"/>
            <a:ext cx="2651760" cy="1188720"/>
          </a:xfrm>
          <a:prstGeom prst="roundRect">
            <a:avLst>
              <a:gd name="adj" fmla="val 12000"/>
            </a:avLst>
          </a:prstGeom>
          <a:solidFill>
            <a:srgbClr val="2E33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DEE2E6"/>
                </a:solidFill>
              </a:rPr>
              <a:t>Behaviour in state objects</a:t>
            </a:r>
          </a:p>
          <a:p>
            <a:pPr algn="ctr"/>
            <a:r>
              <a:rPr sz="1300" b="0">
                <a:solidFill>
                  <a:srgbClr val="9AA3AB"/>
                </a:solidFill>
              </a:rPr>
              <a:t>an enemy’s AI is the state</a:t>
            </a:r>
          </a:p>
          <a:p>
            <a:pPr algn="ctr"/>
            <a:r>
              <a:rPr sz="1300" b="0">
                <a:solidFill>
                  <a:srgbClr val="9AA3AB"/>
                </a:solidFill>
              </a:rPr>
              <a:t>it holds</a:t>
            </a:r>
          </a:p>
        </p:txBody>
      </p:sp>
      <p:sp>
        <p:nvSpPr>
          <p:cNvPr id="252" name="Rounded Rectangle 251"/>
          <p:cNvSpPr/>
          <p:nvPr/>
        </p:nvSpPr>
        <p:spPr>
          <a:xfrm>
            <a:off x="3246120" y="1463040"/>
            <a:ext cx="2651760" cy="1188720"/>
          </a:xfrm>
          <a:prstGeom prst="roundRect">
            <a:avLst>
              <a:gd name="adj" fmla="val 12000"/>
            </a:avLst>
          </a:prstGeom>
          <a:solidFill>
            <a:srgbClr val="2E33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DEE2E6"/>
                </a:solidFill>
              </a:rPr>
              <a:t>Behaviour wired from outside</a:t>
            </a:r>
          </a:p>
          <a:p>
            <a:pPr algn="ctr"/>
            <a:r>
              <a:rPr sz="1300" b="0">
                <a:solidFill>
                  <a:srgbClr val="9AA3AB"/>
                </a:solidFill>
              </a:rPr>
              <a:t>a switch is a plain GameObject;</a:t>
            </a:r>
          </a:p>
          <a:p>
            <a:pPr algn="ctr"/>
            <a:r>
              <a:rPr sz="1300" b="0">
                <a:solidFill>
                  <a:srgbClr val="9AA3AB"/>
                </a:solidFill>
              </a:rPr>
              <a:t>the room attaches OnCollide</a:t>
            </a:r>
          </a:p>
        </p:txBody>
      </p:sp>
      <p:sp>
        <p:nvSpPr>
          <p:cNvPr id="253" name="Rounded Rectangle 252"/>
          <p:cNvSpPr/>
          <p:nvPr/>
        </p:nvSpPr>
        <p:spPr>
          <a:xfrm>
            <a:off x="6080760" y="1463040"/>
            <a:ext cx="2651760" cy="1188720"/>
          </a:xfrm>
          <a:prstGeom prst="roundRect">
            <a:avLst>
              <a:gd name="adj" fmla="val 12000"/>
            </a:avLst>
          </a:prstGeom>
          <a:solidFill>
            <a:srgbClr val="2E33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DEE2E6"/>
                </a:solidFill>
              </a:rPr>
              <a:t>Enemy types as data</a:t>
            </a:r>
          </a:p>
          <a:p>
            <a:pPr algn="ctr"/>
            <a:r>
              <a:rPr sz="1300" b="0">
                <a:solidFill>
                  <a:srgbClr val="9AA3AB"/>
                </a:solidFill>
              </a:rPr>
              <a:t>they come from XML,</a:t>
            </a:r>
          </a:p>
          <a:p>
            <a:pPr algn="ctr"/>
            <a:r>
              <a:rPr sz="1300" b="0">
                <a:solidFill>
                  <a:srgbClr val="9AA3AB"/>
                </a:solidFill>
              </a:rPr>
              <a:t>with no class for each</a:t>
            </a:r>
          </a:p>
        </p:txBody>
      </p:sp>
      <p:sp>
        <p:nvSpPr>
          <p:cNvPr id="254" name="TextBox 253"/>
          <p:cNvSpPr txBox="1"/>
          <p:nvPr/>
        </p:nvSpPr>
        <p:spPr>
          <a:xfrm>
            <a:off x="411480" y="2926080"/>
            <a:ext cx="8321040" cy="365760"/>
          </a:xfrm>
          <a:prstGeom prst="rect">
            <a:avLst/>
          </a:prstGeom>
          <a:noFill/>
        </p:spPr>
        <p:txBody>
          <a:bodyPr wrap="square">
            <a:spAutoFit/>
          </a:bodyPr>
          <a:lstStyle/>
          <a:p>
            <a:pPr algn="ctr"/>
            <a:r>
              <a:rPr sz="1400" b="0" i="0">
                <a:solidFill>
                  <a:srgbClr val="9AA3AB"/>
                </a:solidFill>
              </a:rPr>
              <a:t>Plants vs. Zombies takes this all the way, with the Component pattern.</a:t>
            </a: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9"/>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accent5"/>
                </a:solidFill>
              </a:rPr>
              <a:t>Keys and Locked Doors</a:t>
            </a:r>
            <a:endParaRPr>
              <a:solidFill>
                <a:schemeClr val="accent5"/>
              </a:solidFill>
            </a:endParaRPr>
          </a:p>
        </p:txBody>
      </p:sp>
      <p:sp>
        <p:nvSpPr>
          <p:cNvPr id="244" name="Google Shape;244;p39"/>
          <p:cNvSpPr txBox="1"/>
          <p:nvPr>
            <p:ph idx="1" type="body"/>
          </p:nvPr>
        </p:nvSpPr>
        <p:spPr>
          <a:xfrm>
            <a:off x="311700" y="885950"/>
            <a:ext cx="8520600" cy="1673352"/>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n"/>
              <a:t>Start from Zelda7. Full instructions are on the course site.</a:t>
            </a:r>
            <a:endParaRPr/>
          </a:p>
          <a:p>
            <a:pPr indent="-330200" lvl="0" marL="457200" rtl="0" algn="l">
              <a:spcBef>
                <a:spcPts val="0"/>
              </a:spcBef>
              <a:spcAft>
                <a:spcPts val="0"/>
              </a:spcAft>
              <a:buSzPts val="1600"/>
              <a:buChar char="●"/>
            </a:pPr>
            <a:r>
              <a:rPr lang="en"/>
              <a:t>Some enemies drop a key when they die: use an event</a:t>
            </a:r>
            <a:endParaRPr/>
          </a:p>
          <a:p>
            <a:pPr indent="-330200" lvl="0" marL="457200" rtl="0" algn="l">
              <a:spcBef>
                <a:spcPts val="0"/>
              </a:spcBef>
              <a:spcAft>
                <a:spcPts val="0"/>
              </a:spcAft>
              <a:buSzPts val="1600"/>
              <a:buChar char="●"/>
            </a:pPr>
            <a:r>
              <a:rPr lang="en"/>
              <a:t>A locked state for doorways, in door_layouts.xml</a:t>
            </a:r>
            <a:endParaRPr/>
          </a:p>
          <a:p>
            <a:pPr indent="-330200" lvl="0" marL="457200" rtl="0" algn="l">
              <a:spcBef>
                <a:spcPts val="0"/>
              </a:spcBef>
              <a:spcAft>
                <a:spcPts val="0"/>
              </a:spcAft>
              <a:buSzPts val="1600"/>
              <a:buChar char="●"/>
            </a:pPr>
            <a:r>
              <a:rPr lang="en"/>
              <a:t>A key opens a locked door for good; show the keys next to the hearts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4">
                                            <p:txEl>
                                              <p:pRg end="7" st="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49" name="Google Shape;249;p40"/>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accent5"/>
                </a:solidFill>
              </a:rPr>
              <a:t>Exercise: Composition</a:t>
            </a:r>
            <a:endParaRPr>
              <a:solidFill>
                <a:schemeClr val="accent5"/>
              </a:solidFill>
            </a:endParaRPr>
          </a:p>
        </p:txBody>
      </p:sp>
      <p:sp>
        <p:nvSpPr>
          <p:cNvPr id="250" name="Google Shape;250;p40"/>
          <p:cNvSpPr txBox="1"/>
          <p:nvPr>
            <p:ph idx="1" type="body"/>
          </p:nvPr>
        </p:nvSpPr>
        <p:spPr>
          <a:xfrm>
            <a:off x="311700" y="885950"/>
            <a:ext cx="8520600" cy="40233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n"/>
              <a:t>Sketch the class hierarchy for enemies that can walk, fly, shoot or explode, in any combination</a:t>
            </a:r>
            <a:endParaRPr/>
          </a:p>
          <a:p>
            <a:pPr indent="-330200" lvl="0" marL="457200" rtl="0" algn="l">
              <a:spcBef>
                <a:spcPts val="0"/>
              </a:spcBef>
              <a:spcAft>
                <a:spcPts val="0"/>
              </a:spcAft>
              <a:buSzPts val="1600"/>
              <a:buChar char="●"/>
            </a:pPr>
            <a:r>
              <a:rPr lang="en"/>
              <a:t>Then sketch it with composition: which parts would an enemy have?</a:t>
            </a:r>
            <a:endParaRPr/>
          </a:p>
          <a:p>
            <a:pPr indent="-330200" lvl="0" marL="457200" rtl="0" algn="l">
              <a:spcBef>
                <a:spcPts val="0"/>
              </a:spcBef>
              <a:spcAft>
                <a:spcPts val="0"/>
              </a:spcAft>
              <a:buSzPts val="1600"/>
              <a:buChar char="●"/>
            </a:pPr>
            <a:r>
              <a:rPr lang="en"/>
              <a:t>Implement one part</a:t>
            </a:r>
            <a:endParaRPr/>
          </a:p>
          <a:p>
            <a:pPr indent="-317500" lvl="1" marL="914400" rtl="0" algn="l">
              <a:spcBef>
                <a:spcPts val="0"/>
              </a:spcBef>
              <a:spcAft>
                <a:spcPts val="0"/>
              </a:spcAft>
              <a:buSzPts val="1400"/>
              <a:buChar char="○"/>
            </a:pPr>
            <a:r>
              <a:rPr lang="en"/>
              <a:t>E.g. a shooting behaviour that any enemy can be given</a:t>
            </a:r>
            <a:endParaRP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indent="0" lvl="0" marL="0" rtl="0" algn="l">
              <a:spcBef>
                <a:spcPts val="0"/>
              </a:spcBef>
              <a:spcAft>
                <a:spcPts val="0"/>
              </a:spcAft>
              <a:buNone/>
            </a:pPr>
            <a:r>
              <a:rPr lang="en"/>
              <a:t>Check Yourself</a:t>
            </a:r>
            <a:endParaRPr/>
          </a:p>
        </p:txBody>
      </p:sp>
      <p:sp>
        <p:nvSpPr>
          <p:cNvPr id="3" name="Text Placeholder 2"/>
          <p:cNvSpPr>
            <a:spLocks noGrp="1"/>
          </p:cNvSpPr>
          <p:nvPr>
            <p:ph type="body" idx="1"/>
          </p:nvPr>
        </p:nvSpPr>
        <p:spPr>
          <a:xfrm>
            <a:off x="311700" y="885950"/>
            <a:ext cx="8520600" cy="1719072"/>
          </a:xfrm>
        </p:spPr>
        <p:txBody>
          <a:bodyPr/>
          <a:lstStyle/>
          <a:p>
            <a:pPr indent="-330200" lvl="0" marL="457200" rtl="0" algn="l">
              <a:spcBef>
                <a:spcPts val="0"/>
              </a:spcBef>
              <a:spcAft>
                <a:spcPts val="0"/>
              </a:spcAft>
              <a:buSzPts val="1600"/>
              <a:buChar char="●"/>
            </a:pPr>
            <a:r>
              <a:rPr lang="en"/>
              <a:t>When does inheritance fit, and when is composition better?</a:t>
            </a:r>
            <a:endParaRPr/>
          </a:p>
          <a:p>
            <a:pPr indent="-330200" lvl="0" marL="457200" rtl="0" algn="l">
              <a:spcBef>
                <a:spcPts val="0"/>
              </a:spcBef>
              <a:spcAft>
                <a:spcPts val="0"/>
              </a:spcAft>
              <a:buSzPts val="1600"/>
              <a:buChar char="●"/>
            </a:pPr>
            <a:r>
              <a:rPr lang="en"/>
              <a:t>Why does Observer suit UI code particularly well?</a:t>
            </a:r>
            <a:endParaRPr/>
          </a:p>
          <a:p>
            <a:pPr indent="-330200" lvl="0" marL="457200" rtl="0" algn="l">
              <a:spcBef>
                <a:spcPts val="0"/>
              </a:spcBef>
              <a:spcAft>
                <a:spcPts val="0"/>
              </a:spcAft>
              <a:buSzPts val="1600"/>
              <a:buChar char="●"/>
            </a:pPr>
            <a:r>
              <a:rPr lang="en"/>
              <a:t>What is the difference between a delegate and an event in C#?</a:t>
            </a:r>
            <a:endParaRPr/>
          </a:p>
          <a:p>
            <a:pPr indent="-330200" lvl="0" marL="457200" rtl="0" algn="l">
              <a:spcBef>
                <a:spcPts val="0"/>
              </a:spcBef>
              <a:spcAft>
                <a:spcPts val="0"/>
              </a:spcAft>
              <a:buSzPts val="1600"/>
              <a:buChar char="●"/>
            </a:pPr>
            <a:r>
              <a:rPr lang="en"/>
              <a:t>What is the cost of data-driven design?</a:t>
            </a:r>
            <a:endParaRPr/>
          </a:p>
        </p:txBody>
      </p:sp>
      <p:sp>
        <p:nvSpPr>
          <p:cNvPr id="4" name="TextBox 3"/>
          <p:cNvSpPr txBox="1"/>
          <p:nvPr/>
        </p:nvSpPr>
        <p:spPr>
          <a:xfrm>
            <a:off x="457200" y="3182112"/>
            <a:ext cx="8229600" cy="457200"/>
          </a:xfrm>
          <a:prstGeom prst="rect">
            <a:avLst/>
          </a:prstGeom>
          <a:noFill/>
        </p:spPr>
        <p:txBody>
          <a:bodyPr wrap="square">
            <a:spAutoFit/>
          </a:bodyPr>
          <a:lstStyle/>
          <a:p>
            <a:pPr algn="ctr"/>
            <a:r>
              <a:rPr sz="1400" b="0" i="0">
                <a:solidFill>
                  <a:srgbClr val="9AA3AB"/>
                </a:solidFill>
              </a:rPr>
              <a:t>The answers, and more questions, are on the course site.</a:t>
            </a: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40"/>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accent5"/>
                </a:solidFill>
              </a:rPr>
              <a:t>Apply It to Your Project</a:t>
            </a:r>
            <a:endParaRPr>
              <a:solidFill>
                <a:schemeClr val="accent5"/>
              </a:solidFill>
            </a:endParaRPr>
          </a:p>
        </p:txBody>
      </p:sp>
      <p:sp>
        <p:nvSpPr>
          <p:cNvPr id="250" name="Google Shape;250;p40"/>
          <p:cNvSpPr txBox="1"/>
          <p:nvPr>
            <p:ph idx="1" type="body"/>
          </p:nvPr>
        </p:nvSpPr>
        <p:spPr>
          <a:xfrm>
            <a:off x="311700" y="885950"/>
            <a:ext cx="8520600" cy="40233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n"/>
              <a:t>What are the meaningful moments in your game?</a:t>
            </a:r>
            <a:endParaRPr/>
          </a:p>
          <a:p>
            <a:pPr indent="-317500" lvl="1" marL="914400" rtl="0" algn="l">
              <a:spcBef>
                <a:spcPts val="0"/>
              </a:spcBef>
              <a:spcAft>
                <a:spcPts val="0"/>
              </a:spcAft>
              <a:buSzPts val="1400"/>
              <a:buChar char="○"/>
            </a:pPr>
            <a:r>
              <a:rPr lang="en"/>
              <a:t>The things that happen that other systems might care about</a:t>
            </a:r>
            <a:endParaRPr/>
          </a:p>
          <a:p>
            <a:pPr indent="-330200" lvl="0" marL="457200" rtl="0" algn="l">
              <a:spcBef>
                <a:spcPts val="0"/>
              </a:spcBef>
              <a:spcAft>
                <a:spcPts val="0"/>
              </a:spcAft>
              <a:buSzPts val="1600"/>
              <a:buChar char="●"/>
            </a:pPr>
            <a:r>
              <a:rPr lang="en"/>
              <a:t>Map out at least two of them</a:t>
            </a:r>
            <a:endParaRPr/>
          </a:p>
          <a:p>
            <a:pPr indent="-317500" lvl="1" marL="914400" rtl="0" algn="l">
              <a:spcBef>
                <a:spcPts val="0"/>
              </a:spcBef>
              <a:spcAft>
                <a:spcPts val="0"/>
              </a:spcAft>
              <a:buSzPts val="1400"/>
              <a:buChar char="○"/>
            </a:pPr>
            <a:r>
              <a:rPr lang="en"/>
              <a:t>What fires the event, and what should react?</a:t>
            </a:r>
            <a:endParaRPr/>
          </a:p>
          <a:p>
            <a:pPr indent="-330200" lvl="0" marL="457200" rtl="0" algn="l">
              <a:spcBef>
                <a:spcPts val="0"/>
              </a:spcBef>
              <a:spcAft>
                <a:spcPts val="0"/>
              </a:spcAft>
              <a:buSzPts val="1600"/>
              <a:buChar char="●"/>
            </a:pPr>
            <a:r>
              <a:rPr lang="en"/>
              <a:t>Is there anywhere a class knows too much about another?</a:t>
            </a:r>
            <a:endParaRPr/>
          </a:p>
          <a:p>
            <a:pPr indent="-317500" lvl="1" marL="914400" rtl="0" algn="l">
              <a:spcBef>
                <a:spcPts val="0"/>
              </a:spcBef>
              <a:spcAft>
                <a:spcPts val="0"/>
              </a:spcAft>
              <a:buSzPts val="1400"/>
              <a:buChar char="○"/>
            </a:pPr>
            <a:r>
              <a:rPr lang="en"/>
              <a:t>Could an event fix that?</a:t>
            </a:r>
            <a:endParaRPr/>
          </a:p>
          <a:p>
            <a:pPr indent="-330200" lvl="0" marL="457200" rtl="0" algn="l">
              <a:spcBef>
                <a:spcPts val="0"/>
              </a:spcBef>
              <a:spcAft>
                <a:spcPts val="0"/>
              </a:spcAft>
              <a:buSzPts val="1600"/>
              <a:buChar char="●"/>
            </a:pPr>
            <a:r>
              <a:rPr lang="en"/>
              <a:t>Where does your game use inheritance?</a:t>
            </a:r>
            <a:endParaRPr/>
          </a:p>
          <a:p>
            <a:pPr indent="-317500" lvl="1" marL="914400" rtl="0" algn="l">
              <a:spcBef>
                <a:spcPts val="0"/>
              </a:spcBef>
              <a:spcAft>
                <a:spcPts val="0"/>
              </a:spcAft>
              <a:buSzPts val="1400"/>
              <a:buChar char="○"/>
            </a:pPr>
            <a:r>
              <a:rPr lang="en"/>
              <a:t>Is each subclass what something is, or what it can do?</a:t>
            </a:r>
            <a:endParaRPr/>
          </a:p>
        </p:txBody>
      </p:sp>
    </p:spTree>
  </p:cSld>
  <p:clrMapOvr>
    <a:masterClrMapping/>
  </p:clrMapOvr>
</p:sld>
</file>

<file path=ppt/theme/theme1.xml><?xml version="1.0" encoding="utf-8"?>
<a:theme xmlns:a="http://schemas.openxmlformats.org/drawingml/2006/main" xmlns:r="http://schemas.openxmlformats.org/officeDocument/2006/relationships" name="GMD">
  <a:themeElements>
    <a:clrScheme name="Simple Light">
      <a:dk1>
        <a:srgbClr val="DEE2E6"/>
      </a:dk1>
      <a:lt1>
        <a:srgbClr val="818387"/>
      </a:lt1>
      <a:dk2>
        <a:srgbClr val="1F1F1F"/>
      </a:dk2>
      <a:lt2>
        <a:srgbClr val="DEE2E6"/>
      </a:lt2>
      <a:accent1>
        <a:srgbClr val="D45D35"/>
      </a:accent1>
      <a:accent2>
        <a:srgbClr val="212121"/>
      </a:accent2>
      <a:accent3>
        <a:srgbClr val="78909C"/>
      </a:accent3>
      <a:accent4>
        <a:srgbClr val="FFAB40"/>
      </a:accent4>
      <a:accent5>
        <a:srgbClr val="0097A7"/>
      </a:accent5>
      <a:accent6>
        <a:srgbClr val="EEFF41"/>
      </a:accent6>
      <a:hlink>
        <a:srgbClr val="4A86E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