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14" r:id="rId41"/>
    <p:sldId id="257" r:id="rId7"/>
    <p:sldId id="258" r:id="rId8"/>
    <p:sldId id="259" r:id="rId9"/>
    <p:sldId id="297" r:id="rId56"/>
    <p:sldId id="298" r:id="rId57"/>
    <p:sldId id="299" r:id="rId58"/>
    <p:sldId id="318" r:id="rId36"/>
    <p:sldId id="300" r:id="rId59"/>
    <p:sldId id="301" r:id="rId60"/>
    <p:sldId id="302" r:id="rId61"/>
    <p:sldId id="317" r:id="rId37"/>
    <p:sldId id="303" r:id="rId62"/>
    <p:sldId id="304" r:id="rId63"/>
    <p:sldId id="305" r:id="rId64"/>
    <p:sldId id="306" r:id="rId65"/>
    <p:sldId id="307" r:id="rId66"/>
    <p:sldId id="316" r:id="rId38"/>
    <p:sldId id="308" r:id="rId67"/>
    <p:sldId id="309" r:id="rId68"/>
    <p:sldId id="310" r:id="rId69"/>
    <p:sldId id="311" r:id="rId70"/>
    <p:sldId id="315" r:id="rId39"/>
    <p:sldId id="312" r:id="rId71"/>
    <p:sldId id="280" r:id="rId30"/>
    <p:sldId id="292" r:id="rId42"/>
    <p:sldId id="293" r:id="rId52"/>
    <p:sldId id="313" r:id="rId40"/>
    <p:sldId id="294" r:id="rId53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30" Type="http://schemas.openxmlformats.org/officeDocument/2006/relationships/slide" Target="slides/slide26.xml"/><Relationship Id="rId36" Type="http://schemas.openxmlformats.org/officeDocument/2006/relationships/slide" Target="slides/slide9.xml"/><Relationship Id="rId37" Type="http://schemas.openxmlformats.org/officeDocument/2006/relationships/slide" Target="slides/slide13.xml"/><Relationship Id="rId38" Type="http://schemas.openxmlformats.org/officeDocument/2006/relationships/slide" Target="slides/slide19.xml"/><Relationship Id="rId39" Type="http://schemas.openxmlformats.org/officeDocument/2006/relationships/slide" Target="slides/slide24.xml"/><Relationship Id="rId40" Type="http://schemas.openxmlformats.org/officeDocument/2006/relationships/slide" Target="slides/slide29.xml"/><Relationship Id="rId41" Type="http://schemas.openxmlformats.org/officeDocument/2006/relationships/slide" Target="slides/slide2.xml"/><Relationship Id="rId42" Type="http://schemas.openxmlformats.org/officeDocument/2006/relationships/slide" Target="slides/slide27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28.xml"/><Relationship Id="rId53" Type="http://schemas.openxmlformats.org/officeDocument/2006/relationships/slide" Target="slides/slide30.xml"/><Relationship Id="rId56" Type="http://schemas.openxmlformats.org/officeDocument/2006/relationships/slide" Target="slides/slide6.xml"/><Relationship Id="rId57" Type="http://schemas.openxmlformats.org/officeDocument/2006/relationships/slide" Target="slides/slide7.xml"/><Relationship Id="rId58" Type="http://schemas.openxmlformats.org/officeDocument/2006/relationships/slide" Target="slides/slide8.xml"/><Relationship Id="rId59" Type="http://schemas.openxmlformats.org/officeDocument/2006/relationships/slide" Target="slides/slide10.xml"/><Relationship Id="rId60" Type="http://schemas.openxmlformats.org/officeDocument/2006/relationships/slide" Target="slides/slide11.xml"/><Relationship Id="rId61" Type="http://schemas.openxmlformats.org/officeDocument/2006/relationships/slide" Target="slides/slide12.xml"/><Relationship Id="rId62" Type="http://schemas.openxmlformats.org/officeDocument/2006/relationships/slide" Target="slides/slide14.xml"/><Relationship Id="rId63" Type="http://schemas.openxmlformats.org/officeDocument/2006/relationships/slide" Target="slides/slide15.xml"/><Relationship Id="rId64" Type="http://schemas.openxmlformats.org/officeDocument/2006/relationships/slide" Target="slides/slide16.xml"/><Relationship Id="rId65" Type="http://schemas.openxmlformats.org/officeDocument/2006/relationships/slide" Target="slides/slide17.xml"/><Relationship Id="rId66" Type="http://schemas.openxmlformats.org/officeDocument/2006/relationships/slide" Target="slides/slide18.xml"/><Relationship Id="rId67" Type="http://schemas.openxmlformats.org/officeDocument/2006/relationships/slide" Target="slides/slide20.xml"/><Relationship Id="rId68" Type="http://schemas.openxmlformats.org/officeDocument/2006/relationships/slide" Target="slides/slide21.xml"/><Relationship Id="rId69" Type="http://schemas.openxmlformats.org/officeDocument/2006/relationships/slide" Target="slides/slide22.xml"/><Relationship Id="rId70" Type="http://schemas.openxmlformats.org/officeDocument/2006/relationships/slide" Target="slides/slide23.xml"/><Relationship Id="rId71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Plants vs. Zombies. The main topic: the Component pattern.</a:t>
            </a:r>
          </a:p>
          <a:p>
            <a:r>
              <a:t>Start by playing the finished game, Pvz4,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Pvz4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the Component pattern. First picking with the mouse, then where inheritance breaks, then components, then Type Object.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gar-games/09-plants-vs-zombies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grid: one division finds the cell. Suns and packets are separate objects: check each.</a:t>
            </a:r>
          </a:p>
          <a:p>
            <a:r>
              <a:t>When they overlap, the order decides: sun first, then packets, then the lawn. And show what a click will do before it happens.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class per kind of thing, and one list per class in the World. It works for now.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 through the four boxes and let the class try to place each one. The third has no answer: C# has one base class.</a:t>
            </a:r>
          </a:p>
          <a:p>
            <a:r>
              <a:t>Inheritance says what something is; here what matters is what it can do.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costs: finding each other takes code (and may return null), the order they run in matters, and some rules have no obvious owner.</a:t>
            </a:r>
          </a:p>
          <a:p>
            <a:r>
              <a:t>Ask the third question: a pea hits a zombie; whose rule is it? Geometry Wars answers with systems.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Angry Birds copied a configured object; here a type creates instances and keeps shared data once.</a:t>
            </a:r>
          </a:p>
          <a:p>
            <a:r>
              <a:t>Ask the question: a plant’s cost, in each plant or in its type? The type.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does inheritance break down for Plants vs. Zombies?</a:t>
            </a:r>
          </a:p>
          <a:p>
            <a:r>
              <a:t>A: The abilities (shooting, making sun, armour, walking, eating) combine freely, but a class has one base class. Combinations mean choosing one parent and copying the other ability, and abilities shared by plants and zombies (health) get copied too.</a:t>
            </a:r>
          </a:p>
          <a:p/>
          <a:p>
            <a:r>
              <a:t>Q: How do components in the same entity work together without knowing each other's classes in advance?</a:t>
            </a:r>
          </a:p>
          <a:p>
            <a:r>
              <a:t>A: They ask their owner for a sibling (Owner.Get&lt;Eater&gt;()), and handle it being missing. For other entities, they ask the world.</a:t>
            </a:r>
          </a:p>
          <a:p/>
          <a:p>
            <a:r>
              <a:t>Q: What goes in a type object, and what goes in an instance?</a:t>
            </a:r>
          </a:p>
          <a:p>
            <a:r>
              <a:t>A: The type holds what all things of that kind share (cost, recharge time, sprite, starting health, and how to build one). The instance holds what's its own: its position, its current health, its timers.</a:t>
            </a:r>
          </a:p>
          <a:p/>
          <a:p>
            <a:r>
              <a:t>Q: How is picking on a grid different from picking a list of objects?</a:t>
            </a:r>
          </a:p>
          <a:p>
            <a:r>
              <a:t>A: On a grid, the cell is computed from the position with a division, however many cells there are. For separate objects, each one is checked, and the order of the checks decides which of two overlapping objects gets the click.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did the player click on? Two conversions: from the window to the game (the scale matrix, inverted), and from a point to a cell (a division).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Pvz0.</a:t>
            </a:r>
          </a:p>
          <a:p>
            <a:r>
              <a:t>- choose a packet, hover the lawn: the highlighted cell and the faint plant</a:t>
            </a:r>
          </a:p>
          <a:p>
            <a:r>
              <a:t>- click to plant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Pvz1.</a:t>
            </a:r>
          </a:p>
          <a:p>
            <a:r>
              <a:t>- the Plant and Zombie hierarchies</a:t>
            </a:r>
          </a:p>
          <a:p>
            <a:r>
              <a:t>- the copied health code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 entity: a position, a row and a list of components. A component: one ability. The entity updates its components.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classes for plants or zombies: each kind is a list of components. A Repeater and a Conehead are recipes, not classes. Health is written once.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Through the owner (the walker checks the eater) or through the world (a shooter asks for a zombie ahead in its row).</a:t>
            </a:r>
          </a:p>
          <a:p>
            <a:r>
              <a:t>Depend on components, not on kinds of entity.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Pvz1 and Pvz2 side by side (a diff tool, or two editor panes), then run Pvz2.</a:t>
            </a:r>
          </a:p>
          <a:p>
            <a:r>
              <a:t>- Components/</a:t>
            </a:r>
          </a:p>
          <a:p>
            <a:r>
              <a:t>- Recipes.cs</a:t>
            </a:r>
          </a:p>
          <a:p>
            <a:r>
              <a:t>- the World now loops over entities, not per class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peashooter’s cost isn’t in any one peashooter: it belongs to the kind. One PlantType per kind, loaded from plants.json.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type builds an entity with a component for each kind of data it has. New kinds from old components need only data.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Pvz2 and Pvz3 side by side (a diff tool, or two editor panes), then run Pvz3.</a:t>
            </a:r>
          </a:p>
          <a:p>
            <a:r>
              <a:t>- plants.json and zombies.json</a:t>
            </a:r>
          </a:p>
          <a:p>
            <a:r>
              <a:t>- Types.cs</a:t>
            </a:r>
          </a:p>
          <a:p>
            <a:r>
              <a:t>- change a cost in the JSON and run again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level from JSON, packets that recharge, sun from the sky (a sun with one more component, Faller), winning and losing.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registry of components by name. Ask what you lose: the compiler checking the data’s shape.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play a minute of Pvz4: collect sun, plant a sunflower and a peashooter, watch a conehead lose its cone.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Plants vs. Zombies. Ask who has played it, and what they remember of how it plays.</a:t>
            </a:r>
          </a:p>
          <a:p>
            <a:r>
              <a:t>Today we build the parts that matter for the architecture, not the whole game.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Only data changes; the next run picks it up.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One recipe: Plant(...).With(new Shooter(...)).With(new SunProducer(...)), and one AddPacket line. Compare with the Repeater by inheritance.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Peashooter.Update fires one pea, with its interval as a private constant. A subclass cannot change either without Peashooter opening up (a virtual method or a protected field).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Window.Title = $"{cell}" in Update. Off the lawn, CellAt returns null: not every point is a cell.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Pvz4. Ask after the first: did the Tall-nut or the Flag Zombie need any code? Only data.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9-plants-vs-zombies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09: Plants vs. Zombies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Plants vs. Zombies</a:t>
            </a:r>
            <a:endParaRPr/>
          </a:p>
        </p:txBody>
      </p:sp>
      <p:pic>
        <p:nvPicPr>
          <p:cNvPr id="3" name="Picture 2" descr="plants-vs-zomb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7912" y="960120"/>
            <a:ext cx="4908176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Plants vs. Zombies (PopCap Games, 2009). Screenshot © PopCap Games.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gif-pvz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7202" y="1531275"/>
            <a:ext cx="5789596" cy="325664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Picking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Inheritance Breaks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Component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Working Together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 Object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Prototype vs. Type Object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09-plants-vs-zombies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(Pvz0 to Pvz4),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Picking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What did the player click on?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the window to the game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screen scale matrix, backwards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a point to a cell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division, as in Mario’s tilemaps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Viewport viewport = GraphicsDevice.Viewport;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Vector2 mouse = Input.Mouse.Position.ToVector2()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- new Vector2(viewport.X, viewport.Y);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return Vector2.Transform(mouse,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Matrix.Invert(ScreenScaleMatrix));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Lawn.cs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Point? CellAt(Vector2 position)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(!Bounds.Contains(position))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null;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new Point(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(int)(position.X - Bounds.X) / CellWidth,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(int)(position.Y - Bounds.Y) / CellHeight);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Grids and Objects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grid: compute the cell. Separate objects: check each one.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lawn: a grid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division finds the cell,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however many cells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Suns, seed packets: objects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inside its rectangle?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within its radius?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548640" y="260604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When they overlap, the order of the checks decides: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1463040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Sun</a:t>
            </a:r>
          </a:p>
        </p:txBody>
      </p:sp>
      <p:cxnSp>
        <p:nvCxnSpPr>
          <p:cNvPr id="299" name="Connector 298"/>
          <p:cNvCxnSpPr/>
          <p:nvPr/>
        </p:nvCxnSpPr>
        <p:spPr>
          <a:xfrm>
            <a:off x="3310128" y="32232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Rounded Rectangle 299"/>
          <p:cNvSpPr/>
          <p:nvPr/>
        </p:nvSpPr>
        <p:spPr>
          <a:xfrm>
            <a:off x="3566160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Seed packets</a:t>
            </a:r>
          </a:p>
        </p:txBody>
      </p:sp>
      <p:cxnSp>
        <p:nvCxnSpPr>
          <p:cNvPr id="301" name="Connector 300"/>
          <p:cNvCxnSpPr/>
          <p:nvPr/>
        </p:nvCxnSpPr>
        <p:spPr>
          <a:xfrm>
            <a:off x="5413248" y="32232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5669279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lawn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548640" y="370332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And show what a click will do: highlight the cell, with a faint plant.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Picking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Pvz0: choose a packet, click a cell to plant</a:t>
            </a:r>
            <a:endParaRPr sz="18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Where Is the Mouse?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Pvz0: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Show the cell under the mouse in the window title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 off the lawn: what does CellAt give you?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Plants and Zombies With Inheritance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class per kind of thing. It works.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1463040" y="1371600"/>
            <a:ext cx="20116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Plant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6576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Sunflower</a:t>
            </a:r>
          </a:p>
        </p:txBody>
      </p:sp>
      <p:cxnSp>
        <p:nvCxnSpPr>
          <p:cNvPr id="297" name="Connector 296"/>
          <p:cNvCxnSpPr/>
          <p:nvPr/>
        </p:nvCxnSpPr>
        <p:spPr>
          <a:xfrm flipV="1">
            <a:off x="1024128" y="1892807"/>
            <a:ext cx="1444752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8" name="Rounded Rectangle 297"/>
          <p:cNvSpPr/>
          <p:nvPr/>
        </p:nvSpPr>
        <p:spPr>
          <a:xfrm>
            <a:off x="182880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Peashooter</a:t>
            </a:r>
          </a:p>
        </p:txBody>
      </p:sp>
      <p:cxnSp>
        <p:nvCxnSpPr>
          <p:cNvPr id="299" name="Connector 298"/>
          <p:cNvCxnSpPr/>
          <p:nvPr/>
        </p:nvCxnSpPr>
        <p:spPr>
          <a:xfrm flipH="1" flipV="1">
            <a:off x="2468880" y="1892807"/>
            <a:ext cx="18288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Rounded Rectangle 299"/>
          <p:cNvSpPr/>
          <p:nvPr/>
        </p:nvSpPr>
        <p:spPr>
          <a:xfrm>
            <a:off x="329184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WallNut</a:t>
            </a:r>
          </a:p>
        </p:txBody>
      </p:sp>
      <p:cxnSp>
        <p:nvCxnSpPr>
          <p:cNvPr id="301" name="Connector 300"/>
          <p:cNvCxnSpPr/>
          <p:nvPr/>
        </p:nvCxnSpPr>
        <p:spPr>
          <a:xfrm flipH="1" flipV="1">
            <a:off x="2468880" y="1892807"/>
            <a:ext cx="1481328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4846320" y="137160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Zombie</a:t>
            </a:r>
          </a:p>
        </p:txBody>
      </p:sp>
      <p:sp>
        <p:nvSpPr>
          <p:cNvPr id="303" name="Rounded Rectangle 302"/>
          <p:cNvSpPr/>
          <p:nvPr/>
        </p:nvSpPr>
        <p:spPr>
          <a:xfrm>
            <a:off x="6355080" y="1371600"/>
            <a:ext cx="10972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Pea</a:t>
            </a:r>
          </a:p>
        </p:txBody>
      </p:sp>
      <p:sp>
        <p:nvSpPr>
          <p:cNvPr id="304" name="Rounded Rectangle 303"/>
          <p:cNvSpPr/>
          <p:nvPr/>
        </p:nvSpPr>
        <p:spPr>
          <a:xfrm>
            <a:off x="7589520" y="1371600"/>
            <a:ext cx="10972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Sun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365760" y="310896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World keeps one list per class.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Where Inheritance Breaks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new things. Where does each one go?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Repeater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Peashooter subclass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that overrides... what?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251460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Conehead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Zombie subclass;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armour for a plant: copy it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461772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Shoots and makes sun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which parent?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C# allows only one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672084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Health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already copied: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zombie isn’t a plant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457200" y="29260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Inheritance describes what something is. In this game, what it can do matters more.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Inheritance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Pvz1: plants and zombies as a class hierarchy</a:t>
            </a:r>
            <a:endParaRPr sz="18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Repeater, by Inheritance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a Repeater, a Peashooter that shoots two peas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far do you get before Peashooter has to change?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Component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entity, many domains (drawing, health, shooting), not coupled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entity: a position, a row, and a list of components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component: one ability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Health, Shooter, SunProducer, Walker, Eater, Armour, SpriteRenderer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Entity(World 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List&lt;Component&gt; _components = [];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Vector2 Position { get; set;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int Row { get; set;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Entity With(Component c) { ...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T Get&lt;T&gt;() where T : Component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{ ...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void Update(float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foreach (Component c in _components)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c.Update(dt);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Recipes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No classes for plants or zombies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kind of thing is a list of components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Repeater, Conehead: no new classes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Shoots and makes sun: two .With calls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Health: written once, for plants and zombies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Sunflower(World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Plant(world, "sunflower", 6)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SunProducer(12, 25));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Repeater(World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Plant(world, "repeater", 6)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Shooter(1.4f, 2, 1));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Zombie(World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new Entity(world)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SpriteRenderer(zombie))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Health(10))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Walker(16))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Eater(1));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Conehead(World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Zombie(world).With(new Armour(18, cone));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Working Together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Through the owner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Walker stops while the Eater eats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Health lets the Armour go first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Through the world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Shooter: a zombie ahead in my row?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Depend on components, not on kinds of entity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world: one loop for everything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Walker.cs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override void Update(float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(Owner.Get&lt;Eater&gt;()?.IsEating == true)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Owner.Position -=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Vector2(speed * dt, 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Shooter.cs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(_cooldown &lt;= 0 &amp;&amp;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World.FirstZombieAhead(Owner.Row,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Owner.Position.X)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Fire();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Components Cost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aren’t free.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Finding each other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Get&lt;Eater&gt;() searches a list,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and may return null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24612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Order matters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components update and draw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 the order they were added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608076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Where does a rule go?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pea hits a zombie: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pea’s rule, or the zombie’s?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411480" y="292608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Geometry Wars moves rules like that into systems.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Pvz1 → Pvz2: from a class hierarchy to components</a:t>
            </a:r>
            <a:endParaRPr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New Plant From Parts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Pvz2’s Recipes: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plant that shoots and makes sun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it a packet in Game1 (sunflower sprite)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much new code?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 Object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peashooter’s cost: not in any one peashooter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PlantType per kind of plant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Loaded from plants.json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Types hold what all instances share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Instances hold their own state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plants.json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 "name": "Sunflower",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"sprite": "sunflower",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"cost": 50, "recharge": 7.5,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"health": 6,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"sunProducer":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"interval": 12, "amount": 25 } },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 "name": "Repeater",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"sprite": "repeater",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"cost": 200, "recharge": 7.5,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"health": 6,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"shooter":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"interval": 1.4, "shots": 2,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"damage": 1 }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Type Creates Instances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component for each kind of data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New kinds from old components: data only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Buckethead: a zombie type with armour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new ability: one component, and data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Cherry Bomb: Explode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Entity Create(World 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var plant = new Entity(world)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SpriteRenderer(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world.Atlas.GetRegion(Sprite)))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Health(Health));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(Shooter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plant.Add(new Shooter(Shooter.Interval,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Shooter.Shots, Shooter.Damage));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(SunProducer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plant.Add(new SunProducer(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SunProducer.Interval, SunProducer.Amount));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plant;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Prototype vs. Type Object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ways to make many things of one kind.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Prototype (Angry Birds)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copy a configured object;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shared data is copied into each clone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“more like this one”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Type Object (here)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type class creates instances;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shared data is kept once, in the type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kinds with their own data and rules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457200" y="31546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A plant’s cost: in each plant, or in its type?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Type Object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Pvz3: plant and zombie types from JSON</a:t>
            </a:r>
            <a:endParaRPr sz="18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Balance by Data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plants.json: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Wall-nut that costs 25 and takes twice the bites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Sunflower that makes 50 sun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Did you compile anything?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The Whole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level from level1.json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Starting sun, sun from the sky, which zombie comes when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Seed packets recharge after planting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states: play, and the end (won or lost)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Falling sun: a sun with one more component, Faller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Plants vs. Zombies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Pvz4: the whole game</a:t>
            </a:r>
            <a:endParaRPr sz="18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Pvz4,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New types: a Tall-nut and a Flag Zombie. Any code?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Snow Pea: peas that slow zombies down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component, where, and how does the data say so?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Pumpkin: armour for plants. Can you reuse Armour?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shovel that removes the plant you click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Refactor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PlantType.Create has an if for every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List components by name in the JSON, with a registry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 you gain, and what do you lose?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the compiler checking the data’s shape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does inheritance break down for Plants vs. Zombies?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 components in one entity work together without knowing each other’s classes?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goes in a type object, and what goes in an instance?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picking on a grid different from picking a list of objects?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 subclasses exist only to combine abilities?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abilities could become components?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data belongs to a kind of thing? Could it be a data file?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your game find out what was clicked?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