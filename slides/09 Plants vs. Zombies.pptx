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7" r:id="rId56"/>
    <p:sldId id="298" r:id="rId57"/>
    <p:sldId id="299" r:id="rId58"/>
    <p:sldId id="300" r:id="rId59"/>
    <p:sldId id="301" r:id="rId60"/>
    <p:sldId id="302" r:id="rId61"/>
    <p:sldId id="303" r:id="rId62"/>
    <p:sldId id="304" r:id="rId63"/>
    <p:sldId id="305" r:id="rId64"/>
    <p:sldId id="306" r:id="rId65"/>
    <p:sldId id="307" r:id="rId66"/>
    <p:sldId id="308" r:id="rId67"/>
    <p:sldId id="309" r:id="rId68"/>
    <p:sldId id="310" r:id="rId69"/>
    <p:sldId id="311" r:id="rId70"/>
    <p:sldId id="312" r:id="rId71"/>
    <p:sldId id="280" r:id="rId30"/>
    <p:sldId id="292" r:id="rId42"/>
    <p:sldId id="293" r:id="rId52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30" Type="http://schemas.openxmlformats.org/officeDocument/2006/relationships/slide" Target="slides/slide26.xml"/><Relationship Id="rId42" Type="http://schemas.openxmlformats.org/officeDocument/2006/relationships/slide" Target="slides/slide38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9.xml"/><Relationship Id="rId53" Type="http://schemas.openxmlformats.org/officeDocument/2006/relationships/slide" Target="slides/slide40.xml"/><Relationship Id="rId55" Type="http://schemas.openxmlformats.org/officeDocument/2006/relationships/slide" Target="slides/slide41.xml"/><Relationship Id="rId56" Type="http://schemas.openxmlformats.org/officeDocument/2006/relationships/slide" Target="slides/slide42.xml"/><Relationship Id="rId57" Type="http://schemas.openxmlformats.org/officeDocument/2006/relationships/slide" Target="slides/slide43.xml"/><Relationship Id="rId58" Type="http://schemas.openxmlformats.org/officeDocument/2006/relationships/slide" Target="slides/slide44.xml"/><Relationship Id="rId59" Type="http://schemas.openxmlformats.org/officeDocument/2006/relationships/slide" Target="slides/slide45.xml"/><Relationship Id="rId60" Type="http://schemas.openxmlformats.org/officeDocument/2006/relationships/slide" Target="slides/slide46.xml"/><Relationship Id="rId61" Type="http://schemas.openxmlformats.org/officeDocument/2006/relationships/slide" Target="slides/slide47.xml"/><Relationship Id="rId62" Type="http://schemas.openxmlformats.org/officeDocument/2006/relationships/slide" Target="slides/slide48.xml"/><Relationship Id="rId63" Type="http://schemas.openxmlformats.org/officeDocument/2006/relationships/slide" Target="slides/slide49.xml"/><Relationship Id="rId64" Type="http://schemas.openxmlformats.org/officeDocument/2006/relationships/slide" Target="slides/slide50.xml"/><Relationship Id="rId65" Type="http://schemas.openxmlformats.org/officeDocument/2006/relationships/slide" Target="slides/slide51.xml"/><Relationship Id="rId66" Type="http://schemas.openxmlformats.org/officeDocument/2006/relationships/slide" Target="slides/slide52.xml"/><Relationship Id="rId67" Type="http://schemas.openxmlformats.org/officeDocument/2006/relationships/slide" Target="slides/slide53.xml"/><Relationship Id="rId68" Type="http://schemas.openxmlformats.org/officeDocument/2006/relationships/slide" Target="slides/slide54.xml"/><Relationship Id="rId69" Type="http://schemas.openxmlformats.org/officeDocument/2006/relationships/slide" Target="slides/slide55.xml"/><Relationship Id="rId70" Type="http://schemas.openxmlformats.org/officeDocument/2006/relationships/slide" Target="slides/slide56.xml"/><Relationship Id="rId71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9-plants-vs-zombies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09: Plants vs. Zombies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77201" y="1531275"/>
            <a:ext cx="5789598" cy="3256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Inheritance Breaks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Component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Working Together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 Object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 vs. Type Object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09-plants-vs-zombies)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Pvz0 → Pvz4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Pvz4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vs. Zombies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Pvz4: the whole game</a:t>
            </a:r>
            <a:endParaRPr sz="18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Pvz4,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types: a Tall-nut and a Flag Zombie. Any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Snow Pea: peas that slow zombies down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component, where, and how does the data say so?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Pumpkin: armour for plants. Can you reuse Armour?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shovel that removes the plant you click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PlantType.Create has an if for every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List components by name in the JSON, with a registry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you gain, and what do you lose?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the compiler checking the data’s shape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subclasses exist only to combine abilities?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abilities could become components?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data belongs to a kind of thing? Could it be a data file?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your game find out what was clicked?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event map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 least one refactoring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11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release build on itch.io, and a README started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did the player click on?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the window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screen scale matrix, backwards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a point to a cell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division, as in Mario’s tilemaps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Viewport viewport = GraphicsDevice.Viewport;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mouse = Input.Mouse.Position.ToVector2()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- new Vector2(viewport.X, viewport.Y);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return Vector2.Transform(mouse,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Matrix.Invert(ScreenScaleMatrix));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Lawn.cs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Point? CellAt(Vector2 position)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(!Bounds.Contains(position))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new Point(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(int)(position.X - Bounds.X) / CellWidth,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(int)(position.Y - Bounds.Y) / CellHeight);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Grids and Objects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grid: compute the cell, however many cells there 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Separate objects (seed packets, sun): check each one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Inside its rectangle? Within its radius?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things overlap, the order of the checks decides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Sun first, then the seed packets, then the lawn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what a click will do: highlight the cell, and a faint plant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Picking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Pvz0: choose a packet, click a cell to plant</a:t>
            </a:r>
            <a:endParaRPr sz="180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and Zombies With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class per kind of thing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Plant → Sunflower, Peashooter, WallNut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Zombie, Pea, Sun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World: one list per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 works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Inheritance Breaks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Repeater: a Peashooter subclass that overrides… what?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Conehead: a Zombie subclass. A plant with armour: copy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plant that shoots and makes sun: which parent?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C# allows one base class: copy the other ability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Health is already copied: a zombie isn’t a plant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Inheritance says what something is; here, what matters is what it can do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Inheritance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Pvz1: plants and zombies as a class hierarchy</a:t>
            </a:r>
            <a:endParaRPr sz="180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many domains (drawing, health, shooting), not coupled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entity: a position, a row, and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component: one ability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Health, Shooter, SunProducer, Walker, Eater, Armour, SpriteRenderer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Entity(World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List&lt;Component&gt; _components = [];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Row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Entity With(Component c)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T Get&lt;T&gt;() where T : Component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foreach (Component c in _components)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c.Update(dt);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Recipes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classes for plants or zombies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kind of thing is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Repeater, Conehead: no new classes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Shoots and makes sun: two .With calls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Health: written once, for plants and zombies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Sunflower(World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"sunflower",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SunProducer(12, 25));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Repeater(World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"repeater",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Shooter(1.4f, 2, 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Zombie(World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SpriteRenderer(zombie))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Health(10))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Walker(16))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Eater(1));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Conehead(World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Zombie(world).With(new Armour(18, cone));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Working Together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owner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Walker stops while the Eater eats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 lets the Armour go first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world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Shooter: a zombie ahead in my row?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Depend on components, not on kinds of entity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world: one loop for everything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Walker.cs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override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(Owner.Get&lt;Eater&gt;()?.IsEating == true)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Owner.Position -=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Vector2(speed * dt, 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Shooter.cs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(_cooldown &lt;= 0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World.FirstZombieAhead(Owner.Row,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Owner.Position.X)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Fire();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Components Cost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Finding each other takes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Get&lt;Eater&gt;() searches a list, and may return null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Order matters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Components update and draw in the order they were added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a rule go?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pea hits a zombie: the pea’s rule, or the zombie’s?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Geometry Wars moves such rules into systems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 → Pvz2: from a class hierarchy to components</a:t>
            </a:r>
            <a:endParaRPr sz="180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Object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peashooter’s cost: not in any one peashooter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PlantType per kind of plant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Loaded from plants.json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Types hold what all instances share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Instances hold their own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plants.json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50,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"sunProducer":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12, "amount": 25 } },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200,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"shooter":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1.4, "shots": 2,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"damage": 1 }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Type Creates Instances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 for each kind of data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New kinds from old components: data only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Buckethead: a zombie type with armour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ability: one component, and data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Cherry Bomb: Explode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Create(World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plant =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world.Atlas.GetRegion(Sprite)))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Health(Health));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(Shooter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Shooter(Shooter.Interval,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Shooter.Shots, Shooter.Damage));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(SunProducer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SunProducer(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SunProducer.Interval, SunProducer.Amount));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plant;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vs. Type Object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 (Angry Birds): copy a configured object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Shared data is copied into every clone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Good for “make more like this one”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 Object: a separate type class creates instances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Shared data is kept once, in the type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 instance can refer to its type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Good for kinds with their own data and rules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Type Object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Pvz3: plant and zombie types from JSON</a:t>
            </a:r>
            <a:endParaRPr sz="180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from level1.json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sun, sun from the sky, which zombie comes when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Seed packets recharge after planting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states: play, and the end (won or lost)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Falling sun: a sun with one more component, Faller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