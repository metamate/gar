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14" r:id="rId41"/>
    <p:sldId id="257" r:id="rId7"/>
    <p:sldId id="258" r:id="rId8"/>
    <p:sldId id="259" r:id="rId9"/>
    <p:sldId id="297" r:id="rId56"/>
    <p:sldId id="323" r:id="rId31"/>
    <p:sldId id="298" r:id="rId57"/>
    <p:sldId id="299" r:id="rId58"/>
    <p:sldId id="318" r:id="rId36"/>
    <p:sldId id="300" r:id="rId59"/>
    <p:sldId id="301" r:id="rId60"/>
    <p:sldId id="302" r:id="rId61"/>
    <p:sldId id="317" r:id="rId37"/>
    <p:sldId id="303" r:id="rId62"/>
    <p:sldId id="322" r:id="rId32"/>
    <p:sldId id="304" r:id="rId63"/>
    <p:sldId id="305" r:id="rId64"/>
    <p:sldId id="306" r:id="rId65"/>
    <p:sldId id="320" r:id="rId34"/>
    <p:sldId id="319" r:id="rId35"/>
    <p:sldId id="307" r:id="rId66"/>
    <p:sldId id="316" r:id="rId38"/>
    <p:sldId id="308" r:id="rId67"/>
    <p:sldId id="321" r:id="rId33"/>
    <p:sldId id="309" r:id="rId68"/>
    <p:sldId id="310" r:id="rId69"/>
    <p:sldId id="311" r:id="rId70"/>
    <p:sldId id="315" r:id="rId39"/>
    <p:sldId id="312" r:id="rId71"/>
    <p:sldId id="280" r:id="rId30"/>
    <p:sldId id="292" r:id="rId42"/>
    <p:sldId id="293" r:id="rId52"/>
    <p:sldId id="313" r:id="rId40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30" Type="http://schemas.openxmlformats.org/officeDocument/2006/relationships/slide" Target="slides/slide31.xml"/><Relationship Id="rId31" Type="http://schemas.openxmlformats.org/officeDocument/2006/relationships/slide" Target="slides/slide7.xml"/><Relationship Id="rId32" Type="http://schemas.openxmlformats.org/officeDocument/2006/relationships/slide" Target="slides/slide16.xml"/><Relationship Id="rId33" Type="http://schemas.openxmlformats.org/officeDocument/2006/relationships/slide" Target="slides/slide25.xml"/><Relationship Id="rId34" Type="http://schemas.openxmlformats.org/officeDocument/2006/relationships/slide" Target="slides/slide20.xml"/><Relationship Id="rId35" Type="http://schemas.openxmlformats.org/officeDocument/2006/relationships/slide" Target="slides/slide21.xml"/><Relationship Id="rId36" Type="http://schemas.openxmlformats.org/officeDocument/2006/relationships/slide" Target="slides/slide10.xml"/><Relationship Id="rId37" Type="http://schemas.openxmlformats.org/officeDocument/2006/relationships/slide" Target="slides/slide14.xml"/><Relationship Id="rId38" Type="http://schemas.openxmlformats.org/officeDocument/2006/relationships/slide" Target="slides/slide23.xml"/><Relationship Id="rId39" Type="http://schemas.openxmlformats.org/officeDocument/2006/relationships/slide" Target="slides/slide29.xml"/><Relationship Id="rId40" Type="http://schemas.openxmlformats.org/officeDocument/2006/relationships/slide" Target="slides/slide34.xml"/><Relationship Id="rId41" Type="http://schemas.openxmlformats.org/officeDocument/2006/relationships/slide" Target="slides/slide2.xml"/><Relationship Id="rId42" Type="http://schemas.openxmlformats.org/officeDocument/2006/relationships/slide" Target="slides/slide32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3.xml"/><Relationship Id="rId53" Type="http://schemas.openxmlformats.org/officeDocument/2006/relationships/slide" Target="slides/slide35.xml"/><Relationship Id="rId56" Type="http://schemas.openxmlformats.org/officeDocument/2006/relationships/slide" Target="slides/slide6.xml"/><Relationship Id="rId57" Type="http://schemas.openxmlformats.org/officeDocument/2006/relationships/slide" Target="slides/slide8.xml"/><Relationship Id="rId58" Type="http://schemas.openxmlformats.org/officeDocument/2006/relationships/slide" Target="slides/slide9.xml"/><Relationship Id="rId59" Type="http://schemas.openxmlformats.org/officeDocument/2006/relationships/slide" Target="slides/slide11.xml"/><Relationship Id="rId60" Type="http://schemas.openxmlformats.org/officeDocument/2006/relationships/slide" Target="slides/slide12.xml"/><Relationship Id="rId61" Type="http://schemas.openxmlformats.org/officeDocument/2006/relationships/slide" Target="slides/slide13.xml"/><Relationship Id="rId62" Type="http://schemas.openxmlformats.org/officeDocument/2006/relationships/slide" Target="slides/slide15.xml"/><Relationship Id="rId63" Type="http://schemas.openxmlformats.org/officeDocument/2006/relationships/slide" Target="slides/slide17.xml"/><Relationship Id="rId64" Type="http://schemas.openxmlformats.org/officeDocument/2006/relationships/slide" Target="slides/slide18.xml"/><Relationship Id="rId65" Type="http://schemas.openxmlformats.org/officeDocument/2006/relationships/slide" Target="slides/slide19.xml"/><Relationship Id="rId66" Type="http://schemas.openxmlformats.org/officeDocument/2006/relationships/slide" Target="slides/slide22.xml"/><Relationship Id="rId67" Type="http://schemas.openxmlformats.org/officeDocument/2006/relationships/slide" Target="slides/slide24.xml"/><Relationship Id="rId68" Type="http://schemas.openxmlformats.org/officeDocument/2006/relationships/slide" Target="slides/slide26.xml"/><Relationship Id="rId69" Type="http://schemas.openxmlformats.org/officeDocument/2006/relationships/slide" Target="slides/slide27.xml"/><Relationship Id="rId70" Type="http://schemas.openxmlformats.org/officeDocument/2006/relationships/slide" Target="slides/slide28.xml"/><Relationship Id="rId71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Plants vs. Zombies. The main topic: components.</a:t>
            </a:r>
          </a:p>
          <a:p>
            <a:r>
              <a:t>Start by playing the finished game, Pvz4,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Pvz4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components. We start with picking objects with the mouse, then see where inheritance breaks, then build components, then Type Object.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gar-games/09-plants-vs-zombies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Copy the shieldbearer test. Armour takes 12 (8 left), then 12 more: 8 absorbed, 4 through, so health 6: still standing.</a:t>
            </a:r>
          </a:p>
          <a:p>
            <a:r>
              <a:t>Ask: what would this test need with a ShieldbearerGoblin subclass? The whole class and its bases.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grid: one division finds the cell. Coins and cards are separate objects: check each.</a:t>
            </a:r>
          </a:p>
          <a:p>
            <a:r>
              <a:t>When they overlap, the order decides: coins first, then cards, then the field. And show what a click will do before it happens.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class per kind of thing, and one list per class in the World. It works for now.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 through the four boxes and let the class try to place each one. The third has no answer: C# has one base class.</a:t>
            </a:r>
          </a:p>
          <a:p>
            <a:r>
              <a:t>Inheritance says what something is; here what matters is what it can do.</a:t>
            </a:r>
          </a:p>
          <a:p>
            <a:r>
              <a:t>an Archer subclass</a:t>
            </a:r>
          </a:p>
          <a:p>
            <a:r>
              <a:t>that overrides... what?</a:t>
            </a:r>
          </a:p>
          <a:p>
            <a:r>
              <a:t>a Goblin subclass;</a:t>
            </a:r>
          </a:p>
          <a:p>
            <a:r>
              <a:t>armour for a defender: copy it</a:t>
            </a:r>
          </a:p>
          <a:p>
            <a:r>
              <a:t>Shoots and makes gold</a:t>
            </a:r>
          </a:p>
          <a:p>
            <a:r>
              <a:t>which parent?</a:t>
            </a:r>
          </a:p>
          <a:p>
            <a:r>
              <a:t>C# allows only one</a:t>
            </a:r>
          </a:p>
          <a:p>
            <a:r>
              <a:t>already copied:</a:t>
            </a:r>
          </a:p>
          <a:p>
            <a:r>
              <a:t>a goblin isn’t a defender</a:t>
            </a:r>
          </a:p>
          <a:p>
            <a:r>
              <a:t>Inheritance describes what something is. In this game, what it can do matters more.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costs: finding each other takes code (and may return null), the order they run in matters, and some rules have no obvious owner.</a:t>
            </a:r>
          </a:p>
          <a:p>
            <a:r>
              <a:t>Ask the third question: an arrow hits a goblin; whose rule is it? Geometry Wars answers with systems.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Angry Birds copied a configured object; here a type creates instances and keeps shared data once.</a:t>
            </a:r>
          </a:p>
          <a:p>
            <a:r>
              <a:t>Ask the question: a defender’s cost, in each defender or in its type? The type.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does inheritance break down for this game?</a:t>
            </a:r>
          </a:p>
          <a:p>
            <a:r>
              <a:t>A: The abilities (shooting, making gold, armour, walking, attacking) combine freely, but a class has one base class. Combinations mean choosing one parent and copying the other ability, and abilities shared by defenders and goblins (health) get copied too.</a:t>
            </a:r>
          </a:p>
          <a:p/>
          <a:p>
            <a:r>
              <a:t>Q: How do components in the same entity work together without knowing each other's classes in advance?</a:t>
            </a:r>
          </a:p>
          <a:p>
            <a:r>
              <a:t>A: They ask their owner for a sibling (Owner.Get&lt;Attacker&gt;()), and handle it being missing. For other entities, they ask the world.</a:t>
            </a:r>
          </a:p>
          <a:p/>
          <a:p>
            <a:r>
              <a:t>Q: What goes in a type object, and what goes in an instance?</a:t>
            </a:r>
          </a:p>
          <a:p>
            <a:r>
              <a:t>A: The type holds what all things of that kind share (cost, recharge time, sprite, starting health, and how to build one). The instance holds what's its own: its position, its current health, its timers.</a:t>
            </a:r>
          </a:p>
          <a:p/>
          <a:p>
            <a:r>
              <a:t>Q: How is picking on a grid different from picking a list of objects?</a:t>
            </a:r>
          </a:p>
          <a:p>
            <a:r>
              <a:t>A: On a grid, the cell is computed from the position with a division, however many cells there are. For separate objects, each one is checked, and the order of the checks decides which of two overlapping objects gets the click.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did the player click on? Two conversions: from the window to the game (the scale matrix, inverted), and from a point to a cell (a division).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Pvz0.</a:t>
            </a:r>
          </a:p>
          <a:p>
            <a:r>
              <a:t>- choose a card, hover the field: the highlighted cell and the faint defender</a:t>
            </a:r>
          </a:p>
          <a:p>
            <a:r>
              <a:t>- click to place a defender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Pvz1.</a:t>
            </a:r>
          </a:p>
          <a:p>
            <a:r>
              <a:t>- the Defender and Goblin hierarchies</a:t>
            </a:r>
          </a:p>
          <a:p>
            <a:r>
              <a:t>- the copied health code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entity: a position, a row and a list of components. A component: one ability. The entity updates its components.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classes for defenders or goblins: each kind is a list of components. A Wizard and a Shieldbearer are recipes. Health is written once.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Through the owner (the walker checks the attacker) or through the world (a shooter asks for a goblin ahead in its row).</a:t>
            </a:r>
          </a:p>
          <a:p>
            <a:r>
              <a:t>Depend only on the components you use.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Pvz1 and Pvz2 side by side (a diff tool, or two editor panes), then run Pvz2.</a:t>
            </a:r>
          </a:p>
          <a:p>
            <a:r>
              <a:t>- Components/</a:t>
            </a:r>
          </a:p>
          <a:p>
            <a:r>
              <a:t>- Recipes.cs</a:t>
            </a:r>
          </a:p>
          <a:p>
            <a:r>
              <a:t>- the World now has one loop over all entities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archer’s cost isn’t in any one archer: it belongs to the kind. One DefenderType per kind, loaded from defenders.json.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type builds an entity with a component for each kind of data it has. New kinds from old components need only data.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Pvz2 and Pvz3 side by side (a diff tool, or two editor panes), then run Pvz3.</a:t>
            </a:r>
          </a:p>
          <a:p>
            <a:r>
              <a:t>- defenders.json and goblins.json</a:t>
            </a:r>
          </a:p>
          <a:p>
            <a:r>
              <a:t>- Types.cs</a:t>
            </a:r>
          </a:p>
          <a:p>
            <a:r>
              <a:t>- change a cost in the JSON and run again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level from JSON, cards that recharge, gold from the sky (a coin with one more component, Faller), winning and losing.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registry of components by name. Ask what you lose: the compiler checking the data’s shape.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play a minute of Pvz4: collect gold, place a chest and an archer, watch a shieldbearer lose its shield.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Plants vs. Zombies.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Only data changes; the next run picks it up.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One recipe: Defender(...).With(new Shooter(...)).With(new GoldProducer(...)), and one AddCard line. Compare with the Wizard by inheritance.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Archer.Update fires one arrow, with its interval as a private constant. A subclass cannot change either without Archer opening up (a virtual method or a protected field).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Window.Title = $"{cell}" in Update. Off the field, CellAt returns null: not every point is a cell.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ComponentTests.cs and run dotnet test. The world is null because Health and Armour never use it.</a:t>
            </a:r>
          </a:p>
          <a:p>
            <a:r>
              <a:t>This is the testing thread from Sokoban again: small parts with clear inputs are what make tests easy.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One DefenderType for all archers, from the data file. Each archer on the field holds only what is its own.</a:t>
            </a:r>
          </a:p>
          <a:p>
            <a:r>
              <a:t>Ask: where does the cost belong? Answer: with the kind; the archer on the field has no cost.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 kinds of thing, four lists. Health is written once and used by all of them.</a:t>
            </a:r>
          </a:p>
          <a:p>
            <a:r>
              <a:t>Ask: what is a Shieldbearer? Answer: a Goblin with one more component.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steps: from window pixels to the game's virtual resolution, then from a point to a cell with a division.</a:t>
            </a:r>
          </a:p>
          <a:p>
            <a:r>
              <a:t>Ask: what does CellAt give off the field? Answer: null.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Pvz4. Ask after the first: did the Guard or the Runner need any code? Only data.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2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9-plants-vs-zombies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Relationship Id="rId4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09: Plants vs. Zombies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Plants vs. Zombies</a:t>
            </a:r>
            <a:endParaRPr/>
          </a:p>
        </p:txBody>
      </p:sp>
      <p:pic>
        <p:nvPicPr>
          <p:cNvPr id="3" name="Picture 2" descr="plants-vs-zomb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7912" y="960120"/>
            <a:ext cx="4908176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Plants vs. Zombies (PopCap Games, 2009). Screenshot © PopCap Games.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plants-vs-zombies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7203" y="1531275"/>
            <a:ext cx="5789594" cy="325664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Components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Picking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Inheritance Breaks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Component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Working Together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 Object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Prototype vs. Type Object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09-plants-vs-zombies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(Pvz0 to Pvz4, and Pvz.Tests),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Picking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What did the player click on?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the window to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screen scale matrix, backwards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a point to a cell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division, as in Mario’s tilemaps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Viewport viewport = GraphicsDevice.Viewport;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Vector2 mouse = Input.Mouse.Position.ToVector2()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- new Vector2(viewport.X, viewport.Y);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return Vector2.Transform(mouse,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Matrix.Invert(ScreenScaleMatrix));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Field.cs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Point? CellAt(Vector2 position)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(!Bounds.Contains(position))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null;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new Point(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(int)(position.X - Bounds.X) / CellWidth,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(int)(position.Y - Bounds.Y) / CellHeight);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From a Click to a Cell</a:t>
            </a:r>
            <a:endParaRPr/>
          </a:p>
        </p:txBody>
      </p:sp>
      <p:pic>
        <p:nvPicPr>
          <p:cNvPr id="3" name="Picture 2" descr="pic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713" y="1051560"/>
            <a:ext cx="8182573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Grids and Objects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grid: compute the cell. Separate objects: check each one.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field: a grid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division finds the cell,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however many cells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Coins, cards: objects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inside its rectangle?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within its radius?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548640" y="260604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When they overlap, the order of the checks decides: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146304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Coins</a:t>
            </a:r>
          </a:p>
        </p:txBody>
      </p:sp>
      <p:cxnSp>
        <p:nvCxnSpPr>
          <p:cNvPr id="299" name="Connector 298"/>
          <p:cNvCxnSpPr/>
          <p:nvPr/>
        </p:nvCxnSpPr>
        <p:spPr>
          <a:xfrm>
            <a:off x="331012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56616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Cards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541324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5669279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field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48640" y="370332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And show what a click will do, by highlighting the cell with a faint defender.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Picking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Pvz0: choose a card, click a cell to place a defender</a:t>
            </a:r>
            <a:endParaRPr sz="18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Where Is the Mouse?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Pvz0: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Show the cell under the mouse in the window title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off the field: what does CellAt give you?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Defenders and Goblins With Inheritance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class per kind of thing. It works.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1463040" y="137160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Defender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6576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Chest</a:t>
            </a:r>
          </a:p>
        </p:txBody>
      </p:sp>
      <p:cxnSp>
        <p:nvCxnSpPr>
          <p:cNvPr id="297" name="Connector 296"/>
          <p:cNvCxnSpPr/>
          <p:nvPr/>
        </p:nvCxnSpPr>
        <p:spPr>
          <a:xfrm flipV="1">
            <a:off x="1024128" y="1892807"/>
            <a:ext cx="1444752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Rounded Rectangle 297"/>
          <p:cNvSpPr/>
          <p:nvPr/>
        </p:nvSpPr>
        <p:spPr>
          <a:xfrm>
            <a:off x="182880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Archer</a:t>
            </a:r>
          </a:p>
        </p:txBody>
      </p:sp>
      <p:cxnSp>
        <p:nvCxnSpPr>
          <p:cNvPr id="299" name="Connector 298"/>
          <p:cNvCxnSpPr/>
          <p:nvPr/>
        </p:nvCxnSpPr>
        <p:spPr>
          <a:xfrm flipH="1" flipV="1">
            <a:off x="2468880" y="1892807"/>
            <a:ext cx="1828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29184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Knight</a:t>
            </a:r>
          </a:p>
        </p:txBody>
      </p:sp>
      <p:cxnSp>
        <p:nvCxnSpPr>
          <p:cNvPr id="301" name="Connector 300"/>
          <p:cNvCxnSpPr/>
          <p:nvPr/>
        </p:nvCxnSpPr>
        <p:spPr>
          <a:xfrm flipH="1" flipV="1">
            <a:off x="2468880" y="1892807"/>
            <a:ext cx="148132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846320" y="137160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Goblin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35508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Arrow</a:t>
            </a:r>
          </a:p>
        </p:txBody>
      </p:sp>
      <p:sp>
        <p:nvSpPr>
          <p:cNvPr id="304" name="Rounded Rectangle 303"/>
          <p:cNvSpPr/>
          <p:nvPr/>
        </p:nvSpPr>
        <p:spPr>
          <a:xfrm>
            <a:off x="758952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Coin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65760" y="31089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World keeps one list per class.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Where Inheritance Breaks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new things. Where does each one go?</a:t>
            </a:r>
            <a:endParaRPr/>
          </a:p>
        </p:txBody>
      </p:sp>
      <p:pic>
        <p:nvPicPr>
          <p:cNvPr id="295" name="Picture 294" descr="inheri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8229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Inheritance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Pvz1: defenders and goblins as a class hierarchy</a:t>
            </a:r>
            <a:endParaRPr sz="1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Wizard, by Inheritance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a Wizard, an Archer that shoots two arrows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far do you get before Archer has to change?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Component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many domains (drawing, health, shooting), not coupled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entity: a position, a row, and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component: one ability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Health, Shooter, GoldProducer, Walker, Attacker, Armour, SpriteRenderer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Entity(World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List&lt;Component&gt; _components = [];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Vector2 Position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int Row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Entity With(Component c)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T Get&lt;T&gt;() where T : Component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foreach (Component c in _components)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c.Update(dt);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 Entity Is a List of Components</a:t>
            </a:r>
            <a:endParaRPr/>
          </a:p>
        </p:txBody>
      </p:sp>
      <p:pic>
        <p:nvPicPr>
          <p:cNvPr id="3" name="Picture 2" descr="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51560"/>
            <a:ext cx="7955279" cy="397763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Recipes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No classes for defenders or goblins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kind of thing is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Wizard, Shieldbearer: no new classes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Shoots and makes gold: two .With calls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Health: written once, for defenders and goblins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Chest(World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Defender(world, "chest",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GoldProducer(9, 25));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Wizard(World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Defender(world, "wizard",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Shooter(1.4f, 2, 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Goblin(World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SpriteRenderer(goblin))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Health(10))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Walker(28))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Attacker(1));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Shieldbearer(World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Goblin(world).With(new Armour(18, shield));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Working Together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owner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Walker stops while the Attacker attacks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 lets the Armour go first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world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Shooter: a goblin ahead in my row?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Depend only on the components you use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world: one loop for everything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Walker.cs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override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(Owner.Get&lt;Attacker&gt;()?.IsAttacking == true)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Owner.Position -=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Vector2(speed * dt, 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Shooter.cs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(_cooldown &lt;= 0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World.FirstGoblinAhead(Owner.Row,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Owner.Position.X)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Fire();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Components Cost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aren’t free.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Finding each other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Get&lt;Attacker&gt;() searches a list,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and may return null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Order matters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 update and draw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the order they were added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does a rule go?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arrow hits a goblin: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arrow’s rule, or the goblin’s?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9260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Geometry Wars moves rules like that into systems.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a Component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with one job can be tested on its own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entity with only the parts under test: no field, no textures, no game running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Pvz.Tests: health, armour first, a lifetime that runs out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An Armour Test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Pvz.Tests: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goblin with armour 20 and health 10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Still standing after two hits of 12?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Run dotnet test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 → Pvz2: from a class hierarchy to components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New Defender From Parts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Pvz2’s Recipes: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defender that shoots and makes gold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it a card in Game1 (chest sprite)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new code?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 Object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archer’s cost: not in any one archer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DefenderType per kind of defender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Loaded from defenders.json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Types hold what all instances share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Instances hold their own state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defenders.json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"Chest",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"chest",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50,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"goldProducer":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9, "amount": 25 } },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"Wizard",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"wizard",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200,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"shooter":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1.4, "shots": 2,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"damage": 1 }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 and Instances</a:t>
            </a:r>
            <a:endParaRPr/>
          </a:p>
        </p:txBody>
      </p:sp>
      <p:pic>
        <p:nvPicPr>
          <p:cNvPr id="3" name="Picture 2" descr="type-obje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381" y="1051560"/>
            <a:ext cx="8423237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Type Creates Instances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 for each kind of data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New kinds from old components: data only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An Ironclad: a goblin type with armour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ability: one component, and data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Bomb: Explode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Entity Create(World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var defender =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world.Atlas.GetRegion(Sprite)))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Health(Health));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(Shooter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defender.Add(new Shooter(Shooter.Interval,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Shooter.Shots, Shooter.Damage));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(GoldProducer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defender.Add(new GoldProducer(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GoldProducer.Interval, GoldProducer.Amount));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defender;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Prototype vs. Type Object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ways to make many things of one kind.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Prototype (Angry Birds)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copy a configured object;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copied into each clone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“more like this one”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Type Object (here)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type class creates instances;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kept once, in the type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kinds with their own data and rules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1546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defender’s cost: in each defender, or in its type?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Type Object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Pvz3: defender and goblin types from JSON</a:t>
            </a:r>
            <a:endParaRPr sz="18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Balance by Data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defenders.json: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Knight that costs 25 and takes twice the hits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Chest that makes 50 gold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Did you compile anything?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level from level1.json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Starting gold, gold from the sky, which goblin comes when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Cards recharge after use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states: play, and the end (won or lost)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Falling gold: a coin with one more component, Faller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Plants vs. Zombies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Pvz4: the whole game</a:t>
            </a:r>
            <a:endParaRPr sz="18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Pvz4,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types: a Guard and a Runner. Any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Frost Wizard: arrows that slow goblins down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component, where, and how does the data say so?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shield for defenders. Can you reuse Armour?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pitchfork that sends the defender you click back into the castle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DefenderType.Create has an if for every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List components by name in the JSON, with a registry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you gain, and what do you lose?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the compiler checking the data’s shape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does inheritance break down for this game?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components in one entity work together without knowing each other’s classes?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goes in a type object, and what goes in an instance?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picking on a grid different from picking a list of objects?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subclasses exist only to combine abilities?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abilities could become components?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data belongs to a kind of thing? Could it be a data file?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your game find out what was clicked?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