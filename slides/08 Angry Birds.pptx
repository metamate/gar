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23" r:id="rId31"/>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22" r:id="rId32"/>
    <p:sldId id="308" r:id="rId67"/>
    <p:sldId id="316" r:id="rId38"/>
    <p:sldId id="309" r:id="rId68"/>
    <p:sldId id="321" r:id="rId33"/>
    <p:sldId id="310" r:id="rId69"/>
    <p:sldId id="311" r:id="rId70"/>
    <p:sldId id="315" r:id="rId39"/>
    <p:sldId id="312" r:id="rId71"/>
    <p:sldId id="324" r:id="rId29"/>
    <p:sldId id="280" r:id="rId30"/>
    <p:sldId id="325" r:id="rId28"/>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28" Type="http://schemas.openxmlformats.org/officeDocument/2006/relationships/slide" Target="slides/slide33.xml"/><Relationship Id="rId29" Type="http://schemas.openxmlformats.org/officeDocument/2006/relationships/slide" Target="slides/slide31.xml"/><Relationship Id="rId30" Type="http://schemas.openxmlformats.org/officeDocument/2006/relationships/slide" Target="slides/slide32.xml"/><Relationship Id="rId31" Type="http://schemas.openxmlformats.org/officeDocument/2006/relationships/slide" Target="slides/slide7.xml"/><Relationship Id="rId32" Type="http://schemas.openxmlformats.org/officeDocument/2006/relationships/slide" Target="slides/slide22.xml"/><Relationship Id="rId33" Type="http://schemas.openxmlformats.org/officeDocument/2006/relationships/slide" Target="slides/slide26.xml"/><Relationship Id="rId34" Type="http://schemas.openxmlformats.org/officeDocument/2006/relationships/slide" Target="slides/slide9.xml"/><Relationship Id="rId35" Type="http://schemas.openxmlformats.org/officeDocument/2006/relationships/slide" Target="slides/slide8.xml"/><Relationship Id="rId36" Type="http://schemas.openxmlformats.org/officeDocument/2006/relationships/slide" Target="slides/slide13.xml"/><Relationship Id="rId37" Type="http://schemas.openxmlformats.org/officeDocument/2006/relationships/slide" Target="slides/slide19.xml"/><Relationship Id="rId38" Type="http://schemas.openxmlformats.org/officeDocument/2006/relationships/slide" Target="slides/slide24.xml"/><Relationship Id="rId39" Type="http://schemas.openxmlformats.org/officeDocument/2006/relationships/slide" Target="slides/slide29.xml"/><Relationship Id="rId40" Type="http://schemas.openxmlformats.org/officeDocument/2006/relationships/slide" Target="slides/slide36.xml"/><Relationship Id="rId41" Type="http://schemas.openxmlformats.org/officeDocument/2006/relationships/slide" Target="slides/slide2.xml"/><Relationship Id="rId42" Type="http://schemas.openxmlformats.org/officeDocument/2006/relationships/slide" Target="slides/slide34.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5.xml"/><Relationship Id="rId53" Type="http://schemas.openxmlformats.org/officeDocument/2006/relationships/slide" Target="slides/slide37.xml"/><Relationship Id="rId56" Type="http://schemas.openxmlformats.org/officeDocument/2006/relationships/slide" Target="slides/slide6.xml"/><Relationship Id="rId57" Type="http://schemas.openxmlformats.org/officeDocument/2006/relationships/slide" Target="slides/slide10.xml"/><Relationship Id="rId58" Type="http://schemas.openxmlformats.org/officeDocument/2006/relationships/slide" Target="slides/slide11.xml"/><Relationship Id="rId59" Type="http://schemas.openxmlformats.org/officeDocument/2006/relationships/slide" Target="slides/slide12.xml"/><Relationship Id="rId60" Type="http://schemas.openxmlformats.org/officeDocument/2006/relationships/slide" Target="slides/slide14.xml"/><Relationship Id="rId61" Type="http://schemas.openxmlformats.org/officeDocument/2006/relationships/slide" Target="slides/slide15.xml"/><Relationship Id="rId62" Type="http://schemas.openxmlformats.org/officeDocument/2006/relationships/slide" Target="slides/slide16.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3.xml"/><Relationship Id="rId68" Type="http://schemas.openxmlformats.org/officeDocument/2006/relationships/slide" Target="slides/slide25.xml"/><Relationship Id="rId69" Type="http://schemas.openxmlformats.org/officeDocument/2006/relationships/slide" Target="slides/slide27.xml"/><Relationship Id="rId70" Type="http://schemas.openxmlformats.org/officeDocument/2006/relationships/slide" Target="slides/slide28.xml"/><Relationship Id="rId71"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physics library.</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using a physics library without letting it spread through the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session in one slide. Read each concern aloud and let the class give the answer before pointing at 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MemberwiseClone copies references. Sharing the sprite is fine; sharing a body would make two blocks one.</a:t>
            </a:r>
          </a:p>
          <a:p>
            <a:r>
              <a:t>Clone therefore clears the body, and Spawn makes a new one.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a:p>
            <a:r>
              <a:t>pixels, y down,</a:t>
            </a:r>
          </a:p>
          <a:p>
            <a:r>
              <a:t>metres, y up,</a:t>
            </a:r>
          </a:p>
          <a:p>
            <a:r>
              <a:t>counter-clockwise</a:t>
            </a:r>
          </a:p>
          <a:p>
            <a:r>
              <a:t>Forget one conversion. What do you see?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For every field that refers to an object, the copy points to the same object. Sharing an unchanging sprite is fine, but sharing a physics body would make two entities one. The clone therefore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as students built for the sounds; here Box2D keeps the queue and PhysicsWorld drains it after each step. The game subscribes with += as in Zelda.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Hits only mark entities as destroyed. They are removed when the step and all its hits are done.</a:t>
            </a:r>
          </a:p>
          <a:p>
            <a:r>
              <a:t>Ask: what goes wrong if the handler destroys the body? Answer: a later hit may be about it, and a list may be mid-loop.</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Static: the ground. Kinematic: moves as you tell it, and pushes without being pushed. Dynamic: everything gravity and collisions move.</a:t>
            </a:r>
          </a:p>
          <a:p>
            <a:r>
              <a:t>The physics samples show each one.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Who holds what in the finished Angry Birds. Only PhysicsWorld and PhysicsBody touch Box2D.</a:t>
            </a:r>
          </a:p>
          <a:p>
            <a:r>
              <a:t>Ask: which boxes would change if the physics library were swapped?</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explosive crate,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angry-bird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Using a physics library</a:t>
            </a:r>
            <a:endParaRPr/>
          </a:p>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 stacks that tip, bounce and break, we use Box2D.</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Three Kinds of Body</a:t>
            </a:r>
            <a:endParaRPr/>
          </a:p>
        </p:txBody>
      </p:sp>
      <p:pic>
        <p:nvPicPr>
          <p:cNvPr id="3" name="Picture 2" descr="body-types.png"/>
          <p:cNvPicPr>
            <a:picLocks noChangeAspect="1"/>
          </p:cNvPicPr>
          <p:nvPr/>
        </p:nvPicPr>
        <p:blipFill>
          <a:blip r:embed="rId2"/>
          <a:stretch>
            <a:fillRect/>
          </a:stretch>
        </p:blipFill>
        <p:spPr>
          <a:xfrm>
            <a:off x="320039" y="1051560"/>
            <a:ext cx="8503920" cy="33070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and it falls in slow motion.</a:t>
            </a:r>
            <a:endParaRPr/>
          </a:p>
        </p:txBody>
      </p:sp>
      <p:pic>
        <p:nvPicPr>
          <p:cNvPr id="295" name="Picture 294" descr="two-worlds.png"/>
          <p:cNvPicPr>
            <a:picLocks noChangeAspect="1"/>
          </p:cNvPicPr>
          <p:nvPr/>
        </p:nvPicPr>
        <p:blipFill>
          <a:blip r:embed="rId3"/>
          <a:stretch>
            <a:fillRect/>
          </a:stretch>
        </p:blipFill>
        <p:spPr>
          <a:xfrm>
            <a:off x="914400" y="1371600"/>
            <a:ext cx="7315200" cy="36576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so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It speaks our language, in pixels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Mark Now, Remove Later</a:t>
            </a:r>
            <a:endParaRPr/>
          </a:p>
        </p:txBody>
      </p:sp>
      <p:pic>
        <p:nvPicPr>
          <p:cNvPr id="3" name="Picture 2" descr="destroy-safely.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kept outside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Shallow Copy</a:t>
            </a:r>
            <a:endParaRPr/>
          </a:p>
        </p:txBody>
      </p:sp>
      <p:pic>
        <p:nvPicPr>
          <p:cNvPr id="3" name="Picture 2" descr="shallow-copy.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Whole Game: Who Holds What</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Box2D is reached from the Physics folder only.</a:t>
            </a:r>
            <a:endParaRPr/>
          </a:p>
        </p:txBody>
      </p:sp>
      <p:sp>
        <p:nvSpPr>
          <p:cNvPr id="4" name="Rounded Rectangle 3"/>
          <p:cNvSpPr/>
          <p:nvPr/>
        </p:nvSpPr>
        <p:spPr>
          <a:xfrm>
            <a:off x="3429000" y="1481328"/>
            <a:ext cx="2286000" cy="566928"/>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Game1 : Core</a:t>
            </a:r>
          </a:p>
        </p:txBody>
      </p:sp>
      <p:sp>
        <p:nvSpPr>
          <p:cNvPr id="5" name="Rounded Rectangle 4"/>
          <p:cNvSpPr/>
          <p:nvPr/>
        </p:nvSpPr>
        <p:spPr>
          <a:xfrm>
            <a:off x="374903" y="259689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 states</a:t>
            </a:r>
          </a:p>
          <a:p>
            <a:pPr algn="ctr"/>
            <a:r>
              <a:rPr sz="1100" b="0">
                <a:solidFill>
                  <a:srgbClr val="9AA3AB"/>
                </a:solidFill>
              </a:rPr>
              <a:t>aim, fly, level end</a:t>
            </a:r>
          </a:p>
        </p:txBody>
      </p:sp>
      <p:cxnSp>
        <p:nvCxnSpPr>
          <p:cNvPr id="6" name="Connector 5"/>
          <p:cNvCxnSpPr/>
          <p:nvPr/>
        </p:nvCxnSpPr>
        <p:spPr>
          <a:xfrm flipH="1">
            <a:off x="1170432" y="2066544"/>
            <a:ext cx="3401568"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075688" y="259689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PhysicsWorld</a:t>
            </a:r>
          </a:p>
          <a:p>
            <a:pPr algn="ctr"/>
            <a:r>
              <a:rPr sz="1100" b="0">
                <a:solidFill>
                  <a:srgbClr val="9AA3AB"/>
                </a:solidFill>
              </a:rPr>
              <a:t>the facade</a:t>
            </a:r>
          </a:p>
        </p:txBody>
      </p:sp>
      <p:sp>
        <p:nvSpPr>
          <p:cNvPr id="8" name="Rounded Rectangle 7"/>
          <p:cNvSpPr/>
          <p:nvPr/>
        </p:nvSpPr>
        <p:spPr>
          <a:xfrm>
            <a:off x="2075688" y="3712464"/>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Box2D</a:t>
            </a:r>
          </a:p>
          <a:p>
            <a:pPr algn="ctr"/>
            <a:r>
              <a:rPr sz="1100" b="0">
                <a:solidFill>
                  <a:srgbClr val="9AA3AB"/>
                </a:solidFill>
              </a:rPr>
              <a:t>the library</a:t>
            </a:r>
          </a:p>
        </p:txBody>
      </p:sp>
      <p:cxnSp>
        <p:nvCxnSpPr>
          <p:cNvPr id="9" name="Connector 8"/>
          <p:cNvCxnSpPr/>
          <p:nvPr/>
        </p:nvCxnSpPr>
        <p:spPr>
          <a:xfrm>
            <a:off x="2871216" y="3182112"/>
            <a:ext cx="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2871216" y="2066544"/>
            <a:ext cx="1700784"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776472" y="259689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Prefabs</a:t>
            </a:r>
          </a:p>
          <a:p>
            <a:pPr algn="ctr"/>
            <a:r>
              <a:rPr sz="1100" b="0">
                <a:solidFill>
                  <a:srgbClr val="9AA3AB"/>
                </a:solidFill>
              </a:rPr>
              <a:t>clones entities</a:t>
            </a:r>
          </a:p>
        </p:txBody>
      </p:sp>
      <p:cxnSp>
        <p:nvCxnSpPr>
          <p:cNvPr id="12" name="Connector 11"/>
          <p:cNvCxnSpPr/>
          <p:nvPr/>
        </p:nvCxnSpPr>
        <p:spPr>
          <a:xfrm>
            <a:off x="4572000" y="2066544"/>
            <a:ext cx="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77256" y="259689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Entities</a:t>
            </a:r>
          </a:p>
          <a:p>
            <a:pPr algn="ctr"/>
            <a:r>
              <a:rPr sz="1100" b="0">
                <a:solidFill>
                  <a:srgbClr val="9AA3AB"/>
                </a:solidFill>
              </a:rPr>
              <a:t>blocks, pigs, the bird</a:t>
            </a:r>
          </a:p>
        </p:txBody>
      </p:sp>
      <p:sp>
        <p:nvSpPr>
          <p:cNvPr id="14" name="Rounded Rectangle 13"/>
          <p:cNvSpPr/>
          <p:nvPr/>
        </p:nvSpPr>
        <p:spPr>
          <a:xfrm>
            <a:off x="5477256" y="3712464"/>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PhysicsBody</a:t>
            </a:r>
          </a:p>
          <a:p>
            <a:pPr algn="ctr"/>
            <a:r>
              <a:rPr sz="1100" b="0">
                <a:solidFill>
                  <a:srgbClr val="9AA3AB"/>
                </a:solidFill>
              </a:rPr>
              <a:t>the adapter</a:t>
            </a:r>
          </a:p>
        </p:txBody>
      </p:sp>
      <p:cxnSp>
        <p:nvCxnSpPr>
          <p:cNvPr id="15" name="Connector 14"/>
          <p:cNvCxnSpPr/>
          <p:nvPr/>
        </p:nvCxnSpPr>
        <p:spPr>
          <a:xfrm>
            <a:off x="6272784" y="3182112"/>
            <a:ext cx="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572000" y="2066544"/>
            <a:ext cx="1700784"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178040" y="259689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Slingshot</a:t>
            </a:r>
          </a:p>
        </p:txBody>
      </p:sp>
      <p:cxnSp>
        <p:nvCxnSpPr>
          <p:cNvPr id="18" name="Connector 17"/>
          <p:cNvCxnSpPr/>
          <p:nvPr/>
        </p:nvCxnSpPr>
        <p:spPr>
          <a:xfrm>
            <a:off x="4572000" y="2066544"/>
            <a:ext cx="3401568"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62272"/>
            <a:ext cx="8229600" cy="365760"/>
          </a:xfrm>
          <a:prstGeom prst="rect">
            <a:avLst/>
          </a:prstGeom>
          <a:noFill/>
        </p:spPr>
        <p:txBody>
          <a:bodyPr wrap="square">
            <a:spAutoFit/>
          </a:bodyPr>
          <a:lstStyle/>
          <a:p>
            <a:pPr algn="ctr"/>
            <a:r>
              <a:rPr sz="1300" b="0" i="0">
                <a:solidFill>
                  <a:srgbClr val="9AA3AB"/>
                </a:solidFill>
              </a:rPr>
              <a:t>A level file names prefabs, and Prefabs clones them into the world.</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Summary</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Seven concerns, and this session’s answer to each.</a:t>
            </a:r>
            <a:endParaRPr/>
          </a:p>
        </p:txBody>
      </p:sp>
      <p:sp>
        <p:nvSpPr>
          <p:cNvPr id="4" name="Rounded Rectangle 3"/>
          <p:cNvSpPr/>
          <p:nvPr/>
        </p:nvSpPr>
        <p:spPr>
          <a:xfrm>
            <a:off x="5486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library that doesn’t fit our code</a:t>
            </a:r>
          </a:p>
          <a:p>
            <a:pPr algn="ctr"/>
            <a:r>
              <a:rPr sz="1300" b="0">
                <a:solidFill>
                  <a:srgbClr val="9AA3AB"/>
                </a:solidFill>
              </a:rPr>
              <a:t>Adapter: PhysicsBody</a:t>
            </a:r>
          </a:p>
        </p:txBody>
      </p:sp>
      <p:sp>
        <p:nvSpPr>
          <p:cNvPr id="5" name="Rounded Rectangle 4"/>
          <p:cNvSpPr/>
          <p:nvPr/>
        </p:nvSpPr>
        <p:spPr>
          <a:xfrm>
            <a:off x="32918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big library, little needed</a:t>
            </a:r>
          </a:p>
          <a:p>
            <a:pPr algn="ctr"/>
            <a:r>
              <a:rPr sz="1300" b="0">
                <a:solidFill>
                  <a:srgbClr val="9AA3AB"/>
                </a:solidFill>
              </a:rPr>
              <a:t>Facade: PhysicsWorld</a:t>
            </a:r>
          </a:p>
        </p:txBody>
      </p:sp>
      <p:sp>
        <p:nvSpPr>
          <p:cNvPr id="6" name="Rounded Rectangle 5"/>
          <p:cNvSpPr/>
          <p:nvPr/>
        </p:nvSpPr>
        <p:spPr>
          <a:xfrm>
            <a:off x="60350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Metres and pixels</a:t>
            </a:r>
          </a:p>
          <a:p>
            <a:pPr algn="ctr"/>
            <a:r>
              <a:rPr sz="1300" b="0">
                <a:solidFill>
                  <a:srgbClr val="9AA3AB"/>
                </a:solidFill>
              </a:rPr>
              <a:t>One class converts: Units</a:t>
            </a:r>
          </a:p>
        </p:txBody>
      </p:sp>
      <p:sp>
        <p:nvSpPr>
          <p:cNvPr id="7" name="Rounded Rectangle 6"/>
          <p:cNvSpPr/>
          <p:nvPr/>
        </p:nvSpPr>
        <p:spPr>
          <a:xfrm>
            <a:off x="5486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Who owns a position</a:t>
            </a:r>
          </a:p>
          <a:p>
            <a:pPr algn="ctr"/>
            <a:r>
              <a:rPr sz="1300" b="0">
                <a:solidFill>
                  <a:srgbClr val="9AA3AB"/>
                </a:solidFill>
              </a:rPr>
              <a:t>The physics world</a:t>
            </a:r>
          </a:p>
        </p:txBody>
      </p:sp>
      <p:sp>
        <p:nvSpPr>
          <p:cNvPr id="8" name="Rounded Rectangle 7"/>
          <p:cNvSpPr/>
          <p:nvPr/>
        </p:nvSpPr>
        <p:spPr>
          <a:xfrm>
            <a:off x="32918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What hit what</a:t>
            </a:r>
          </a:p>
          <a:p>
            <a:pPr algn="ctr"/>
            <a:r>
              <a:rPr sz="1300" b="0">
                <a:solidFill>
                  <a:srgbClr val="9AA3AB"/>
                </a:solidFill>
              </a:rPr>
              <a:t>Hit events, as a C# event</a:t>
            </a:r>
          </a:p>
        </p:txBody>
      </p:sp>
      <p:sp>
        <p:nvSpPr>
          <p:cNvPr id="9" name="Rounded Rectangle 8"/>
          <p:cNvSpPr/>
          <p:nvPr/>
        </p:nvSpPr>
        <p:spPr>
          <a:xfrm>
            <a:off x="60350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Removing things safely</a:t>
            </a:r>
          </a:p>
          <a:p>
            <a:pPr algn="ctr"/>
            <a:r>
              <a:rPr sz="1300" b="0">
                <a:solidFill>
                  <a:srgbClr val="9AA3AB"/>
                </a:solidFill>
              </a:rPr>
              <a:t>Mark now, remove after the step</a:t>
            </a:r>
          </a:p>
        </p:txBody>
      </p:sp>
      <p:sp>
        <p:nvSpPr>
          <p:cNvPr id="10" name="Rounded Rectangle 9"/>
          <p:cNvSpPr/>
          <p:nvPr/>
        </p:nvSpPr>
        <p:spPr>
          <a:xfrm>
            <a:off x="3291840" y="3374136"/>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Many kinds of blocks and pigs</a:t>
            </a:r>
          </a:p>
          <a:p>
            <a:pPr algn="ctr"/>
            <a:r>
              <a:rPr sz="1300" b="0">
                <a:solidFill>
                  <a:srgbClr val="9AA3AB"/>
                </a:solidFill>
              </a:rPr>
              <a:t>Prototype</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An explosive crate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