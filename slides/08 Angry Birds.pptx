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4" r:id="rId41"/>
    <p:sldId id="257" r:id="rId7"/>
    <p:sldId id="258" r:id="rId8"/>
    <p:sldId id="259" r:id="rId9"/>
    <p:sldId id="297" r:id="rId56"/>
    <p:sldId id="319" r:id="rId35"/>
    <p:sldId id="320" r:id="rId34"/>
    <p:sldId id="298" r:id="rId57"/>
    <p:sldId id="299" r:id="rId58"/>
    <p:sldId id="300" r:id="rId59"/>
    <p:sldId id="318" r:id="rId36"/>
    <p:sldId id="301" r:id="rId60"/>
    <p:sldId id="302" r:id="rId61"/>
    <p:sldId id="303" r:id="rId62"/>
    <p:sldId id="304" r:id="rId63"/>
    <p:sldId id="305" r:id="rId64"/>
    <p:sldId id="317" r:id="rId37"/>
    <p:sldId id="306" r:id="rId65"/>
    <p:sldId id="307" r:id="rId66"/>
    <p:sldId id="308" r:id="rId67"/>
    <p:sldId id="316" r:id="rId38"/>
    <p:sldId id="309" r:id="rId68"/>
    <p:sldId id="310" r:id="rId69"/>
    <p:sldId id="311" r:id="rId70"/>
    <p:sldId id="315" r:id="rId39"/>
    <p:sldId id="312" r:id="rId71"/>
    <p:sldId id="280" r:id="rId30"/>
    <p:sldId id="292" r:id="rId42"/>
    <p:sldId id="293" r:id="rId52"/>
    <p:sldId id="313" r:id="rId40"/>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4" Type="http://schemas.openxmlformats.org/officeDocument/2006/relationships/slide" Target="slides/slide8.xml"/><Relationship Id="rId35" Type="http://schemas.openxmlformats.org/officeDocument/2006/relationships/slide" Target="slides/slide7.xml"/><Relationship Id="rId36" Type="http://schemas.openxmlformats.org/officeDocument/2006/relationships/slide" Target="slides/slide12.xml"/><Relationship Id="rId37" Type="http://schemas.openxmlformats.org/officeDocument/2006/relationships/slide" Target="slides/slide18.xml"/><Relationship Id="rId38" Type="http://schemas.openxmlformats.org/officeDocument/2006/relationships/slide" Target="slides/slide22.xml"/><Relationship Id="rId39" Type="http://schemas.openxmlformats.org/officeDocument/2006/relationships/slide" Target="slides/slide26.xml"/><Relationship Id="rId40" Type="http://schemas.openxmlformats.org/officeDocument/2006/relationships/slide" Target="slides/slide31.xml"/><Relationship Id="rId41" Type="http://schemas.openxmlformats.org/officeDocument/2006/relationships/slide" Target="slides/slide2.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9.xml"/><Relationship Id="rId58" Type="http://schemas.openxmlformats.org/officeDocument/2006/relationships/slide" Target="slides/slide10.xml"/><Relationship Id="rId59" Type="http://schemas.openxmlformats.org/officeDocument/2006/relationships/slide" Target="slides/slide11.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71"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using a library behind your own interface.</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using a third-party library without letting it spread through your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gar-games/08-angry-birds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Every field that refers to an object: the copy points to the same object. Sharing an unchanging sprite is fine, but sharing a physics body would make two entities one. So the clone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a:p>
            <a:r>
              <a:t>Point back to Zelda: collected now, handled later is an event queue, and the game subscribes with += as there.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 not a subclass.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Angry Birds. Ask who has played it, and what they remember of how it plays.</a:t>
            </a:r>
          </a:p>
          <a:p>
            <a:r>
              <a:t>Today we build the parts that matter for the architecture, not the whole game.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None: the prefab names and positions are data. A kind of block that doesn’t exist yet would be one line in Prefabs.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damage = speed / 100 in OnHit. Glass breaks at the slightest touch, and some huts fall apart before the first bird.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One line in Physics/Units.cs. Compare with Birds0: that difference is what the adapter is for.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constant is used all through Game1. At 10, a block is five times bigger in metres, so it falls like a building: slowly.</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PhysicsSamples and go through the scenes.</a:t>
            </a:r>
          </a:p>
          <a:p>
            <a:r>
              <a:t>1: static (orange), kinematic (magenta: moves at its own velocity, pushes, is never pushed), dynamic (green, blue when asleep).</a:t>
            </a:r>
          </a:p>
          <a:p>
            <a:r>
              <a:t>2: restitution, how much speed a bounce keeps. 3: friction, the same slope. 4: density, the same ball fifty times heavier.</a:t>
            </a:r>
          </a:p>
          <a:p>
            <a:r>
              <a:t>5: sleeping, the pile turns blue; drop a box in to wake it. 6: joints: a hinged pendulum and chain, a rope that goes slack, a welded hammer.</a:t>
            </a:r>
          </a:p>
          <a:p>
            <a:r>
              <a:t>Mention: the samples use the game’s facade, which got BodyType and joint methods so they could make a kinematic platform and joints.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platform: its velocity and the two turning points in BodyTypesScene.</a:t>
            </a:r>
          </a:p>
          <a:p>
            <a:r>
              <a:t>The friction: about 0.23, not tan 26° (about 0.48). Box2D combines two frictions as the square root of their product, and the slope’s friction is 1: the square root of 0.23 is 0.48. A good reason to read what a library does.</a:t>
            </a:r>
          </a:p>
          <a:p>
            <a:r>
              <a:t>The chain: Rope(lastLink, ball, ...) instead of Rope(hook, ball, ...), keeping the last link in a variable.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TNT exercise,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Angry Birds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Angry Birds</a:t>
            </a:r>
            <a:endParaRPr/>
          </a:p>
        </p:txBody>
      </p:sp>
      <p:pic>
        <p:nvPicPr>
          <p:cNvPr id="3" name="Picture 2" descr="angry-birds.png"/>
          <p:cNvPicPr>
            <a:picLocks noChangeAspect="1"/>
          </p:cNvPicPr>
          <p:nvPr/>
        </p:nvPicPr>
        <p:blipFill>
          <a:blip r:embed="rId2"/>
          <a:stretch>
            <a:fillRect/>
          </a:stretch>
        </p:blipFill>
        <p:spPr>
          <a:xfrm>
            <a:off x="1179443" y="960120"/>
            <a:ext cx="6785113"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Angry Birds (Rovio, 2009). Image: Sony Pictures,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birds.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08-angry-birds</a:t>
            </a:r>
            <a:endParaRPr/>
          </a:p>
          <a:p>
            <a:pPr indent="-330200" lvl="0" marL="457200" rtl="0" algn="l">
              <a:spcBef>
                <a:spcPts val="0"/>
              </a:spcBef>
              <a:spcAft>
                <a:spcPts val="0"/>
              </a:spcAft>
              <a:buSzPts val="1600"/>
              <a:buChar char="●"/>
            </a:pPr>
            <a:r>
              <a:rPr lang="en"/>
              <a:t>Its README: the steps (Birds0 to Birds4),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Stacks that tip, bounce and break: we use Box2D, not our own physics.</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Physics Samples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Next to the steps: PhysicsSamples, one idea per scene</a:t>
            </a:r>
            <a:endParaRPr/>
          </a:p>
          <a:p>
            <a:pPr indent="-330200" lvl="0" marL="457200" rtl="0" algn="l">
              <a:spcBef>
                <a:spcPts val="0"/>
              </a:spcBef>
              <a:spcAft>
                <a:spcPts val="0"/>
              </a:spcAft>
              <a:buSzPts val="1600"/>
              <a:buChar char="●"/>
            </a:pPr>
            <a:r>
              <a:rPr lang="en"/>
              <a:t>Body types, bounce, friction, density, sleeping, joints</a:t>
            </a:r>
            <a:endParaRPr/>
          </a:p>
          <a:p>
            <a:pPr indent="-330200" lvl="0" marL="457200" rtl="0" algn="l">
              <a:spcBef>
                <a:spcPts val="0"/>
              </a:spcBef>
              <a:spcAft>
                <a:spcPts val="0"/>
              </a:spcAft>
              <a:buSzPts val="1600"/>
              <a:buChar char="●"/>
            </a:pPr>
            <a:r>
              <a:rPr lang="en"/>
              <a:t>Keys 1 to 6; click: a box, Space: a ball, R: again</a:t>
            </a:r>
            <a:endParaRPr/>
          </a:p>
        </p:txBody>
      </p:sp>
      <p:pic>
        <p:nvPicPr>
          <p:cNvPr id="4" name="Picture 3" descr="f000.png"/>
          <p:cNvPicPr>
            <a:picLocks noChangeAspect="1"/>
          </p:cNvPicPr>
          <p:nvPr/>
        </p:nvPicPr>
        <p:blipFill>
          <a:blip r:embed="rId3"/>
          <a:stretch>
            <a:fillRect/>
          </a:stretch>
        </p:blipFill>
        <p:spPr>
          <a:xfrm>
            <a:off x="2194560" y="1920240"/>
            <a:ext cx="4714240" cy="26517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Physics Samples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PhysicsSamples:</a:t>
            </a:r>
            <a:endParaRPr/>
          </a:p>
          <a:p>
            <a:pPr indent="-330200" lvl="0" marL="457200" rtl="0" algn="l">
              <a:spcBef>
                <a:spcPts val="0"/>
              </a:spcBef>
              <a:spcAft>
                <a:spcPts val="0"/>
              </a:spcAft>
              <a:buSzPts val="1600"/>
              <a:buChar char="●"/>
            </a:pPr>
            <a:r>
              <a:rPr lang="en"/>
              <a:t>Make the platform move up and down instead of sideways</a:t>
            </a:r>
            <a:endParaRPr/>
          </a:p>
          <a:p>
            <a:pPr indent="-330200" lvl="0" marL="457200" rtl="0" algn="l">
              <a:spcBef>
                <a:spcPts val="0"/>
              </a:spcBef>
              <a:spcAft>
                <a:spcPts val="0"/>
              </a:spcAft>
              <a:buSzPts val="1600"/>
              <a:buChar char="●"/>
            </a:pPr>
            <a:r>
              <a:rPr lang="en"/>
              <a:t>Find the lowest friction at which the box stays on the slope</a:t>
            </a:r>
            <a:endParaRPr/>
          </a:p>
          <a:p>
            <a:pPr indent="-330200" lvl="0" marL="457200" rtl="0" algn="l">
              <a:spcBef>
                <a:spcPts val="0"/>
              </a:spcBef>
              <a:spcAft>
                <a:spcPts val="0"/>
              </a:spcAft>
              <a:buSzPts val="1600"/>
              <a:buChar char="●"/>
            </a:pPr>
            <a:r>
              <a:rPr lang="en"/>
              <a:t>Is it what you expected for 26 degrees? Then: hang the ball from the chain</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it falls in slow motion.</a:t>
            </a:r>
            <a:endParaRPr/>
          </a:p>
        </p:txBody>
      </p:sp>
      <p:sp>
        <p:nvSpPr>
          <p:cNvPr id="295" name="Rounded Rectangle 294"/>
          <p:cNvSpPr/>
          <p:nvPr/>
        </p:nvSpPr>
        <p:spPr>
          <a:xfrm>
            <a:off x="54864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Our game</a:t>
            </a:r>
          </a:p>
          <a:p>
            <a:pPr algn="ctr"/>
            <a:r>
              <a:rPr sz="1400" b="0">
                <a:solidFill>
                  <a:srgbClr val="9AA3AB"/>
                </a:solidFill>
              </a:rPr>
              <a:t>pixels, y down,</a:t>
            </a:r>
          </a:p>
          <a:p>
            <a:pPr algn="ctr"/>
            <a:r>
              <a:rPr sz="1400" b="0">
                <a:solidFill>
                  <a:srgbClr val="9AA3AB"/>
                </a:solidFill>
              </a:rPr>
              <a:t>clockwise</a:t>
            </a:r>
          </a:p>
        </p:txBody>
      </p:sp>
      <p:sp>
        <p:nvSpPr>
          <p:cNvPr id="296" name="Rounded Rectangle 295"/>
          <p:cNvSpPr/>
          <p:nvPr/>
        </p:nvSpPr>
        <p:spPr>
          <a:xfrm>
            <a:off x="585216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Box2D</a:t>
            </a:r>
          </a:p>
          <a:p>
            <a:pPr algn="ctr"/>
            <a:r>
              <a:rPr sz="1400" b="0">
                <a:solidFill>
                  <a:srgbClr val="9AA3AB"/>
                </a:solidFill>
              </a:rPr>
              <a:t>metres, y up,</a:t>
            </a:r>
          </a:p>
          <a:p>
            <a:pPr algn="ctr"/>
            <a:r>
              <a:rPr sz="1400" b="0">
                <a:solidFill>
                  <a:srgbClr val="9AA3AB"/>
                </a:solidFill>
              </a:rPr>
              <a:t>counter-clockwise</a:t>
            </a:r>
          </a:p>
        </p:txBody>
      </p:sp>
      <p:cxnSp>
        <p:nvCxnSpPr>
          <p:cNvPr id="297" name="Connector 296"/>
          <p:cNvCxnSpPr/>
          <p:nvPr/>
        </p:nvCxnSpPr>
        <p:spPr>
          <a:xfrm>
            <a:off x="3337560" y="178308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154679" y="1490472"/>
            <a:ext cx="2834639" cy="274320"/>
          </a:xfrm>
          <a:prstGeom prst="rect">
            <a:avLst/>
          </a:prstGeom>
          <a:noFill/>
        </p:spPr>
        <p:txBody>
          <a:bodyPr wrap="square">
            <a:spAutoFit/>
          </a:bodyPr>
          <a:lstStyle/>
          <a:p>
            <a:pPr algn="ctr"/>
            <a:r>
              <a:rPr sz="1100" b="0" i="0">
                <a:solidFill>
                  <a:srgbClr val="9AA3AB"/>
                </a:solidFill>
              </a:rPr>
              <a:t>÷ 50, flip y</a:t>
            </a:r>
          </a:p>
        </p:txBody>
      </p:sp>
      <p:cxnSp>
        <p:nvCxnSpPr>
          <p:cNvPr id="299" name="Connector 298"/>
          <p:cNvCxnSpPr/>
          <p:nvPr/>
        </p:nvCxnSpPr>
        <p:spPr>
          <a:xfrm flipH="1">
            <a:off x="3337560" y="210312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337560" y="2148840"/>
            <a:ext cx="2468880" cy="274320"/>
          </a:xfrm>
          <a:prstGeom prst="rect">
            <a:avLst/>
          </a:prstGeom>
          <a:noFill/>
        </p:spPr>
        <p:txBody>
          <a:bodyPr wrap="square">
            <a:spAutoFit/>
          </a:bodyPr>
          <a:lstStyle/>
          <a:p>
            <a:pPr algn="ctr"/>
            <a:r>
              <a:rPr sz="1100" b="0" i="0">
                <a:solidFill>
                  <a:srgbClr val="9AA3AB"/>
                </a:solidFill>
              </a:rPr>
              <a:t>× 50, flip y</a:t>
            </a:r>
          </a:p>
        </p:txBody>
      </p:sp>
      <p:sp>
        <p:nvSpPr>
          <p:cNvPr id="301" name="TextBox 300"/>
          <p:cNvSpPr txBox="1"/>
          <p:nvPr/>
        </p:nvSpPr>
        <p:spPr>
          <a:xfrm>
            <a:off x="457200" y="2834640"/>
            <a:ext cx="8229600" cy="731520"/>
          </a:xfrm>
          <a:prstGeom prst="rect">
            <a:avLst/>
          </a:prstGeom>
          <a:noFill/>
        </p:spPr>
        <p:txBody>
          <a:bodyPr wrap="square">
            <a:spAutoFit/>
          </a:bodyPr>
          <a:lstStyle/>
          <a:p>
            <a:pPr algn="ctr"/>
            <a:r>
              <a:rPr sz="1700" b="1" i="0">
                <a:solidFill>
                  <a:srgbClr val="DEE2E6"/>
                </a:solidFill>
              </a:rPr>
              <a:t>Forget one conversion. What do you see?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Different Scale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Birds0:</a:t>
            </a:r>
            <a:endParaRPr/>
          </a:p>
          <a:p>
            <a:pPr indent="-330200" lvl="0" marL="457200" rtl="0" algn="l">
              <a:spcBef>
                <a:spcPts val="0"/>
              </a:spcBef>
              <a:spcAft>
                <a:spcPts val="0"/>
              </a:spcAft>
              <a:buSzPts val="1600"/>
              <a:buChar char="●"/>
            </a:pPr>
            <a:r>
              <a:rPr lang="en"/>
              <a:t>Change PixelsPerMeter from 50 to 10</a:t>
            </a:r>
            <a:endParaRPr/>
          </a:p>
          <a:p>
            <a:pPr indent="-330200" lvl="0" marL="457200" rtl="0" algn="l">
              <a:spcBef>
                <a:spcPts val="0"/>
              </a:spcBef>
              <a:spcAft>
                <a:spcPts val="0"/>
              </a:spcAft>
              <a:buSzPts val="1600"/>
              <a:buChar char="●"/>
            </a:pPr>
            <a:r>
              <a:rPr lang="en"/>
              <a:t>How many lines does it touch? How do the blocks fall now?</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Our language: pixels, not metres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Same Change, Behind the Adapter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Birds1:</a:t>
            </a:r>
            <a:endParaRPr/>
          </a:p>
          <a:p>
            <a:pPr indent="-330200" lvl="0" marL="457200" rtl="0" algn="l">
              <a:spcBef>
                <a:spcPts val="0"/>
              </a:spcBef>
              <a:spcAft>
                <a:spcPts val="0"/>
              </a:spcAft>
              <a:buSzPts val="1600"/>
              <a:buChar char="●"/>
            </a:pPr>
            <a:r>
              <a:rPr lang="en"/>
              <a:t>Make the same change: 10 pixels per metre</a:t>
            </a:r>
            <a:endParaRPr/>
          </a:p>
          <a:p>
            <a:pPr indent="-330200" lvl="0" marL="457200" rtl="0" algn="l">
              <a:spcBef>
                <a:spcPts val="0"/>
              </a:spcBef>
              <a:spcAft>
                <a:spcPts val="0"/>
              </a:spcAft>
              <a:buSzPts val="1600"/>
              <a:buChar char="●"/>
            </a:pPr>
            <a:r>
              <a:rPr lang="en"/>
              <a:t>How many files did you touch this time?</a:t>
            </a:r>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Harder Hits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Birds2:</a:t>
            </a:r>
            <a:endParaRPr/>
          </a:p>
          <a:p>
            <a:pPr indent="-330200" lvl="0" marL="457200" rtl="0" algn="l">
              <a:spcBef>
                <a:spcPts val="0"/>
              </a:spcBef>
              <a:spcAft>
                <a:spcPts val="0"/>
              </a:spcAft>
              <a:buSzPts val="1600"/>
              <a:buChar char="●"/>
            </a:pPr>
            <a:r>
              <a:rPr lang="en"/>
              <a:t>Make every hit do twice the damage</a:t>
            </a:r>
            <a:endParaRPr/>
          </a:p>
          <a:p>
            <a:pPr indent="-330200" lvl="0" marL="457200" rtl="0" algn="l">
              <a:spcBef>
                <a:spcPts val="0"/>
              </a:spcBef>
              <a:spcAft>
                <a:spcPts val="0"/>
              </a:spcAft>
              <a:buSzPts val="1600"/>
              <a:buChar char="●"/>
            </a:pPr>
            <a:r>
              <a:rPr lang="en"/>
              <a:t>Which method? What breaks sooner?</a:t>
            </a:r>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not in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 not a subclass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From Prefabs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Put a big-pig on top of the hut, and a glass-box next to it</a:t>
            </a:r>
            <a:endParaRPr/>
          </a:p>
          <a:p>
            <a:pPr indent="-330200" lvl="0" marL="457200" rtl="0" algn="l">
              <a:spcBef>
                <a:spcPts val="0"/>
              </a:spcBef>
              <a:spcAft>
                <a:spcPts val="0"/>
              </a:spcAft>
              <a:buSzPts val="1600"/>
              <a:buChar char="●"/>
            </a:pPr>
            <a:r>
              <a:rPr lang="en"/>
              <a:t>How much code did it take?</a:t>
            </a:r>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 TNT box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