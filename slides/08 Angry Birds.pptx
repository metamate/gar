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4" r:id="rId41"/>
    <p:sldId id="257" r:id="rId7"/>
    <p:sldId id="258" r:id="rId8"/>
    <p:sldId id="259" r:id="rId9"/>
    <p:sldId id="297" r:id="rId56"/>
    <p:sldId id="319" r:id="rId35"/>
    <p:sldId id="320" r:id="rId34"/>
    <p:sldId id="298" r:id="rId57"/>
    <p:sldId id="299" r:id="rId58"/>
    <p:sldId id="300" r:id="rId59"/>
    <p:sldId id="318" r:id="rId36"/>
    <p:sldId id="301" r:id="rId60"/>
    <p:sldId id="302" r:id="rId61"/>
    <p:sldId id="303" r:id="rId62"/>
    <p:sldId id="304" r:id="rId63"/>
    <p:sldId id="305" r:id="rId64"/>
    <p:sldId id="317" r:id="rId37"/>
    <p:sldId id="306" r:id="rId65"/>
    <p:sldId id="307" r:id="rId66"/>
    <p:sldId id="308" r:id="rId67"/>
    <p:sldId id="316" r:id="rId38"/>
    <p:sldId id="309" r:id="rId68"/>
    <p:sldId id="310" r:id="rId69"/>
    <p:sldId id="311" r:id="rId70"/>
    <p:sldId id="315" r:id="rId39"/>
    <p:sldId id="312" r:id="rId71"/>
    <p:sldId id="280" r:id="rId30"/>
    <p:sldId id="292" r:id="rId42"/>
    <p:sldId id="293" r:id="rId52"/>
    <p:sldId id="313" r:id="rId40"/>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8.xml"/><Relationship Id="rId34" Type="http://schemas.openxmlformats.org/officeDocument/2006/relationships/slide" Target="slides/slide8.xml"/><Relationship Id="rId35" Type="http://schemas.openxmlformats.org/officeDocument/2006/relationships/slide" Target="slides/slide7.xml"/><Relationship Id="rId36" Type="http://schemas.openxmlformats.org/officeDocument/2006/relationships/slide" Target="slides/slide12.xml"/><Relationship Id="rId37" Type="http://schemas.openxmlformats.org/officeDocument/2006/relationships/slide" Target="slides/slide18.xml"/><Relationship Id="rId38" Type="http://schemas.openxmlformats.org/officeDocument/2006/relationships/slide" Target="slides/slide22.xml"/><Relationship Id="rId39" Type="http://schemas.openxmlformats.org/officeDocument/2006/relationships/slide" Target="slides/slide26.xml"/><Relationship Id="rId40" Type="http://schemas.openxmlformats.org/officeDocument/2006/relationships/slide" Target="slides/slide31.xml"/><Relationship Id="rId41" Type="http://schemas.openxmlformats.org/officeDocument/2006/relationships/slide" Target="slides/slide2.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6" Type="http://schemas.openxmlformats.org/officeDocument/2006/relationships/slide" Target="slides/slide6.xml"/><Relationship Id="rId57" Type="http://schemas.openxmlformats.org/officeDocument/2006/relationships/slide" Target="slides/slide9.xml"/><Relationship Id="rId58" Type="http://schemas.openxmlformats.org/officeDocument/2006/relationships/slide" Target="slides/slide10.xml"/><Relationship Id="rId59" Type="http://schemas.openxmlformats.org/officeDocument/2006/relationships/slide" Target="slides/slide11.xml"/><Relationship Id="rId60" Type="http://schemas.openxmlformats.org/officeDocument/2006/relationships/slide" Target="slides/slide13.xml"/><Relationship Id="rId61" Type="http://schemas.openxmlformats.org/officeDocument/2006/relationships/slide" Target="slides/slide14.xml"/><Relationship Id="rId62" Type="http://schemas.openxmlformats.org/officeDocument/2006/relationships/slide" Target="slides/slide15.xml"/><Relationship Id="rId63" Type="http://schemas.openxmlformats.org/officeDocument/2006/relationships/slide" Target="slides/slide16.xml"/><Relationship Id="rId64" Type="http://schemas.openxmlformats.org/officeDocument/2006/relationships/slide" Target="slides/slide17.xml"/><Relationship Id="rId65" Type="http://schemas.openxmlformats.org/officeDocument/2006/relationships/slide" Target="slides/slide19.xml"/><Relationship Id="rId66" Type="http://schemas.openxmlformats.org/officeDocument/2006/relationships/slide" Target="slides/slide20.xml"/><Relationship Id="rId67" Type="http://schemas.openxmlformats.org/officeDocument/2006/relationships/slide" Target="slides/slide21.xml"/><Relationship Id="rId68" Type="http://schemas.openxmlformats.org/officeDocument/2006/relationships/slide" Target="slides/slide23.xml"/><Relationship Id="rId69" Type="http://schemas.openxmlformats.org/officeDocument/2006/relationships/slide" Target="slides/slide24.xml"/><Relationship Id="rId70" Type="http://schemas.openxmlformats.org/officeDocument/2006/relationships/slide" Target="slides/slide25.xml"/><Relationship Id="rId71"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Angry Birds. The main topic: a library behind your own interface.</a:t>
            </a:r>
          </a:p>
          <a:p>
            <a:r>
              <a:t>Start by playing the finished game, Birds4,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Birds4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a library behind your own interface, so it doesn’t spread through your code. Adapter and Facade, two worlds, contact events, and Prototype.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gar-games/08-angry-birds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Tipping, bouncing stacks are far beyond Mario’s physics. Box2D does it for us.</a:t>
            </a:r>
          </a:p>
          <a:p>
            <a:r>
              <a:t>The loop: step the world, read where the bodies are, draw the sprites there.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is tuned for things 0.1 to 10 metres big. Treat 50 pixels as 50 metres and a block falls like a building.</a:t>
            </a:r>
          </a:p>
          <a:p>
            <a:r>
              <a:t>Ask the question: forget one conversion; what do you see? A body in the wrong place, spinning the wrong way, or falling up.</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layers: the game at the top, Box2D at the bottom, and our two classes between.</a:t>
            </a:r>
          </a:p>
          <a:p>
            <a:r>
              <a:t>Facade: a small interface in front of a big subsystem. Adapter: converts one interface into the one we expect.</a:t>
            </a:r>
          </a:p>
          <a:p>
            <a:r>
              <a:t>Ask the question: swap the library, which files change? Only the Physics folder.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block exists twice: an entity and a body. The physics world owns the position; the entity reads it every draw.</a:t>
            </a:r>
          </a:p>
          <a:p>
            <a:r>
              <a:t>The body knows its owner, so a hit between bodies leads back to entities. F1 shows what the physics world sees.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Aim, fly, and aim again or end the level. Fly waits until the world settles; the facade answers that in one line.</a:t>
            </a:r>
          </a:p>
          <a:p>
            <a:r>
              <a:t>The aiming curve is just the formula: no physics world needed to draw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is the difference between an Adapter and a Facade?</a:t>
            </a:r>
          </a:p>
          <a:p>
            <a:r>
              <a:t>A: An Adapter converts one interface into another that its users expect (here, a Box2D body into a body in pixels). A Facade puts one simple interface in front of a whole subsystem (here, a few methods in front of Box2D's many). PhysicsWorld and PhysicsBody together do both.</a:t>
            </a:r>
          </a:p>
          <a:p/>
          <a:p>
            <a:r>
              <a:t>Q: Why convert between metres and pixels at all?</a:t>
            </a:r>
          </a:p>
          <a:p>
            <a:r>
              <a:t>A: Box2D is tuned for objects of about 0.1 to 10 metres. In pixels, objects would be tens or hundreds of units big, and would behave like huge, slow objects. The game simulates in metres, and draws in pixels.</a:t>
            </a:r>
          </a:p>
          <a:p/>
          <a:p>
            <a:r>
              <a:t>Q: Why not destroy a body inside the hit handler?</a:t>
            </a:r>
          </a:p>
          <a:p>
            <a:r>
              <a:t>A: The physics world is still reporting hits, and a later one may be about the destroyed body; some libraries crash if the world changes during a callback. The game may also be looping over the list you remove from. Mark it, and remove it after the step.</a:t>
            </a:r>
          </a:p>
          <a:p/>
          <a:p>
            <a:r>
              <a:t>Q: What does a shallow copy share with the original, and why does that matter here?</a:t>
            </a:r>
          </a:p>
          <a:p>
            <a:r>
              <a:t>A: Every field that refers to an object: the copy points to the same object. Sharing an unchanging sprite is fine, but sharing a physics body would make two entities one. So the clone gets its own body.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Birds0 calls Box2D from Game1. Point at the conversions: divide, multiply, flip y, everywhere.</a:t>
            </a:r>
          </a:p>
          <a:p>
            <a:r>
              <a:t>Ask: what happens when we add a second kind of block? The same lines again.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Birds0.</a:t>
            </a:r>
          </a:p>
          <a:p>
            <a:r>
              <a:t>- Game1 full of Box2D calls and unit conversions</a:t>
            </a:r>
          </a:p>
          <a:p>
            <a:r>
              <a:t>- launch a bird: the physics itself works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PhysicsBody wraps a Box2D body: positions in pixels, rotation turning like SpriteBatch. Every conversion in one place.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game reads like our game again. The cost: every new physics feature goes through the facade first.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Birds0 and Birds1 side by side (a diff tool, or two editor panes), then run Birds1.</a:t>
            </a:r>
          </a:p>
          <a:p>
            <a:r>
              <a:t>- Physics/: PhysicsWorld, PhysicsBody, Units</a:t>
            </a:r>
          </a:p>
          <a:p>
            <a:r>
              <a:t>- Game1 no longer mentions Box2D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collects hits during a step; we read them afterwards and raise a C# event in our own terms: two bodies and a speed.</a:t>
            </a:r>
          </a:p>
          <a:p>
            <a:r>
              <a:t>Point back to Zelda: collected now, handled later is an event queue, and the game subscribes with += as there.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why not destroy the body in the hit handler? More hits may be about it, the library may crash, and you may be looping over the list.</a:t>
            </a:r>
          </a:p>
          <a:p>
            <a:r>
              <a:t>Mark now, remove after the step, looping backwards.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Birds1 and Birds2 side by side (a diff tool, or two editor panes), then run Birds2.</a:t>
            </a:r>
          </a:p>
          <a:p>
            <a:r>
              <a:t>- the Hit event on PhysicsWorld</a:t>
            </a:r>
          </a:p>
          <a:p>
            <a:r>
              <a:t>- damage in the handler, removal after the step</a:t>
            </a:r>
          </a:p>
          <a:p>
            <a:r>
              <a:t>- glass breaks, stone barely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Make new objects by copying a configured one. A big pig is a Pig with a bigger radius, not a subclass.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level is prefab names and positions: levels as data again.</a:t>
            </a:r>
          </a:p>
          <a:p>
            <a:r>
              <a:t>MemberwiseClone is shallow: sharing a sprite is fine, sharing a body means two blocks move as one. That’s why Clone clears Body.</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Birds2 and Birds3 side by side (a diff tool, or two editor panes), then run Birds3.</a:t>
            </a:r>
          </a:p>
          <a:p>
            <a:r>
              <a:t>- Prefabs.cs</a:t>
            </a:r>
          </a:p>
          <a:p>
            <a:r>
              <a:t>- level1.txt</a:t>
            </a:r>
          </a:p>
          <a:p>
            <a:r>
              <a:t>- change a line in the level file and run again</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Unit-test the conversions; and try swapping the library, counting the files that change.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a level of Birds4. Press F1 mid-flight to show the bodies (awake green, asleep blue).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Angry Birds. Ask who has played it, and what they remember of how it plays.</a:t>
            </a:r>
          </a:p>
          <a:p>
            <a:r>
              <a:t>Today we build the parts that matter for the architecture, not the whole game.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None: the prefab names and positions are data. A kind of block that doesn’t exist yet would be one line in Prefabs.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damage = speed / 100 in OnHit. Glass breaks at the slightest touch, and some huts fall apart before the first bird.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One line in Physics/Units.cs. Compare with Birds0: that difference is what the adapter is for.</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constant is used all through Game1. At 10, a block is five times bigger in metres, so it falls like a building: slowly.</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PhysicsSamples and go through the scenes.</a:t>
            </a:r>
          </a:p>
          <a:p>
            <a:r>
              <a:t>1: static (orange), kinematic (magenta: moves at its own velocity, pushes, is never pushed), dynamic (green, blue when asleep).</a:t>
            </a:r>
          </a:p>
          <a:p>
            <a:r>
              <a:t>2: restitution, how much speed a bounce keeps. 3: friction, the same slope. 4: density, the same ball fifty times heavier.</a:t>
            </a:r>
          </a:p>
          <a:p>
            <a:r>
              <a:t>5: sleeping, the pile turns blue; drop a box in to wake it. 6: joints: a hinged pendulum and chain, a rope that goes slack, a welded hammer.</a:t>
            </a:r>
          </a:p>
          <a:p>
            <a:r>
              <a:t>Mention: the samples use the game’s facade, which got BodyType and joint methods so they could make a kinematic platform and joints.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platform: its velocity and the two turning points in BodyTypesScene.</a:t>
            </a:r>
          </a:p>
          <a:p>
            <a:r>
              <a:t>The friction: about 0.23, not tan 26° (about 0.48). Box2D combines two frictions as the square root of their product, and the slope’s friction is 1: the square root of 0.23 is 0.48. A good reason to read what a library does.</a:t>
            </a:r>
          </a:p>
          <a:p>
            <a:r>
              <a:t>The chain: Rope(lastLink, ball, ...) instead of Rope(hook, ball, ...), keeping the last link in a variable.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Birds4. For the TNT exercise, the question is what the facade must offer, while Box2D stays inside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7-angry-bird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08: Angry Birds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Angry Birds</a:t>
            </a:r>
            <a:endParaRPr/>
          </a:p>
        </p:txBody>
      </p:sp>
      <p:pic>
        <p:nvPicPr>
          <p:cNvPr id="3" name="Picture 2" descr="angry-birds.png"/>
          <p:cNvPicPr>
            <a:picLocks noChangeAspect="1"/>
          </p:cNvPicPr>
          <p:nvPr/>
        </p:nvPicPr>
        <p:blipFill>
          <a:blip r:embed="rId2"/>
          <a:stretch>
            <a:fillRect/>
          </a:stretch>
        </p:blipFill>
        <p:spPr>
          <a:xfrm>
            <a:off x="1179443" y="960120"/>
            <a:ext cx="6785113"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Angry Birds (Rovio, 2009). Image: Sony Pictures, CC BY 3.0, via Wikimedia Commons.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birds.gif"/>
          <p:cNvPicPr>
            <a:picLocks noChangeAspect="1"/>
          </p:cNvPicPr>
          <p:nvPr/>
        </p:nvPicPr>
        <p:blipFill>
          <a:blip r:embed="rId3"/>
          <a:stretch>
            <a:fillRect/>
          </a:stretch>
        </p:blipFill>
        <p:spPr>
          <a:xfrm>
            <a:off x="1677202" y="1531275"/>
            <a:ext cx="5789596"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A library behind your own interface</a:t>
            </a:r>
            <a:endParaRPr/>
          </a:p>
          <a:p>
            <a:pPr indent="-330200" lvl="0" marL="457200" rtl="0" algn="l">
              <a:spcBef>
                <a:spcPts val="0"/>
              </a:spcBef>
              <a:spcAft>
                <a:spcPts val="0"/>
              </a:spcAft>
              <a:buSzPts val="1600"/>
              <a:buChar char="●"/>
            </a:pPr>
            <a:r>
              <a:rPr lang="en"/>
              <a:t>A Physics Library</a:t>
            </a:r>
            <a:endParaRPr/>
          </a:p>
          <a:p>
            <a:pPr indent="-330200" lvl="0" marL="457200" rtl="0" algn="l">
              <a:spcBef>
                <a:spcPts val="0"/>
              </a:spcBef>
              <a:spcAft>
                <a:spcPts val="0"/>
              </a:spcAft>
              <a:buSzPts val="1600"/>
              <a:buChar char="●"/>
            </a:pPr>
            <a:r>
              <a:rPr lang="en"/>
              <a:t>Adapter &amp; Facade</a:t>
            </a:r>
            <a:endParaRPr/>
          </a:p>
          <a:p>
            <a:pPr indent="-330200" lvl="0" marL="457200" rtl="0" algn="l">
              <a:spcBef>
                <a:spcPts val="0"/>
              </a:spcBef>
              <a:spcAft>
                <a:spcPts val="0"/>
              </a:spcAft>
              <a:buSzPts val="1600"/>
              <a:buChar char="●"/>
            </a:pPr>
            <a:r>
              <a:rPr lang="en"/>
              <a:t>Two Worlds: Metres and Pixels</a:t>
            </a:r>
            <a:endParaRPr/>
          </a:p>
          <a:p>
            <a:pPr indent="-330200" lvl="0" marL="457200" rtl="0" algn="l">
              <a:spcBef>
                <a:spcPts val="0"/>
              </a:spcBef>
              <a:spcAft>
                <a:spcPts val="0"/>
              </a:spcAft>
              <a:buSzPts val="1600"/>
              <a:buChar char="●"/>
            </a:pPr>
            <a:r>
              <a:rPr lang="en"/>
              <a:t>Contact Events</a:t>
            </a:r>
            <a:endParaRPr/>
          </a:p>
          <a:p>
            <a:pPr indent="-330200" lvl="0" marL="457200" rtl="0" algn="l">
              <a:spcBef>
                <a:spcPts val="0"/>
              </a:spcBef>
              <a:spcAft>
                <a:spcPts val="0"/>
              </a:spcAft>
              <a:buSzPts val="1600"/>
              <a:buChar char="●"/>
            </a:pPr>
            <a:r>
              <a:rPr lang="en"/>
              <a:t>Destroying Safely</a:t>
            </a:r>
            <a:endParaRPr/>
          </a:p>
          <a:p>
            <a:pPr indent="-330200" lvl="0" marL="457200" rtl="0" algn="l">
              <a:spcBef>
                <a:spcPts val="0"/>
              </a:spcBef>
              <a:spcAft>
                <a:spcPts val="0"/>
              </a:spcAft>
              <a:buSzPts val="1600"/>
              <a:buChar char="●"/>
            </a:pPr>
            <a:r>
              <a:rPr lang="en"/>
              <a:t>Prototype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08-angry-birds</a:t>
            </a:r>
            <a:endParaRPr/>
          </a:p>
          <a:p>
            <a:pPr indent="-330200" lvl="0" marL="457200" rtl="0" algn="l">
              <a:spcBef>
                <a:spcPts val="0"/>
              </a:spcBef>
              <a:spcAft>
                <a:spcPts val="0"/>
              </a:spcAft>
              <a:buSzPts val="1600"/>
              <a:buChar char="●"/>
            </a:pPr>
            <a:r>
              <a:rPr lang="en"/>
              <a:t>Its README: the steps (Birds0 to Birds4),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 Physics Library</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Stacks that tip, bounce and break: we use Box2D, not our own physics.</a:t>
            </a:r>
            <a:endParaRPr/>
          </a:p>
        </p:txBody>
      </p:sp>
      <p:sp>
        <p:nvSpPr>
          <p:cNvPr id="295" name="Rounded Rectangle 294"/>
          <p:cNvSpPr/>
          <p:nvPr/>
        </p:nvSpPr>
        <p:spPr>
          <a:xfrm>
            <a:off x="54864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world of bodies</a:t>
            </a:r>
          </a:p>
          <a:p>
            <a:pPr algn="ctr"/>
            <a:r>
              <a:rPr sz="1300" b="0">
                <a:solidFill>
                  <a:srgbClr val="9AA3AB"/>
                </a:solidFill>
              </a:rPr>
              <a:t>static: never move (the ground)</a:t>
            </a:r>
          </a:p>
          <a:p>
            <a:pPr algn="ctr"/>
            <a:r>
              <a:rPr sz="1300" b="0">
                <a:solidFill>
                  <a:srgbClr val="9AA3AB"/>
                </a:solidFill>
              </a:rPr>
              <a:t>dynamic: gravity and collisions</a:t>
            </a:r>
          </a:p>
        </p:txBody>
      </p:sp>
      <p:sp>
        <p:nvSpPr>
          <p:cNvPr id="296" name="Rounded Rectangle 29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Bodies have shapes</a:t>
            </a:r>
          </a:p>
          <a:p>
            <a:pPr algn="ctr"/>
            <a:r>
              <a:rPr sz="1300" b="0">
                <a:solidFill>
                  <a:srgbClr val="9AA3AB"/>
                </a:solidFill>
              </a:rPr>
              <a:t>boxes, circles, polygons</a:t>
            </a:r>
          </a:p>
          <a:p>
            <a:pPr algn="ctr"/>
            <a:r>
              <a:rPr sz="1300" b="0">
                <a:solidFill>
                  <a:srgbClr val="9AA3AB"/>
                </a:solidFill>
              </a:rPr>
              <a:t>with friction and density</a:t>
            </a:r>
          </a:p>
        </p:txBody>
      </p:sp>
      <p:sp>
        <p:nvSpPr>
          <p:cNvPr id="297" name="Rounded Rectangle 296"/>
          <p:cNvSpPr/>
          <p:nvPr/>
        </p:nvSpPr>
        <p:spPr>
          <a:xfrm>
            <a:off x="1005840" y="2834640"/>
            <a:ext cx="2103120" cy="5943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Step the world</a:t>
            </a:r>
          </a:p>
        </p:txBody>
      </p:sp>
      <p:cxnSp>
        <p:nvCxnSpPr>
          <p:cNvPr id="298" name="Connector 297"/>
          <p:cNvCxnSpPr/>
          <p:nvPr/>
        </p:nvCxnSpPr>
        <p:spPr>
          <a:xfrm>
            <a:off x="3127248" y="3131820"/>
            <a:ext cx="237743"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38327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Read the positions</a:t>
            </a:r>
          </a:p>
        </p:txBody>
      </p:sp>
      <p:cxnSp>
        <p:nvCxnSpPr>
          <p:cNvPr id="300" name="Connector 299"/>
          <p:cNvCxnSpPr/>
          <p:nvPr/>
        </p:nvCxnSpPr>
        <p:spPr>
          <a:xfrm>
            <a:off x="5504688" y="313182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76071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Draw the sprites there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Physics Samples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Next to the steps: PhysicsSamples, one idea per scene</a:t>
            </a:r>
            <a:endParaRPr/>
          </a:p>
          <a:p>
            <a:pPr indent="-330200" lvl="0" marL="457200" rtl="0" algn="l">
              <a:spcBef>
                <a:spcPts val="0"/>
              </a:spcBef>
              <a:spcAft>
                <a:spcPts val="0"/>
              </a:spcAft>
              <a:buSzPts val="1600"/>
              <a:buChar char="●"/>
            </a:pPr>
            <a:r>
              <a:rPr lang="en"/>
              <a:t>Body types, bounce, friction, density, sleeping, joints</a:t>
            </a:r>
            <a:endParaRPr/>
          </a:p>
          <a:p>
            <a:pPr indent="-330200" lvl="0" marL="457200" rtl="0" algn="l">
              <a:spcBef>
                <a:spcPts val="0"/>
              </a:spcBef>
              <a:spcAft>
                <a:spcPts val="0"/>
              </a:spcAft>
              <a:buSzPts val="1600"/>
              <a:buChar char="●"/>
            </a:pPr>
            <a:r>
              <a:rPr lang="en"/>
              <a:t>Keys 1 to 6; click: a box, Space: a ball, R: again</a:t>
            </a:r>
            <a:endParaRPr/>
          </a:p>
        </p:txBody>
      </p:sp>
      <p:pic>
        <p:nvPicPr>
          <p:cNvPr id="4" name="Picture 3" descr="f000.png"/>
          <p:cNvPicPr>
            <a:picLocks noChangeAspect="1"/>
          </p:cNvPicPr>
          <p:nvPr/>
        </p:nvPicPr>
        <p:blipFill>
          <a:blip r:embed="rId3"/>
          <a:stretch>
            <a:fillRect/>
          </a:stretch>
        </p:blipFill>
        <p:spPr>
          <a:xfrm>
            <a:off x="2194560" y="1920240"/>
            <a:ext cx="4714240" cy="26517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Physics Samples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PhysicsSamples:</a:t>
            </a:r>
            <a:endParaRPr/>
          </a:p>
          <a:p>
            <a:pPr indent="-330200" lvl="0" marL="457200" rtl="0" algn="l">
              <a:spcBef>
                <a:spcPts val="0"/>
              </a:spcBef>
              <a:spcAft>
                <a:spcPts val="0"/>
              </a:spcAft>
              <a:buSzPts val="1600"/>
              <a:buChar char="●"/>
            </a:pPr>
            <a:r>
              <a:rPr lang="en"/>
              <a:t>Make the platform move up and down instead of sideways</a:t>
            </a:r>
            <a:endParaRPr/>
          </a:p>
          <a:p>
            <a:pPr indent="-330200" lvl="0" marL="457200" rtl="0" algn="l">
              <a:spcBef>
                <a:spcPts val="0"/>
              </a:spcBef>
              <a:spcAft>
                <a:spcPts val="0"/>
              </a:spcAft>
              <a:buSzPts val="1600"/>
              <a:buChar char="●"/>
            </a:pPr>
            <a:r>
              <a:rPr lang="en"/>
              <a:t>Find the lowest friction at which the box stays on the slope</a:t>
            </a:r>
            <a:endParaRPr/>
          </a:p>
          <a:p>
            <a:pPr indent="-330200" lvl="0" marL="457200" rtl="0" algn="l">
              <a:spcBef>
                <a:spcPts val="0"/>
              </a:spcBef>
              <a:spcAft>
                <a:spcPts val="0"/>
              </a:spcAft>
              <a:buSzPts val="1600"/>
              <a:buChar char="●"/>
            </a:pPr>
            <a:r>
              <a:rPr lang="en"/>
              <a:t>Is it what you expected for 26 degrees? Then: hang the ball from the chain</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Box2D, Used Directly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foreign API</a:t>
            </a:r>
            <a:endParaRPr/>
          </a:p>
          <a:p>
            <a:pPr indent="-317500" lvl="1" marL="914400" rtl="0" algn="l">
              <a:buClr>
                <a:srgbClr val="6C757D"/>
              </a:buClr>
              <a:spcBef>
                <a:spcPts val="0"/>
              </a:spcBef>
              <a:spcAft>
                <a:spcPts val="0"/>
              </a:spcAft>
              <a:buSzPts val="1400"/>
              <a:buChar char="○"/>
            </a:pPr>
            <a:r>
              <a:rPr lang="en" sz="1400">
                <a:solidFill>
                  <a:srgbClr val="6C757D"/>
                </a:solidFill>
              </a:rPr>
              <a:t>C-style functions, structs passed with in, IDs instead of objects</a:t>
            </a:r>
            <a:endParaRPr/>
          </a:p>
          <a:p>
            <a:pPr indent="-330200" lvl="0" marL="457200" rtl="0" algn="l">
              <a:buClr>
                <a:srgbClr val="DEE2E6"/>
              </a:buClr>
              <a:spcBef>
                <a:spcPts val="0"/>
              </a:spcBef>
              <a:spcAft>
                <a:spcPts val="0"/>
              </a:spcAft>
              <a:buSzPts val="1600"/>
              <a:buChar char="●"/>
            </a:pPr>
            <a:r>
              <a:rPr lang="en" sz="1600">
                <a:solidFill>
                  <a:srgbClr val="DEE2E6"/>
                </a:solidFill>
              </a:rPr>
              <a:t>Another world’s units</a:t>
            </a:r>
            <a:endParaRPr/>
          </a:p>
          <a:p>
            <a:pPr indent="-317500" lvl="1" marL="914400" rtl="0" algn="l">
              <a:buClr>
                <a:srgbClr val="6C757D"/>
              </a:buClr>
              <a:spcBef>
                <a:spcPts val="0"/>
              </a:spcBef>
              <a:spcAft>
                <a:spcPts val="0"/>
              </a:spcAft>
              <a:buSzPts val="1400"/>
              <a:buChar char="○"/>
            </a:pPr>
            <a:r>
              <a:rPr lang="en" sz="1400">
                <a:solidFill>
                  <a:srgbClr val="6C757D"/>
                </a:solidFill>
              </a:rPr>
              <a:t>Metres, and y pointing up</a:t>
            </a:r>
            <a:endParaRPr/>
          </a:p>
          <a:p>
            <a:pPr indent="-317500" lvl="1" marL="914400" rtl="0" algn="l">
              <a:buClr>
                <a:srgbClr val="6C757D"/>
              </a:buClr>
              <a:spcBef>
                <a:spcPts val="0"/>
              </a:spcBef>
              <a:spcAft>
                <a:spcPts val="0"/>
              </a:spcAft>
              <a:buSzPts val="1400"/>
              <a:buChar char="○"/>
            </a:pPr>
            <a:r>
              <a:rPr lang="en" sz="1400">
                <a:solidFill>
                  <a:srgbClr val="6C757D"/>
                </a:solidFill>
              </a:rPr>
              <a:t>Divide, multiply and flip y everywhere</a:t>
            </a:r>
            <a:endParaRPr/>
          </a:p>
          <a:p>
            <a:pPr indent="-330200" lvl="0" marL="457200" rtl="0" algn="l">
              <a:buClr>
                <a:srgbClr val="DEE2E6"/>
              </a:buClr>
              <a:spcBef>
                <a:spcPts val="0"/>
              </a:spcBef>
              <a:spcAft>
                <a:spcPts val="0"/>
              </a:spcAft>
              <a:buSzPts val="1600"/>
              <a:buChar char="●"/>
            </a:pPr>
            <a:r>
              <a:rPr lang="en" sz="1600">
                <a:solidFill>
                  <a:srgbClr val="DEE2E6"/>
                </a:solidFill>
              </a:rPr>
              <a:t>All through Game1</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B2BodyDef bodyDef = b2DefaultBodyDef();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bodyDef.type = B2BodyType.b2_dynamicBody;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bodyDef.position = new B2Vec2(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x / PixelsPerMeter, -y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B2BodyId body = b2CreateBody(_world, in 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B2Polygon box = b2MakeBox(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width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height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B2ShapeDef shapeDef = b2DefaultShapeDef();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shapeDef.material.friction = 0.6f;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b2CreatePolygonShape(body, in shapeDef, in 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And every frame, for every 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B2Vec2 p = b2Body_GetPosition(body);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Vector2 pixels = new(p.X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-p.Y * PixelsPerMeter);</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Metres?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50-pixel block, taken as metres, is a 50-metre building: it falls in slow motion.</a:t>
            </a:r>
            <a:endParaRPr/>
          </a:p>
        </p:txBody>
      </p:sp>
      <p:sp>
        <p:nvSpPr>
          <p:cNvPr id="295" name="Rounded Rectangle 294"/>
          <p:cNvSpPr/>
          <p:nvPr/>
        </p:nvSpPr>
        <p:spPr>
          <a:xfrm>
            <a:off x="54864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Our game</a:t>
            </a:r>
          </a:p>
          <a:p>
            <a:pPr algn="ctr"/>
            <a:r>
              <a:rPr sz="1400" b="0">
                <a:solidFill>
                  <a:srgbClr val="9AA3AB"/>
                </a:solidFill>
              </a:rPr>
              <a:t>pixels, y down,</a:t>
            </a:r>
          </a:p>
          <a:p>
            <a:pPr algn="ctr"/>
            <a:r>
              <a:rPr sz="1400" b="0">
                <a:solidFill>
                  <a:srgbClr val="9AA3AB"/>
                </a:solidFill>
              </a:rPr>
              <a:t>clockwise</a:t>
            </a:r>
          </a:p>
        </p:txBody>
      </p:sp>
      <p:sp>
        <p:nvSpPr>
          <p:cNvPr id="296" name="Rounded Rectangle 295"/>
          <p:cNvSpPr/>
          <p:nvPr/>
        </p:nvSpPr>
        <p:spPr>
          <a:xfrm>
            <a:off x="585216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Box2D</a:t>
            </a:r>
          </a:p>
          <a:p>
            <a:pPr algn="ctr"/>
            <a:r>
              <a:rPr sz="1400" b="0">
                <a:solidFill>
                  <a:srgbClr val="9AA3AB"/>
                </a:solidFill>
              </a:rPr>
              <a:t>metres, y up,</a:t>
            </a:r>
          </a:p>
          <a:p>
            <a:pPr algn="ctr"/>
            <a:r>
              <a:rPr sz="1400" b="0">
                <a:solidFill>
                  <a:srgbClr val="9AA3AB"/>
                </a:solidFill>
              </a:rPr>
              <a:t>counter-clockwise</a:t>
            </a:r>
          </a:p>
        </p:txBody>
      </p:sp>
      <p:cxnSp>
        <p:nvCxnSpPr>
          <p:cNvPr id="297" name="Connector 296"/>
          <p:cNvCxnSpPr/>
          <p:nvPr/>
        </p:nvCxnSpPr>
        <p:spPr>
          <a:xfrm>
            <a:off x="3337560" y="178308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154679" y="1490472"/>
            <a:ext cx="2834639" cy="274320"/>
          </a:xfrm>
          <a:prstGeom prst="rect">
            <a:avLst/>
          </a:prstGeom>
          <a:noFill/>
        </p:spPr>
        <p:txBody>
          <a:bodyPr wrap="square">
            <a:spAutoFit/>
          </a:bodyPr>
          <a:lstStyle/>
          <a:p>
            <a:pPr algn="ctr"/>
            <a:r>
              <a:rPr sz="1100" b="0" i="0">
                <a:solidFill>
                  <a:srgbClr val="9AA3AB"/>
                </a:solidFill>
              </a:rPr>
              <a:t>÷ 50, flip y</a:t>
            </a:r>
          </a:p>
        </p:txBody>
      </p:sp>
      <p:cxnSp>
        <p:nvCxnSpPr>
          <p:cNvPr id="299" name="Connector 298"/>
          <p:cNvCxnSpPr/>
          <p:nvPr/>
        </p:nvCxnSpPr>
        <p:spPr>
          <a:xfrm flipH="1">
            <a:off x="3337560" y="210312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337560" y="2148840"/>
            <a:ext cx="2468880" cy="274320"/>
          </a:xfrm>
          <a:prstGeom prst="rect">
            <a:avLst/>
          </a:prstGeom>
          <a:noFill/>
        </p:spPr>
        <p:txBody>
          <a:bodyPr wrap="square">
            <a:spAutoFit/>
          </a:bodyPr>
          <a:lstStyle/>
          <a:p>
            <a:pPr algn="ctr"/>
            <a:r>
              <a:rPr sz="1100" b="0" i="0">
                <a:solidFill>
                  <a:srgbClr val="9AA3AB"/>
                </a:solidFill>
              </a:rPr>
              <a:t>× 50, flip y</a:t>
            </a:r>
          </a:p>
        </p:txBody>
      </p:sp>
      <p:sp>
        <p:nvSpPr>
          <p:cNvPr id="301" name="TextBox 300"/>
          <p:cNvSpPr txBox="1"/>
          <p:nvPr/>
        </p:nvSpPr>
        <p:spPr>
          <a:xfrm>
            <a:off x="457200" y="2834640"/>
            <a:ext cx="8229600" cy="731520"/>
          </a:xfrm>
          <a:prstGeom prst="rect">
            <a:avLst/>
          </a:prstGeom>
          <a:noFill/>
        </p:spPr>
        <p:txBody>
          <a:bodyPr wrap="square">
            <a:spAutoFit/>
          </a:bodyPr>
          <a:lstStyle/>
          <a:p>
            <a:pPr algn="ctr"/>
            <a:r>
              <a:rPr sz="1700" b="1" i="0">
                <a:solidFill>
                  <a:srgbClr val="DEE2E6"/>
                </a:solidFill>
              </a:rPr>
              <a:t>Forget one conversion. What do you see?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Box2D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Box2D, used directly in Game1</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Different Scale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Birds0:</a:t>
            </a:r>
            <a:endParaRPr/>
          </a:p>
          <a:p>
            <a:pPr indent="-330200" lvl="0" marL="457200" rtl="0" algn="l">
              <a:spcBef>
                <a:spcPts val="0"/>
              </a:spcBef>
              <a:spcAft>
                <a:spcPts val="0"/>
              </a:spcAft>
              <a:buSzPts val="1600"/>
              <a:buChar char="●"/>
            </a:pPr>
            <a:r>
              <a:rPr lang="en"/>
              <a:t>Change PixelsPerMeter from 50 to 10</a:t>
            </a:r>
            <a:endParaRPr/>
          </a:p>
          <a:p>
            <a:pPr indent="-330200" lvl="0" marL="457200" rtl="0" algn="l">
              <a:spcBef>
                <a:spcPts val="0"/>
              </a:spcBef>
              <a:spcAft>
                <a:spcPts val="0"/>
              </a:spcAft>
              <a:buSzPts val="1600"/>
              <a:buChar char="●"/>
            </a:pPr>
            <a:r>
              <a:rPr lang="en"/>
              <a:t>How many lines does it touch? How do the blocks fall now?</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&amp; Facade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Box2D in one place: the rest of the game never sees a Box2D type.</a:t>
            </a:r>
            <a:endParaRPr/>
          </a:p>
        </p:txBody>
      </p:sp>
      <p:sp>
        <p:nvSpPr>
          <p:cNvPr id="295" name="Rounded Rectangle 294"/>
          <p:cNvSpPr/>
          <p:nvPr/>
        </p:nvSpPr>
        <p:spPr>
          <a:xfrm>
            <a:off x="548640" y="13716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game: blocks, pigs, birds, levels</a:t>
            </a:r>
          </a:p>
        </p:txBody>
      </p:sp>
      <p:sp>
        <p:nvSpPr>
          <p:cNvPr id="296" name="Rounded Rectangle 295"/>
          <p:cNvSpPr/>
          <p:nvPr/>
        </p:nvSpPr>
        <p:spPr>
          <a:xfrm>
            <a:off x="54864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PhysicsWorld: a Facade</a:t>
            </a:r>
          </a:p>
          <a:p>
            <a:pPr algn="ctr"/>
            <a:r>
              <a:rPr sz="1300" b="0">
                <a:solidFill>
                  <a:srgbClr val="9AA3AB"/>
                </a:solidFill>
              </a:rPr>
              <a:t>a handful of calls: create, step, destroy</a:t>
            </a:r>
          </a:p>
        </p:txBody>
      </p:sp>
      <p:sp>
        <p:nvSpPr>
          <p:cNvPr id="297" name="Rounded Rectangle 296"/>
          <p:cNvSpPr/>
          <p:nvPr/>
        </p:nvSpPr>
        <p:spPr>
          <a:xfrm>
            <a:off x="470916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PhysicsBody: an Adapter</a:t>
            </a:r>
          </a:p>
          <a:p>
            <a:pPr algn="ctr"/>
            <a:r>
              <a:rPr sz="1300" b="0">
                <a:solidFill>
                  <a:srgbClr val="9AA3AB"/>
                </a:solidFill>
              </a:rPr>
              <a:t>a body in pixels, turning like SpriteBatch</a:t>
            </a:r>
          </a:p>
        </p:txBody>
      </p:sp>
      <p:sp>
        <p:nvSpPr>
          <p:cNvPr id="298" name="Rounded Rectangle 297"/>
          <p:cNvSpPr/>
          <p:nvPr/>
        </p:nvSpPr>
        <p:spPr>
          <a:xfrm>
            <a:off x="548640" y="32004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Box2D: hundreds of functions, metres, structs and IDs</a:t>
            </a:r>
          </a:p>
        </p:txBody>
      </p:sp>
      <p:sp>
        <p:nvSpPr>
          <p:cNvPr id="299" name="TextBox 298"/>
          <p:cNvSpPr txBox="1"/>
          <p:nvPr/>
        </p:nvSpPr>
        <p:spPr>
          <a:xfrm>
            <a:off x="457200" y="3886200"/>
            <a:ext cx="8229600" cy="731520"/>
          </a:xfrm>
          <a:prstGeom prst="rect">
            <a:avLst/>
          </a:prstGeom>
          <a:noFill/>
        </p:spPr>
        <p:txBody>
          <a:bodyPr wrap="square">
            <a:spAutoFit/>
          </a:bodyPr>
          <a:lstStyle/>
          <a:p>
            <a:pPr algn="ctr"/>
            <a:r>
              <a:rPr sz="1500" b="1" i="0">
                <a:solidFill>
                  <a:srgbClr val="DEE2E6"/>
                </a:solidFill>
              </a:rPr>
              <a:t>Swap Box2D for another library. Which files change?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Adapter: PhysicsBody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Wraps a B2BodyId</a:t>
            </a:r>
            <a:endParaRPr/>
          </a:p>
          <a:p>
            <a:pPr indent="-330200" lvl="0" marL="457200" rtl="0" algn="l">
              <a:buClr>
                <a:srgbClr val="DEE2E6"/>
              </a:buClr>
              <a:spcBef>
                <a:spcPts val="0"/>
              </a:spcBef>
              <a:spcAft>
                <a:spcPts val="0"/>
              </a:spcAft>
              <a:buSzPts val="1600"/>
              <a:buChar char="●"/>
            </a:pPr>
            <a:r>
              <a:rPr lang="en" sz="1600">
                <a:solidFill>
                  <a:srgbClr val="DEE2E6"/>
                </a:solidFill>
              </a:rPr>
              <a:t>Position in pixels</a:t>
            </a:r>
            <a:endParaRPr/>
          </a:p>
          <a:p>
            <a:pPr indent="-330200" lvl="0" marL="457200" rtl="0" algn="l">
              <a:buClr>
                <a:srgbClr val="DEE2E6"/>
              </a:buClr>
              <a:spcBef>
                <a:spcPts val="0"/>
              </a:spcBef>
              <a:spcAft>
                <a:spcPts val="0"/>
              </a:spcAft>
              <a:buSzPts val="1600"/>
              <a:buChar char="●"/>
            </a:pPr>
            <a:r>
              <a:rPr lang="en" sz="1600">
                <a:solidFill>
                  <a:srgbClr val="DEE2E6"/>
                </a:solidFill>
              </a:rPr>
              <a:t>Rotation that turns like SpriteBatch</a:t>
            </a:r>
            <a:endParaRPr/>
          </a:p>
          <a:p>
            <a:pPr indent="-330200" lvl="0" marL="457200" rtl="0" algn="l">
              <a:buClr>
                <a:srgbClr val="DEE2E6"/>
              </a:buClr>
              <a:spcBef>
                <a:spcPts val="0"/>
              </a:spcBef>
              <a:spcAft>
                <a:spcPts val="0"/>
              </a:spcAft>
              <a:buSzPts val="1600"/>
              <a:buChar char="●"/>
            </a:pPr>
            <a:r>
              <a:rPr lang="en" sz="1600">
                <a:solidFill>
                  <a:srgbClr val="DEE2E6"/>
                </a:solidFill>
              </a:rPr>
              <a:t>Owner: the entity it belongs to</a:t>
            </a:r>
            <a:endParaRPr/>
          </a:p>
          <a:p>
            <a:pPr indent="-330200" lvl="0" marL="457200" rtl="0" algn="l">
              <a:buClr>
                <a:srgbClr val="DEE2E6"/>
              </a:buClr>
              <a:spcBef>
                <a:spcPts val="0"/>
              </a:spcBef>
              <a:spcAft>
                <a:spcPts val="0"/>
              </a:spcAft>
              <a:buSzPts val="1600"/>
              <a:buChar char="●"/>
            </a:pPr>
            <a:r>
              <a:rPr lang="en" sz="1600">
                <a:solidFill>
                  <a:srgbClr val="DEE2E6"/>
                </a:solidFill>
              </a:rPr>
              <a:t>Units: every conversion, in one place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internal B2BodyId Id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object Owner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Vector2 Position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Units.ToPixels(b2Body_GetPosition(Id));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get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B2Rot r = b2Body_GetRotation(Id);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-b2Rot_GetAngle(in 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Facade: PhysicsWorld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game reads like our game again</a:t>
            </a:r>
            <a:endParaRPr/>
          </a:p>
          <a:p>
            <a:pPr indent="-330200" lvl="0" marL="457200" rtl="0" algn="l">
              <a:buClr>
                <a:srgbClr val="DEE2E6"/>
              </a:buClr>
              <a:spcBef>
                <a:spcPts val="0"/>
              </a:spcBef>
              <a:spcAft>
                <a:spcPts val="0"/>
              </a:spcAft>
              <a:buSzPts val="1600"/>
              <a:buChar char="●"/>
            </a:pPr>
            <a:r>
              <a:rPr lang="en" sz="1600">
                <a:solidFill>
                  <a:srgbClr val="DEE2E6"/>
                </a:solidFill>
              </a:rPr>
              <a:t>Gains</a:t>
            </a:r>
            <a:endParaRPr/>
          </a:p>
          <a:p>
            <a:pPr indent="-317500" lvl="1" marL="914400" rtl="0" algn="l">
              <a:buClr>
                <a:srgbClr val="6C757D"/>
              </a:buClr>
              <a:spcBef>
                <a:spcPts val="0"/>
              </a:spcBef>
              <a:spcAft>
                <a:spcPts val="0"/>
              </a:spcAft>
              <a:buSzPts val="1400"/>
              <a:buChar char="○"/>
            </a:pPr>
            <a:r>
              <a:rPr lang="en" sz="1400">
                <a:solidFill>
                  <a:srgbClr val="6C757D"/>
                </a:solidFill>
              </a:rPr>
              <a:t>One place to change</a:t>
            </a:r>
            <a:endParaRPr/>
          </a:p>
          <a:p>
            <a:pPr indent="-317500" lvl="1" marL="914400" rtl="0" algn="l">
              <a:buClr>
                <a:srgbClr val="6C757D"/>
              </a:buClr>
              <a:spcBef>
                <a:spcPts val="0"/>
              </a:spcBef>
              <a:spcAft>
                <a:spcPts val="0"/>
              </a:spcAft>
              <a:buSzPts val="1400"/>
              <a:buChar char="○"/>
            </a:pPr>
            <a:r>
              <a:rPr lang="en" sz="1400">
                <a:solidFill>
                  <a:srgbClr val="6C757D"/>
                </a:solidFill>
              </a:rPr>
              <a:t>Our language: pixels, not metres</a:t>
            </a:r>
            <a:endParaRPr/>
          </a:p>
          <a:p>
            <a:pPr indent="-317500" lvl="1" marL="914400" rtl="0" algn="l">
              <a:buClr>
                <a:srgbClr val="6C757D"/>
              </a:buClr>
              <a:spcBef>
                <a:spcPts val="0"/>
              </a:spcBef>
              <a:spcAft>
                <a:spcPts val="0"/>
              </a:spcAft>
              <a:buSzPts val="1400"/>
              <a:buChar char="○"/>
            </a:pPr>
            <a:r>
              <a:rPr lang="en" sz="1400">
                <a:solidFill>
                  <a:srgbClr val="6C757D"/>
                </a:solidFill>
              </a:rPr>
              <a:t>A smaller surface</a:t>
            </a:r>
            <a:endParaRPr/>
          </a:p>
          <a:p>
            <a:pPr indent="-330200" lvl="0" marL="457200" rtl="0" algn="l">
              <a:buClr>
                <a:srgbClr val="DEE2E6"/>
              </a:buClr>
              <a:spcBef>
                <a:spcPts val="0"/>
              </a:spcBef>
              <a:spcAft>
                <a:spcPts val="0"/>
              </a:spcAft>
              <a:buSzPts val="1600"/>
              <a:buChar char="●"/>
            </a:pPr>
            <a:r>
              <a:rPr lang="en" sz="1600">
                <a:solidFill>
                  <a:srgbClr val="DEE2E6"/>
                </a:solidFill>
              </a:rPr>
              <a:t>Cost: every new feature goes through the facade first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static B2Vec2 ToMeters(Vector2 pixels)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new(pixels.X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-pixels.Y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Block.cs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Block(PhysicsWorld world, 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Vector2 size,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PhysicsMaterial material, TextureRegion 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base(sprite)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 = world.CreateBox(center, size,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rotation, material, this);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Worlds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block exists twice. The physics world owns where it is.</a:t>
            </a:r>
            <a:endParaRPr/>
          </a:p>
        </p:txBody>
      </p:sp>
      <p:sp>
        <p:nvSpPr>
          <p:cNvPr id="295" name="Rounded Rectangle 294"/>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Entity</a:t>
            </a:r>
          </a:p>
          <a:p>
            <a:pPr algn="ctr"/>
            <a:r>
              <a:rPr sz="1400" b="0">
                <a:solidFill>
                  <a:srgbClr val="9AA3AB"/>
                </a:solidFill>
              </a:rPr>
              <a:t>sprite, health, damage</a:t>
            </a:r>
          </a:p>
        </p:txBody>
      </p:sp>
      <p:sp>
        <p:nvSpPr>
          <p:cNvPr id="296" name="Rounded Rectangle 295"/>
          <p:cNvSpPr/>
          <p:nvPr/>
        </p:nvSpPr>
        <p:spPr>
          <a:xfrm>
            <a:off x="5303520" y="1463040"/>
            <a:ext cx="31089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PhysicsBody</a:t>
            </a:r>
          </a:p>
          <a:p>
            <a:pPr algn="ctr"/>
            <a:r>
              <a:rPr sz="1400" b="0">
                <a:solidFill>
                  <a:srgbClr val="9AA3AB"/>
                </a:solidFill>
              </a:rPr>
              <a:t>position, rotation, velocity</a:t>
            </a:r>
          </a:p>
        </p:txBody>
      </p:sp>
      <p:cxnSp>
        <p:nvCxnSpPr>
          <p:cNvPr id="297" name="Connector 296"/>
          <p:cNvCxnSpPr/>
          <p:nvPr/>
        </p:nvCxnSpPr>
        <p:spPr>
          <a:xfrm flipH="1">
            <a:off x="3886200" y="1783080"/>
            <a:ext cx="137160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703320" y="1490472"/>
            <a:ext cx="1737360" cy="274320"/>
          </a:xfrm>
          <a:prstGeom prst="rect">
            <a:avLst/>
          </a:prstGeom>
          <a:noFill/>
        </p:spPr>
        <p:txBody>
          <a:bodyPr wrap="square">
            <a:spAutoFit/>
          </a:bodyPr>
          <a:lstStyle/>
          <a:p>
            <a:pPr algn="ctr"/>
            <a:r>
              <a:rPr sz="1100" b="0" i="0">
                <a:solidFill>
                  <a:srgbClr val="9AA3AB"/>
                </a:solidFill>
              </a:rPr>
              <a:t>position, every draw</a:t>
            </a:r>
          </a:p>
        </p:txBody>
      </p:sp>
      <p:cxnSp>
        <p:nvCxnSpPr>
          <p:cNvPr id="299" name="Connector 298"/>
          <p:cNvCxnSpPr/>
          <p:nvPr/>
        </p:nvCxnSpPr>
        <p:spPr>
          <a:xfrm>
            <a:off x="3886200" y="2194560"/>
            <a:ext cx="1371600"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886200" y="2240280"/>
            <a:ext cx="1371600" cy="274320"/>
          </a:xfrm>
          <a:prstGeom prst="rect">
            <a:avLst/>
          </a:prstGeom>
          <a:noFill/>
        </p:spPr>
        <p:txBody>
          <a:bodyPr wrap="square">
            <a:spAutoFit/>
          </a:bodyPr>
          <a:lstStyle/>
          <a:p>
            <a:pPr algn="ctr"/>
            <a:r>
              <a:rPr sz="1100" b="0" i="0">
                <a:solidFill>
                  <a:srgbClr val="9AA3AB"/>
                </a:solidFill>
              </a:rPr>
              <a:t>Owner</a:t>
            </a:r>
          </a:p>
        </p:txBody>
      </p:sp>
      <p:sp>
        <p:nvSpPr>
          <p:cNvPr id="301" name="TextBox 300"/>
          <p:cNvSpPr txBox="1"/>
          <p:nvPr/>
        </p:nvSpPr>
        <p:spPr>
          <a:xfrm>
            <a:off x="731520" y="2743200"/>
            <a:ext cx="7680960" cy="822960"/>
          </a:xfrm>
          <a:prstGeom prst="rect">
            <a:avLst/>
          </a:prstGeom>
          <a:noFill/>
        </p:spPr>
        <p:txBody>
          <a:bodyPr wrap="square">
            <a:spAutoFit/>
          </a:bodyPr>
          <a:lstStyle/>
          <a:p>
            <a:pPr algn="ctr"/>
            <a:r>
              <a:rPr sz="1400" b="0" i="0">
                <a:solidFill>
                  <a:srgbClr val="9AA3AB"/>
                </a:solidFill>
              </a:rPr>
              <a:t>The body knows its owner, so a hit between two bodies leads back to two entities.</a:t>
            </a:r>
          </a:p>
          <a:p>
            <a:pPr algn="ctr"/>
            <a:r>
              <a:rPr sz="1400" b="0" i="0">
                <a:solidFill>
                  <a:srgbClr val="9AA3AB"/>
                </a:solidFill>
              </a:rPr>
              <a:t>F1 shows what the physics world sees. A fixed time step: Snake’s accumulator again.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 Birds1: Box2D behind PhysicsWorld and PhysicsBody</a:t>
            </a:r>
            <a:endParaRPr sz="18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Same Change, Behind the Adapter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Birds1:</a:t>
            </a:r>
            <a:endParaRPr/>
          </a:p>
          <a:p>
            <a:pPr indent="-330200" lvl="0" marL="457200" rtl="0" algn="l">
              <a:spcBef>
                <a:spcPts val="0"/>
              </a:spcBef>
              <a:spcAft>
                <a:spcPts val="0"/>
              </a:spcAft>
              <a:buSzPts val="1600"/>
              <a:buChar char="●"/>
            </a:pPr>
            <a:r>
              <a:rPr lang="en"/>
              <a:t>Make the same change: 10 pixels per metre</a:t>
            </a:r>
            <a:endParaRPr/>
          </a:p>
          <a:p>
            <a:pPr indent="-330200" lvl="0" marL="457200" rtl="0" algn="l">
              <a:spcBef>
                <a:spcPts val="0"/>
              </a:spcBef>
              <a:spcAft>
                <a:spcPts val="0"/>
              </a:spcAft>
              <a:buSzPts val="1600"/>
              <a:buChar char="●"/>
            </a:pPr>
            <a:r>
              <a:rPr lang="en"/>
              <a:t>How many files did you touch this time?</a:t>
            </a:r>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Contact Events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Box2D collects hit events during the step</a:t>
            </a:r>
            <a:endParaRPr/>
          </a:p>
          <a:p>
            <a:pPr indent="-317500" lvl="1" marL="914400" rtl="0" algn="l">
              <a:buClr>
                <a:srgbClr val="6C757D"/>
              </a:buClr>
              <a:spcBef>
                <a:spcPts val="0"/>
              </a:spcBef>
              <a:spcAft>
                <a:spcPts val="0"/>
              </a:spcAft>
              <a:buSzPts val="1400"/>
              <a:buChar char="○"/>
            </a:pPr>
            <a:r>
              <a:rPr lang="en" sz="1400">
                <a:solidFill>
                  <a:srgbClr val="6C757D"/>
                </a:solidFill>
              </a:rPr>
              <a:t>Read after the step</a:t>
            </a:r>
            <a:endParaRPr/>
          </a:p>
          <a:p>
            <a:pPr indent="-330200" lvl="0" marL="457200" rtl="0" algn="l">
              <a:buClr>
                <a:srgbClr val="DEE2E6"/>
              </a:buClr>
              <a:spcBef>
                <a:spcPts val="0"/>
              </a:spcBef>
              <a:spcAft>
                <a:spcPts val="0"/>
              </a:spcAft>
              <a:buSzPts val="1600"/>
              <a:buChar char="●"/>
            </a:pPr>
            <a:r>
              <a:rPr lang="en" sz="1600">
                <a:solidFill>
                  <a:srgbClr val="DEE2E6"/>
                </a:solidFill>
              </a:rPr>
              <a:t>The facade turns them into a C# event, in our terms</a:t>
            </a:r>
            <a:endParaRPr/>
          </a:p>
          <a:p>
            <a:pPr indent="-317500" lvl="1" marL="914400" rtl="0" algn="l">
              <a:buClr>
                <a:srgbClr val="6C757D"/>
              </a:buClr>
              <a:spcBef>
                <a:spcPts val="0"/>
              </a:spcBef>
              <a:spcAft>
                <a:spcPts val="0"/>
              </a:spcAft>
              <a:buSzPts val="1400"/>
              <a:buChar char="○"/>
            </a:pPr>
            <a:r>
              <a:rPr lang="en" sz="1400">
                <a:solidFill>
                  <a:srgbClr val="6C757D"/>
                </a:solidFill>
              </a:rPr>
              <a:t>Bodies, and a speed in pixels per second</a:t>
            </a:r>
            <a:endParaRPr/>
          </a:p>
          <a:p>
            <a:pPr indent="-330200" lvl="0" marL="457200" rtl="0" algn="l">
              <a:buClr>
                <a:srgbClr val="DEE2E6"/>
              </a:buClr>
              <a:spcBef>
                <a:spcPts val="0"/>
              </a:spcBef>
              <a:spcAft>
                <a:spcPts val="0"/>
              </a:spcAft>
              <a:buSzPts val="1600"/>
              <a:buChar char="●"/>
            </a:pPr>
            <a:r>
              <a:rPr lang="en" sz="1600">
                <a:solidFill>
                  <a:srgbClr val="DEE2E6"/>
                </a:solidFill>
              </a:rPr>
              <a:t>The game damages both entities</a:t>
            </a:r>
            <a:endParaRPr/>
          </a:p>
          <a:p>
            <a:pPr indent="-317500" lvl="1" marL="914400" rtl="0" algn="l">
              <a:buClr>
                <a:srgbClr val="6C757D"/>
              </a:buClr>
              <a:spcBef>
                <a:spcPts val="0"/>
              </a:spcBef>
              <a:spcAft>
                <a:spcPts val="0"/>
              </a:spcAft>
              <a:buSzPts val="1400"/>
              <a:buChar char="○"/>
            </a:pPr>
            <a:r>
              <a:rPr lang="en" sz="1400">
                <a:solidFill>
                  <a:srgbClr val="6C757D"/>
                </a:solidFill>
              </a:rPr>
              <a:t>Glass breaks easily, stone hardly at all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event Action&lt;PhysicsBody,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float&gt; Hit;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B2ContactEvents events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b2World_GetContactEvents(_world);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events.hitCount;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B2ContactHitEvent hit = events.hitEvents[i];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(!b2Shape_IsValid(hit.shapeIdA)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!b2Shape_IsValid(hit.shapeIdB))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Hit?.Invoke(BodyOf(hit.shapeIdA),</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BodyOf(hit.shapeIdB),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Units.ToPixels(hit.approachSpeed));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Destroying Safely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Not in the hit handler</a:t>
            </a:r>
            <a:endParaRPr/>
          </a:p>
          <a:p>
            <a:pPr indent="-317500" lvl="1" marL="914400" rtl="0" algn="l">
              <a:buClr>
                <a:srgbClr val="6C757D"/>
              </a:buClr>
              <a:spcBef>
                <a:spcPts val="0"/>
              </a:spcBef>
              <a:spcAft>
                <a:spcPts val="0"/>
              </a:spcAft>
              <a:buSzPts val="1400"/>
              <a:buChar char="○"/>
            </a:pPr>
            <a:r>
              <a:rPr lang="en" sz="1400">
                <a:solidFill>
                  <a:srgbClr val="6C757D"/>
                </a:solidFill>
              </a:rPr>
              <a:t>More hits may be about the body you destroyed</a:t>
            </a:r>
            <a:endParaRPr/>
          </a:p>
          <a:p>
            <a:pPr indent="-317500" lvl="1" marL="914400" rtl="0" algn="l">
              <a:buClr>
                <a:srgbClr val="6C757D"/>
              </a:buClr>
              <a:spcBef>
                <a:spcPts val="0"/>
              </a:spcBef>
              <a:spcAft>
                <a:spcPts val="0"/>
              </a:spcAft>
              <a:buSzPts val="1400"/>
              <a:buChar char="○"/>
            </a:pPr>
            <a:r>
              <a:rPr lang="en" sz="1400">
                <a:solidFill>
                  <a:srgbClr val="6C757D"/>
                </a:solidFill>
              </a:rPr>
              <a:t>Many libraries crash if the world changes during a callback</a:t>
            </a:r>
            <a:endParaRPr/>
          </a:p>
          <a:p>
            <a:pPr indent="-317500" lvl="1" marL="914400" rtl="0" algn="l">
              <a:buClr>
                <a:srgbClr val="6C757D"/>
              </a:buClr>
              <a:spcBef>
                <a:spcPts val="0"/>
              </a:spcBef>
              <a:spcAft>
                <a:spcPts val="0"/>
              </a:spcAft>
              <a:buSzPts val="1400"/>
              <a:buChar char="○"/>
            </a:pPr>
            <a:r>
              <a:rPr lang="en" sz="1400">
                <a:solidFill>
                  <a:srgbClr val="6C757D"/>
                </a:solidFill>
              </a:rPr>
              <a:t>You may be looping over the list</a:t>
            </a:r>
            <a:endParaRPr/>
          </a:p>
          <a:p>
            <a:pPr indent="-330200" lvl="0" marL="457200" rtl="0" algn="l">
              <a:buClr>
                <a:srgbClr val="DEE2E6"/>
              </a:buClr>
              <a:spcBef>
                <a:spcPts val="0"/>
              </a:spcBef>
              <a:spcAft>
                <a:spcPts val="0"/>
              </a:spcAft>
              <a:buSzPts val="1600"/>
              <a:buChar char="●"/>
            </a:pPr>
            <a:r>
              <a:rPr lang="en" sz="1600">
                <a:solidFill>
                  <a:srgbClr val="DEE2E6"/>
                </a:solidFill>
              </a:rPr>
              <a:t>Mark now, remove at a safe point</a:t>
            </a:r>
            <a:endParaRPr/>
          </a:p>
          <a:p>
            <a:pPr indent="-330200" lvl="0" marL="457200" rtl="0" algn="l">
              <a:buClr>
                <a:srgbClr val="DEE2E6"/>
              </a:buClr>
              <a:spcBef>
                <a:spcPts val="0"/>
              </a:spcBef>
              <a:spcAft>
                <a:spcPts val="0"/>
              </a:spcAft>
              <a:buSzPts val="1600"/>
              <a:buChar char="●"/>
            </a:pPr>
            <a:r>
              <a:rPr lang="en" sz="1600">
                <a:solidFill>
                  <a:srgbClr val="DEE2E6"/>
                </a:solidFill>
              </a:rPr>
              <a:t>Loop backwards when removing</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void OnHit(PhysicsBody a, PhysicsBody 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_physics.Update(deltaSeconds);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RemoveDestroyed();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_entities.Count - 1; i &gt;= 0;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(!_entities[i].IsDestroyed)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_physics.Destroy(_entities[i].Body);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_entities.RemoveAt(i);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Events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Birds2: hits that damage, removed after the step</a:t>
            </a:r>
            <a:endParaRPr sz="18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Harder Hits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Birds2:</a:t>
            </a:r>
            <a:endParaRPr/>
          </a:p>
          <a:p>
            <a:pPr indent="-330200" lvl="0" marL="457200" rtl="0" algn="l">
              <a:spcBef>
                <a:spcPts val="0"/>
              </a:spcBef>
              <a:spcAft>
                <a:spcPts val="0"/>
              </a:spcAft>
              <a:buSzPts val="1600"/>
              <a:buChar char="●"/>
            </a:pPr>
            <a:r>
              <a:rPr lang="en"/>
              <a:t>Make every hit do twice the damage</a:t>
            </a:r>
            <a:endParaRPr/>
          </a:p>
          <a:p>
            <a:pPr indent="-330200" lvl="0" marL="457200" rtl="0" algn="l">
              <a:spcBef>
                <a:spcPts val="0"/>
              </a:spcBef>
              <a:spcAft>
                <a:spcPts val="0"/>
              </a:spcAft>
              <a:buSzPts val="1600"/>
              <a:buChar char="●"/>
            </a:pPr>
            <a:r>
              <a:rPr lang="en"/>
              <a:t>Which method? What breaks sooner?</a:t>
            </a:r>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Prototype</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“Create new objects by copying a prototype”</a:t>
            </a:r>
            <a:endParaRPr/>
          </a:p>
          <a:p>
            <a:pPr indent="-330200" lvl="0" marL="457200" rtl="0" algn="l">
              <a:buClr>
                <a:srgbClr val="DEE2E6"/>
              </a:buClr>
              <a:spcBef>
                <a:spcPts val="0"/>
              </a:spcBef>
              <a:spcAft>
                <a:spcPts val="0"/>
              </a:spcAft>
              <a:buSzPts val="1600"/>
              <a:buChar char="●"/>
            </a:pPr>
            <a:r>
              <a:rPr lang="en" sz="1600">
                <a:solidFill>
                  <a:srgbClr val="DEE2E6"/>
                </a:solidFill>
              </a:rPr>
              <a:t>A configured entity, not in the world</a:t>
            </a:r>
            <a:endParaRPr/>
          </a:p>
          <a:p>
            <a:pPr indent="-330200" lvl="0" marL="457200" rtl="0" algn="l">
              <a:buClr>
                <a:srgbClr val="DEE2E6"/>
              </a:buClr>
              <a:spcBef>
                <a:spcPts val="0"/>
              </a:spcBef>
              <a:spcAft>
                <a:spcPts val="0"/>
              </a:spcAft>
              <a:buSzPts val="1600"/>
              <a:buChar char="●"/>
            </a:pPr>
            <a:r>
              <a:rPr lang="en" sz="1600">
                <a:solidFill>
                  <a:srgbClr val="DEE2E6"/>
                </a:solidFill>
              </a:rPr>
              <a:t>Copy it, and give the copy a body</a:t>
            </a:r>
            <a:endParaRPr/>
          </a:p>
          <a:p>
            <a:pPr indent="-330200" lvl="0" marL="457200" rtl="0" algn="l">
              <a:buClr>
                <a:srgbClr val="DEE2E6"/>
              </a:buClr>
              <a:spcBef>
                <a:spcPts val="0"/>
              </a:spcBef>
              <a:spcAft>
                <a:spcPts val="0"/>
              </a:spcAft>
              <a:buSzPts val="1600"/>
              <a:buChar char="●"/>
            </a:pPr>
            <a:r>
              <a:rPr lang="en" sz="1600">
                <a:solidFill>
                  <a:srgbClr val="DEE2E6"/>
                </a:solidFill>
              </a:rPr>
              <a:t>Prefabs: one prototype per kind, by name</a:t>
            </a:r>
            <a:endParaRPr/>
          </a:p>
          <a:p>
            <a:pPr indent="-317500" lvl="1" marL="914400" rtl="0" algn="l">
              <a:buClr>
                <a:srgbClr val="6C757D"/>
              </a:buClr>
              <a:spcBef>
                <a:spcPts val="0"/>
              </a:spcBef>
              <a:spcAft>
                <a:spcPts val="0"/>
              </a:spcAft>
              <a:buSzPts val="1400"/>
              <a:buChar char="○"/>
            </a:pPr>
            <a:r>
              <a:rPr lang="en" sz="1400">
                <a:solidFill>
                  <a:srgbClr val="6C757D"/>
                </a:solidFill>
              </a:rPr>
              <a:t>A big pig: a Pig with a bigger radius, not a subclass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Entity 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var copy = (Entity)MemberwiseClone();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copy.Body = null;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copy;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Prefabs.cs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Add("wood-post", new Block(Materials.Wood,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post, 8, 500, atlas.GetRegion("wood-post")));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Add("big-pig", new Pig(30, 6, 5000,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atlas.GetRegion("big-pig")));</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 entity = _prototypes[name].Clone();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entity.Spawn(world, position, rotation);</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From Prefabs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level: prefab names and positions</a:t>
            </a:r>
            <a:endParaRPr/>
          </a:p>
          <a:p>
            <a:pPr indent="-317500" lvl="1" marL="914400" rtl="0" algn="l">
              <a:buClr>
                <a:srgbClr val="6C757D"/>
              </a:buClr>
              <a:spcBef>
                <a:spcPts val="0"/>
              </a:spcBef>
              <a:spcAft>
                <a:spcPts val="0"/>
              </a:spcAft>
              <a:buSzPts val="1400"/>
              <a:buChar char="○"/>
            </a:pPr>
            <a:r>
              <a:rPr lang="en" sz="1400">
                <a:solidFill>
                  <a:srgbClr val="6C757D"/>
                </a:solidFill>
              </a:rPr>
              <a:t>Levels as data, as in Sokoban</a:t>
            </a:r>
            <a:endParaRPr/>
          </a:p>
          <a:p>
            <a:pPr indent="-330200" lvl="0" marL="457200" rtl="0" algn="l">
              <a:buClr>
                <a:srgbClr val="DEE2E6"/>
              </a:buClr>
              <a:spcBef>
                <a:spcPts val="0"/>
              </a:spcBef>
              <a:spcAft>
                <a:spcPts val="0"/>
              </a:spcAft>
              <a:buSzPts val="1600"/>
              <a:buChar char="●"/>
            </a:pPr>
            <a:r>
              <a:rPr lang="en" sz="1600">
                <a:solidFill>
                  <a:srgbClr val="DEE2E6"/>
                </a:solidFill>
              </a:rPr>
              <a:t>MemberwiseClone: a shallow copy</a:t>
            </a:r>
            <a:endParaRPr/>
          </a:p>
          <a:p>
            <a:pPr indent="-317500" lvl="1" marL="914400" rtl="0" algn="l">
              <a:buClr>
                <a:srgbClr val="6C757D"/>
              </a:buClr>
              <a:spcBef>
                <a:spcPts val="0"/>
              </a:spcBef>
              <a:spcAft>
                <a:spcPts val="0"/>
              </a:spcAft>
              <a:buSzPts val="1400"/>
              <a:buChar char="○"/>
            </a:pPr>
            <a:r>
              <a:rPr lang="en" sz="1400">
                <a:solidFill>
                  <a:srgbClr val="6C757D"/>
                </a:solidFill>
              </a:rPr>
              <a:t>Sharing a sprite: fine</a:t>
            </a:r>
            <a:endParaRPr/>
          </a:p>
          <a:p>
            <a:pPr indent="-317500" lvl="1" marL="914400" rtl="0" algn="l">
              <a:buClr>
                <a:srgbClr val="6C757D"/>
              </a:buClr>
              <a:spcBef>
                <a:spcPts val="0"/>
              </a:spcBef>
              <a:spcAft>
                <a:spcPts val="0"/>
              </a:spcAft>
              <a:buSzPts val="1400"/>
              <a:buChar char="○"/>
            </a:pPr>
            <a:r>
              <a:rPr lang="en" sz="1400">
                <a:solidFill>
                  <a:srgbClr val="6C757D"/>
                </a:solidFill>
              </a:rPr>
              <a:t>Sharing a body: two blocks move as one</a:t>
            </a:r>
            <a:endParaRPr/>
          </a:p>
          <a:p>
            <a:pPr indent="-330200" lvl="0" marL="457200" rtl="0" algn="l">
              <a:buClr>
                <a:srgbClr val="DEE2E6"/>
              </a:buClr>
              <a:spcBef>
                <a:spcPts val="0"/>
              </a:spcBef>
              <a:spcAft>
                <a:spcPts val="0"/>
              </a:spcAft>
              <a:buSzPts val="1600"/>
              <a:buChar char="●"/>
            </a:pPr>
            <a:r>
              <a:rPr lang="en" sz="1600">
                <a:solidFill>
                  <a:srgbClr val="DEE2E6"/>
                </a:solidFill>
              </a:rPr>
              <a:t>Prototype vs. Type Object: in Plants vs. Zombies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birds 3</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880 590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1040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wood-plank   960 530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960 618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glass-box    960 495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960 448 0</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Prototype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Birds3: prefabs, and levels as text files</a:t>
            </a:r>
            <a:endParaRPr sz="18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From Prefabs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Put a big-pig on top of the hut, and a glass-box next to it</a:t>
            </a:r>
            <a:endParaRPr/>
          </a:p>
          <a:p>
            <a:pPr indent="-330200" lvl="0" marL="457200" rtl="0" algn="l">
              <a:spcBef>
                <a:spcPts val="0"/>
              </a:spcBef>
              <a:spcAft>
                <a:spcPts val="0"/>
              </a:spcAft>
              <a:buSzPts val="1600"/>
              <a:buChar char="●"/>
            </a:pPr>
            <a:r>
              <a:rPr lang="en"/>
              <a:t>How much code did it take?</a:t>
            </a:r>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Three levels, a few birds each. Fly waits until the world has settled.</a:t>
            </a:r>
            <a:endParaRPr/>
          </a:p>
        </p:txBody>
      </p:sp>
      <p:sp>
        <p:nvSpPr>
          <p:cNvPr id="295" name="Rounded Rectangle 294"/>
          <p:cNvSpPr/>
          <p:nvPr/>
        </p:nvSpPr>
        <p:spPr>
          <a:xfrm>
            <a:off x="1463040" y="1463040"/>
            <a:ext cx="182880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a:t>
            </a:r>
          </a:p>
        </p:txBody>
      </p:sp>
      <p:cxnSp>
        <p:nvCxnSpPr>
          <p:cNvPr id="296" name="Connector 295"/>
          <p:cNvCxnSpPr/>
          <p:nvPr/>
        </p:nvCxnSpPr>
        <p:spPr>
          <a:xfrm>
            <a:off x="331012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3566160"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Fly</a:t>
            </a:r>
          </a:p>
        </p:txBody>
      </p:sp>
      <p:cxnSp>
        <p:nvCxnSpPr>
          <p:cNvPr id="298" name="Connector 297"/>
          <p:cNvCxnSpPr/>
          <p:nvPr/>
        </p:nvCxnSpPr>
        <p:spPr>
          <a:xfrm>
            <a:off x="541324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5669279"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 again, or Level End</a:t>
            </a:r>
          </a:p>
        </p:txBody>
      </p:sp>
      <p:sp>
        <p:nvSpPr>
          <p:cNvPr id="300" name="Rectangle 299"/>
          <p:cNvSpPr/>
          <p:nvPr/>
        </p:nvSpPr>
        <p:spPr>
          <a:xfrm>
            <a:off x="914400" y="2468880"/>
            <a:ext cx="7315200" cy="6858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9AA3AB"/>
                </a:solidFill>
                <a:latin typeface="Consolas"/>
              </a:rPr>
              <a:t>// the aiming curve: no physics world needed</a:t>
            </a:r>
          </a:p>
          <a:p>
            <a:pPr algn="l"/>
            <a:r>
              <a:rPr sz="1300">
                <a:solidFill>
                  <a:srgbClr val="DEE2E6"/>
                </a:solidFill>
                <a:latin typeface="Consolas"/>
              </a:rPr>
              <a:t>position = start + velocity * t + gravity * t * t / 2</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Angry Birds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Birds4: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Birds4, the finished game</a:t>
            </a:r>
            <a:endParaRPr/>
          </a:p>
          <a:p>
            <a:pPr indent="-330200" lvl="0" marL="457200" rtl="0" algn="l">
              <a:spcBef>
                <a:spcPts val="0"/>
              </a:spcBef>
              <a:spcAft>
                <a:spcPts val="0"/>
              </a:spcAft>
              <a:buSzPts val="1600"/>
              <a:buChar char="●"/>
            </a:pPr>
            <a:r>
              <a:rPr lang="en"/>
              <a:t>A new level, and a new prefab: how much code changed?</a:t>
            </a:r>
            <a:endParaRPr/>
          </a:p>
          <a:p>
            <a:pPr indent="-330200" lvl="0" marL="457200" rtl="0" algn="l">
              <a:spcBef>
                <a:spcPts val="0"/>
              </a:spcBef>
              <a:spcAft>
                <a:spcPts val="0"/>
              </a:spcAft>
              <a:buSzPts val="1600"/>
              <a:buChar char="●"/>
            </a:pPr>
            <a:r>
              <a:rPr lang="en"/>
              <a:t>A heavy bird, twice the size, as a prefab</a:t>
            </a:r>
            <a:endParaRPr/>
          </a:p>
          <a:p>
            <a:pPr indent="-317500" lvl="1" marL="914400" rtl="0" algn="l">
              <a:spcBef>
                <a:spcPts val="0"/>
              </a:spcBef>
              <a:spcAft>
                <a:spcPts val="0"/>
              </a:spcAft>
              <a:buSzPts val="1400"/>
              <a:buChar char="○"/>
            </a:pPr>
            <a:r>
              <a:rPr lang="en"/>
              <a:t>A list of birds per level: birds red red heavy</a:t>
            </a:r>
            <a:endParaRPr/>
          </a:p>
          <a:p>
            <a:pPr indent="-330200" lvl="0" marL="457200" rtl="0" algn="l">
              <a:spcBef>
                <a:spcPts val="0"/>
              </a:spcBef>
              <a:spcAft>
                <a:spcPts val="0"/>
              </a:spcAft>
              <a:buSzPts val="1600"/>
              <a:buChar char="●"/>
            </a:pPr>
            <a:r>
              <a:rPr lang="en"/>
              <a:t>A TNT box that pushes everything nearby away</a:t>
            </a:r>
            <a:endParaRPr/>
          </a:p>
          <a:p>
            <a:pPr indent="-317500" lvl="1" marL="914400" rtl="0" algn="l">
              <a:spcBef>
                <a:spcPts val="0"/>
              </a:spcBef>
              <a:spcAft>
                <a:spcPts val="0"/>
              </a:spcAft>
              <a:buSzPts val="1400"/>
              <a:buChar char="○"/>
            </a:pPr>
            <a:r>
              <a:rPr lang="en"/>
              <a:t>What must the facade offer? Keep Box2D inside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Unit test Units: to metres and back, and y flips</a:t>
            </a:r>
            <a:endParaRPr/>
          </a:p>
          <a:p>
            <a:pPr indent="-330200" lvl="0" marL="457200" rtl="0" algn="l">
              <a:spcBef>
                <a:spcPts val="0"/>
              </a:spcBef>
              <a:spcAft>
                <a:spcPts val="0"/>
              </a:spcAft>
              <a:buSzPts val="1600"/>
              <a:buChar char="●"/>
            </a:pPr>
            <a:r>
              <a:rPr lang="en"/>
              <a:t>Swap the library: which files would change?</a:t>
            </a:r>
            <a:endParaRPr/>
          </a:p>
          <a:p>
            <a:pPr indent="-317500" lvl="1" marL="914400" rtl="0" algn="l">
              <a:spcBef>
                <a:spcPts val="0"/>
              </a:spcBef>
              <a:spcAft>
                <a:spcPts val="0"/>
              </a:spcAft>
              <a:buSzPts val="1400"/>
              <a:buChar char="○"/>
            </a:pPr>
            <a:r>
              <a:rPr lang="en"/>
              <a:t>Try it with Aether.Physics2D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is the difference between an Adapter and a Facade?</a:t>
            </a:r>
            <a:endParaRPr/>
          </a:p>
          <a:p>
            <a:pPr indent="-330200" lvl="0" marL="457200" rtl="0" algn="l">
              <a:spcBef>
                <a:spcPts val="0"/>
              </a:spcBef>
              <a:spcAft>
                <a:spcPts val="0"/>
              </a:spcAft>
              <a:buSzPts val="1600"/>
              <a:buChar char="●"/>
            </a:pPr>
            <a:r>
              <a:rPr lang="en"/>
              <a:t>Why convert between metres and pixels at all?</a:t>
            </a:r>
            <a:endParaRPr/>
          </a:p>
          <a:p>
            <a:pPr indent="-330200" lvl="0" marL="457200" rtl="0" algn="l">
              <a:spcBef>
                <a:spcPts val="0"/>
              </a:spcBef>
              <a:spcAft>
                <a:spcPts val="0"/>
              </a:spcAft>
              <a:buSzPts val="1600"/>
              <a:buChar char="●"/>
            </a:pPr>
            <a:r>
              <a:rPr lang="en"/>
              <a:t>Why not destroy a body inside the hit handler?</a:t>
            </a:r>
            <a:endParaRPr/>
          </a:p>
          <a:p>
            <a:pPr indent="-330200" lvl="0" marL="457200" rtl="0" algn="l">
              <a:spcBef>
                <a:spcPts val="0"/>
              </a:spcBef>
              <a:spcAft>
                <a:spcPts val="0"/>
              </a:spcAft>
              <a:buSzPts val="1600"/>
              <a:buChar char="●"/>
            </a:pPr>
            <a:r>
              <a:rPr lang="en"/>
              <a:t>What does a shallow copy share with the original, and why does it matter?</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libraries does your game use? Would your code notice a swap?</a:t>
            </a:r>
            <a:endParaRPr/>
          </a:p>
          <a:p>
            <a:pPr indent="-330200" lvl="0" marL="457200" rtl="0" algn="l">
              <a:spcBef>
                <a:spcPts val="0"/>
              </a:spcBef>
              <a:spcAft>
                <a:spcPts val="0"/>
              </a:spcAft>
              <a:buSzPts val="1600"/>
              <a:buChar char="●"/>
            </a:pPr>
            <a:r>
              <a:rPr lang="en"/>
              <a:t>Does anything exist twice? Which copy owns it?</a:t>
            </a:r>
            <a:endParaRPr/>
          </a:p>
          <a:p>
            <a:pPr indent="-330200" lvl="0" marL="457200" rtl="0" algn="l">
              <a:spcBef>
                <a:spcPts val="0"/>
              </a:spcBef>
              <a:spcAft>
                <a:spcPts val="0"/>
              </a:spcAft>
              <a:buSzPts val="1600"/>
              <a:buChar char="●"/>
            </a:pPr>
            <a:r>
              <a:rPr lang="en"/>
              <a:t>Do you remove objects while looping over them?</a:t>
            </a:r>
            <a:endParaRPr/>
          </a:p>
          <a:p>
            <a:pPr indent="-330200" lvl="0" marL="457200" rtl="0" algn="l">
              <a:spcBef>
                <a:spcPts val="0"/>
              </a:spcBef>
              <a:spcAft>
                <a:spcPts val="0"/>
              </a:spcAft>
              <a:buSzPts val="1600"/>
              <a:buChar char="●"/>
            </a:pPr>
            <a:r>
              <a:rPr lang="en"/>
              <a:t>Which kinds of things could be prototypes, or data?</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