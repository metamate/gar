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7.xml" ContentType="application/vnd.openxmlformats-officedocument.presentationml.notesSlide+xml"/>
  <Override PartName="/ppt/notesSlides/notesSlide4.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5" r:id="rId4"/>
  </p:sldMasterIdLst>
  <p:notesMasterIdLst>
    <p:notesMasterId r:id="rId5"/>
  </p:notesMasterIdLst>
  <p:sldIdLst>
    <p:sldId id="256" r:id="rId6"/>
    <p:sldId id="314" r:id="rId41"/>
    <p:sldId id="257" r:id="rId7"/>
    <p:sldId id="258" r:id="rId8"/>
    <p:sldId id="259" r:id="rId9"/>
    <p:sldId id="297" r:id="rId56"/>
    <p:sldId id="298" r:id="rId57"/>
    <p:sldId id="299" r:id="rId58"/>
    <p:sldId id="300" r:id="rId59"/>
    <p:sldId id="318" r:id="rId36"/>
    <p:sldId id="301" r:id="rId60"/>
    <p:sldId id="302" r:id="rId61"/>
    <p:sldId id="303" r:id="rId62"/>
    <p:sldId id="304" r:id="rId63"/>
    <p:sldId id="305" r:id="rId64"/>
    <p:sldId id="317" r:id="rId37"/>
    <p:sldId id="306" r:id="rId65"/>
    <p:sldId id="307" r:id="rId66"/>
    <p:sldId id="308" r:id="rId67"/>
    <p:sldId id="316" r:id="rId38"/>
    <p:sldId id="309" r:id="rId68"/>
    <p:sldId id="310" r:id="rId69"/>
    <p:sldId id="311" r:id="rId70"/>
    <p:sldId id="315" r:id="rId39"/>
    <p:sldId id="312" r:id="rId71"/>
    <p:sldId id="280" r:id="rId30"/>
    <p:sldId id="292" r:id="rId42"/>
    <p:sldId id="293" r:id="rId52"/>
    <p:sldId id="313" r:id="rId40"/>
    <p:sldId id="294" r:id="rId53"/>
    <p:sldId id="296" r:id="rId55"/>
  </p:sldIdLst>
  <p:sldSz cy="5143500" cx="9144000"/>
  <p:notesSz cx="6858000" cy="9144000"/>
  <p:embeddedFontLst>
    <p:embeddedFont>
      <p:font typeface="Roboto"/>
      <p:regular r:id="rId43"/>
      <p:bold r:id="rId44"/>
      <p:italic r:id="rId45"/>
      <p:boldItalic r:id="rId46"/>
    </p:embeddedFont>
    <p:embeddedFont>
      <p:font typeface="VT323"/>
      <p:regular r:id="rId47"/>
    </p:embeddedFont>
    <p:embeddedFont>
      <p:font typeface="Roboto Light"/>
      <p:regular r:id="rId48"/>
      <p:bold r:id="rId49"/>
      <p:italic r:id="rId50"/>
      <p:boldItalic r:id="rId5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30" Type="http://schemas.openxmlformats.org/officeDocument/2006/relationships/slide" Target="slides/slide26.xml"/><Relationship Id="rId36" Type="http://schemas.openxmlformats.org/officeDocument/2006/relationships/slide" Target="slides/slide10.xml"/><Relationship Id="rId37" Type="http://schemas.openxmlformats.org/officeDocument/2006/relationships/slide" Target="slides/slide16.xml"/><Relationship Id="rId38" Type="http://schemas.openxmlformats.org/officeDocument/2006/relationships/slide" Target="slides/slide20.xml"/><Relationship Id="rId39" Type="http://schemas.openxmlformats.org/officeDocument/2006/relationships/slide" Target="slides/slide24.xml"/><Relationship Id="rId40" Type="http://schemas.openxmlformats.org/officeDocument/2006/relationships/slide" Target="slides/slide29.xml"/><Relationship Id="rId41" Type="http://schemas.openxmlformats.org/officeDocument/2006/relationships/slide" Target="slides/slide2.xml"/><Relationship Id="rId42" Type="http://schemas.openxmlformats.org/officeDocument/2006/relationships/slide" Target="slides/slide27.xml"/><Relationship Id="rId43" Type="http://schemas.openxmlformats.org/officeDocument/2006/relationships/font" Target="fonts/Roboto-regular.fntdata"/><Relationship Id="rId44" Type="http://schemas.openxmlformats.org/officeDocument/2006/relationships/font" Target="fonts/Roboto-bold.fntdata"/><Relationship Id="rId45" Type="http://schemas.openxmlformats.org/officeDocument/2006/relationships/font" Target="fonts/Roboto-italic.fntdata"/><Relationship Id="rId46" Type="http://schemas.openxmlformats.org/officeDocument/2006/relationships/font" Target="fonts/Roboto-boldItalic.fntdata"/><Relationship Id="rId47" Type="http://schemas.openxmlformats.org/officeDocument/2006/relationships/font" Target="fonts/VT323-regular.fntdata"/><Relationship Id="rId48" Type="http://schemas.openxmlformats.org/officeDocument/2006/relationships/font" Target="fonts/RobotoLight-regular.fntdata"/><Relationship Id="rId49" Type="http://schemas.openxmlformats.org/officeDocument/2006/relationships/font" Target="fonts/RobotoLight-bold.fntdata"/><Relationship Id="rId50" Type="http://schemas.openxmlformats.org/officeDocument/2006/relationships/font" Target="fonts/RobotoLight-italic.fntdata"/><Relationship Id="rId51" Type="http://schemas.openxmlformats.org/officeDocument/2006/relationships/font" Target="fonts/RobotoLight-boldItalic.fntdata"/><Relationship Id="rId52" Type="http://schemas.openxmlformats.org/officeDocument/2006/relationships/slide" Target="slides/slide28.xml"/><Relationship Id="rId53" Type="http://schemas.openxmlformats.org/officeDocument/2006/relationships/slide" Target="slides/slide30.xml"/><Relationship Id="rId55" Type="http://schemas.openxmlformats.org/officeDocument/2006/relationships/slide" Target="slides/slide31.xml"/><Relationship Id="rId56" Type="http://schemas.openxmlformats.org/officeDocument/2006/relationships/slide" Target="slides/slide6.xml"/><Relationship Id="rId57" Type="http://schemas.openxmlformats.org/officeDocument/2006/relationships/slide" Target="slides/slide7.xml"/><Relationship Id="rId58" Type="http://schemas.openxmlformats.org/officeDocument/2006/relationships/slide" Target="slides/slide8.xml"/><Relationship Id="rId59" Type="http://schemas.openxmlformats.org/officeDocument/2006/relationships/slide" Target="slides/slide9.xml"/><Relationship Id="rId60" Type="http://schemas.openxmlformats.org/officeDocument/2006/relationships/slide" Target="slides/slide11.xml"/><Relationship Id="rId61" Type="http://schemas.openxmlformats.org/officeDocument/2006/relationships/slide" Target="slides/slide12.xml"/><Relationship Id="rId62" Type="http://schemas.openxmlformats.org/officeDocument/2006/relationships/slide" Target="slides/slide13.xml"/><Relationship Id="rId63" Type="http://schemas.openxmlformats.org/officeDocument/2006/relationships/slide" Target="slides/slide14.xml"/><Relationship Id="rId64" Type="http://schemas.openxmlformats.org/officeDocument/2006/relationships/slide" Target="slides/slide15.xml"/><Relationship Id="rId65" Type="http://schemas.openxmlformats.org/officeDocument/2006/relationships/slide" Target="slides/slide17.xml"/><Relationship Id="rId66" Type="http://schemas.openxmlformats.org/officeDocument/2006/relationships/slide" Target="slides/slide18.xml"/><Relationship Id="rId67" Type="http://schemas.openxmlformats.org/officeDocument/2006/relationships/slide" Target="slides/slide19.xml"/><Relationship Id="rId68" Type="http://schemas.openxmlformats.org/officeDocument/2006/relationships/slide" Target="slides/slide21.xml"/><Relationship Id="rId69" Type="http://schemas.openxmlformats.org/officeDocument/2006/relationships/slide" Target="slides/slide22.xml"/><Relationship Id="rId70" Type="http://schemas.openxmlformats.org/officeDocument/2006/relationships/slide" Target="slides/slide23.xml"/><Relationship Id="rId71"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 name="Shape 35"/>
        <p:cNvGrpSpPr/>
        <p:nvPr/>
      </p:nvGrpSpPr>
      <p:grpSpPr>
        <a:xfrm>
          <a:off x="0" y="0"/>
          <a:ext cx="0" cy="0"/>
          <a:chOff x="0" y="0"/>
          <a:chExt cx="0" cy="0"/>
        </a:xfrm>
      </p:grpSpPr>
      <p:sp>
        <p:nvSpPr>
          <p:cNvPr id="36" name="Google Shape;3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37" name="Google Shape;3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Welcome. Today we build Angry Birds. The main topic: using a library behind your own interface.</a:t>
            </a:r>
          </a:p>
          <a:p>
            <a:r>
              <a:t>Start by playing the finished game, Birds4, before any code.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 name="Shape 41"/>
        <p:cNvGrpSpPr/>
        <p:nvPr/>
      </p:nvGrpSpPr>
      <p:grpSpPr>
        <a:xfrm>
          <a:off x="0" y="0"/>
          <a:ext cx="0" cy="0"/>
          <a:chOff x="0" y="0"/>
          <a:chExt cx="0" cy="0"/>
        </a:xfrm>
      </p:grpSpPr>
      <p:sp>
        <p:nvSpPr>
          <p:cNvPr id="42" name="Google Shape;42;g3c8f6ac40ed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 name="Google Shape;43;g3c8f6ac40ed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Run Birds4 and play it for a minute.</a:t>
            </a:r>
          </a:p>
          <a:p>
            <a:r>
              <a:t>Ask: what would you need to build this? Collect answers on the board, and come back to them at the end.</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 name="Shape 47"/>
        <p:cNvGrpSpPr/>
        <p:nvPr/>
      </p:nvGrpSpPr>
      <p:grpSpPr>
        <a:xfrm>
          <a:off x="0" y="0"/>
          <a:ext cx="0" cy="0"/>
          <a:chOff x="0" y="0"/>
          <a:chExt cx="0" cy="0"/>
        </a:xfrm>
      </p:grpSpPr>
      <p:sp>
        <p:nvSpPr>
          <p:cNvPr id="48" name="Google Shape;48;g3c8f6ac40ed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 name="Google Shape;49;g3c8f6ac40ed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The main topic: using a third-party library without letting it spread through your code. Adapter and Facade, two worlds, contact events, and Prototype.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g3ca5c6b6b8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 name="Google Shape;55;g3ca5c6b6b8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Open gar-games/07-angry-birds live. Show the README: the step table, the code map, how to run a step.</a:t>
            </a:r>
          </a:p>
          <a:p>
            <a:r>
              <a:t>Say: the site explains the ideas, the README helps you find them in the code, the slides are for today.</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Next milestone by session 09: the self-review. If you use a library, where does it leak into your code?</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Tipping, bouncing stacks are far beyond Mario’s physics. Box2D does it for us.</a:t>
            </a:r>
          </a:p>
          <a:p>
            <a:r>
              <a:t>The loop: step the world, read where the bodies are, draw the sprites there.</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Box2D is tuned for things 0.1 to 10 metres big. Treat 50 pixels as 50 metres and a block falls like a building.</a:t>
            </a:r>
          </a:p>
          <a:p>
            <a:r>
              <a:t>Ask the question: forget one conversion; what do you see? A body in the wrong place, spinning the wrong way, or falling up.</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layers: the game at the top, Box2D at the bottom, and our two classes between.</a:t>
            </a:r>
          </a:p>
          <a:p>
            <a:r>
              <a:t>Facade: a small interface in front of a big subsystem. Adapter: converts one interface into the one we expect.</a:t>
            </a:r>
          </a:p>
          <a:p>
            <a:r>
              <a:t>Ask the question: swap the library, which files change? Only the Physics folder.</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block exists twice: an entity and a body. The physics world owns the position; the entity reads it every draw.</a:t>
            </a:r>
          </a:p>
          <a:p>
            <a:r>
              <a:t>The body knows its owner, so a hit between bodies leads back to entities. F1 shows what the physics world sees.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Aim, fly, and aim again or end the level. Fly waits until the world settles; the facade answers that in one line.</a:t>
            </a:r>
          </a:p>
          <a:p>
            <a:r>
              <a:t>The aiming curve is just the formula: no physics world needed to draw it.</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Ask one question at a time. Pairs discuss for a minute, then take two or three answers.</a:t>
            </a:r>
          </a:p>
          <a:p>
            <a:r>
              <a:t>Expected answers (from the course site):</a:t>
            </a:r>
          </a:p>
          <a:p/>
          <a:p>
            <a:r>
              <a:t>Q: What is the difference between an Adapter and a Facade?</a:t>
            </a:r>
          </a:p>
          <a:p>
            <a:r>
              <a:t>A: An Adapter converts one interface into another that its users expect (here, a Box2D body into a body in pixels). A Facade puts one simple interface in front of a whole subsystem (here, a few methods in front of Box2D's many). PhysicsWorld and PhysicsBody together do both.</a:t>
            </a:r>
          </a:p>
          <a:p/>
          <a:p>
            <a:r>
              <a:t>Q: Why convert between metres and pixels at all?</a:t>
            </a:r>
          </a:p>
          <a:p>
            <a:r>
              <a:t>A: Box2D is tuned for objects of about 0.1 to 10 metres. In pixels, objects would be tens or hundreds of units big, and would behave like huge, slow objects. The game simulates in metres, and draws in pixels.</a:t>
            </a:r>
          </a:p>
          <a:p/>
          <a:p>
            <a:r>
              <a:t>Q: Why not destroy a body inside the hit handler?</a:t>
            </a:r>
          </a:p>
          <a:p>
            <a:r>
              <a:t>A: The physics world is still reporting hits, and a later one may be about the destroyed body; some libraries crash if the world changes during a callback. The game may also be looping over the list you remove from. Mark it, and remove it after the step.</a:t>
            </a:r>
          </a:p>
          <a:p/>
          <a:p>
            <a:r>
              <a:t>Q: What does a shallow copy share with the original, and why does that matter here?</a:t>
            </a:r>
          </a:p>
          <a:p>
            <a:r>
              <a:t>A: Every field that refers to an object: the copy points to the same object. Sharing an unchanging sprite is fine, but sharing a physics body would make two entities one. So the clone gets its own body.</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Birds0 calls Box2D from Game1. Point at the conversions: divide, multiply, flip y, everywhere.</a:t>
            </a:r>
          </a:p>
          <a:p>
            <a:r>
              <a:t>Ask: what happens when we add a second kind of block? The same lines again.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run Birds0.</a:t>
            </a:r>
          </a:p>
          <a:p>
            <a:r>
              <a:t>- Game1 full of Box2D calls and unit conversions</a:t>
            </a:r>
          </a:p>
          <a:p>
            <a:r>
              <a:t>- launch a bird: the physics itself works</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PhysicsBody wraps a Box2D body: positions in pixels, rotation turning like SpriteBatch. Every conversion in one place.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game reads like our game again. The cost: every new physics feature goes through the facade first.</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open Birds0 and Birds1 side by side (a diff tool, or two editor panes), then run Birds1.</a:t>
            </a:r>
          </a:p>
          <a:p>
            <a:r>
              <a:t>- Physics/: PhysicsWorld, PhysicsBody, Units</a:t>
            </a:r>
          </a:p>
          <a:p>
            <a:r>
              <a:t>- Game1 no longer mentions Box2D</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Box2D collects hits during a step; we read them afterwards and raise a C# event in our own terms: two bodies and a speed.</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Ask: why not destroy the body in the hit handler? More hits may be about it, the library may crash, and you may be looping over the list.</a:t>
            </a:r>
          </a:p>
          <a:p>
            <a:r>
              <a:t>Mark now, remove after the step, looping backwards.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open Birds1 and Birds2 side by side (a diff tool, or two editor panes), then run Birds2.</a:t>
            </a:r>
          </a:p>
          <a:p>
            <a:r>
              <a:t>- the Hit event on PhysicsWorld</a:t>
            </a:r>
          </a:p>
          <a:p>
            <a:r>
              <a:t>- damage in the handler, removal after the step</a:t>
            </a:r>
          </a:p>
          <a:p>
            <a:r>
              <a:t>- glass breaks, stone barely</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Make new objects by copying a configured one. A big pig is a Pig with a bigger radius, not a subclass.</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A level is prefab names and positions: levels as data again.</a:t>
            </a:r>
          </a:p>
          <a:p>
            <a:r>
              <a:t>MemberwiseClone is shallow: sharing a sprite is fine, sharing a body means two blocks move as one. That’s why Clone clears Body.</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Demo: open Birds2 and Birds3 side by side (a diff tool, or two editor panes), then run Birds3.</a:t>
            </a:r>
          </a:p>
          <a:p>
            <a:r>
              <a:t>- Prefabs.cs</a:t>
            </a:r>
          </a:p>
          <a:p>
            <a:r>
              <a:t>- level1.txt</a:t>
            </a:r>
          </a:p>
          <a:p>
            <a:r>
              <a:t>- change a line in the level file and run again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Unit-test the conversions; and try swapping the library, counting the files that change.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cb92a6f95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cb92a6f95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Demo: play a level of Birds4. Press F1 mid-flight to show the bodies (awake green, asleep blue).</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Give the project groups five minutes with these questions.</a:t>
            </a:r>
          </a:p>
          <a:p>
            <a:r>
              <a:t>Ask two groups to share one answer each, and push them to name actual classes and files.</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The original: Angry Birds. Ask who has played it, and what they remember of how it plays.</a:t>
            </a:r>
          </a:p>
          <a:p>
            <a:r>
              <a:t>Today we build the parts that matter for the architecture, not the whole game.</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5 minutes. None: the prefab names and positions are data. A kind of block that doesn’t exist yet would be one line in Prefabs.</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5 minutes. damage = speed / 100 in OnHit. Glass breaks at the slightest touch, and some huts fall apart before the first bird.</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3 minutes. One line in Physics/Units.cs. Compare with Birds0: that difference is what the adapter is for.</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Pairs, about 5 minutes. The constant is used all through Game1. At 10, a block is five times bigger in metres, so it falls like a building: slowly.</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3cbd7a28ff6_0_1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1" name="Google Shape;291;g3cbd7a28ff6_0_1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Start from Birds4. For the TNT exercise, the question is what the facade must offer, while Box2D stays inside it.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lvl1pPr indent="-330200" lvl="0" marL="457200">
              <a:spcBef>
                <a:spcPts val="0"/>
              </a:spcBef>
              <a:spcAft>
                <a:spcPts val="0"/>
              </a:spcAft>
              <a:buSzPts val="1600"/>
              <a:buChar char="●"/>
              <a:defRPr/>
            </a:lvl1pPr>
            <a:lvl2pPr indent="-317500" lvl="1" marL="914400">
              <a:spcBef>
                <a:spcPts val="0"/>
              </a:spcBef>
              <a:spcAft>
                <a:spcPts val="0"/>
              </a:spcAft>
              <a:buSzPts val="1400"/>
              <a:buChar char="○"/>
              <a:defRPr/>
            </a:lvl2pPr>
            <a:lvl3pPr indent="-304800" lvl="2" marL="1371600">
              <a:spcBef>
                <a:spcPts val="0"/>
              </a:spcBef>
              <a:spcAft>
                <a:spcPts val="0"/>
              </a:spcAft>
              <a:buSzPts val="1200"/>
              <a:buChar char="■"/>
              <a:defRPr/>
            </a:lvl3pPr>
            <a:lvl4pPr indent="-304800" lvl="3" marL="1828800">
              <a:spcBef>
                <a:spcPts val="0"/>
              </a:spcBef>
              <a:spcAft>
                <a:spcPts val="0"/>
              </a:spcAft>
              <a:buSzPts val="1200"/>
              <a:buChar char="●"/>
              <a:defRPr/>
            </a:lvl4pPr>
            <a:lvl5pPr indent="-304800" lvl="4" marL="2286000">
              <a:spcBef>
                <a:spcPts val="0"/>
              </a:spcBef>
              <a:spcAft>
                <a:spcPts val="0"/>
              </a:spcAft>
              <a:buSzPts val="1200"/>
              <a:buChar char="○"/>
              <a:defRPr/>
            </a:lvl5pPr>
            <a:lvl6pPr indent="-304800" lvl="5" marL="2743200">
              <a:spcBef>
                <a:spcPts val="0"/>
              </a:spcBef>
              <a:spcAft>
                <a:spcPts val="0"/>
              </a:spcAft>
              <a:buSzPts val="1200"/>
              <a:buChar char="■"/>
              <a:defRPr/>
            </a:lvl6pPr>
            <a:lvl7pPr indent="-304800" lvl="6" marL="3200400">
              <a:spcBef>
                <a:spcPts val="0"/>
              </a:spcBef>
              <a:spcAft>
                <a:spcPts val="0"/>
              </a:spcAft>
              <a:buSzPts val="1200"/>
              <a:buChar char="●"/>
              <a:defRPr/>
            </a:lvl7pPr>
            <a:lvl8pPr indent="-304800" lvl="7" marL="3657600">
              <a:spcBef>
                <a:spcPts val="0"/>
              </a:spcBef>
              <a:spcAft>
                <a:spcPts val="0"/>
              </a:spcAft>
              <a:buSzPts val="1200"/>
              <a:buChar char="○"/>
              <a:defRPr/>
            </a:lvl8pPr>
            <a:lvl9pPr indent="-304800" lvl="8" marL="4114800">
              <a:spcBef>
                <a:spcPts val="0"/>
              </a:spcBef>
              <a:spcAft>
                <a:spcPts val="0"/>
              </a:spcAft>
              <a:buSzPts val="1200"/>
              <a:buChar char="■"/>
              <a:defRPr/>
            </a:lvl9pPr>
          </a:lstStyle>
          <a:p/>
        </p:txBody>
      </p:sp>
      <p:sp>
        <p:nvSpPr>
          <p:cNvPr id="19" name="Google Shape;19;p4"/>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885950"/>
            <a:ext cx="3999900" cy="4023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886075"/>
            <a:ext cx="3999900" cy="4023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code)">
  <p:cSld name="TITLE_AND_TWO_COLUMNS_1">
    <p:spTree>
      <p:nvGrpSpPr>
        <p:cNvPr id="25" name="Shape 25"/>
        <p:cNvGrpSpPr/>
        <p:nvPr/>
      </p:nvGrpSpPr>
      <p:grpSpPr>
        <a:xfrm>
          <a:off x="0" y="0"/>
          <a:ext cx="0" cy="0"/>
          <a:chOff x="0" y="0"/>
          <a:chExt cx="0" cy="0"/>
        </a:xfrm>
      </p:grpSpPr>
      <p:sp>
        <p:nvSpPr>
          <p:cNvPr id="26" name="Google Shape;26;p6"/>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 type="body"/>
          </p:nvPr>
        </p:nvSpPr>
        <p:spPr>
          <a:xfrm>
            <a:off x="311700" y="885950"/>
            <a:ext cx="3999900" cy="40233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8" name="Google Shape;28;p6"/>
          <p:cNvSpPr txBox="1"/>
          <p:nvPr>
            <p:ph idx="2" type="body"/>
          </p:nvPr>
        </p:nvSpPr>
        <p:spPr>
          <a:xfrm>
            <a:off x="4832400" y="886075"/>
            <a:ext cx="3999900" cy="4023300"/>
          </a:xfrm>
          <a:prstGeom prst="rect">
            <a:avLst/>
          </a:prstGeom>
          <a:solidFill>
            <a:schemeClr val="dk2"/>
          </a:solidFill>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9" name="Google Shape;29;p6"/>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7"/>
          <p:cNvSpPr txBox="1"/>
          <p:nvPr>
            <p:ph type="title"/>
          </p:nvPr>
        </p:nvSpPr>
        <p:spPr>
          <a:xfrm>
            <a:off x="311700" y="19561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33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2" name="Google Shape;32;p7"/>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33" name="Shape 33"/>
        <p:cNvGrpSpPr/>
        <p:nvPr/>
      </p:nvGrpSpPr>
      <p:grpSpPr>
        <a:xfrm>
          <a:off x="0" y="0"/>
          <a:ext cx="0" cy="0"/>
          <a:chOff x="0" y="0"/>
          <a:chExt cx="0" cy="0"/>
        </a:xfrm>
      </p:grpSpPr>
      <p:sp>
        <p:nvSpPr>
          <p:cNvPr id="34" name="Google Shape;34;p8"/>
          <p:cNvSpPr txBox="1"/>
          <p:nvPr>
            <p:ph idx="12" type="sldNum"/>
          </p:nvPr>
        </p:nvSpPr>
        <p:spPr>
          <a:xfrm>
            <a:off x="8865675" y="4835575"/>
            <a:ext cx="249900" cy="277800"/>
          </a:xfrm>
          <a:prstGeom prst="rect">
            <a:avLst/>
          </a:prstGeom>
        </p:spPr>
        <p:txBody>
          <a:bodyPr anchorCtr="0" anchor="ctr" bIns="91425" lIns="91425" spcFirstLastPara="1" rIns="91425" wrap="square" tIns="91425">
            <a:normAutofit fontScale="77500" lnSpcReduction="20000"/>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12529"/>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19561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accent1"/>
              </a:buClr>
              <a:buSzPts val="3300"/>
              <a:buFont typeface="VT323"/>
              <a:buNone/>
              <a:defRPr sz="3300">
                <a:solidFill>
                  <a:schemeClr val="accent1"/>
                </a:solidFill>
                <a:latin typeface="VT323"/>
                <a:ea typeface="VT323"/>
                <a:cs typeface="VT323"/>
                <a:sym typeface="VT323"/>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885950"/>
            <a:ext cx="8520600" cy="4023300"/>
          </a:xfrm>
          <a:prstGeom prst="rect">
            <a:avLst/>
          </a:prstGeom>
          <a:noFill/>
          <a:ln>
            <a:noFill/>
          </a:ln>
        </p:spPr>
        <p:txBody>
          <a:bodyPr anchorCtr="0" anchor="t" bIns="91425" lIns="91425" spcFirstLastPara="1" rIns="91425" wrap="square" tIns="91425">
            <a:normAutofit/>
          </a:bodyPr>
          <a:lstStyle>
            <a:lvl1pPr indent="-330200" lvl="0" marL="457200">
              <a:lnSpc>
                <a:spcPct val="115000"/>
              </a:lnSpc>
              <a:spcBef>
                <a:spcPts val="0"/>
              </a:spcBef>
              <a:spcAft>
                <a:spcPts val="0"/>
              </a:spcAft>
              <a:buClr>
                <a:schemeClr val="dk1"/>
              </a:buClr>
              <a:buSzPts val="1600"/>
              <a:buFont typeface="Roboto Light"/>
              <a:buChar char="●"/>
              <a:defRPr sz="1600">
                <a:solidFill>
                  <a:schemeClr val="dk1"/>
                </a:solidFill>
                <a:latin typeface="Roboto Light"/>
                <a:ea typeface="Roboto Light"/>
                <a:cs typeface="Roboto Light"/>
                <a:sym typeface="Roboto Light"/>
              </a:defRPr>
            </a:lvl1pPr>
            <a:lvl2pPr indent="-317500" lvl="1" marL="914400">
              <a:lnSpc>
                <a:spcPct val="115000"/>
              </a:lnSpc>
              <a:spcBef>
                <a:spcPts val="0"/>
              </a:spcBef>
              <a:spcAft>
                <a:spcPts val="0"/>
              </a:spcAft>
              <a:buClr>
                <a:srgbClr val="6C757D"/>
              </a:buClr>
              <a:buSzPts val="1400"/>
              <a:buFont typeface="Roboto Light"/>
              <a:buChar char="○"/>
              <a:defRPr>
                <a:solidFill>
                  <a:srgbClr val="6C757D"/>
                </a:solidFill>
                <a:latin typeface="Roboto Light"/>
                <a:ea typeface="Roboto Light"/>
                <a:cs typeface="Roboto Light"/>
                <a:sym typeface="Roboto Light"/>
              </a:defRPr>
            </a:lvl2pPr>
            <a:lvl3pPr indent="-304800" lvl="2" marL="13716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3pPr>
            <a:lvl4pPr indent="-304800" lvl="3" marL="18288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4pPr>
            <a:lvl5pPr indent="-304800" lvl="4" marL="22860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5pPr>
            <a:lvl6pPr indent="-304800" lvl="5" marL="27432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6pPr>
            <a:lvl7pPr indent="-304800" lvl="6" marL="32004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7pPr>
            <a:lvl8pPr indent="-304800" lvl="7" marL="36576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8pPr>
            <a:lvl9pPr indent="-304800" lvl="8" marL="4114800">
              <a:lnSpc>
                <a:spcPct val="115000"/>
              </a:lnSpc>
              <a:spcBef>
                <a:spcPts val="0"/>
              </a:spcBef>
              <a:spcAft>
                <a:spcPts val="0"/>
              </a:spcAft>
              <a:buClr>
                <a:srgbClr val="6C757D"/>
              </a:buClr>
              <a:buSzPts val="1200"/>
              <a:buFont typeface="Roboto Light"/>
              <a:buChar char="■"/>
              <a:defRPr sz="1200">
                <a:solidFill>
                  <a:srgbClr val="6C757D"/>
                </a:solidFill>
                <a:latin typeface="Roboto Light"/>
                <a:ea typeface="Roboto Light"/>
                <a:cs typeface="Roboto Light"/>
                <a:sym typeface="Roboto Light"/>
              </a:defRPr>
            </a:lvl9pPr>
          </a:lstStyle>
          <a:p/>
        </p:txBody>
      </p:sp>
      <p:sp>
        <p:nvSpPr>
          <p:cNvPr id="8" name="Google Shape;8;p1"/>
          <p:cNvSpPr txBox="1"/>
          <p:nvPr>
            <p:ph idx="12" type="sldNum"/>
          </p:nvPr>
        </p:nvSpPr>
        <p:spPr>
          <a:xfrm>
            <a:off x="8865675" y="4835575"/>
            <a:ext cx="249900" cy="277800"/>
          </a:xfrm>
          <a:prstGeom prst="rect">
            <a:avLst/>
          </a:prstGeom>
          <a:noFill/>
          <a:ln>
            <a:noFill/>
          </a:ln>
        </p:spPr>
        <p:txBody>
          <a:bodyPr anchorCtr="0" anchor="ctr" bIns="91425" lIns="91425" spcFirstLastPara="1" rIns="91425" wrap="square" tIns="91425">
            <a:normAutofit fontScale="77500" lnSpcReduction="20000"/>
          </a:bodyPr>
          <a:lstStyle>
            <a:lvl1pPr lvl="0" algn="r">
              <a:buNone/>
              <a:defRPr sz="1000">
                <a:solidFill>
                  <a:schemeClr val="lt1"/>
                </a:solidFill>
              </a:defRPr>
            </a:lvl1pPr>
            <a:lvl2pPr lvl="1" algn="r">
              <a:buNone/>
              <a:defRPr sz="1000">
                <a:solidFill>
                  <a:schemeClr val="lt1"/>
                </a:solidFill>
              </a:defRPr>
            </a:lvl2pPr>
            <a:lvl3pPr lvl="2" algn="r">
              <a:buNone/>
              <a:defRPr sz="1000">
                <a:solidFill>
                  <a:schemeClr val="lt1"/>
                </a:solidFill>
              </a:defRPr>
            </a:lvl3pPr>
            <a:lvl4pPr lvl="3" algn="r">
              <a:buNone/>
              <a:defRPr sz="1000">
                <a:solidFill>
                  <a:schemeClr val="lt1"/>
                </a:solidFill>
              </a:defRPr>
            </a:lvl4pPr>
            <a:lvl5pPr lvl="4" algn="r">
              <a:buNone/>
              <a:defRPr sz="1000">
                <a:solidFill>
                  <a:schemeClr val="lt1"/>
                </a:solidFill>
              </a:defRPr>
            </a:lvl5pPr>
            <a:lvl6pPr lvl="5" algn="r">
              <a:buNone/>
              <a:defRPr sz="1000">
                <a:solidFill>
                  <a:schemeClr val="lt1"/>
                </a:solidFill>
              </a:defRPr>
            </a:lvl6pPr>
            <a:lvl7pPr lvl="6" algn="r">
              <a:buNone/>
              <a:defRPr sz="1000">
                <a:solidFill>
                  <a:schemeClr val="lt1"/>
                </a:solidFill>
              </a:defRPr>
            </a:lvl7pPr>
            <a:lvl8pPr lvl="7" algn="r">
              <a:buNone/>
              <a:defRPr sz="1000">
                <a:solidFill>
                  <a:schemeClr val="lt1"/>
                </a:solidFill>
              </a:defRPr>
            </a:lvl8pPr>
            <a:lvl9pPr lvl="8" algn="r">
              <a:buNone/>
              <a:defRPr sz="1000">
                <a:solidFill>
                  <a:schemeClr val="lt1"/>
                </a:solidFill>
              </a:defRPr>
            </a:lvl9pPr>
          </a:lstStyle>
          <a:p>
            <a:pPr indent="0" lvl="0" marL="0" rtl="0" algn="r">
              <a:spcBef>
                <a:spcPts val="0"/>
              </a:spcBef>
              <a:spcAft>
                <a:spcPts val="0"/>
              </a:spcAft>
              <a:buNone/>
            </a:pPr>
            <a:fld id="{00000000-1234-1234-1234-123412341234}" type="slidenum">
              <a:rPr lang="en"/>
              <a:t>‹#›</a:t>
            </a:fld>
            <a:endParaRPr>
              <a:latin typeface="Roboto"/>
              <a:ea typeface="Roboto"/>
              <a:cs typeface="Roboto"/>
              <a:sym typeface="Roboto"/>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github.com/Metamate/gar-games/tree/main/07-angry-birds"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hyperlink" Target="https://github.com/Metamate/gmd2-snake"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 name="Shape 38"/>
        <p:cNvGrpSpPr/>
        <p:nvPr/>
      </p:nvGrpSpPr>
      <p:grpSpPr>
        <a:xfrm>
          <a:off x="0" y="0"/>
          <a:ext cx="0" cy="0"/>
          <a:chOff x="0" y="0"/>
          <a:chExt cx="0" cy="0"/>
        </a:xfrm>
      </p:grpSpPr>
      <p:sp>
        <p:nvSpPr>
          <p:cNvPr id="39" name="Google Shape;39;p9"/>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GAR</a:t>
            </a:r>
            <a:endParaRPr/>
          </a:p>
        </p:txBody>
      </p:sp>
      <p:sp>
        <p:nvSpPr>
          <p:cNvPr id="40" name="Google Shape;40;p9"/>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Session 07: Angry Birds</a:t>
            </a:r>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311700" y="195615"/>
            <a:ext cx="8520600" cy="572700"/>
          </a:xfrm>
        </p:spPr>
        <p:txBody>
          <a:bodyPr/>
          <a:lstStyle/>
          <a:p>
            <a:pPr indent="0" lvl="0" marL="0" rtl="0" algn="l">
              <a:spcBef>
                <a:spcPts val="0"/>
              </a:spcBef>
              <a:spcAft>
                <a:spcPts val="0"/>
              </a:spcAft>
              <a:buNone/>
            </a:pPr>
            <a:r>
              <a:rPr lang="en"/>
              <a:t>Angry Birds</a:t>
            </a:r>
            <a:endParaRPr/>
          </a:p>
        </p:txBody>
      </p:sp>
      <p:pic>
        <p:nvPicPr>
          <p:cNvPr id="3" name="Picture 2" descr="angry-birds.png"/>
          <p:cNvPicPr>
            <a:picLocks noChangeAspect="1"/>
          </p:cNvPicPr>
          <p:nvPr/>
        </p:nvPicPr>
        <p:blipFill>
          <a:blip r:embed="rId2"/>
          <a:stretch>
            <a:fillRect/>
          </a:stretch>
        </p:blipFill>
        <p:spPr>
          <a:xfrm>
            <a:off x="1179443" y="960120"/>
            <a:ext cx="6785113" cy="3657600"/>
          </a:xfrm>
          <a:prstGeom prst="rect">
            <a:avLst/>
          </a:prstGeom>
        </p:spPr>
      </p:pic>
      <p:sp>
        <p:nvSpPr>
          <p:cNvPr id="4" name="TextBox 3"/>
          <p:cNvSpPr txBox="1"/>
          <p:nvPr/>
        </p:nvSpPr>
        <p:spPr>
          <a:xfrm>
            <a:off x="457200" y="4736592"/>
            <a:ext cx="8229600" cy="274320"/>
          </a:xfrm>
          <a:prstGeom prst="rect">
            <a:avLst/>
          </a:prstGeom>
          <a:noFill/>
        </p:spPr>
        <p:txBody>
          <a:bodyPr wrap="square">
            <a:spAutoFit/>
          </a:bodyPr>
          <a:lstStyle/>
          <a:p>
            <a:pPr algn="ctr"/>
            <a:r>
              <a:rPr sz="900" b="0" i="0">
                <a:solidFill>
                  <a:srgbClr val="9AA3AB"/>
                </a:solidFill>
              </a:rPr>
              <a:t>Angry Birds (Rovio, 2009). Image: Sony Pictures, CC BY 3.0, via Wikimedia Commons.</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 name="Shape 44"/>
        <p:cNvGrpSpPr/>
        <p:nvPr/>
      </p:nvGrpSpPr>
      <p:grpSpPr>
        <a:xfrm>
          <a:off x="0" y="0"/>
          <a:ext cx="0" cy="0"/>
          <a:chOff x="0" y="0"/>
          <a:chExt cx="0" cy="0"/>
        </a:xfrm>
      </p:grpSpPr>
      <p:sp>
        <p:nvSpPr>
          <p:cNvPr id="45" name="Google Shape;45;p10"/>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Today’s Goal</a:t>
            </a:r>
            <a:endParaRPr/>
          </a:p>
        </p:txBody>
      </p:sp>
      <p:pic>
        <p:nvPicPr>
          <p:cNvPr id="46" name="Picture 46" descr="birds-flight.png"/>
          <p:cNvPicPr>
            <a:picLocks noChangeAspect="1"/>
          </p:cNvPicPr>
          <p:nvPr/>
        </p:nvPicPr>
        <p:blipFill>
          <a:blip r:embed="rId4"/>
          <a:stretch>
            <a:fillRect/>
          </a:stretch>
        </p:blipFill>
        <p:spPr>
          <a:xfrm>
            <a:off x="1677201" y="1531275"/>
            <a:ext cx="5789598" cy="3256648"/>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 name="Shape 50"/>
        <p:cNvGrpSpPr/>
        <p:nvPr/>
      </p:nvGrpSpPr>
      <p:grpSpPr>
        <a:xfrm>
          <a:off x="0" y="0"/>
          <a:ext cx="0" cy="0"/>
          <a:chOff x="0" y="0"/>
          <a:chExt cx="0" cy="0"/>
        </a:xfrm>
      </p:grpSpPr>
      <p:sp>
        <p:nvSpPr>
          <p:cNvPr id="51" name="Google Shape;51;p1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Today’s Topics</a:t>
            </a:r>
            <a:endParaRPr/>
          </a:p>
        </p:txBody>
      </p:sp>
      <p:sp>
        <p:nvSpPr>
          <p:cNvPr id="52" name="Google Shape;52;p11"/>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A Physics Library</a:t>
            </a:r>
            <a:endParaRPr/>
          </a:p>
          <a:p>
            <a:pPr indent="-330200" lvl="0" marL="457200" rtl="0" algn="l">
              <a:spcBef>
                <a:spcPts val="0"/>
              </a:spcBef>
              <a:spcAft>
                <a:spcPts val="0"/>
              </a:spcAft>
              <a:buSzPts val="1600"/>
              <a:buChar char="●"/>
            </a:pPr>
            <a:r>
              <a:rPr lang="en"/>
              <a:t>Adapter &amp; Facade</a:t>
            </a:r>
            <a:endParaRPr/>
          </a:p>
          <a:p>
            <a:pPr indent="-330200" lvl="0" marL="457200" rtl="0" algn="l">
              <a:spcBef>
                <a:spcPts val="0"/>
              </a:spcBef>
              <a:spcAft>
                <a:spcPts val="0"/>
              </a:spcAft>
              <a:buSzPts val="1600"/>
              <a:buChar char="●"/>
            </a:pPr>
            <a:r>
              <a:rPr lang="en"/>
              <a:t>Two Worlds: Metres and Pixels</a:t>
            </a:r>
            <a:endParaRPr/>
          </a:p>
          <a:p>
            <a:pPr indent="-330200" lvl="0" marL="457200" rtl="0" algn="l">
              <a:spcBef>
                <a:spcPts val="0"/>
              </a:spcBef>
              <a:spcAft>
                <a:spcPts val="0"/>
              </a:spcAft>
              <a:buSzPts val="1600"/>
              <a:buChar char="●"/>
            </a:pPr>
            <a:r>
              <a:rPr lang="en"/>
              <a:t>Contact Events</a:t>
            </a:r>
            <a:endParaRPr/>
          </a:p>
          <a:p>
            <a:pPr indent="-330200" lvl="0" marL="457200" rtl="0" algn="l">
              <a:spcBef>
                <a:spcPts val="0"/>
              </a:spcBef>
              <a:spcAft>
                <a:spcPts val="0"/>
              </a:spcAft>
              <a:buSzPts val="1600"/>
              <a:buChar char="●"/>
            </a:pPr>
            <a:r>
              <a:rPr lang="en"/>
              <a:t>Destroying Safely</a:t>
            </a:r>
            <a:endParaRPr/>
          </a:p>
          <a:p>
            <a:pPr indent="-330200" lvl="0" marL="457200" rtl="0" algn="l">
              <a:spcBef>
                <a:spcPts val="0"/>
              </a:spcBef>
              <a:spcAft>
                <a:spcPts val="0"/>
              </a:spcAft>
              <a:buSzPts val="1600"/>
              <a:buChar char="●"/>
            </a:pPr>
            <a:r>
              <a:rPr lang="en"/>
              <a:t>Prototype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2">
                                            <p:txEl>
                                              <p:pRg end="4" st="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2"/>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Source Code</a:t>
            </a:r>
            <a:endParaRPr/>
          </a:p>
        </p:txBody>
      </p:sp>
      <p:sp>
        <p:nvSpPr>
          <p:cNvPr id="58" name="Google Shape;58;p12"/>
          <p:cNvSpPr txBox="1"/>
          <p:nvPr>
            <p:ph idx="1" type="body"/>
          </p:nvPr>
        </p:nvSpPr>
        <p:spPr>
          <a:xfrm>
            <a:off x="311700" y="885950"/>
            <a:ext cx="8520600" cy="1289304"/>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github.com/Metamate/gar-games, folder 07-angry-birds</a:t>
            </a:r>
            <a:endParaRPr/>
          </a:p>
          <a:p>
            <a:pPr indent="-330200" lvl="0" marL="457200" rtl="0" algn="l">
              <a:spcBef>
                <a:spcPts val="0"/>
              </a:spcBef>
              <a:spcAft>
                <a:spcPts val="0"/>
              </a:spcAft>
              <a:buSzPts val="1600"/>
              <a:buChar char="●"/>
            </a:pPr>
            <a:r>
              <a:rPr lang="en"/>
              <a:t>Its README: the steps (Birds0 to Birds4), where things are in the code, how to run it</a:t>
            </a:r>
            <a:endParaRPr/>
          </a:p>
          <a:p>
            <a:pPr indent="-330200" lvl="0" marL="457200" rtl="0" algn="l">
              <a:spcBef>
                <a:spcPts val="0"/>
              </a:spcBef>
              <a:spcAft>
                <a:spcPts val="0"/>
              </a:spcAft>
              <a:buSzPts val="1600"/>
              <a:buChar char="●"/>
            </a:pPr>
            <a:r>
              <a:rPr lang="en"/>
              <a:t>The course site: today’s concepts in full, the exercises, and questions to check yourself</a:t>
            </a:r>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A Physics Library</a:t>
            </a:r>
            <a:endParaRPr>
              <a:solidFill>
                <a:schemeClr val="accent5"/>
              </a:solidFill>
            </a:endParaRPr>
          </a:p>
        </p:txBody>
      </p:sp>
      <p:sp>
        <p:nvSpPr>
          <p:cNvPr id="294" name="Google Shape;294;p45"/>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Stacks that tip, bounce and break: we use Box2D, not our own physics.</a:t>
            </a:r>
            <a:endParaRPr/>
          </a:p>
        </p:txBody>
      </p:sp>
      <p:sp>
        <p:nvSpPr>
          <p:cNvPr id="295" name="Rounded Rectangle 294"/>
          <p:cNvSpPr/>
          <p:nvPr/>
        </p:nvSpPr>
        <p:spPr>
          <a:xfrm>
            <a:off x="548640" y="1417320"/>
            <a:ext cx="3749039" cy="109728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A world of bodies</a:t>
            </a:r>
          </a:p>
          <a:p>
            <a:pPr algn="ctr"/>
            <a:r>
              <a:rPr sz="1300" b="0">
                <a:solidFill>
                  <a:srgbClr val="9AA3AB"/>
                </a:solidFill>
              </a:rPr>
              <a:t>static: never move (the ground)</a:t>
            </a:r>
          </a:p>
          <a:p>
            <a:pPr algn="ctr"/>
            <a:r>
              <a:rPr sz="1300" b="0">
                <a:solidFill>
                  <a:srgbClr val="9AA3AB"/>
                </a:solidFill>
              </a:rPr>
              <a:t>dynamic: gravity and collisions</a:t>
            </a:r>
          </a:p>
        </p:txBody>
      </p:sp>
      <p:sp>
        <p:nvSpPr>
          <p:cNvPr id="296" name="Rounded Rectangle 295"/>
          <p:cNvSpPr/>
          <p:nvPr/>
        </p:nvSpPr>
        <p:spPr>
          <a:xfrm>
            <a:off x="4846320" y="1417320"/>
            <a:ext cx="3749039" cy="109728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Bodies have shapes</a:t>
            </a:r>
          </a:p>
          <a:p>
            <a:pPr algn="ctr"/>
            <a:r>
              <a:rPr sz="1300" b="0">
                <a:solidFill>
                  <a:srgbClr val="9AA3AB"/>
                </a:solidFill>
              </a:rPr>
              <a:t>boxes, circles, polygons</a:t>
            </a:r>
          </a:p>
          <a:p>
            <a:pPr algn="ctr"/>
            <a:r>
              <a:rPr sz="1300" b="0">
                <a:solidFill>
                  <a:srgbClr val="9AA3AB"/>
                </a:solidFill>
              </a:rPr>
              <a:t>with friction and density</a:t>
            </a:r>
          </a:p>
        </p:txBody>
      </p:sp>
      <p:sp>
        <p:nvSpPr>
          <p:cNvPr id="297" name="Rounded Rectangle 296"/>
          <p:cNvSpPr/>
          <p:nvPr/>
        </p:nvSpPr>
        <p:spPr>
          <a:xfrm>
            <a:off x="1005840" y="2834640"/>
            <a:ext cx="2103120" cy="594360"/>
          </a:xfrm>
          <a:prstGeom prst="roundRect">
            <a:avLst>
              <a:gd name="adj" fmla="val 12000"/>
            </a:avLst>
          </a:prstGeom>
          <a:solidFill>
            <a:srgbClr val="2E3338"/>
          </a:solidFill>
          <a:ln w="25400">
            <a:solidFill>
              <a:srgbClr val="D45D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Step the world</a:t>
            </a:r>
          </a:p>
        </p:txBody>
      </p:sp>
      <p:cxnSp>
        <p:nvCxnSpPr>
          <p:cNvPr id="298" name="Connector 297"/>
          <p:cNvCxnSpPr/>
          <p:nvPr/>
        </p:nvCxnSpPr>
        <p:spPr>
          <a:xfrm>
            <a:off x="3127248" y="3131820"/>
            <a:ext cx="237743" cy="0"/>
          </a:xfrm>
          <a:prstGeom prst="line">
            <a:avLst/>
          </a:prstGeom>
          <a:ln w="25400">
            <a:solidFill>
              <a:srgbClr val="9AA3AB"/>
            </a:solidFill>
            <a:tailEnd type="triangle"/>
          </a:ln>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3383279" y="2834640"/>
            <a:ext cx="2103120" cy="59436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Read the positions</a:t>
            </a:r>
          </a:p>
        </p:txBody>
      </p:sp>
      <p:cxnSp>
        <p:nvCxnSpPr>
          <p:cNvPr id="300" name="Connector 299"/>
          <p:cNvCxnSpPr/>
          <p:nvPr/>
        </p:nvCxnSpPr>
        <p:spPr>
          <a:xfrm>
            <a:off x="5504688" y="3131820"/>
            <a:ext cx="237744" cy="0"/>
          </a:xfrm>
          <a:prstGeom prst="line">
            <a:avLst/>
          </a:prstGeom>
          <a:ln w="25400">
            <a:solidFill>
              <a:srgbClr val="9AA3AB"/>
            </a:solidFill>
            <a:tailEnd type="triangle"/>
          </a:ln>
        </p:spPr>
        <p:style>
          <a:lnRef idx="2">
            <a:schemeClr val="accent1"/>
          </a:lnRef>
          <a:fillRef idx="0">
            <a:schemeClr val="accent1"/>
          </a:fillRef>
          <a:effectRef idx="1">
            <a:schemeClr val="accent1"/>
          </a:effectRef>
          <a:fontRef idx="minor">
            <a:schemeClr val="tx1"/>
          </a:fontRef>
        </p:style>
      </p:cxnSp>
      <p:sp>
        <p:nvSpPr>
          <p:cNvPr id="301" name="Rounded Rectangle 300"/>
          <p:cNvSpPr/>
          <p:nvPr/>
        </p:nvSpPr>
        <p:spPr>
          <a:xfrm>
            <a:off x="5760719" y="2834640"/>
            <a:ext cx="2103120" cy="59436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Draw the sprites there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Box2D, Used Directly</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A foreign API</a:t>
            </a:r>
            <a:endParaRPr/>
          </a:p>
          <a:p>
            <a:pPr indent="-317500" lvl="1" marL="914400" rtl="0" algn="l">
              <a:buClr>
                <a:srgbClr val="6C757D"/>
              </a:buClr>
              <a:spcBef>
                <a:spcPts val="0"/>
              </a:spcBef>
              <a:spcAft>
                <a:spcPts val="0"/>
              </a:spcAft>
              <a:buSzPts val="1400"/>
              <a:buChar char="○"/>
            </a:pPr>
            <a:r>
              <a:rPr lang="en" sz="1400">
                <a:solidFill>
                  <a:srgbClr val="6C757D"/>
                </a:solidFill>
              </a:rPr>
              <a:t>C-style functions, structs passed with in, IDs instead of objects</a:t>
            </a:r>
            <a:endParaRPr/>
          </a:p>
          <a:p>
            <a:pPr indent="-330200" lvl="0" marL="457200" rtl="0" algn="l">
              <a:buClr>
                <a:srgbClr val="DEE2E6"/>
              </a:buClr>
              <a:spcBef>
                <a:spcPts val="0"/>
              </a:spcBef>
              <a:spcAft>
                <a:spcPts val="0"/>
              </a:spcAft>
              <a:buSzPts val="1600"/>
              <a:buChar char="●"/>
            </a:pPr>
            <a:r>
              <a:rPr lang="en" sz="1600">
                <a:solidFill>
                  <a:srgbClr val="DEE2E6"/>
                </a:solidFill>
              </a:rPr>
              <a:t>Another world’s units</a:t>
            </a:r>
            <a:endParaRPr/>
          </a:p>
          <a:p>
            <a:pPr indent="-317500" lvl="1" marL="914400" rtl="0" algn="l">
              <a:buClr>
                <a:srgbClr val="6C757D"/>
              </a:buClr>
              <a:spcBef>
                <a:spcPts val="0"/>
              </a:spcBef>
              <a:spcAft>
                <a:spcPts val="0"/>
              </a:spcAft>
              <a:buSzPts val="1400"/>
              <a:buChar char="○"/>
            </a:pPr>
            <a:r>
              <a:rPr lang="en" sz="1400">
                <a:solidFill>
                  <a:srgbClr val="6C757D"/>
                </a:solidFill>
              </a:rPr>
              <a:t>Metres, and y pointing up</a:t>
            </a:r>
            <a:endParaRPr/>
          </a:p>
          <a:p>
            <a:pPr indent="-317500" lvl="1" marL="914400" rtl="0" algn="l">
              <a:buClr>
                <a:srgbClr val="6C757D"/>
              </a:buClr>
              <a:spcBef>
                <a:spcPts val="0"/>
              </a:spcBef>
              <a:spcAft>
                <a:spcPts val="0"/>
              </a:spcAft>
              <a:buSzPts val="1400"/>
              <a:buChar char="○"/>
            </a:pPr>
            <a:r>
              <a:rPr lang="en" sz="1400">
                <a:solidFill>
                  <a:srgbClr val="6C757D"/>
                </a:solidFill>
              </a:rPr>
              <a:t>Divide, multiply and flip y everywhere</a:t>
            </a:r>
            <a:endParaRPr/>
          </a:p>
          <a:p>
            <a:pPr indent="-330200" lvl="0" marL="457200" rtl="0" algn="l">
              <a:buClr>
                <a:srgbClr val="DEE2E6"/>
              </a:buClr>
              <a:spcBef>
                <a:spcPts val="0"/>
              </a:spcBef>
              <a:spcAft>
                <a:spcPts val="0"/>
              </a:spcAft>
              <a:buSzPts val="1600"/>
              <a:buChar char="●"/>
            </a:pPr>
            <a:r>
              <a:rPr lang="en" sz="1600">
                <a:solidFill>
                  <a:srgbClr val="DEE2E6"/>
                </a:solidFill>
              </a:rPr>
              <a:t>All through Game1</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B2BodyDef bodyDef = b2DefaultBodyDef();</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bodyDef.type = B2BodyType.b2_dynamicBody;</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bodyDef.position = new B2Vec2(</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x / PixelsPerMeter, -y / PixelsPerMeter);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B2BodyId body = b2CreateBody(_world, in bodyDef);</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B2Polygon box = b2MakeBox(</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width / 2 / PixelsPerMeter,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height / 2 / PixelsPerMeter);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B2ShapeDef shapeDef = b2DefaultShapeDef();</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shapeDef.material.friction = 0.6f;</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b2CreatePolygonShape(body, in shapeDef, in box);</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And every frame, for every body:</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B2Vec2 p = b2Body_GetPosition(body);</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Vector2 pixels = new(p.X * PixelsPerMeter,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-p.Y * PixelsPerMeter);</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Why Metres?</a:t>
            </a:r>
            <a:endParaRPr>
              <a:solidFill>
                <a:schemeClr val="accent5"/>
              </a:solidFill>
            </a:endParaRPr>
          </a:p>
        </p:txBody>
      </p:sp>
      <p:sp>
        <p:nvSpPr>
          <p:cNvPr id="294" name="Google Shape;294;p45"/>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A 50-pixel block, taken as metres, is a 50-metre building: it falls in slow motion.</a:t>
            </a:r>
            <a:endParaRPr/>
          </a:p>
        </p:txBody>
      </p:sp>
      <p:sp>
        <p:nvSpPr>
          <p:cNvPr id="295" name="Rounded Rectangle 294"/>
          <p:cNvSpPr/>
          <p:nvPr/>
        </p:nvSpPr>
        <p:spPr>
          <a:xfrm>
            <a:off x="548640" y="1463040"/>
            <a:ext cx="2743200" cy="91440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DEE2E6"/>
                </a:solidFill>
              </a:rPr>
              <a:t>Our game</a:t>
            </a:r>
          </a:p>
          <a:p>
            <a:pPr algn="ctr"/>
            <a:r>
              <a:rPr sz="1400" b="0">
                <a:solidFill>
                  <a:srgbClr val="9AA3AB"/>
                </a:solidFill>
              </a:rPr>
              <a:t>pixels, y down,</a:t>
            </a:r>
          </a:p>
          <a:p>
            <a:pPr algn="ctr"/>
            <a:r>
              <a:rPr sz="1400" b="0">
                <a:solidFill>
                  <a:srgbClr val="9AA3AB"/>
                </a:solidFill>
              </a:rPr>
              <a:t>clockwise</a:t>
            </a:r>
          </a:p>
        </p:txBody>
      </p:sp>
      <p:sp>
        <p:nvSpPr>
          <p:cNvPr id="296" name="Rounded Rectangle 295"/>
          <p:cNvSpPr/>
          <p:nvPr/>
        </p:nvSpPr>
        <p:spPr>
          <a:xfrm>
            <a:off x="5852160" y="1463040"/>
            <a:ext cx="2743200" cy="91440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DEE2E6"/>
                </a:solidFill>
              </a:rPr>
              <a:t>Box2D</a:t>
            </a:r>
          </a:p>
          <a:p>
            <a:pPr algn="ctr"/>
            <a:r>
              <a:rPr sz="1400" b="0">
                <a:solidFill>
                  <a:srgbClr val="9AA3AB"/>
                </a:solidFill>
              </a:rPr>
              <a:t>metres, y up,</a:t>
            </a:r>
          </a:p>
          <a:p>
            <a:pPr algn="ctr"/>
            <a:r>
              <a:rPr sz="1400" b="0">
                <a:solidFill>
                  <a:srgbClr val="9AA3AB"/>
                </a:solidFill>
              </a:rPr>
              <a:t>counter-clockwise</a:t>
            </a:r>
          </a:p>
        </p:txBody>
      </p:sp>
      <p:cxnSp>
        <p:nvCxnSpPr>
          <p:cNvPr id="297" name="Connector 296"/>
          <p:cNvCxnSpPr/>
          <p:nvPr/>
        </p:nvCxnSpPr>
        <p:spPr>
          <a:xfrm>
            <a:off x="3337560" y="1783080"/>
            <a:ext cx="2468880" cy="0"/>
          </a:xfrm>
          <a:prstGeom prst="line">
            <a:avLst/>
          </a:prstGeom>
          <a:ln w="25400">
            <a:solidFill>
              <a:srgbClr val="D45D35"/>
            </a:solidFill>
            <a:tailEnd type="triangle"/>
          </a:ln>
        </p:spPr>
        <p:style>
          <a:lnRef idx="2">
            <a:schemeClr val="accent1"/>
          </a:lnRef>
          <a:fillRef idx="0">
            <a:schemeClr val="accent1"/>
          </a:fillRef>
          <a:effectRef idx="1">
            <a:schemeClr val="accent1"/>
          </a:effectRef>
          <a:fontRef idx="minor">
            <a:schemeClr val="tx1"/>
          </a:fontRef>
        </p:style>
      </p:cxnSp>
      <p:sp>
        <p:nvSpPr>
          <p:cNvPr id="298" name="TextBox 297"/>
          <p:cNvSpPr txBox="1"/>
          <p:nvPr/>
        </p:nvSpPr>
        <p:spPr>
          <a:xfrm>
            <a:off x="3154679" y="1490472"/>
            <a:ext cx="2834639" cy="274320"/>
          </a:xfrm>
          <a:prstGeom prst="rect">
            <a:avLst/>
          </a:prstGeom>
          <a:noFill/>
        </p:spPr>
        <p:txBody>
          <a:bodyPr wrap="square">
            <a:spAutoFit/>
          </a:bodyPr>
          <a:lstStyle/>
          <a:p>
            <a:pPr algn="ctr"/>
            <a:r>
              <a:rPr sz="1100" b="0" i="0">
                <a:solidFill>
                  <a:srgbClr val="9AA3AB"/>
                </a:solidFill>
              </a:rPr>
              <a:t>÷ 50, flip y</a:t>
            </a:r>
          </a:p>
        </p:txBody>
      </p:sp>
      <p:cxnSp>
        <p:nvCxnSpPr>
          <p:cNvPr id="299" name="Connector 298"/>
          <p:cNvCxnSpPr/>
          <p:nvPr/>
        </p:nvCxnSpPr>
        <p:spPr>
          <a:xfrm flipH="1">
            <a:off x="3337560" y="2103120"/>
            <a:ext cx="2468880" cy="0"/>
          </a:xfrm>
          <a:prstGeom prst="line">
            <a:avLst/>
          </a:prstGeom>
          <a:ln w="25400">
            <a:solidFill>
              <a:srgbClr val="D45D35"/>
            </a:solidFill>
            <a:tailEnd type="triangle"/>
          </a:ln>
        </p:spPr>
        <p:style>
          <a:lnRef idx="2">
            <a:schemeClr val="accent1"/>
          </a:lnRef>
          <a:fillRef idx="0">
            <a:schemeClr val="accent1"/>
          </a:fillRef>
          <a:effectRef idx="1">
            <a:schemeClr val="accent1"/>
          </a:effectRef>
          <a:fontRef idx="minor">
            <a:schemeClr val="tx1"/>
          </a:fontRef>
        </p:style>
      </p:cxnSp>
      <p:sp>
        <p:nvSpPr>
          <p:cNvPr id="300" name="TextBox 299"/>
          <p:cNvSpPr txBox="1"/>
          <p:nvPr/>
        </p:nvSpPr>
        <p:spPr>
          <a:xfrm>
            <a:off x="3337560" y="2148840"/>
            <a:ext cx="2468880" cy="274320"/>
          </a:xfrm>
          <a:prstGeom prst="rect">
            <a:avLst/>
          </a:prstGeom>
          <a:noFill/>
        </p:spPr>
        <p:txBody>
          <a:bodyPr wrap="square">
            <a:spAutoFit/>
          </a:bodyPr>
          <a:lstStyle/>
          <a:p>
            <a:pPr algn="ctr"/>
            <a:r>
              <a:rPr sz="1100" b="0" i="0">
                <a:solidFill>
                  <a:srgbClr val="9AA3AB"/>
                </a:solidFill>
              </a:rPr>
              <a:t>× 50, flip y</a:t>
            </a:r>
          </a:p>
        </p:txBody>
      </p:sp>
      <p:sp>
        <p:nvSpPr>
          <p:cNvPr id="301" name="TextBox 300"/>
          <p:cNvSpPr txBox="1"/>
          <p:nvPr/>
        </p:nvSpPr>
        <p:spPr>
          <a:xfrm>
            <a:off x="457200" y="2834640"/>
            <a:ext cx="8229600" cy="731520"/>
          </a:xfrm>
          <a:prstGeom prst="rect">
            <a:avLst/>
          </a:prstGeom>
          <a:noFill/>
        </p:spPr>
        <p:txBody>
          <a:bodyPr wrap="square">
            <a:spAutoFit/>
          </a:bodyPr>
          <a:lstStyle/>
          <a:p>
            <a:pPr algn="ctr"/>
            <a:r>
              <a:rPr sz="1700" b="1" i="0">
                <a:solidFill>
                  <a:srgbClr val="DEE2E6"/>
                </a:solidFill>
              </a:rPr>
              <a:t>Forget one conversion. What do you see?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 name="Google Shape;128;p2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Box2D Implementation</a:t>
            </a:r>
            <a:endParaRPr>
              <a:solidFill>
                <a:schemeClr val="accent5"/>
              </a:solidFill>
            </a:endParaRPr>
          </a:p>
        </p:txBody>
      </p:sp>
      <p:sp>
        <p:nvSpPr>
          <p:cNvPr id="129" name="Google Shape;129;p21"/>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0"/>
              </a:spcAft>
              <a:buNone/>
            </a:pPr>
            <a:r>
              <a:rPr lang="en" sz="1800"/>
              <a:t>Birds0: Box2D, used directly in Game1</a:t>
            </a:r>
            <a:endParaRPr sz="18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A Different Scale</a:t>
            </a:r>
            <a:endParaRPr/>
          </a:p>
        </p:txBody>
      </p:sp>
      <p:sp>
        <p:nvSpPr>
          <p:cNvPr id="3" name="Text Placeholder 2"/>
          <p:cNvSpPr>
            <a:spLocks noGrp="1"/>
          </p:cNvSpPr>
          <p:nvPr>
            <p:ph type="body" idx="1"/>
          </p:nvPr>
        </p:nvSpPr>
        <p:spPr>
          <a:xfrm>
            <a:off x="311700" y="885950"/>
            <a:ext cx="8520600" cy="1289304"/>
          </a:xfrm>
        </p:spPr>
        <p:txBody>
          <a:bodyPr/>
          <a:lstStyle/>
          <a:p>
            <a:pPr indent="-330200" lvl="0" marL="457200" rtl="0" algn="l">
              <a:spcBef>
                <a:spcPts val="0"/>
              </a:spcBef>
              <a:spcAft>
                <a:spcPts val="0"/>
              </a:spcAft>
              <a:buSzPts val="1600"/>
              <a:buChar char="●"/>
            </a:pPr>
            <a:r>
              <a:rPr lang="en"/>
              <a:t>In Birds0:</a:t>
            </a:r>
            <a:endParaRPr/>
          </a:p>
          <a:p>
            <a:pPr indent="-330200" lvl="0" marL="457200" rtl="0" algn="l">
              <a:spcBef>
                <a:spcPts val="0"/>
              </a:spcBef>
              <a:spcAft>
                <a:spcPts val="0"/>
              </a:spcAft>
              <a:buSzPts val="1600"/>
              <a:buChar char="●"/>
            </a:pPr>
            <a:r>
              <a:rPr lang="en"/>
              <a:t>Change PixelsPerMeter from 50 to 10</a:t>
            </a:r>
            <a:endParaRPr/>
          </a:p>
          <a:p>
            <a:pPr indent="-330200" lvl="0" marL="457200" rtl="0" algn="l">
              <a:spcBef>
                <a:spcPts val="0"/>
              </a:spcBef>
              <a:spcAft>
                <a:spcPts val="0"/>
              </a:spcAft>
              <a:buSzPts val="1600"/>
              <a:buChar char="●"/>
            </a:pPr>
            <a:r>
              <a:rPr lang="en"/>
              <a:t>How many lines does it touch? How do the blocks fall now?</a:t>
            </a:r>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Adapter &amp; Facade</a:t>
            </a:r>
            <a:endParaRPr>
              <a:solidFill>
                <a:schemeClr val="accent5"/>
              </a:solidFill>
            </a:endParaRPr>
          </a:p>
        </p:txBody>
      </p:sp>
      <p:sp>
        <p:nvSpPr>
          <p:cNvPr id="294" name="Google Shape;294;p45"/>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Keep Box2D in one place: the rest of the game never sees a Box2D type.</a:t>
            </a:r>
            <a:endParaRPr/>
          </a:p>
        </p:txBody>
      </p:sp>
      <p:sp>
        <p:nvSpPr>
          <p:cNvPr id="295" name="Rounded Rectangle 294"/>
          <p:cNvSpPr/>
          <p:nvPr/>
        </p:nvSpPr>
        <p:spPr>
          <a:xfrm>
            <a:off x="548640" y="1371600"/>
            <a:ext cx="8046720" cy="54864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The game: blocks, pigs, birds, levels</a:t>
            </a:r>
          </a:p>
        </p:txBody>
      </p:sp>
      <p:sp>
        <p:nvSpPr>
          <p:cNvPr id="296" name="Rounded Rectangle 295"/>
          <p:cNvSpPr/>
          <p:nvPr/>
        </p:nvSpPr>
        <p:spPr>
          <a:xfrm>
            <a:off x="548640" y="2148840"/>
            <a:ext cx="3886200" cy="822960"/>
          </a:xfrm>
          <a:prstGeom prst="roundRect">
            <a:avLst>
              <a:gd name="adj" fmla="val 12000"/>
            </a:avLst>
          </a:prstGeom>
          <a:solidFill>
            <a:srgbClr val="2E3338"/>
          </a:solidFill>
          <a:ln w="25400">
            <a:solidFill>
              <a:srgbClr val="D45D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PhysicsWorld: a Facade</a:t>
            </a:r>
          </a:p>
          <a:p>
            <a:pPr algn="ctr"/>
            <a:r>
              <a:rPr sz="1300" b="0">
                <a:solidFill>
                  <a:srgbClr val="9AA3AB"/>
                </a:solidFill>
              </a:rPr>
              <a:t>a handful of calls: create, step, destroy</a:t>
            </a:r>
          </a:p>
        </p:txBody>
      </p:sp>
      <p:sp>
        <p:nvSpPr>
          <p:cNvPr id="297" name="Rounded Rectangle 296"/>
          <p:cNvSpPr/>
          <p:nvPr/>
        </p:nvSpPr>
        <p:spPr>
          <a:xfrm>
            <a:off x="4709160" y="2148840"/>
            <a:ext cx="3886200" cy="822960"/>
          </a:xfrm>
          <a:prstGeom prst="roundRect">
            <a:avLst>
              <a:gd name="adj" fmla="val 12000"/>
            </a:avLst>
          </a:prstGeom>
          <a:solidFill>
            <a:srgbClr val="2E3338"/>
          </a:solidFill>
          <a:ln w="25400">
            <a:solidFill>
              <a:srgbClr val="D45D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PhysicsBody: an Adapter</a:t>
            </a:r>
          </a:p>
          <a:p>
            <a:pPr algn="ctr"/>
            <a:r>
              <a:rPr sz="1300" b="0">
                <a:solidFill>
                  <a:srgbClr val="9AA3AB"/>
                </a:solidFill>
              </a:rPr>
              <a:t>a body in pixels, turning like SpriteBatch</a:t>
            </a:r>
          </a:p>
        </p:txBody>
      </p:sp>
      <p:sp>
        <p:nvSpPr>
          <p:cNvPr id="298" name="Rounded Rectangle 297"/>
          <p:cNvSpPr/>
          <p:nvPr/>
        </p:nvSpPr>
        <p:spPr>
          <a:xfrm>
            <a:off x="548640" y="3200400"/>
            <a:ext cx="8046720" cy="54864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Box2D: hundreds of functions, metres, structs and IDs</a:t>
            </a:r>
          </a:p>
        </p:txBody>
      </p:sp>
      <p:sp>
        <p:nvSpPr>
          <p:cNvPr id="299" name="TextBox 298"/>
          <p:cNvSpPr txBox="1"/>
          <p:nvPr/>
        </p:nvSpPr>
        <p:spPr>
          <a:xfrm>
            <a:off x="457200" y="3886200"/>
            <a:ext cx="8229600" cy="731520"/>
          </a:xfrm>
          <a:prstGeom prst="rect">
            <a:avLst/>
          </a:prstGeom>
          <a:noFill/>
        </p:spPr>
        <p:txBody>
          <a:bodyPr wrap="square">
            <a:spAutoFit/>
          </a:bodyPr>
          <a:lstStyle/>
          <a:p>
            <a:pPr algn="ctr"/>
            <a:r>
              <a:rPr sz="1500" b="1" i="0">
                <a:solidFill>
                  <a:srgbClr val="DEE2E6"/>
                </a:solidFill>
              </a:rPr>
              <a:t>Swap Box2D for another library. Which files change?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Adapter: PhysicsBody</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Wraps a B2BodyId</a:t>
            </a:r>
            <a:endParaRPr/>
          </a:p>
          <a:p>
            <a:pPr indent="-330200" lvl="0" marL="457200" rtl="0" algn="l">
              <a:buClr>
                <a:srgbClr val="DEE2E6"/>
              </a:buClr>
              <a:spcBef>
                <a:spcPts val="0"/>
              </a:spcBef>
              <a:spcAft>
                <a:spcPts val="0"/>
              </a:spcAft>
              <a:buSzPts val="1600"/>
              <a:buChar char="●"/>
            </a:pPr>
            <a:r>
              <a:rPr lang="en" sz="1600">
                <a:solidFill>
                  <a:srgbClr val="DEE2E6"/>
                </a:solidFill>
              </a:rPr>
              <a:t>Position in pixels</a:t>
            </a:r>
            <a:endParaRPr/>
          </a:p>
          <a:p>
            <a:pPr indent="-330200" lvl="0" marL="457200" rtl="0" algn="l">
              <a:buClr>
                <a:srgbClr val="DEE2E6"/>
              </a:buClr>
              <a:spcBef>
                <a:spcPts val="0"/>
              </a:spcBef>
              <a:spcAft>
                <a:spcPts val="0"/>
              </a:spcAft>
              <a:buSzPts val="1600"/>
              <a:buChar char="●"/>
            </a:pPr>
            <a:r>
              <a:rPr lang="en" sz="1600">
                <a:solidFill>
                  <a:srgbClr val="DEE2E6"/>
                </a:solidFill>
              </a:rPr>
              <a:t>Rotation that turns like SpriteBatch</a:t>
            </a:r>
            <a:endParaRPr/>
          </a:p>
          <a:p>
            <a:pPr indent="-330200" lvl="0" marL="457200" rtl="0" algn="l">
              <a:buClr>
                <a:srgbClr val="DEE2E6"/>
              </a:buClr>
              <a:spcBef>
                <a:spcPts val="0"/>
              </a:spcBef>
              <a:spcAft>
                <a:spcPts val="0"/>
              </a:spcAft>
              <a:buSzPts val="1600"/>
              <a:buChar char="●"/>
            </a:pPr>
            <a:r>
              <a:rPr lang="en" sz="1600">
                <a:solidFill>
                  <a:srgbClr val="DEE2E6"/>
                </a:solidFill>
              </a:rPr>
              <a:t>Owner: the entity it belongs to</a:t>
            </a:r>
            <a:endParaRPr/>
          </a:p>
          <a:p>
            <a:pPr indent="-330200" lvl="0" marL="457200" rtl="0" algn="l">
              <a:buClr>
                <a:srgbClr val="DEE2E6"/>
              </a:buClr>
              <a:spcBef>
                <a:spcPts val="0"/>
              </a:spcBef>
              <a:spcAft>
                <a:spcPts val="0"/>
              </a:spcAft>
              <a:buSzPts val="1600"/>
              <a:buChar char="●"/>
            </a:pPr>
            <a:r>
              <a:rPr lang="en" sz="1600">
                <a:solidFill>
                  <a:srgbClr val="DEE2E6"/>
                </a:solidFill>
              </a:rPr>
              <a:t>Units: every conversion, in one place</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sealed class PhysicsBody</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internal B2BodyId Id { get;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public object Owner { get;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public Vector2 Position =&gt;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Units.ToPixels(b2Body_GetPosition(Id));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public float Rotation</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get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B2Rot r = b2Body_GetRotation(Id);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return -b2Rot_GetAngle(in 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The Facade: PhysicsWorld</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The game reads like our game again</a:t>
            </a:r>
            <a:endParaRPr/>
          </a:p>
          <a:p>
            <a:pPr indent="-330200" lvl="0" marL="457200" rtl="0" algn="l">
              <a:buClr>
                <a:srgbClr val="DEE2E6"/>
              </a:buClr>
              <a:spcBef>
                <a:spcPts val="0"/>
              </a:spcBef>
              <a:spcAft>
                <a:spcPts val="0"/>
              </a:spcAft>
              <a:buSzPts val="1600"/>
              <a:buChar char="●"/>
            </a:pPr>
            <a:r>
              <a:rPr lang="en" sz="1600">
                <a:solidFill>
                  <a:srgbClr val="DEE2E6"/>
                </a:solidFill>
              </a:rPr>
              <a:t>Gains</a:t>
            </a:r>
            <a:endParaRPr/>
          </a:p>
          <a:p>
            <a:pPr indent="-317500" lvl="1" marL="914400" rtl="0" algn="l">
              <a:buClr>
                <a:srgbClr val="6C757D"/>
              </a:buClr>
              <a:spcBef>
                <a:spcPts val="0"/>
              </a:spcBef>
              <a:spcAft>
                <a:spcPts val="0"/>
              </a:spcAft>
              <a:buSzPts val="1400"/>
              <a:buChar char="○"/>
            </a:pPr>
            <a:r>
              <a:rPr lang="en" sz="1400">
                <a:solidFill>
                  <a:srgbClr val="6C757D"/>
                </a:solidFill>
              </a:rPr>
              <a:t>One place to change</a:t>
            </a:r>
            <a:endParaRPr/>
          </a:p>
          <a:p>
            <a:pPr indent="-317500" lvl="1" marL="914400" rtl="0" algn="l">
              <a:buClr>
                <a:srgbClr val="6C757D"/>
              </a:buClr>
              <a:spcBef>
                <a:spcPts val="0"/>
              </a:spcBef>
              <a:spcAft>
                <a:spcPts val="0"/>
              </a:spcAft>
              <a:buSzPts val="1400"/>
              <a:buChar char="○"/>
            </a:pPr>
            <a:r>
              <a:rPr lang="en" sz="1400">
                <a:solidFill>
                  <a:srgbClr val="6C757D"/>
                </a:solidFill>
              </a:rPr>
              <a:t>Our language: pixels, not metres</a:t>
            </a:r>
            <a:endParaRPr/>
          </a:p>
          <a:p>
            <a:pPr indent="-317500" lvl="1" marL="914400" rtl="0" algn="l">
              <a:buClr>
                <a:srgbClr val="6C757D"/>
              </a:buClr>
              <a:spcBef>
                <a:spcPts val="0"/>
              </a:spcBef>
              <a:spcAft>
                <a:spcPts val="0"/>
              </a:spcAft>
              <a:buSzPts val="1400"/>
              <a:buChar char="○"/>
            </a:pPr>
            <a:r>
              <a:rPr lang="en" sz="1400">
                <a:solidFill>
                  <a:srgbClr val="6C757D"/>
                </a:solidFill>
              </a:rPr>
              <a:t>A smaller surface</a:t>
            </a:r>
            <a:endParaRPr/>
          </a:p>
          <a:p>
            <a:pPr indent="-330200" lvl="0" marL="457200" rtl="0" algn="l">
              <a:buClr>
                <a:srgbClr val="DEE2E6"/>
              </a:buClr>
              <a:spcBef>
                <a:spcPts val="0"/>
              </a:spcBef>
              <a:spcAft>
                <a:spcPts val="0"/>
              </a:spcAft>
              <a:buSzPts val="1600"/>
              <a:buChar char="●"/>
            </a:pPr>
            <a:r>
              <a:rPr lang="en" sz="1600">
                <a:solidFill>
                  <a:srgbClr val="DEE2E6"/>
                </a:solidFill>
              </a:rPr>
              <a:t>Cost: every new feature goes through the facade first</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Units.cs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static B2Vec2 ToMeters(Vector2 pixels) =&gt;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new(pixels.X / PixelsPerMeter,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-pixels.Y / PixelsPerMeter);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Block.cs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Block(PhysicsWorld world, Vector2 center,</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Vector2 size, float rotation,</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PhysicsMaterial material, TextureRegion sprite)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 base(sprite)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Body = world.CreateBox(center, size,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rotation, material, this);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Two Worlds</a:t>
            </a:r>
            <a:endParaRPr>
              <a:solidFill>
                <a:schemeClr val="accent5"/>
              </a:solidFill>
            </a:endParaRPr>
          </a:p>
        </p:txBody>
      </p:sp>
      <p:sp>
        <p:nvSpPr>
          <p:cNvPr id="294" name="Google Shape;294;p45"/>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A block exists twice. The physics world owns where it is.</a:t>
            </a:r>
            <a:endParaRPr/>
          </a:p>
        </p:txBody>
      </p:sp>
      <p:sp>
        <p:nvSpPr>
          <p:cNvPr id="295" name="Rounded Rectangle 294"/>
          <p:cNvSpPr/>
          <p:nvPr/>
        </p:nvSpPr>
        <p:spPr>
          <a:xfrm>
            <a:off x="731520" y="1463040"/>
            <a:ext cx="3108960" cy="100584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DEE2E6"/>
                </a:solidFill>
              </a:rPr>
              <a:t>Entity</a:t>
            </a:r>
          </a:p>
          <a:p>
            <a:pPr algn="ctr"/>
            <a:r>
              <a:rPr sz="1400" b="0">
                <a:solidFill>
                  <a:srgbClr val="9AA3AB"/>
                </a:solidFill>
              </a:rPr>
              <a:t>sprite, health, damage</a:t>
            </a:r>
          </a:p>
        </p:txBody>
      </p:sp>
      <p:sp>
        <p:nvSpPr>
          <p:cNvPr id="296" name="Rounded Rectangle 295"/>
          <p:cNvSpPr/>
          <p:nvPr/>
        </p:nvSpPr>
        <p:spPr>
          <a:xfrm>
            <a:off x="5303520" y="1463040"/>
            <a:ext cx="3108960" cy="1005840"/>
          </a:xfrm>
          <a:prstGeom prst="roundRect">
            <a:avLst>
              <a:gd name="adj" fmla="val 12000"/>
            </a:avLst>
          </a:prstGeom>
          <a:solidFill>
            <a:srgbClr val="2E3338"/>
          </a:solidFill>
          <a:ln w="25400">
            <a:solidFill>
              <a:srgbClr val="D45D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600" b="1">
                <a:solidFill>
                  <a:srgbClr val="DEE2E6"/>
                </a:solidFill>
              </a:rPr>
              <a:t>PhysicsBody</a:t>
            </a:r>
          </a:p>
          <a:p>
            <a:pPr algn="ctr"/>
            <a:r>
              <a:rPr sz="1400" b="0">
                <a:solidFill>
                  <a:srgbClr val="9AA3AB"/>
                </a:solidFill>
              </a:rPr>
              <a:t>position, rotation, velocity</a:t>
            </a:r>
          </a:p>
        </p:txBody>
      </p:sp>
      <p:cxnSp>
        <p:nvCxnSpPr>
          <p:cNvPr id="297" name="Connector 296"/>
          <p:cNvCxnSpPr/>
          <p:nvPr/>
        </p:nvCxnSpPr>
        <p:spPr>
          <a:xfrm flipH="1">
            <a:off x="3886200" y="1783080"/>
            <a:ext cx="1371600" cy="0"/>
          </a:xfrm>
          <a:prstGeom prst="line">
            <a:avLst/>
          </a:prstGeom>
          <a:ln w="25400">
            <a:solidFill>
              <a:srgbClr val="D45D35"/>
            </a:solidFill>
            <a:tailEnd type="triangle"/>
          </a:ln>
        </p:spPr>
        <p:style>
          <a:lnRef idx="2">
            <a:schemeClr val="accent1"/>
          </a:lnRef>
          <a:fillRef idx="0">
            <a:schemeClr val="accent1"/>
          </a:fillRef>
          <a:effectRef idx="1">
            <a:schemeClr val="accent1"/>
          </a:effectRef>
          <a:fontRef idx="minor">
            <a:schemeClr val="tx1"/>
          </a:fontRef>
        </p:style>
      </p:cxnSp>
      <p:sp>
        <p:nvSpPr>
          <p:cNvPr id="298" name="TextBox 297"/>
          <p:cNvSpPr txBox="1"/>
          <p:nvPr/>
        </p:nvSpPr>
        <p:spPr>
          <a:xfrm>
            <a:off x="3703320" y="1490472"/>
            <a:ext cx="1737360" cy="274320"/>
          </a:xfrm>
          <a:prstGeom prst="rect">
            <a:avLst/>
          </a:prstGeom>
          <a:noFill/>
        </p:spPr>
        <p:txBody>
          <a:bodyPr wrap="square">
            <a:spAutoFit/>
          </a:bodyPr>
          <a:lstStyle/>
          <a:p>
            <a:pPr algn="ctr"/>
            <a:r>
              <a:rPr sz="1100" b="0" i="0">
                <a:solidFill>
                  <a:srgbClr val="9AA3AB"/>
                </a:solidFill>
              </a:rPr>
              <a:t>position, every draw</a:t>
            </a:r>
          </a:p>
        </p:txBody>
      </p:sp>
      <p:cxnSp>
        <p:nvCxnSpPr>
          <p:cNvPr id="299" name="Connector 298"/>
          <p:cNvCxnSpPr/>
          <p:nvPr/>
        </p:nvCxnSpPr>
        <p:spPr>
          <a:xfrm>
            <a:off x="3886200" y="2194560"/>
            <a:ext cx="1371600" cy="0"/>
          </a:xfrm>
          <a:prstGeom prst="line">
            <a:avLst/>
          </a:prstGeom>
          <a:ln w="25400">
            <a:solidFill>
              <a:srgbClr val="9AA3AB"/>
            </a:solidFill>
            <a:tailEnd type="triangle"/>
          </a:ln>
        </p:spPr>
        <p:style>
          <a:lnRef idx="2">
            <a:schemeClr val="accent1"/>
          </a:lnRef>
          <a:fillRef idx="0">
            <a:schemeClr val="accent1"/>
          </a:fillRef>
          <a:effectRef idx="1">
            <a:schemeClr val="accent1"/>
          </a:effectRef>
          <a:fontRef idx="minor">
            <a:schemeClr val="tx1"/>
          </a:fontRef>
        </p:style>
      </p:cxnSp>
      <p:sp>
        <p:nvSpPr>
          <p:cNvPr id="300" name="TextBox 299"/>
          <p:cNvSpPr txBox="1"/>
          <p:nvPr/>
        </p:nvSpPr>
        <p:spPr>
          <a:xfrm>
            <a:off x="3886200" y="2240280"/>
            <a:ext cx="1371600" cy="274320"/>
          </a:xfrm>
          <a:prstGeom prst="rect">
            <a:avLst/>
          </a:prstGeom>
          <a:noFill/>
        </p:spPr>
        <p:txBody>
          <a:bodyPr wrap="square">
            <a:spAutoFit/>
          </a:bodyPr>
          <a:lstStyle/>
          <a:p>
            <a:pPr algn="ctr"/>
            <a:r>
              <a:rPr sz="1100" b="0" i="0">
                <a:solidFill>
                  <a:srgbClr val="9AA3AB"/>
                </a:solidFill>
              </a:rPr>
              <a:t>Owner</a:t>
            </a:r>
          </a:p>
        </p:txBody>
      </p:sp>
      <p:sp>
        <p:nvSpPr>
          <p:cNvPr id="301" name="TextBox 300"/>
          <p:cNvSpPr txBox="1"/>
          <p:nvPr/>
        </p:nvSpPr>
        <p:spPr>
          <a:xfrm>
            <a:off x="731520" y="2743200"/>
            <a:ext cx="7680960" cy="822960"/>
          </a:xfrm>
          <a:prstGeom prst="rect">
            <a:avLst/>
          </a:prstGeom>
          <a:noFill/>
        </p:spPr>
        <p:txBody>
          <a:bodyPr wrap="square">
            <a:spAutoFit/>
          </a:bodyPr>
          <a:lstStyle/>
          <a:p>
            <a:pPr algn="ctr"/>
            <a:r>
              <a:rPr sz="1400" b="0" i="0">
                <a:solidFill>
                  <a:srgbClr val="9AA3AB"/>
                </a:solidFill>
              </a:rPr>
              <a:t>The body knows its owner, so a hit between two bodies leads back to two entities.</a:t>
            </a:r>
          </a:p>
          <a:p>
            <a:pPr algn="ctr"/>
            <a:r>
              <a:rPr sz="1400" b="0" i="0">
                <a:solidFill>
                  <a:srgbClr val="9AA3AB"/>
                </a:solidFill>
              </a:rPr>
              <a:t>F1 shows what the physics world sees. A fixed time step: Snake’s accumulator again.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 name="Google Shape;128;p2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Adapter Implementation</a:t>
            </a:r>
            <a:endParaRPr>
              <a:solidFill>
                <a:schemeClr val="accent5"/>
              </a:solidFill>
            </a:endParaRPr>
          </a:p>
        </p:txBody>
      </p:sp>
      <p:sp>
        <p:nvSpPr>
          <p:cNvPr id="129" name="Google Shape;129;p21"/>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0"/>
              </a:spcAft>
              <a:buNone/>
            </a:pPr>
            <a:r>
              <a:rPr lang="en" sz="1800"/>
              <a:t>Birds0 → Birds1: Box2D behind PhysicsWorld and PhysicsBody</a:t>
            </a:r>
            <a:endParaRPr sz="180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The Same Change, Behind the Adapter</a:t>
            </a:r>
            <a:endParaRPr/>
          </a:p>
        </p:txBody>
      </p:sp>
      <p:sp>
        <p:nvSpPr>
          <p:cNvPr id="3" name="Text Placeholder 2"/>
          <p:cNvSpPr>
            <a:spLocks noGrp="1"/>
          </p:cNvSpPr>
          <p:nvPr>
            <p:ph type="body" idx="1"/>
          </p:nvPr>
        </p:nvSpPr>
        <p:spPr>
          <a:xfrm>
            <a:off x="311700" y="885950"/>
            <a:ext cx="8520600" cy="1289304"/>
          </a:xfrm>
        </p:spPr>
        <p:txBody>
          <a:bodyPr/>
          <a:lstStyle/>
          <a:p>
            <a:pPr indent="-330200" lvl="0" marL="457200" rtl="0" algn="l">
              <a:spcBef>
                <a:spcPts val="0"/>
              </a:spcBef>
              <a:spcAft>
                <a:spcPts val="0"/>
              </a:spcAft>
              <a:buSzPts val="1600"/>
              <a:buChar char="●"/>
            </a:pPr>
            <a:r>
              <a:rPr lang="en"/>
              <a:t>In Birds1:</a:t>
            </a:r>
            <a:endParaRPr/>
          </a:p>
          <a:p>
            <a:pPr indent="-330200" lvl="0" marL="457200" rtl="0" algn="l">
              <a:spcBef>
                <a:spcPts val="0"/>
              </a:spcBef>
              <a:spcAft>
                <a:spcPts val="0"/>
              </a:spcAft>
              <a:buSzPts val="1600"/>
              <a:buChar char="●"/>
            </a:pPr>
            <a:r>
              <a:rPr lang="en"/>
              <a:t>Make the same change: 10 pixels per metre</a:t>
            </a:r>
            <a:endParaRPr/>
          </a:p>
          <a:p>
            <a:pPr indent="-330200" lvl="0" marL="457200" rtl="0" algn="l">
              <a:spcBef>
                <a:spcPts val="0"/>
              </a:spcBef>
              <a:spcAft>
                <a:spcPts val="0"/>
              </a:spcAft>
              <a:buSzPts val="1600"/>
              <a:buChar char="●"/>
            </a:pPr>
            <a:r>
              <a:rPr lang="en"/>
              <a:t>How many files did you touch this time?</a:t>
            </a:r>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Contact Events</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Box2D collects hit events during the step</a:t>
            </a:r>
            <a:endParaRPr/>
          </a:p>
          <a:p>
            <a:pPr indent="-317500" lvl="1" marL="914400" rtl="0" algn="l">
              <a:buClr>
                <a:srgbClr val="6C757D"/>
              </a:buClr>
              <a:spcBef>
                <a:spcPts val="0"/>
              </a:spcBef>
              <a:spcAft>
                <a:spcPts val="0"/>
              </a:spcAft>
              <a:buSzPts val="1400"/>
              <a:buChar char="○"/>
            </a:pPr>
            <a:r>
              <a:rPr lang="en" sz="1400">
                <a:solidFill>
                  <a:srgbClr val="6C757D"/>
                </a:solidFill>
              </a:rPr>
              <a:t>Read after the step</a:t>
            </a:r>
            <a:endParaRPr/>
          </a:p>
          <a:p>
            <a:pPr indent="-330200" lvl="0" marL="457200" rtl="0" algn="l">
              <a:buClr>
                <a:srgbClr val="DEE2E6"/>
              </a:buClr>
              <a:spcBef>
                <a:spcPts val="0"/>
              </a:spcBef>
              <a:spcAft>
                <a:spcPts val="0"/>
              </a:spcAft>
              <a:buSzPts val="1600"/>
              <a:buChar char="●"/>
            </a:pPr>
            <a:r>
              <a:rPr lang="en" sz="1600">
                <a:solidFill>
                  <a:srgbClr val="DEE2E6"/>
                </a:solidFill>
              </a:rPr>
              <a:t>The facade turns them into a C# event, in our terms</a:t>
            </a:r>
            <a:endParaRPr/>
          </a:p>
          <a:p>
            <a:pPr indent="-317500" lvl="1" marL="914400" rtl="0" algn="l">
              <a:buClr>
                <a:srgbClr val="6C757D"/>
              </a:buClr>
              <a:spcBef>
                <a:spcPts val="0"/>
              </a:spcBef>
              <a:spcAft>
                <a:spcPts val="0"/>
              </a:spcAft>
              <a:buSzPts val="1400"/>
              <a:buChar char="○"/>
            </a:pPr>
            <a:r>
              <a:rPr lang="en" sz="1400">
                <a:solidFill>
                  <a:srgbClr val="6C757D"/>
                </a:solidFill>
              </a:rPr>
              <a:t>Bodies, and a speed in pixels per second</a:t>
            </a:r>
            <a:endParaRPr/>
          </a:p>
          <a:p>
            <a:pPr indent="-330200" lvl="0" marL="457200" rtl="0" algn="l">
              <a:buClr>
                <a:srgbClr val="DEE2E6"/>
              </a:buClr>
              <a:spcBef>
                <a:spcPts val="0"/>
              </a:spcBef>
              <a:spcAft>
                <a:spcPts val="0"/>
              </a:spcAft>
              <a:buSzPts val="1600"/>
              <a:buChar char="●"/>
            </a:pPr>
            <a:r>
              <a:rPr lang="en" sz="1600">
                <a:solidFill>
                  <a:srgbClr val="DEE2E6"/>
                </a:solidFill>
              </a:rPr>
              <a:t>The game damages both entities</a:t>
            </a:r>
            <a:endParaRPr/>
          </a:p>
          <a:p>
            <a:pPr indent="-317500" lvl="1" marL="914400" rtl="0" algn="l">
              <a:buClr>
                <a:srgbClr val="6C757D"/>
              </a:buClr>
              <a:spcBef>
                <a:spcPts val="0"/>
              </a:spcBef>
              <a:spcAft>
                <a:spcPts val="0"/>
              </a:spcAft>
              <a:buSzPts val="1400"/>
              <a:buChar char="○"/>
            </a:pPr>
            <a:r>
              <a:rPr lang="en" sz="1400">
                <a:solidFill>
                  <a:srgbClr val="6C757D"/>
                </a:solidFill>
              </a:rPr>
              <a:t>Glass breaks easily, stone hardly at all</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event Action&lt;PhysicsBody, PhysicsBody,</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float&gt; Hit;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B2ContactEvents events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b2World_GetContactEvents(_world);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for (int i = 0; i &lt; events.hitCount; i++)</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B2ContactHitEvent hit = events.hitEvents[i];</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if (!b2Shape_IsValid(hit.shapeIdA)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!b2Shape_IsValid(hit.shapeIdB))</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continue;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Hit?.Invoke(BodyOf(hit.shapeIdA),</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BodyOf(hit.shapeIdB),</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Units.ToPixels(hit.approachSpeed));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Destroying Safely</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Not in the hit handler</a:t>
            </a:r>
            <a:endParaRPr/>
          </a:p>
          <a:p>
            <a:pPr indent="-317500" lvl="1" marL="914400" rtl="0" algn="l">
              <a:buClr>
                <a:srgbClr val="6C757D"/>
              </a:buClr>
              <a:spcBef>
                <a:spcPts val="0"/>
              </a:spcBef>
              <a:spcAft>
                <a:spcPts val="0"/>
              </a:spcAft>
              <a:buSzPts val="1400"/>
              <a:buChar char="○"/>
            </a:pPr>
            <a:r>
              <a:rPr lang="en" sz="1400">
                <a:solidFill>
                  <a:srgbClr val="6C757D"/>
                </a:solidFill>
              </a:rPr>
              <a:t>More hits may be about the body you destroyed</a:t>
            </a:r>
            <a:endParaRPr/>
          </a:p>
          <a:p>
            <a:pPr indent="-317500" lvl="1" marL="914400" rtl="0" algn="l">
              <a:buClr>
                <a:srgbClr val="6C757D"/>
              </a:buClr>
              <a:spcBef>
                <a:spcPts val="0"/>
              </a:spcBef>
              <a:spcAft>
                <a:spcPts val="0"/>
              </a:spcAft>
              <a:buSzPts val="1400"/>
              <a:buChar char="○"/>
            </a:pPr>
            <a:r>
              <a:rPr lang="en" sz="1400">
                <a:solidFill>
                  <a:srgbClr val="6C757D"/>
                </a:solidFill>
              </a:rPr>
              <a:t>Many libraries crash if the world changes during a callback</a:t>
            </a:r>
            <a:endParaRPr/>
          </a:p>
          <a:p>
            <a:pPr indent="-317500" lvl="1" marL="914400" rtl="0" algn="l">
              <a:buClr>
                <a:srgbClr val="6C757D"/>
              </a:buClr>
              <a:spcBef>
                <a:spcPts val="0"/>
              </a:spcBef>
              <a:spcAft>
                <a:spcPts val="0"/>
              </a:spcAft>
              <a:buSzPts val="1400"/>
              <a:buChar char="○"/>
            </a:pPr>
            <a:r>
              <a:rPr lang="en" sz="1400">
                <a:solidFill>
                  <a:srgbClr val="6C757D"/>
                </a:solidFill>
              </a:rPr>
              <a:t>You may be looping over the list</a:t>
            </a:r>
            <a:endParaRPr/>
          </a:p>
          <a:p>
            <a:pPr indent="-330200" lvl="0" marL="457200" rtl="0" algn="l">
              <a:buClr>
                <a:srgbClr val="DEE2E6"/>
              </a:buClr>
              <a:spcBef>
                <a:spcPts val="0"/>
              </a:spcBef>
              <a:spcAft>
                <a:spcPts val="0"/>
              </a:spcAft>
              <a:buSzPts val="1600"/>
              <a:buChar char="●"/>
            </a:pPr>
            <a:r>
              <a:rPr lang="en" sz="1600">
                <a:solidFill>
                  <a:srgbClr val="DEE2E6"/>
                </a:solidFill>
              </a:rPr>
              <a:t>Mark now, remove at a safe point</a:t>
            </a:r>
            <a:endParaRPr/>
          </a:p>
          <a:p>
            <a:pPr indent="-330200" lvl="0" marL="457200" rtl="0" algn="l">
              <a:buClr>
                <a:srgbClr val="DEE2E6"/>
              </a:buClr>
              <a:spcBef>
                <a:spcPts val="0"/>
              </a:spcBef>
              <a:spcAft>
                <a:spcPts val="0"/>
              </a:spcAft>
              <a:buSzPts val="1600"/>
              <a:buChar char="●"/>
            </a:pPr>
            <a:r>
              <a:rPr lang="en" sz="1600">
                <a:solidFill>
                  <a:srgbClr val="DEE2E6"/>
                </a:solidFill>
              </a:rPr>
              <a:t>Loop backwards when removing</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void OnHit(PhysicsBody a, PhysicsBody b,</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float speed)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(a.Owner as Entity)?.TakeDamage(speed / 100);</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(b.Owner as Entity)?.TakeDamage(speed / 100);</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_physics.Update(deltaSeconds);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RemoveDestroyed();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for (int i = _entities.Count - 1; i &gt;= 0; i--)</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if (!_entities[i].IsDestroyed) continue;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_physics.Destroy(_entities[i].Body);</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_entities.RemoveAt(i);</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 name="Google Shape;128;p2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Events Implementation</a:t>
            </a:r>
            <a:endParaRPr>
              <a:solidFill>
                <a:schemeClr val="accent5"/>
              </a:solidFill>
            </a:endParaRPr>
          </a:p>
        </p:txBody>
      </p:sp>
      <p:sp>
        <p:nvSpPr>
          <p:cNvPr id="129" name="Google Shape;129;p21"/>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0"/>
              </a:spcAft>
              <a:buNone/>
            </a:pPr>
            <a:r>
              <a:rPr lang="en" sz="1800"/>
              <a:t>Birds2: hits that damage, removed after the step</a:t>
            </a:r>
            <a:endParaRPr sz="1800"/>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Harder Hits</a:t>
            </a:r>
            <a:endParaRPr/>
          </a:p>
        </p:txBody>
      </p:sp>
      <p:sp>
        <p:nvSpPr>
          <p:cNvPr id="3" name="Text Placeholder 2"/>
          <p:cNvSpPr>
            <a:spLocks noGrp="1"/>
          </p:cNvSpPr>
          <p:nvPr>
            <p:ph type="body" idx="1"/>
          </p:nvPr>
        </p:nvSpPr>
        <p:spPr>
          <a:xfrm>
            <a:off x="311700" y="885950"/>
            <a:ext cx="8520600" cy="1289304"/>
          </a:xfrm>
        </p:spPr>
        <p:txBody>
          <a:bodyPr/>
          <a:lstStyle/>
          <a:p>
            <a:pPr indent="-330200" lvl="0" marL="457200" rtl="0" algn="l">
              <a:spcBef>
                <a:spcPts val="0"/>
              </a:spcBef>
              <a:spcAft>
                <a:spcPts val="0"/>
              </a:spcAft>
              <a:buSzPts val="1600"/>
              <a:buChar char="●"/>
            </a:pPr>
            <a:r>
              <a:rPr lang="en"/>
              <a:t>In Birds2:</a:t>
            </a:r>
            <a:endParaRPr/>
          </a:p>
          <a:p>
            <a:pPr indent="-330200" lvl="0" marL="457200" rtl="0" algn="l">
              <a:spcBef>
                <a:spcPts val="0"/>
              </a:spcBef>
              <a:spcAft>
                <a:spcPts val="0"/>
              </a:spcAft>
              <a:buSzPts val="1600"/>
              <a:buChar char="●"/>
            </a:pPr>
            <a:r>
              <a:rPr lang="en"/>
              <a:t>Make every hit do twice the damage</a:t>
            </a:r>
            <a:endParaRPr/>
          </a:p>
          <a:p>
            <a:pPr indent="-330200" lvl="0" marL="457200" rtl="0" algn="l">
              <a:spcBef>
                <a:spcPts val="0"/>
              </a:spcBef>
              <a:spcAft>
                <a:spcPts val="0"/>
              </a:spcAft>
              <a:buSzPts val="1600"/>
              <a:buChar char="●"/>
            </a:pPr>
            <a:r>
              <a:rPr lang="en"/>
              <a:t>Which method? What breaks sooner?</a:t>
            </a:r>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Prototype</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“Create new objects by copying a prototype”</a:t>
            </a:r>
            <a:endParaRPr/>
          </a:p>
          <a:p>
            <a:pPr indent="-330200" lvl="0" marL="457200" rtl="0" algn="l">
              <a:buClr>
                <a:srgbClr val="DEE2E6"/>
              </a:buClr>
              <a:spcBef>
                <a:spcPts val="0"/>
              </a:spcBef>
              <a:spcAft>
                <a:spcPts val="0"/>
              </a:spcAft>
              <a:buSzPts val="1600"/>
              <a:buChar char="●"/>
            </a:pPr>
            <a:r>
              <a:rPr lang="en" sz="1600">
                <a:solidFill>
                  <a:srgbClr val="DEE2E6"/>
                </a:solidFill>
              </a:rPr>
              <a:t>A configured entity, not in the world</a:t>
            </a:r>
            <a:endParaRPr/>
          </a:p>
          <a:p>
            <a:pPr indent="-330200" lvl="0" marL="457200" rtl="0" algn="l">
              <a:buClr>
                <a:srgbClr val="DEE2E6"/>
              </a:buClr>
              <a:spcBef>
                <a:spcPts val="0"/>
              </a:spcBef>
              <a:spcAft>
                <a:spcPts val="0"/>
              </a:spcAft>
              <a:buSzPts val="1600"/>
              <a:buChar char="●"/>
            </a:pPr>
            <a:r>
              <a:rPr lang="en" sz="1600">
                <a:solidFill>
                  <a:srgbClr val="DEE2E6"/>
                </a:solidFill>
              </a:rPr>
              <a:t>Copy it, and give the copy a body</a:t>
            </a:r>
            <a:endParaRPr/>
          </a:p>
          <a:p>
            <a:pPr indent="-330200" lvl="0" marL="457200" rtl="0" algn="l">
              <a:buClr>
                <a:srgbClr val="DEE2E6"/>
              </a:buClr>
              <a:spcBef>
                <a:spcPts val="0"/>
              </a:spcBef>
              <a:spcAft>
                <a:spcPts val="0"/>
              </a:spcAft>
              <a:buSzPts val="1600"/>
              <a:buChar char="●"/>
            </a:pPr>
            <a:r>
              <a:rPr lang="en" sz="1600">
                <a:solidFill>
                  <a:srgbClr val="DEE2E6"/>
                </a:solidFill>
              </a:rPr>
              <a:t>Prefabs: one prototype per kind, by name</a:t>
            </a:r>
            <a:endParaRPr/>
          </a:p>
          <a:p>
            <a:pPr indent="-317500" lvl="1" marL="914400" rtl="0" algn="l">
              <a:buClr>
                <a:srgbClr val="6C757D"/>
              </a:buClr>
              <a:spcBef>
                <a:spcPts val="0"/>
              </a:spcBef>
              <a:spcAft>
                <a:spcPts val="0"/>
              </a:spcAft>
              <a:buSzPts val="1400"/>
              <a:buChar char="○"/>
            </a:pPr>
            <a:r>
              <a:rPr lang="en" sz="1400">
                <a:solidFill>
                  <a:srgbClr val="6C757D"/>
                </a:solidFill>
              </a:rPr>
              <a:t>A big pig: a Pig with a bigger radius, not a subclass</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public Entity Clone()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var copy = (Entity)MemberwiseClone();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copy.Body = null;</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return copy;</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Prefabs.cs</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Add("wood-post", new Block(Materials.Wood,</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post, 8, 500, atlas.GetRegion("wood-post")));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Add("big-pig", new Pig(30, 6, 5000,</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atlas.GetRegion("big-pig")));</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Entity entity = _prototypes[name].Clone();</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entity.Spawn(world, position, rotation);</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0" name="Google Shape;140;p2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Levels From Prefabs</a:t>
            </a:r>
            <a:endParaRPr/>
          </a:p>
        </p:txBody>
      </p:sp>
      <p:sp>
        <p:nvSpPr>
          <p:cNvPr id="293" name="Google Shape;293;p45"/>
          <p:cNvSpPr txBox="1"/>
          <p:nvPr>
            <p:ph type="title"/>
          </p:nvPr>
        </p:nvSpPr>
        <p:spPr>
          <a:xfrm>
            <a:off x="311700" y="1152475"/>
            <a:ext cx="3700000" cy="3500000"/>
          </a:xfrm>
          <a:prstGeom prst="rect">
            <a:avLst/>
          </a:prstGeom>
        </p:spPr>
        <p:txBody>
          <a:bodyPr anchorCtr="0" anchor="t" bIns="91425" lIns="91425" spcFirstLastPara="1" rIns="91425" wrap="square" tIns="91425">
            <a:normAutofit fontScale="90000"/>
          </a:bodyPr>
          <a:lstStyle/>
          <a:p>
            <a:pPr indent="-330200" lvl="0" marL="457200" rtl="0" algn="l">
              <a:buClr>
                <a:srgbClr val="DEE2E6"/>
              </a:buClr>
              <a:spcBef>
                <a:spcPts val="0"/>
              </a:spcBef>
              <a:spcAft>
                <a:spcPts val="0"/>
              </a:spcAft>
              <a:buSzPts val="1600"/>
              <a:buChar char="●"/>
            </a:pPr>
            <a:r>
              <a:rPr lang="en" sz="1600">
                <a:solidFill>
                  <a:srgbClr val="DEE2E6"/>
                </a:solidFill>
              </a:rPr>
              <a:t>A level: prefab names and positions</a:t>
            </a:r>
            <a:endParaRPr/>
          </a:p>
          <a:p>
            <a:pPr indent="-317500" lvl="1" marL="914400" rtl="0" algn="l">
              <a:buClr>
                <a:srgbClr val="6C757D"/>
              </a:buClr>
              <a:spcBef>
                <a:spcPts val="0"/>
              </a:spcBef>
              <a:spcAft>
                <a:spcPts val="0"/>
              </a:spcAft>
              <a:buSzPts val="1400"/>
              <a:buChar char="○"/>
            </a:pPr>
            <a:r>
              <a:rPr lang="en" sz="1400">
                <a:solidFill>
                  <a:srgbClr val="6C757D"/>
                </a:solidFill>
              </a:rPr>
              <a:t>Levels as data, as in Sokoban</a:t>
            </a:r>
            <a:endParaRPr/>
          </a:p>
          <a:p>
            <a:pPr indent="-330200" lvl="0" marL="457200" rtl="0" algn="l">
              <a:buClr>
                <a:srgbClr val="DEE2E6"/>
              </a:buClr>
              <a:spcBef>
                <a:spcPts val="0"/>
              </a:spcBef>
              <a:spcAft>
                <a:spcPts val="0"/>
              </a:spcAft>
              <a:buSzPts val="1600"/>
              <a:buChar char="●"/>
            </a:pPr>
            <a:r>
              <a:rPr lang="en" sz="1600">
                <a:solidFill>
                  <a:srgbClr val="DEE2E6"/>
                </a:solidFill>
              </a:rPr>
              <a:t>MemberwiseClone: a shallow copy</a:t>
            </a:r>
            <a:endParaRPr/>
          </a:p>
          <a:p>
            <a:pPr indent="-317500" lvl="1" marL="914400" rtl="0" algn="l">
              <a:buClr>
                <a:srgbClr val="6C757D"/>
              </a:buClr>
              <a:spcBef>
                <a:spcPts val="0"/>
              </a:spcBef>
              <a:spcAft>
                <a:spcPts val="0"/>
              </a:spcAft>
              <a:buSzPts val="1400"/>
              <a:buChar char="○"/>
            </a:pPr>
            <a:r>
              <a:rPr lang="en" sz="1400">
                <a:solidFill>
                  <a:srgbClr val="6C757D"/>
                </a:solidFill>
              </a:rPr>
              <a:t>Sharing a sprite: fine</a:t>
            </a:r>
            <a:endParaRPr/>
          </a:p>
          <a:p>
            <a:pPr indent="-317500" lvl="1" marL="914400" rtl="0" algn="l">
              <a:buClr>
                <a:srgbClr val="6C757D"/>
              </a:buClr>
              <a:spcBef>
                <a:spcPts val="0"/>
              </a:spcBef>
              <a:spcAft>
                <a:spcPts val="0"/>
              </a:spcAft>
              <a:buSzPts val="1400"/>
              <a:buChar char="○"/>
            </a:pPr>
            <a:r>
              <a:rPr lang="en" sz="1400">
                <a:solidFill>
                  <a:srgbClr val="6C757D"/>
                </a:solidFill>
              </a:rPr>
              <a:t>Sharing a body: two blocks move as one</a:t>
            </a:r>
            <a:endParaRPr/>
          </a:p>
          <a:p>
            <a:pPr indent="-330200" lvl="0" marL="457200" rtl="0" algn="l">
              <a:buClr>
                <a:srgbClr val="DEE2E6"/>
              </a:buClr>
              <a:spcBef>
                <a:spcPts val="0"/>
              </a:spcBef>
              <a:spcAft>
                <a:spcPts val="0"/>
              </a:spcAft>
              <a:buSzPts val="1600"/>
              <a:buChar char="●"/>
            </a:pPr>
            <a:r>
              <a:rPr lang="en" sz="1600">
                <a:solidFill>
                  <a:srgbClr val="DEE2E6"/>
                </a:solidFill>
              </a:rPr>
              <a:t>Prototype vs. Type Object: in Plants vs. Zombies</a:t>
            </a:r>
            <a:endParaRPr/>
          </a:p>
        </p:txBody>
      </p:sp>
      <p:sp>
        <p:nvSpPr>
          <p:cNvPr id="141" name="Google Shape;141;p23"/>
          <p:cNvSpPr txBox="1"/>
          <p:nvPr>
            <p:ph idx="2" type="body"/>
          </p:nvPr>
        </p:nvSpPr>
        <p:spPr>
          <a:xfrm>
            <a:off x="4150000" y="1152475"/>
            <a:ext cx="4750000" cy="36000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 level1.txt</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birds 3</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wood-post    880 590 0</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wood-post   1040 590 0</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wood-plank   960 530 0</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pig          960 618 0</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glass-box    960 495 0</a:t>
            </a:r>
            <a:endParaRPr sz="1000">
              <a:solidFill>
                <a:srgbClr val="CCCCCC"/>
              </a:solidFill>
              <a:highlight>
                <a:schemeClr val="dk2"/>
              </a:highlight>
              <a:latin typeface="Consolas"/>
              <a:ea typeface="Consolas"/>
              <a:cs typeface="Consolas"/>
              <a:sym typeface="Consolas"/>
            </a:endParaRPr>
          </a:p>
          <a:p>
            <a:pPr indent="0" lvl="0" marL="0" rtl="0" algn="l">
              <a:lnSpc>
                <a:spcPct val="115000"/>
              </a:lnSpc>
              <a:spcBef>
                <a:spcPts val="0"/>
              </a:spcBef>
              <a:spcAft>
                <a:spcPts val="0"/>
              </a:spcAft>
              <a:buNone/>
            </a:pPr>
            <a:r>
              <a:rPr lang="en" sz="1000">
                <a:highlight>
                  <a:schemeClr val="dk2"/>
                </a:highlight>
                <a:latin typeface="Consolas"/>
                <a:ea typeface="Consolas"/>
                <a:cs typeface="Consolas"/>
                <a:sym typeface="Consolas"/>
              </a:rPr>
              <a:t>pig          960 448 0</a:t>
            </a:r>
            <a:endParaRPr sz="1000">
              <a:solidFill>
                <a:srgbClr val="CCCCCC"/>
              </a:solidFill>
              <a:highlight>
                <a:schemeClr val="dk2"/>
              </a:highlight>
              <a:latin typeface="Consolas"/>
              <a:ea typeface="Consolas"/>
              <a:cs typeface="Consolas"/>
              <a:sym typeface="Consolas"/>
            </a:endParaR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28" name="Google Shape;128;p21"/>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Prototype Implementation</a:t>
            </a:r>
            <a:endParaRPr>
              <a:solidFill>
                <a:schemeClr val="accent5"/>
              </a:solidFill>
            </a:endParaRPr>
          </a:p>
        </p:txBody>
      </p:sp>
      <p:sp>
        <p:nvSpPr>
          <p:cNvPr id="129" name="Google Shape;129;p21"/>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0"/>
              </a:spcAft>
              <a:buNone/>
            </a:pPr>
            <a:r>
              <a:rPr lang="en" sz="1800"/>
              <a:t>Birds3: prefabs, and levels as text files</a:t>
            </a:r>
            <a:endParaRPr sz="1800"/>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Try It: A Level From Prefabs</a:t>
            </a:r>
            <a:endParaRPr/>
          </a:p>
        </p:txBody>
      </p:sp>
      <p:sp>
        <p:nvSpPr>
          <p:cNvPr id="3" name="Text Placeholder 2"/>
          <p:cNvSpPr>
            <a:spLocks noGrp="1"/>
          </p:cNvSpPr>
          <p:nvPr>
            <p:ph type="body" idx="1"/>
          </p:nvPr>
        </p:nvSpPr>
        <p:spPr>
          <a:xfrm>
            <a:off x="311700" y="885950"/>
            <a:ext cx="8520600" cy="1289304"/>
          </a:xfrm>
        </p:spPr>
        <p:txBody>
          <a:bodyPr/>
          <a:lstStyle/>
          <a:p>
            <a:pPr indent="-330200" lvl="0" marL="457200" rtl="0" algn="l">
              <a:spcBef>
                <a:spcPts val="0"/>
              </a:spcBef>
              <a:spcAft>
                <a:spcPts val="0"/>
              </a:spcAft>
              <a:buSzPts val="1600"/>
              <a:buChar char="●"/>
            </a:pPr>
            <a:r>
              <a:rPr lang="en"/>
              <a:t>In level1.txt:</a:t>
            </a:r>
            <a:endParaRPr/>
          </a:p>
          <a:p>
            <a:pPr indent="-330200" lvl="0" marL="457200" rtl="0" algn="l">
              <a:spcBef>
                <a:spcPts val="0"/>
              </a:spcBef>
              <a:spcAft>
                <a:spcPts val="0"/>
              </a:spcAft>
              <a:buSzPts val="1600"/>
              <a:buChar char="●"/>
            </a:pPr>
            <a:r>
              <a:rPr lang="en"/>
              <a:t>Put a big-pig on top of the hut, and a glass-box next to it</a:t>
            </a:r>
            <a:endParaRPr/>
          </a:p>
          <a:p>
            <a:pPr indent="-330200" lvl="0" marL="457200" rtl="0" algn="l">
              <a:spcBef>
                <a:spcPts val="0"/>
              </a:spcBef>
              <a:spcAft>
                <a:spcPts val="0"/>
              </a:spcAft>
              <a:buSzPts val="1600"/>
              <a:buChar char="●"/>
            </a:pPr>
            <a:r>
              <a:rPr lang="en"/>
              <a:t>How much code did it take?</a:t>
            </a:r>
            <a:endParaRP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The Whole Game</a:t>
            </a:r>
            <a:endParaRPr>
              <a:solidFill>
                <a:schemeClr val="accent5"/>
              </a:solidFill>
            </a:endParaRPr>
          </a:p>
        </p:txBody>
      </p:sp>
      <p:sp>
        <p:nvSpPr>
          <p:cNvPr id="294" name="Google Shape;294;p45"/>
          <p:cNvSpPr txBox="1"/>
          <p:nvPr>
            <p:ph idx="1" type="body"/>
          </p:nvPr>
        </p:nvSpPr>
        <p:spPr>
          <a:xfrm>
            <a:off x="311700" y="885950"/>
            <a:ext cx="8520600" cy="521208"/>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Three levels, a few birds each. Fly waits until the world has settled.</a:t>
            </a:r>
            <a:endParaRPr/>
          </a:p>
        </p:txBody>
      </p:sp>
      <p:sp>
        <p:nvSpPr>
          <p:cNvPr id="295" name="Rounded Rectangle 294"/>
          <p:cNvSpPr/>
          <p:nvPr/>
        </p:nvSpPr>
        <p:spPr>
          <a:xfrm>
            <a:off x="1463040" y="1463040"/>
            <a:ext cx="1828800" cy="548640"/>
          </a:xfrm>
          <a:prstGeom prst="roundRect">
            <a:avLst>
              <a:gd name="adj" fmla="val 12000"/>
            </a:avLst>
          </a:prstGeom>
          <a:solidFill>
            <a:srgbClr val="2E3338"/>
          </a:solidFill>
          <a:ln w="25400">
            <a:solidFill>
              <a:srgbClr val="D45D35"/>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Aim</a:t>
            </a:r>
          </a:p>
        </p:txBody>
      </p:sp>
      <p:cxnSp>
        <p:nvCxnSpPr>
          <p:cNvPr id="296" name="Connector 295"/>
          <p:cNvCxnSpPr/>
          <p:nvPr/>
        </p:nvCxnSpPr>
        <p:spPr>
          <a:xfrm>
            <a:off x="3310128" y="1737360"/>
            <a:ext cx="237744" cy="0"/>
          </a:xfrm>
          <a:prstGeom prst="line">
            <a:avLst/>
          </a:prstGeom>
          <a:ln w="25400">
            <a:solidFill>
              <a:srgbClr val="9AA3AB"/>
            </a:solidFill>
            <a:tailEnd type="triangle"/>
          </a:ln>
        </p:spPr>
        <p:style>
          <a:lnRef idx="2">
            <a:schemeClr val="accent1"/>
          </a:lnRef>
          <a:fillRef idx="0">
            <a:schemeClr val="accent1"/>
          </a:fillRef>
          <a:effectRef idx="1">
            <a:schemeClr val="accent1"/>
          </a:effectRef>
          <a:fontRef idx="minor">
            <a:schemeClr val="tx1"/>
          </a:fontRef>
        </p:style>
      </p:cxnSp>
      <p:sp>
        <p:nvSpPr>
          <p:cNvPr id="297" name="Rounded Rectangle 296"/>
          <p:cNvSpPr/>
          <p:nvPr/>
        </p:nvSpPr>
        <p:spPr>
          <a:xfrm>
            <a:off x="3566160" y="1463040"/>
            <a:ext cx="1828800" cy="54864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Fly</a:t>
            </a:r>
          </a:p>
        </p:txBody>
      </p:sp>
      <p:cxnSp>
        <p:nvCxnSpPr>
          <p:cNvPr id="298" name="Connector 297"/>
          <p:cNvCxnSpPr/>
          <p:nvPr/>
        </p:nvCxnSpPr>
        <p:spPr>
          <a:xfrm>
            <a:off x="5413248" y="1737360"/>
            <a:ext cx="237744" cy="0"/>
          </a:xfrm>
          <a:prstGeom prst="line">
            <a:avLst/>
          </a:prstGeom>
          <a:ln w="25400">
            <a:solidFill>
              <a:srgbClr val="9AA3AB"/>
            </a:solidFill>
            <a:tailEnd type="triangle"/>
          </a:ln>
        </p:spPr>
        <p:style>
          <a:lnRef idx="2">
            <a:schemeClr val="accent1"/>
          </a:lnRef>
          <a:fillRef idx="0">
            <a:schemeClr val="accent1"/>
          </a:fillRef>
          <a:effectRef idx="1">
            <a:schemeClr val="accent1"/>
          </a:effectRef>
          <a:fontRef idx="minor">
            <a:schemeClr val="tx1"/>
          </a:fontRef>
        </p:style>
      </p:cxnSp>
      <p:sp>
        <p:nvSpPr>
          <p:cNvPr id="299" name="Rounded Rectangle 298"/>
          <p:cNvSpPr/>
          <p:nvPr/>
        </p:nvSpPr>
        <p:spPr>
          <a:xfrm>
            <a:off x="5669279" y="1463040"/>
            <a:ext cx="1828800" cy="548640"/>
          </a:xfrm>
          <a:prstGeom prst="roundRect">
            <a:avLst>
              <a:gd name="adj" fmla="val 12000"/>
            </a:avLst>
          </a:prstGeom>
          <a:solidFill>
            <a:srgbClr val="2E333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500" b="1">
                <a:solidFill>
                  <a:srgbClr val="DEE2E6"/>
                </a:solidFill>
              </a:rPr>
              <a:t>Aim again, or Level End</a:t>
            </a:r>
          </a:p>
        </p:txBody>
      </p:sp>
      <p:sp>
        <p:nvSpPr>
          <p:cNvPr id="300" name="Rectangle 299"/>
          <p:cNvSpPr/>
          <p:nvPr/>
        </p:nvSpPr>
        <p:spPr>
          <a:xfrm>
            <a:off x="914400" y="2468880"/>
            <a:ext cx="7315200" cy="685800"/>
          </a:xfrm>
          <a:prstGeom prst="rect">
            <a:avLst/>
          </a:prstGeom>
          <a:solidFill>
            <a:srgbClr val="17191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73152"/>
          <a:lstStyle/>
          <a:p>
            <a:pPr algn="l"/>
            <a:r>
              <a:rPr sz="1400" b="0">
                <a:solidFill>
                  <a:srgbClr val="DEE2E6"/>
                </a:solidFill>
              </a:rPr>
              <a:t/>
            </a:r>
            <a:r>
              <a:rPr sz="1300">
                <a:solidFill>
                  <a:srgbClr val="9AA3AB"/>
                </a:solidFill>
                <a:latin typeface="Consolas"/>
              </a:rPr>
              <a:t>// the aiming curve: no physics world needed</a:t>
            </a:r>
          </a:p>
          <a:p>
            <a:pPr algn="l"/>
            <a:r>
              <a:rPr sz="1300">
                <a:solidFill>
                  <a:srgbClr val="DEE2E6"/>
                </a:solidFill>
                <a:latin typeface="Consolas"/>
              </a:rPr>
              <a:t>position = start + velocity * t + gravity * t * t / 2</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33"/>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Angry Birds Implementation</a:t>
            </a:r>
            <a:endParaRPr>
              <a:solidFill>
                <a:schemeClr val="accent5"/>
              </a:solidFill>
            </a:endParaRPr>
          </a:p>
        </p:txBody>
      </p:sp>
      <p:sp>
        <p:nvSpPr>
          <p:cNvPr id="208" name="Google Shape;208;p33"/>
          <p:cNvSpPr txBox="1"/>
          <p:nvPr>
            <p:ph idx="1" type="body"/>
          </p:nvPr>
        </p:nvSpPr>
        <p:spPr>
          <a:xfrm>
            <a:off x="311700" y="885950"/>
            <a:ext cx="8520600" cy="4023300"/>
          </a:xfrm>
          <a:prstGeom prst="rect">
            <a:avLst/>
          </a:prstGeom>
        </p:spPr>
        <p:txBody>
          <a:bodyPr anchorCtr="0" anchor="ctr" bIns="91425" lIns="91425" spcFirstLastPara="1" rIns="91425" wrap="square" tIns="91425">
            <a:normAutofit/>
          </a:bodyPr>
          <a:lstStyle/>
          <a:p>
            <a:pPr indent="0" lvl="0" marL="0" rtl="0" algn="ctr">
              <a:spcBef>
                <a:spcPts val="0"/>
              </a:spcBef>
              <a:spcAft>
                <a:spcPts val="1200"/>
              </a:spcAft>
              <a:buNone/>
            </a:pPr>
            <a:r>
              <a:rPr lang="en" sz="2900">
                <a:latin typeface="VT323"/>
                <a:ea typeface="VT323"/>
                <a:cs typeface="VT323"/>
                <a:sym typeface="VT323"/>
              </a:rPr>
              <a:t>DEMO!</a:t>
            </a:r>
            <a:endParaRPr/>
          </a:p>
          <a:p>
            <a:pPr indent="0" lvl="0" marL="0" rtl="0" algn="ctr">
              <a:spcBef>
                <a:spcPts val="0"/>
              </a:spcBef>
              <a:spcAft>
                <a:spcPts val="0"/>
              </a:spcAft>
              <a:buNone/>
            </a:pPr>
            <a:r>
              <a:rPr lang="en" sz="1800"/>
              <a:t>Birds4: the whole game</a:t>
            </a:r>
            <a:endParaRPr sz="18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Exercises</a:t>
            </a:r>
            <a:endParaRPr>
              <a:solidFill>
                <a:schemeClr val="accent5"/>
              </a:solidFill>
            </a:endParaRPr>
          </a:p>
        </p:txBody>
      </p:sp>
      <p:sp>
        <p:nvSpPr>
          <p:cNvPr id="294" name="Google Shape;294;p45"/>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Start from Birds4, the finished game</a:t>
            </a:r>
            <a:endParaRPr/>
          </a:p>
          <a:p>
            <a:pPr indent="-330200" lvl="0" marL="457200" rtl="0" algn="l">
              <a:spcBef>
                <a:spcPts val="0"/>
              </a:spcBef>
              <a:spcAft>
                <a:spcPts val="0"/>
              </a:spcAft>
              <a:buSzPts val="1600"/>
              <a:buChar char="●"/>
            </a:pPr>
            <a:r>
              <a:rPr lang="en"/>
              <a:t>A new level, and a new prefab: how much code changed?</a:t>
            </a:r>
            <a:endParaRPr/>
          </a:p>
          <a:p>
            <a:pPr indent="-330200" lvl="0" marL="457200" rtl="0" algn="l">
              <a:spcBef>
                <a:spcPts val="0"/>
              </a:spcBef>
              <a:spcAft>
                <a:spcPts val="0"/>
              </a:spcAft>
              <a:buSzPts val="1600"/>
              <a:buChar char="●"/>
            </a:pPr>
            <a:r>
              <a:rPr lang="en"/>
              <a:t>A heavy bird, twice the size, as a prefab</a:t>
            </a:r>
            <a:endParaRPr/>
          </a:p>
          <a:p>
            <a:pPr indent="-317500" lvl="1" marL="914400" rtl="0" algn="l">
              <a:spcBef>
                <a:spcPts val="0"/>
              </a:spcBef>
              <a:spcAft>
                <a:spcPts val="0"/>
              </a:spcAft>
              <a:buSzPts val="1400"/>
              <a:buChar char="○"/>
            </a:pPr>
            <a:r>
              <a:rPr lang="en"/>
              <a:t>A list of birds per level: birds red red heavy</a:t>
            </a:r>
            <a:endParaRPr/>
          </a:p>
          <a:p>
            <a:pPr indent="-330200" lvl="0" marL="457200" rtl="0" algn="l">
              <a:spcBef>
                <a:spcPts val="0"/>
              </a:spcBef>
              <a:spcAft>
                <a:spcPts val="0"/>
              </a:spcAft>
              <a:buSzPts val="1600"/>
              <a:buChar char="●"/>
            </a:pPr>
            <a:r>
              <a:rPr lang="en"/>
              <a:t>A TNT box that pushes everything nearby away</a:t>
            </a:r>
            <a:endParaRPr/>
          </a:p>
          <a:p>
            <a:pPr indent="-317500" lvl="1" marL="914400" rtl="0" algn="l">
              <a:spcBef>
                <a:spcPts val="0"/>
              </a:spcBef>
              <a:spcAft>
                <a:spcPts val="0"/>
              </a:spcAft>
              <a:buSzPts val="1400"/>
              <a:buChar char="○"/>
            </a:pPr>
            <a:r>
              <a:rPr lang="en"/>
              <a:t>What must the facade offer? Keep Box2D inside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Exercises (Stretch)</a:t>
            </a:r>
            <a:endParaRPr>
              <a:solidFill>
                <a:schemeClr val="accent5"/>
              </a:solidFill>
            </a:endParaRPr>
          </a:p>
        </p:txBody>
      </p:sp>
      <p:sp>
        <p:nvSpPr>
          <p:cNvPr id="294" name="Google Shape;294;p45"/>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Unit test Units: to metres and back, and y flips</a:t>
            </a:r>
            <a:endParaRPr/>
          </a:p>
          <a:p>
            <a:pPr indent="-330200" lvl="0" marL="457200" rtl="0" algn="l">
              <a:spcBef>
                <a:spcPts val="0"/>
              </a:spcBef>
              <a:spcAft>
                <a:spcPts val="0"/>
              </a:spcAft>
              <a:buSzPts val="1600"/>
              <a:buChar char="●"/>
            </a:pPr>
            <a:r>
              <a:rPr lang="en"/>
              <a:t>Swap the library: which files would change?</a:t>
            </a:r>
            <a:endParaRPr/>
          </a:p>
          <a:p>
            <a:pPr indent="-317500" lvl="1" marL="914400" rtl="0" algn="l">
              <a:spcBef>
                <a:spcPts val="0"/>
              </a:spcBef>
              <a:spcAft>
                <a:spcPts val="0"/>
              </a:spcAft>
              <a:buSzPts val="1400"/>
              <a:buChar char="○"/>
            </a:pPr>
            <a:r>
              <a:rPr lang="en"/>
              <a:t>Try it with Aether.Physics2D</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indent="0" lvl="0" marL="0" rtl="0" algn="l">
              <a:spcBef>
                <a:spcPts val="0"/>
              </a:spcBef>
              <a:spcAft>
                <a:spcPts val="0"/>
              </a:spcAft>
              <a:buNone/>
            </a:pPr>
            <a:r>
              <a:rPr lang="en"/>
              <a:t>Check Yourself</a:t>
            </a:r>
            <a:endParaRPr/>
          </a:p>
        </p:txBody>
      </p:sp>
      <p:sp>
        <p:nvSpPr>
          <p:cNvPr id="3" name="Text Placeholder 2"/>
          <p:cNvSpPr>
            <a:spLocks noGrp="1"/>
          </p:cNvSpPr>
          <p:nvPr>
            <p:ph type="body" idx="1"/>
          </p:nvPr>
        </p:nvSpPr>
        <p:spPr>
          <a:xfrm>
            <a:off x="311700" y="885950"/>
            <a:ext cx="8520600" cy="1719072"/>
          </a:xfrm>
        </p:spPr>
        <p:txBody>
          <a:bodyPr/>
          <a:lstStyle/>
          <a:p>
            <a:pPr indent="-330200" lvl="0" marL="457200" rtl="0" algn="l">
              <a:spcBef>
                <a:spcPts val="0"/>
              </a:spcBef>
              <a:spcAft>
                <a:spcPts val="0"/>
              </a:spcAft>
              <a:buSzPts val="1600"/>
              <a:buChar char="●"/>
            </a:pPr>
            <a:r>
              <a:rPr lang="en"/>
              <a:t>What is the difference between an Adapter and a Facade?</a:t>
            </a:r>
            <a:endParaRPr/>
          </a:p>
          <a:p>
            <a:pPr indent="-330200" lvl="0" marL="457200" rtl="0" algn="l">
              <a:spcBef>
                <a:spcPts val="0"/>
              </a:spcBef>
              <a:spcAft>
                <a:spcPts val="0"/>
              </a:spcAft>
              <a:buSzPts val="1600"/>
              <a:buChar char="●"/>
            </a:pPr>
            <a:r>
              <a:rPr lang="en"/>
              <a:t>Why convert between metres and pixels at all?</a:t>
            </a:r>
            <a:endParaRPr/>
          </a:p>
          <a:p>
            <a:pPr indent="-330200" lvl="0" marL="457200" rtl="0" algn="l">
              <a:spcBef>
                <a:spcPts val="0"/>
              </a:spcBef>
              <a:spcAft>
                <a:spcPts val="0"/>
              </a:spcAft>
              <a:buSzPts val="1600"/>
              <a:buChar char="●"/>
            </a:pPr>
            <a:r>
              <a:rPr lang="en"/>
              <a:t>Why not destroy a body inside the hit handler?</a:t>
            </a:r>
            <a:endParaRPr/>
          </a:p>
          <a:p>
            <a:pPr indent="-330200" lvl="0" marL="457200" rtl="0" algn="l">
              <a:spcBef>
                <a:spcPts val="0"/>
              </a:spcBef>
              <a:spcAft>
                <a:spcPts val="0"/>
              </a:spcAft>
              <a:buSzPts val="1600"/>
              <a:buChar char="●"/>
            </a:pPr>
            <a:r>
              <a:rPr lang="en"/>
              <a:t>What does a shallow copy share with the original, and why does it matter?</a:t>
            </a:r>
            <a:endParaRPr/>
          </a:p>
        </p:txBody>
      </p:sp>
      <p:sp>
        <p:nvSpPr>
          <p:cNvPr id="4" name="TextBox 3"/>
          <p:cNvSpPr txBox="1"/>
          <p:nvPr/>
        </p:nvSpPr>
        <p:spPr>
          <a:xfrm>
            <a:off x="457200" y="3182112"/>
            <a:ext cx="8229600" cy="457200"/>
          </a:xfrm>
          <a:prstGeom prst="rect">
            <a:avLst/>
          </a:prstGeom>
          <a:noFill/>
        </p:spPr>
        <p:txBody>
          <a:bodyPr wrap="square">
            <a:spAutoFit/>
          </a:bodyPr>
          <a:lstStyle/>
          <a:p>
            <a:pPr algn="ctr"/>
            <a:r>
              <a:rPr sz="1400" b="0" i="0">
                <a:solidFill>
                  <a:srgbClr val="9AA3AB"/>
                </a:solidFill>
              </a:rPr>
              <a:t>The answers, and more questions, are on the course site.</a:t>
            </a: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45"/>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solidFill>
                  <a:schemeClr val="accent5"/>
                </a:solidFill>
              </a:rPr>
              <a:t>Apply It to Your Project</a:t>
            </a:r>
            <a:endParaRPr>
              <a:solidFill>
                <a:schemeClr val="accent5"/>
              </a:solidFill>
            </a:endParaRPr>
          </a:p>
        </p:txBody>
      </p:sp>
      <p:sp>
        <p:nvSpPr>
          <p:cNvPr id="294" name="Google Shape;294;p45"/>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Which libraries does your game use? Would your code notice a swap?</a:t>
            </a:r>
            <a:endParaRPr/>
          </a:p>
          <a:p>
            <a:pPr indent="-330200" lvl="0" marL="457200" rtl="0" algn="l">
              <a:spcBef>
                <a:spcPts val="0"/>
              </a:spcBef>
              <a:spcAft>
                <a:spcPts val="0"/>
              </a:spcAft>
              <a:buSzPts val="1600"/>
              <a:buChar char="●"/>
            </a:pPr>
            <a:r>
              <a:rPr lang="en"/>
              <a:t>Does anything exist twice? Which copy owns it?</a:t>
            </a:r>
            <a:endParaRPr/>
          </a:p>
          <a:p>
            <a:pPr indent="-330200" lvl="0" marL="457200" rtl="0" algn="l">
              <a:spcBef>
                <a:spcPts val="0"/>
              </a:spcBef>
              <a:spcAft>
                <a:spcPts val="0"/>
              </a:spcAft>
              <a:buSzPts val="1600"/>
              <a:buChar char="●"/>
            </a:pPr>
            <a:r>
              <a:rPr lang="en"/>
              <a:t>Do you remove objects while looping over them?</a:t>
            </a:r>
            <a:endParaRPr/>
          </a:p>
          <a:p>
            <a:pPr indent="-330200" lvl="0" marL="457200" rtl="0" algn="l">
              <a:spcBef>
                <a:spcPts val="0"/>
              </a:spcBef>
              <a:spcAft>
                <a:spcPts val="0"/>
              </a:spcAft>
              <a:buSzPts val="1600"/>
              <a:buChar char="●"/>
            </a:pPr>
            <a:r>
              <a:rPr lang="en"/>
              <a:t>Which kinds of things could be prototypes, or data?</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94">
                                            <p:txEl>
                                              <p:pRg end="12" st="12"/>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 name="Shape 56"/>
        <p:cNvGrpSpPr/>
        <p:nvPr/>
      </p:nvGrpSpPr>
      <p:grpSpPr>
        <a:xfrm>
          <a:off x="0" y="0"/>
          <a:ext cx="0" cy="0"/>
          <a:chOff x="0" y="0"/>
          <a:chExt cx="0" cy="0"/>
        </a:xfrm>
      </p:grpSpPr>
      <p:sp>
        <p:nvSpPr>
          <p:cNvPr id="57" name="Google Shape;57;p12"/>
          <p:cNvSpPr txBox="1"/>
          <p:nvPr>
            <p:ph type="title"/>
          </p:nvPr>
        </p:nvSpPr>
        <p:spPr>
          <a:xfrm>
            <a:off x="311700" y="19561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Your Course Project</a:t>
            </a:r>
            <a:endParaRPr/>
          </a:p>
        </p:txBody>
      </p:sp>
      <p:sp>
        <p:nvSpPr>
          <p:cNvPr id="58" name="Google Shape;58;p12"/>
          <p:cNvSpPr txBox="1"/>
          <p:nvPr>
            <p:ph idx="1" type="body"/>
          </p:nvPr>
        </p:nvSpPr>
        <p:spPr>
          <a:xfrm>
            <a:off x="311700" y="885950"/>
            <a:ext cx="8520600" cy="4023300"/>
          </a:xfrm>
          <a:prstGeom prst="rect">
            <a:avLst/>
          </a:prstGeom>
        </p:spPr>
        <p:txBody>
          <a:bodyPr anchorCtr="0" anchor="t" bIns="91425" lIns="91425" spcFirstLastPara="1" rIns="91425" wrap="square" tIns="91425">
            <a:normAutofit/>
          </a:bodyPr>
          <a:lstStyle/>
          <a:p>
            <a:pPr indent="-330200" lvl="0" marL="457200" rtl="0" algn="l">
              <a:spcBef>
                <a:spcPts val="0"/>
              </a:spcBef>
              <a:spcAft>
                <a:spcPts val="0"/>
              </a:spcAft>
              <a:buSzPts val="1600"/>
              <a:buChar char="●"/>
            </a:pPr>
            <a:r>
              <a:rPr lang="en"/>
              <a:t>Next milestone, by session 09: self-review</a:t>
            </a:r>
            <a:endParaRPr/>
          </a:p>
          <a:p>
            <a:pPr indent="-317500" lvl="1" marL="914400" rtl="0" algn="l">
              <a:spcBef>
                <a:spcPts val="0"/>
              </a:spcBef>
              <a:spcAft>
                <a:spcPts val="0"/>
              </a:spcAft>
              <a:buSzPts val="1400"/>
              <a:buChar char="○"/>
            </a:pPr>
            <a:r>
              <a:rPr lang="en"/>
              <a:t>Updated class diagram, list of patterns, event map</a:t>
            </a:r>
            <a:endParaRPr/>
          </a:p>
          <a:p>
            <a:pPr indent="-317500" lvl="1" marL="914400" rtl="0" algn="l">
              <a:spcBef>
                <a:spcPts val="0"/>
              </a:spcBef>
              <a:spcAft>
                <a:spcPts val="0"/>
              </a:spcAft>
              <a:buSzPts val="1400"/>
              <a:buChar char="○"/>
            </a:pPr>
            <a:r>
              <a:rPr lang="en"/>
              <a:t>At least one refactoring</a:t>
            </a:r>
            <a:endParaRPr/>
          </a:p>
          <a:p>
            <a:pPr indent="-330200" lvl="0" marL="457200" rtl="0" algn="l">
              <a:spcBef>
                <a:spcPts val="0"/>
              </a:spcBef>
              <a:spcAft>
                <a:spcPts val="0"/>
              </a:spcAft>
              <a:buSzPts val="1600"/>
              <a:buChar char="●"/>
            </a:pPr>
            <a:r>
              <a:rPr lang="en"/>
              <a:t>Using a library? Where does it leak into your code?</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MD">
  <a:themeElements>
    <a:clrScheme name="Simple Light">
      <a:dk1>
        <a:srgbClr val="DEE2E6"/>
      </a:dk1>
      <a:lt1>
        <a:srgbClr val="818387"/>
      </a:lt1>
      <a:dk2>
        <a:srgbClr val="1F1F1F"/>
      </a:dk2>
      <a:lt2>
        <a:srgbClr val="DEE2E6"/>
      </a:lt2>
      <a:accent1>
        <a:srgbClr val="D45D35"/>
      </a:accent1>
      <a:accent2>
        <a:srgbClr val="212121"/>
      </a:accent2>
      <a:accent3>
        <a:srgbClr val="78909C"/>
      </a:accent3>
      <a:accent4>
        <a:srgbClr val="FFAB40"/>
      </a:accent4>
      <a:accent5>
        <a:srgbClr val="0097A7"/>
      </a:accent5>
      <a:accent6>
        <a:srgbClr val="EEFF41"/>
      </a:accent6>
      <a:hlink>
        <a:srgbClr val="4A86E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