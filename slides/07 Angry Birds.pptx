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7" r:id="rId56"/>
    <p:sldId id="298" r:id="rId57"/>
    <p:sldId id="299" r:id="rId58"/>
    <p:sldId id="300" r:id="rId59"/>
    <p:sldId id="301" r:id="rId60"/>
    <p:sldId id="302" r:id="rId61"/>
    <p:sldId id="303" r:id="rId62"/>
    <p:sldId id="304" r:id="rId63"/>
    <p:sldId id="305" r:id="rId64"/>
    <p:sldId id="306" r:id="rId65"/>
    <p:sldId id="307" r:id="rId66"/>
    <p:sldId id="308" r:id="rId67"/>
    <p:sldId id="309" r:id="rId68"/>
    <p:sldId id="310" r:id="rId69"/>
    <p:sldId id="311" r:id="rId70"/>
    <p:sldId id="312" r:id="rId71"/>
    <p:sldId id="280" r:id="rId30"/>
    <p:sldId id="292" r:id="rId42"/>
    <p:sldId id="293" r:id="rId52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30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3.xml"/><Relationship Id="rId53" Type="http://schemas.openxmlformats.org/officeDocument/2006/relationships/slide" Target="slides/slide24.xml"/><Relationship Id="rId55" Type="http://schemas.openxmlformats.org/officeDocument/2006/relationships/slide" Target="slides/slide25.xml"/><Relationship Id="rId56" Type="http://schemas.openxmlformats.org/officeDocument/2006/relationships/slide" Target="slides/slide5.xml"/><Relationship Id="rId57" Type="http://schemas.openxmlformats.org/officeDocument/2006/relationships/slide" Target="slides/slide6.xml"/><Relationship Id="rId58" Type="http://schemas.openxmlformats.org/officeDocument/2006/relationships/slide" Target="slides/slide7.xml"/><Relationship Id="rId59" Type="http://schemas.openxmlformats.org/officeDocument/2006/relationships/slide" Target="slides/slide8.xml"/><Relationship Id="rId60" Type="http://schemas.openxmlformats.org/officeDocument/2006/relationships/slide" Target="slides/slide9.xml"/><Relationship Id="rId61" Type="http://schemas.openxmlformats.org/officeDocument/2006/relationships/slide" Target="slides/slide10.xml"/><Relationship Id="rId62" Type="http://schemas.openxmlformats.org/officeDocument/2006/relationships/slide" Target="slides/slide11.xml"/><Relationship Id="rId63" Type="http://schemas.openxmlformats.org/officeDocument/2006/relationships/slide" Target="slides/slide12.xml"/><Relationship Id="rId64" Type="http://schemas.openxmlformats.org/officeDocument/2006/relationships/slide" Target="slides/slide13.xml"/><Relationship Id="rId65" Type="http://schemas.openxmlformats.org/officeDocument/2006/relationships/slide" Target="slides/slide14.xml"/><Relationship Id="rId66" Type="http://schemas.openxmlformats.org/officeDocument/2006/relationships/slide" Target="slides/slide15.xml"/><Relationship Id="rId67" Type="http://schemas.openxmlformats.org/officeDocument/2006/relationships/slide" Target="slides/slide16.xml"/><Relationship Id="rId68" Type="http://schemas.openxmlformats.org/officeDocument/2006/relationships/slide" Target="slides/slide17.xml"/><Relationship Id="rId69" Type="http://schemas.openxmlformats.org/officeDocument/2006/relationships/slide" Target="slides/slide18.xml"/><Relationship Id="rId70" Type="http://schemas.openxmlformats.org/officeDocument/2006/relationships/slide" Target="slides/slide19.xml"/><Relationship Id="rId71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7-angry-birds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07: Angry Birds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birds-f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201" y="1531275"/>
            <a:ext cx="5789598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Physics Library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Adapter &amp; Facade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Worlds: Metres and Pixels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Contact Events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Destroying Safely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07-angry-birds)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Birds0 → Birds4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Birds4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 Physics Library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Stacks that tip, bounce and break: more than Mario’s physics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Box2D: a 2D physics engine, used in many games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Box2D.NET: a C# port, added as a NuGet package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world of bodies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body has shapes: boxes, circles, polygons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Static bodies never move; dynamic bodies are moved by gravity and collisions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 the world forward, then read where the bodies are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Box2D, Used Directly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foreign API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C-style functions, structs passed with in, IDs instead of objects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Another world’s units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Metres, and y pointing up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Divide, multiply and flip y everywhere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All through Game1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B2BodyDef bodyDef = b2DefaultBodyDef();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bodyDef.type = B2BodyType.b2_dynamicBody;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bodyDef.position = new B2Vec2(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x / PixelsPerMeter, -y / PixelsPerMeter);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B2BodyId body = b2CreateBody(_world, in bodyDef);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B2Polygon box = b2MakeBox(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width / 2 / PixelsPerMeter,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height / 2 / PixelsPerMeter);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B2ShapeDef shapeDef = b2DefaultShapeDef();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shapeDef.material.friction = 0.6f;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b2CreatePolygonShape(body, in shapeDef, in box);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And every frame, for every body: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B2Vec2 p = b2Body_GetPosition(body);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Vector2 pixels = new(p.X * PixelsPerMeter,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     -p.Y * PixelsPerMeter);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Why Metres?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Box2D is tuned for objects of 0.1 to 10 metres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50-pixel block would be a 50-metre block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would fall as slowly as a building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Simulate in metres, draw in pixels: 50 pixels per metre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Box2D turns counter-clockwise, SpriteBatch clockwise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Forget one conversion: a body in the wrong place, or falling up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Box2D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Birds0: Box2D, used directly in Game1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Adapter &amp; Facade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Adapter: converts an interface into the one its users expect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PhysicsBody wraps a Box2D body: pixels, clockwise, our types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Facade: one simple interface in front of a subsystem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Box2D has hundreds of functions; the game needs a handful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PhysicsWorld: create a box or a circle, step, destroy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rest of the game never sees a Box2D type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Adapter: PhysicsBody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Wraps a B2BodyId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Position in pixels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Rotation that turns like SpriteBatch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Owner: the entity it belongs to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Units: every conversion, in one place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sealed class PhysicsBody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internal B2BodyId Id { get;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object Owner { get;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Vector2 Position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Units.ToPixels(b2Body_GetPosition(Id));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float Rotation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get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B2Rot r = b2Body_GetRotation(Id);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return -b2Rot_GetAngle(in 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Facade: PhysicsWorld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game reads like our game again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Gains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One place to change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Our language: pixels, not metres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smaller surface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every new feature goes through the facade first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Units.cs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B2Vec2 ToMeters(Vector2 pixels)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new(pixels.X / PixelsPerMeter,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-pixels.Y / PixelsPerMeter);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Block.cs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Block(PhysicsWorld world, Vector2 center,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Vector2 size, float rotation,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PhysicsMaterial material, TextureRegion sprite)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: base(sprite)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Body = world.CreateBox(center, size,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rotation, material, 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Two Worlds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block exists twice: an entity, and a body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physics world owns the position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 entity reads its body’s position every time it’s drawn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the body knows its owner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So events about bodies lead back to entities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F1: what the physics world sees (awake green, asleep blue)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fixed time step: Snake’s accumulator, again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Adapter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Birds0 → Birds1: Box2D behind PhysicsWorld and PhysicsBody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Contact Events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Box2D collects hit events during the step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Read after the step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facade turns them into a C# event, in our terms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Bodies, and a speed in pixels per second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game damages both entities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Glass breaks easily, stone hardly at all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event Action&lt;PhysicsBody, PhysicsBody,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float&gt; Hit;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B2ContactEvents events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b2World_GetContactEvents(_world);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for (int i = 0; i &lt; events.hitCount; i++)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B2ContactHitEvent hit = events.hitEvents[i];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(!b2Shape_IsValid(hit.shapeIdA)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!b2Shape_IsValid(hit.shapeIdB))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continue;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Hit?.Invoke(BodyOf(hit.shapeIdA),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BodyOf(hit.shapeIdB),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Units.ToPixels(hit.approachSpeed));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Destroying Safely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Not in the hit handler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More hits may be about the body you destroyed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Many libraries crash if the world changes during a callback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You may be looping over the list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Mark now, remove at a safe point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Loop backwards when removing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void OnHit(PhysicsBody a, PhysicsBody b,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float speed)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(a.Owner as Entity)?.TakeDamage(speed / 100);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(b.Owner as Entity)?.TakeDamage(speed / 100);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_physics.Update(deltaSeconds);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RemoveDestroyed();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for (int i = _entities.Count - 1; i &gt;= 0; i--)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(!_entities[i].IsDestroyed) continue;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_physics.Destroy(_entities[i].Body);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_entities.RemoveAt(i);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Events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Birds2: hits that damage, removed after the step</a:t>
            </a:r>
            <a:endParaRPr sz="18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Prototype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“Create new objects by copying a prototype”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configured entity, not in the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Copy it, and give the copy a body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Prefabs: one prototype per kind, by name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big pig: a Pig with a bigger radius, not a subclass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Entity Clone()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var copy = (Entity)MemberwiseClone();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copy.Body = null;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copy;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Prefabs.cs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Add("wood-post", new Block(Materials.Wood,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post, 8, 500, atlas.GetRegion("wood-post")));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Add("big-pig", new Pig(30, 6, 5000,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atlas.GetRegion("big-pig")));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entity = _prototypes[name].Clone();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entity.Spawn(world, position, rotation);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Levels From Prefabs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level: prefab names and positions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Levels as data, as in Sokoban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MemberwiseClone: a shallow copy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Sharing a sprite: fine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Sharing a body: two blocks move as one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Prototype vs. Type Object: in Plants vs. Zombies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 level1.txt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birds 3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wood-post    880 590 0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wood-post   1040 590 0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wood-plank   960 530 0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pig          960 618 0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glass-box    960 495 0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pig          960 448 0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Prototype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Birds3: prefabs, and levels as text files</a:t>
            </a:r>
            <a:endParaRPr sz="18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levels, a few birds each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states: Aim → Fly → Aim or Level End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 waits until the world has settled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facade answers it in one line: IsSettled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aiming curve doesn’t use the physics world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 + velocity × t + gravity × t² / 2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Angry Birds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Birds4: the whole game</a:t>
            </a:r>
            <a:endParaRPr sz="18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Birds4,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level, and a new prefab: how much code changed?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heavy bird, twice the size, as a prefab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list of birds per level: birds red red heavy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TNT box that pushes everything nearby away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must the facade offer? Keep Box2D inside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Unit test Units: to metres and back, and y flips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Swap the library: which files would change?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Try it with Aether.Physics2D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libraries does your game use? Would your code notice a swap?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exist twice? Which copy owns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 you remove objects while looping over them?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kinds of things could be prototypes, or data?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09: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event map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At least one refactoring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Using a library? Where does it leak into your code?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