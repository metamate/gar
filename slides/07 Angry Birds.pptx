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57" r:id="rId7"/>
    <p:sldId id="258" r:id="rId8"/>
    <p:sldId id="259" r:id="rId9"/>
    <p:sldId id="297" r:id="rId56"/>
    <p:sldId id="298" r:id="rId57"/>
    <p:sldId id="299" r:id="rId58"/>
    <p:sldId id="300" r:id="rId59"/>
    <p:sldId id="301" r:id="rId60"/>
    <p:sldId id="302" r:id="rId61"/>
    <p:sldId id="303" r:id="rId62"/>
    <p:sldId id="304" r:id="rId63"/>
    <p:sldId id="305" r:id="rId64"/>
    <p:sldId id="306" r:id="rId65"/>
    <p:sldId id="307" r:id="rId66"/>
    <p:sldId id="308" r:id="rId67"/>
    <p:sldId id="309" r:id="rId68"/>
    <p:sldId id="310" r:id="rId69"/>
    <p:sldId id="311" r:id="rId70"/>
    <p:sldId id="312" r:id="rId71"/>
    <p:sldId id="280" r:id="rId30"/>
    <p:sldId id="292" r:id="rId42"/>
    <p:sldId id="293" r:id="rId52"/>
    <p:sldId id="313" r:id="rId40"/>
    <p:sldId id="294" r:id="rId53"/>
    <p:sldId id="296" r:id="rId55"/>
  </p:sldIdLst>
  <p:sldSz cy="5143500" cx="9144000"/>
  <p:notesSz cx="6858000" cy="9144000"/>
  <p:embeddedFontLst>
    <p:embeddedFont>
      <p:font typeface="Roboto"/>
      <p:regular r:id="rId43"/>
      <p:bold r:id="rId44"/>
      <p:italic r:id="rId45"/>
      <p:boldItalic r:id="rId46"/>
    </p:embeddedFont>
    <p:embeddedFont>
      <p:font typeface="VT323"/>
      <p:regular r:id="rId47"/>
    </p:embeddedFont>
    <p:embeddedFont>
      <p:font typeface="Roboto Light"/>
      <p:regular r:id="rId48"/>
      <p:bold r:id="rId49"/>
      <p:italic r:id="rId50"/>
      <p:boldItalic r:id="rId5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30" Type="http://schemas.openxmlformats.org/officeDocument/2006/relationships/slide" Target="slides/slide21.xml"/><Relationship Id="rId40" Type="http://schemas.openxmlformats.org/officeDocument/2006/relationships/slide" Target="slides/slide24.xml"/><Relationship Id="rId42" Type="http://schemas.openxmlformats.org/officeDocument/2006/relationships/slide" Target="slides/slide22.xml"/><Relationship Id="rId43" Type="http://schemas.openxmlformats.org/officeDocument/2006/relationships/font" Target="fonts/Roboto-regular.fntdata"/><Relationship Id="rId44" Type="http://schemas.openxmlformats.org/officeDocument/2006/relationships/font" Target="fonts/Roboto-bold.fntdata"/><Relationship Id="rId45" Type="http://schemas.openxmlformats.org/officeDocument/2006/relationships/font" Target="fonts/Roboto-italic.fntdata"/><Relationship Id="rId46" Type="http://schemas.openxmlformats.org/officeDocument/2006/relationships/font" Target="fonts/Roboto-boldItalic.fntdata"/><Relationship Id="rId47" Type="http://schemas.openxmlformats.org/officeDocument/2006/relationships/font" Target="fonts/VT323-regular.fntdata"/><Relationship Id="rId48" Type="http://schemas.openxmlformats.org/officeDocument/2006/relationships/font" Target="fonts/RobotoLight-regular.fntdata"/><Relationship Id="rId49" Type="http://schemas.openxmlformats.org/officeDocument/2006/relationships/font" Target="fonts/RobotoLight-bold.fntdata"/><Relationship Id="rId50" Type="http://schemas.openxmlformats.org/officeDocument/2006/relationships/font" Target="fonts/RobotoLight-italic.fntdata"/><Relationship Id="rId51" Type="http://schemas.openxmlformats.org/officeDocument/2006/relationships/font" Target="fonts/RobotoLight-boldItalic.fntdata"/><Relationship Id="rId52" Type="http://schemas.openxmlformats.org/officeDocument/2006/relationships/slide" Target="slides/slide23.xml"/><Relationship Id="rId53" Type="http://schemas.openxmlformats.org/officeDocument/2006/relationships/slide" Target="slides/slide25.xml"/><Relationship Id="rId55" Type="http://schemas.openxmlformats.org/officeDocument/2006/relationships/slide" Target="slides/slide26.xml"/><Relationship Id="rId56" Type="http://schemas.openxmlformats.org/officeDocument/2006/relationships/slide" Target="slides/slide5.xml"/><Relationship Id="rId57" Type="http://schemas.openxmlformats.org/officeDocument/2006/relationships/slide" Target="slides/slide6.xml"/><Relationship Id="rId58" Type="http://schemas.openxmlformats.org/officeDocument/2006/relationships/slide" Target="slides/slide7.xml"/><Relationship Id="rId59" Type="http://schemas.openxmlformats.org/officeDocument/2006/relationships/slide" Target="slides/slide8.xml"/><Relationship Id="rId60" Type="http://schemas.openxmlformats.org/officeDocument/2006/relationships/slide" Target="slides/slide9.xml"/><Relationship Id="rId61" Type="http://schemas.openxmlformats.org/officeDocument/2006/relationships/slide" Target="slides/slide10.xml"/><Relationship Id="rId62" Type="http://schemas.openxmlformats.org/officeDocument/2006/relationships/slide" Target="slides/slide11.xml"/><Relationship Id="rId63" Type="http://schemas.openxmlformats.org/officeDocument/2006/relationships/slide" Target="slides/slide12.xml"/><Relationship Id="rId64" Type="http://schemas.openxmlformats.org/officeDocument/2006/relationships/slide" Target="slides/slide13.xml"/><Relationship Id="rId65" Type="http://schemas.openxmlformats.org/officeDocument/2006/relationships/slide" Target="slides/slide14.xml"/><Relationship Id="rId66" Type="http://schemas.openxmlformats.org/officeDocument/2006/relationships/slide" Target="slides/slide15.xml"/><Relationship Id="rId67" Type="http://schemas.openxmlformats.org/officeDocument/2006/relationships/slide" Target="slides/slide16.xml"/><Relationship Id="rId68" Type="http://schemas.openxmlformats.org/officeDocument/2006/relationships/slide" Target="slides/slide17.xml"/><Relationship Id="rId69" Type="http://schemas.openxmlformats.org/officeDocument/2006/relationships/slide" Target="slides/slide18.xml"/><Relationship Id="rId70" Type="http://schemas.openxmlformats.org/officeDocument/2006/relationships/slide" Target="slides/slide19.xml"/><Relationship Id="rId71"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Angry Birds. The main topic: using a library behind your own interface.</a:t>
            </a:r>
          </a:p>
          <a:p>
            <a:r>
              <a:t>Start by playing the finished game, Birds4,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Birds4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main topic: using a third-party library without letting it spread through your code. Adapter and Facade, two worlds, contact events, and Prototype.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a5c6b6b8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a5c6b6b8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gar-games/07-angry-birds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Next milestone by session 09: the self-review. If you use a library, where does it leak into your code?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Tipping, bouncing stacks are far beyond Mario’s physics. Box2D does it for us.</a:t>
            </a:r>
          </a:p>
          <a:p>
            <a:r>
              <a:t>The loop: step the world, read where the bodies are, draw the sprites there.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Box2D is tuned for things 0.1 to 10 metres big. Treat 50 pixels as 50 metres and a block falls like a building.</a:t>
            </a:r>
          </a:p>
          <a:p>
            <a:r>
              <a:t>Ask the question: forget one conversion; what do you see? A body in the wrong place, spinning the wrong way, or falling up.</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layers: the game at the top, Box2D at the bottom, and our two classes between.</a:t>
            </a:r>
          </a:p>
          <a:p>
            <a:r>
              <a:t>Facade: a small interface in front of a big subsystem. Adapter: converts one interface into the one we expect.</a:t>
            </a:r>
          </a:p>
          <a:p>
            <a:r>
              <a:t>Ask the question: swap the library, which files change? Only the Physics folder.</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block exists twice: an entity and a body. The physics world owns the position; the entity reads it every draw.</a:t>
            </a:r>
          </a:p>
          <a:p>
            <a:r>
              <a:t>The body knows its owner, so a hit between bodies leads back to entities. F1 shows what the physics world sees.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Aim, fly, and aim again or end the level. Fly waits until the world settles; the facade answers that in one line.</a:t>
            </a:r>
          </a:p>
          <a:p>
            <a:r>
              <a:t>The aiming curve is just the formula: no physics world needed to draw it.</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is the difference between an Adapter and a Facade?</a:t>
            </a:r>
          </a:p>
          <a:p>
            <a:r>
              <a:t>A: An Adapter converts one interface into another that its users expect (here, a Box2D body into a body in pixels). A Facade puts one simple interface in front of a whole subsystem (here, a few methods in front of Box2D's many). PhysicsWorld and PhysicsBody together do both.</a:t>
            </a:r>
          </a:p>
          <a:p/>
          <a:p>
            <a:r>
              <a:t>Q: Why convert between metres and pixels at all?</a:t>
            </a:r>
          </a:p>
          <a:p>
            <a:r>
              <a:t>A: Box2D is tuned for objects of about 0.1 to 10 metres. In pixels, objects would be tens or hundreds of units big, and would behave like huge, slow objects. The game simulates in metres, and draws in pixels.</a:t>
            </a:r>
          </a:p>
          <a:p/>
          <a:p>
            <a:r>
              <a:t>Q: Why not destroy a body inside the hit handler?</a:t>
            </a:r>
          </a:p>
          <a:p>
            <a:r>
              <a:t>A: The physics world is still reporting hits, and a later one may be about the destroyed body; some libraries crash if the world changes during a callback. The game may also be looping over the list you remove from. Mark it, and remove it after the step.</a:t>
            </a:r>
          </a:p>
          <a:p/>
          <a:p>
            <a:r>
              <a:t>Q: What does a shallow copy share with the original, and why does that matter here?</a:t>
            </a:r>
          </a:p>
          <a:p>
            <a:r>
              <a:t>A: Every field that refers to an object: the copy points to the same object. Sharing an unchanging sprite is fine, but sharing a physics body would make two entities one. So the clone gets its own body.</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Birds0 calls Box2D from Game1. Point at the conversions: divide, multiply, flip y, everywhere.</a:t>
            </a:r>
          </a:p>
          <a:p>
            <a:r>
              <a:t>Ask: what happens when we add a second kind of block? The same lines again.</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Birds0.</a:t>
            </a:r>
          </a:p>
          <a:p>
            <a:r>
              <a:t>- Game1 full of Box2D calls and unit conversions</a:t>
            </a:r>
          </a:p>
          <a:p>
            <a:r>
              <a:t>- launch a bird: the physics itself works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PhysicsBody wraps a Box2D body: positions in pixels, rotation turning like SpriteBatch. Every conversion in one place.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game reads like our game again. The cost: every new physics feature goes through the facade first.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Birds0 and Birds1 side by side (a diff tool, or two editor panes), then run Birds1.</a:t>
            </a:r>
          </a:p>
          <a:p>
            <a:r>
              <a:t>- Physics/: PhysicsWorld, PhysicsBody, Units</a:t>
            </a:r>
          </a:p>
          <a:p>
            <a:r>
              <a:t>- Game1 no longer mentions Box2D</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Box2D collects hits during a step; we read them afterwards and raise a C# event in our own terms: two bodies and a speed.</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why not destroy the body in the hit handler? More hits may be about it, the library may crash, and you may be looping over the list.</a:t>
            </a:r>
          </a:p>
          <a:p>
            <a:r>
              <a:t>Mark now, remove after the step, looping backwards.</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Birds1 and Birds2 side by side (a diff tool, or two editor panes), then run Birds2.</a:t>
            </a:r>
          </a:p>
          <a:p>
            <a:r>
              <a:t>- the Hit event on PhysicsWorld</a:t>
            </a:r>
          </a:p>
          <a:p>
            <a:r>
              <a:t>- damage in the handler, removal after the step</a:t>
            </a:r>
          </a:p>
          <a:p>
            <a:r>
              <a:t>- glass breaks, stone barely</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Make new objects by copying a configured one. A big pig is a Pig with a bigger radius, not a subclass.</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level is prefab names and positions: levels as data again.</a:t>
            </a:r>
          </a:p>
          <a:p>
            <a:r>
              <a:t>MemberwiseClone is shallow: sharing a sprite is fine, sharing a body means two blocks move as one. That’s why Clone clears Body.</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Birds2 and Birds3 side by side (a diff tool, or two editor panes), then run Birds3.</a:t>
            </a:r>
          </a:p>
          <a:p>
            <a:r>
              <a:t>- Prefabs.cs</a:t>
            </a:r>
          </a:p>
          <a:p>
            <a:r>
              <a:t>- level1.txt</a:t>
            </a:r>
          </a:p>
          <a:p>
            <a:r>
              <a:t>- change a line in the level file and run again</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Unit-test the conversions; and try swapping the library, counting the files that change.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b92a6f95e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b92a6f95e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play a level of Birds4. Press F1 mid-flight to show the bodies (awake green, asleep blue).</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Push for concrete classes and files, not intentions.</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cbd7a28ff6_0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cbd7a28ff6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Start from Birds4. For the TNT exercise, the question is what the facade must offer, while Box2D stays inside it.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07-angry-birds"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hyperlink" Target="https://github.com/Metamate/gmd2-snake"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07: Angry Birds</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birds-flight.png"/>
          <p:cNvPicPr>
            <a:picLocks noChangeAspect="1"/>
          </p:cNvPicPr>
          <p:nvPr/>
        </p:nvPicPr>
        <p:blipFill>
          <a:blip r:embed="rId4"/>
          <a:stretch>
            <a:fillRect/>
          </a:stretch>
        </p:blipFill>
        <p:spPr>
          <a:xfrm>
            <a:off x="1677201" y="1531275"/>
            <a:ext cx="5789598" cy="3256648"/>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Physics Library</a:t>
            </a:r>
            <a:endParaRPr/>
          </a:p>
          <a:p>
            <a:pPr indent="-330200" lvl="0" marL="457200" rtl="0" algn="l">
              <a:spcBef>
                <a:spcPts val="0"/>
              </a:spcBef>
              <a:spcAft>
                <a:spcPts val="0"/>
              </a:spcAft>
              <a:buSzPts val="1600"/>
              <a:buChar char="●"/>
            </a:pPr>
            <a:r>
              <a:rPr lang="en"/>
              <a:t>Adapter &amp; Facade</a:t>
            </a:r>
            <a:endParaRPr/>
          </a:p>
          <a:p>
            <a:pPr indent="-330200" lvl="0" marL="457200" rtl="0" algn="l">
              <a:spcBef>
                <a:spcPts val="0"/>
              </a:spcBef>
              <a:spcAft>
                <a:spcPts val="0"/>
              </a:spcAft>
              <a:buSzPts val="1600"/>
              <a:buChar char="●"/>
            </a:pPr>
            <a:r>
              <a:rPr lang="en"/>
              <a:t>Two Worlds: Metres and Pixels</a:t>
            </a:r>
            <a:endParaRPr/>
          </a:p>
          <a:p>
            <a:pPr indent="-330200" lvl="0" marL="457200" rtl="0" algn="l">
              <a:spcBef>
                <a:spcPts val="0"/>
              </a:spcBef>
              <a:spcAft>
                <a:spcPts val="0"/>
              </a:spcAft>
              <a:buSzPts val="1600"/>
              <a:buChar char="●"/>
            </a:pPr>
            <a:r>
              <a:rPr lang="en"/>
              <a:t>Contact Events</a:t>
            </a:r>
            <a:endParaRPr/>
          </a:p>
          <a:p>
            <a:pPr indent="-330200" lvl="0" marL="457200" rtl="0" algn="l">
              <a:spcBef>
                <a:spcPts val="0"/>
              </a:spcBef>
              <a:spcAft>
                <a:spcPts val="0"/>
              </a:spcAft>
              <a:buSzPts val="1600"/>
              <a:buChar char="●"/>
            </a:pPr>
            <a:r>
              <a:rPr lang="en"/>
              <a:t>Destroying Safely</a:t>
            </a:r>
            <a:endParaRPr/>
          </a:p>
          <a:p>
            <a:pPr indent="-330200" lvl="0" marL="457200" rtl="0" algn="l">
              <a:spcBef>
                <a:spcPts val="0"/>
              </a:spcBef>
              <a:spcAft>
                <a:spcPts val="0"/>
              </a:spcAft>
              <a:buSzPts val="1600"/>
              <a:buChar char="●"/>
            </a:pPr>
            <a:r>
              <a:rPr lang="en"/>
              <a:t>Prototype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07-angry-birds</a:t>
            </a:r>
            <a:endParaRPr/>
          </a:p>
          <a:p>
            <a:pPr indent="-330200" lvl="0" marL="457200" rtl="0" algn="l">
              <a:spcBef>
                <a:spcPts val="0"/>
              </a:spcBef>
              <a:spcAft>
                <a:spcPts val="0"/>
              </a:spcAft>
              <a:buSzPts val="1600"/>
              <a:buChar char="●"/>
            </a:pPr>
            <a:r>
              <a:rPr lang="en"/>
              <a:t>Its README: the steps (Birds0 to Birds4), a map of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 Physics Library</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Stacks that tip, bounce and break: we use Box2D, not our own physics.</a:t>
            </a:r>
            <a:endParaRPr/>
          </a:p>
        </p:txBody>
      </p:sp>
      <p:sp>
        <p:nvSpPr>
          <p:cNvPr id="295" name="Rounded Rectangle 294"/>
          <p:cNvSpPr/>
          <p:nvPr/>
        </p:nvSpPr>
        <p:spPr>
          <a:xfrm>
            <a:off x="548640" y="1417320"/>
            <a:ext cx="3749039"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 world of bodies</a:t>
            </a:r>
          </a:p>
          <a:p>
            <a:pPr algn="ctr"/>
            <a:r>
              <a:rPr sz="1300" b="0">
                <a:solidFill>
                  <a:srgbClr val="9AA3AB"/>
                </a:solidFill>
              </a:rPr>
              <a:t>static: never move (the ground)</a:t>
            </a:r>
          </a:p>
          <a:p>
            <a:pPr algn="ctr"/>
            <a:r>
              <a:rPr sz="1300" b="0">
                <a:solidFill>
                  <a:srgbClr val="9AA3AB"/>
                </a:solidFill>
              </a:rPr>
              <a:t>dynamic: gravity and collisions</a:t>
            </a:r>
          </a:p>
        </p:txBody>
      </p:sp>
      <p:sp>
        <p:nvSpPr>
          <p:cNvPr id="296" name="Rounded Rectangle 295"/>
          <p:cNvSpPr/>
          <p:nvPr/>
        </p:nvSpPr>
        <p:spPr>
          <a:xfrm>
            <a:off x="4846320" y="1417320"/>
            <a:ext cx="3749039"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Bodies have shapes</a:t>
            </a:r>
          </a:p>
          <a:p>
            <a:pPr algn="ctr"/>
            <a:r>
              <a:rPr sz="1300" b="0">
                <a:solidFill>
                  <a:srgbClr val="9AA3AB"/>
                </a:solidFill>
              </a:rPr>
              <a:t>boxes, circles, polygons</a:t>
            </a:r>
          </a:p>
          <a:p>
            <a:pPr algn="ctr"/>
            <a:r>
              <a:rPr sz="1300" b="0">
                <a:solidFill>
                  <a:srgbClr val="9AA3AB"/>
                </a:solidFill>
              </a:rPr>
              <a:t>with friction and density</a:t>
            </a:r>
          </a:p>
        </p:txBody>
      </p:sp>
      <p:sp>
        <p:nvSpPr>
          <p:cNvPr id="297" name="Rounded Rectangle 296"/>
          <p:cNvSpPr/>
          <p:nvPr/>
        </p:nvSpPr>
        <p:spPr>
          <a:xfrm>
            <a:off x="1005840" y="2834640"/>
            <a:ext cx="2103120" cy="5943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Step the world</a:t>
            </a:r>
          </a:p>
        </p:txBody>
      </p:sp>
      <p:cxnSp>
        <p:nvCxnSpPr>
          <p:cNvPr id="298" name="Connector 297"/>
          <p:cNvCxnSpPr/>
          <p:nvPr/>
        </p:nvCxnSpPr>
        <p:spPr>
          <a:xfrm>
            <a:off x="3127248" y="3131820"/>
            <a:ext cx="237743"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3383279" y="2834640"/>
            <a:ext cx="2103120" cy="5943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Read the positions</a:t>
            </a:r>
          </a:p>
        </p:txBody>
      </p:sp>
      <p:cxnSp>
        <p:nvCxnSpPr>
          <p:cNvPr id="300" name="Connector 299"/>
          <p:cNvCxnSpPr/>
          <p:nvPr/>
        </p:nvCxnSpPr>
        <p:spPr>
          <a:xfrm>
            <a:off x="5504688" y="313182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1" name="Rounded Rectangle 300"/>
          <p:cNvSpPr/>
          <p:nvPr/>
        </p:nvSpPr>
        <p:spPr>
          <a:xfrm>
            <a:off x="5760719" y="2834640"/>
            <a:ext cx="2103120" cy="5943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Draw the sprites there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Box2D, Used Directly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foreign API</a:t>
            </a:r>
            <a:endParaRPr/>
          </a:p>
          <a:p>
            <a:pPr indent="-317500" lvl="1" marL="914400" rtl="0" algn="l">
              <a:buClr>
                <a:srgbClr val="6C757D"/>
              </a:buClr>
              <a:spcBef>
                <a:spcPts val="0"/>
              </a:spcBef>
              <a:spcAft>
                <a:spcPts val="0"/>
              </a:spcAft>
              <a:buSzPts val="1400"/>
              <a:buChar char="○"/>
            </a:pPr>
            <a:r>
              <a:rPr lang="en" sz="1400">
                <a:solidFill>
                  <a:srgbClr val="6C757D"/>
                </a:solidFill>
              </a:rPr>
              <a:t>C-style functions, structs passed with in, IDs instead of objects</a:t>
            </a:r>
            <a:endParaRPr/>
          </a:p>
          <a:p>
            <a:pPr indent="-330200" lvl="0" marL="457200" rtl="0" algn="l">
              <a:buClr>
                <a:srgbClr val="DEE2E6"/>
              </a:buClr>
              <a:spcBef>
                <a:spcPts val="0"/>
              </a:spcBef>
              <a:spcAft>
                <a:spcPts val="0"/>
              </a:spcAft>
              <a:buSzPts val="1600"/>
              <a:buChar char="●"/>
            </a:pPr>
            <a:r>
              <a:rPr lang="en" sz="1600">
                <a:solidFill>
                  <a:srgbClr val="DEE2E6"/>
                </a:solidFill>
              </a:rPr>
              <a:t>Another world’s units</a:t>
            </a:r>
            <a:endParaRPr/>
          </a:p>
          <a:p>
            <a:pPr indent="-317500" lvl="1" marL="914400" rtl="0" algn="l">
              <a:buClr>
                <a:srgbClr val="6C757D"/>
              </a:buClr>
              <a:spcBef>
                <a:spcPts val="0"/>
              </a:spcBef>
              <a:spcAft>
                <a:spcPts val="0"/>
              </a:spcAft>
              <a:buSzPts val="1400"/>
              <a:buChar char="○"/>
            </a:pPr>
            <a:r>
              <a:rPr lang="en" sz="1400">
                <a:solidFill>
                  <a:srgbClr val="6C757D"/>
                </a:solidFill>
              </a:rPr>
              <a:t>Metres, and y pointing up</a:t>
            </a:r>
            <a:endParaRPr/>
          </a:p>
          <a:p>
            <a:pPr indent="-317500" lvl="1" marL="914400" rtl="0" algn="l">
              <a:buClr>
                <a:srgbClr val="6C757D"/>
              </a:buClr>
              <a:spcBef>
                <a:spcPts val="0"/>
              </a:spcBef>
              <a:spcAft>
                <a:spcPts val="0"/>
              </a:spcAft>
              <a:buSzPts val="1400"/>
              <a:buChar char="○"/>
            </a:pPr>
            <a:r>
              <a:rPr lang="en" sz="1400">
                <a:solidFill>
                  <a:srgbClr val="6C757D"/>
                </a:solidFill>
              </a:rPr>
              <a:t>Divide, multiply and flip y everywhere</a:t>
            </a:r>
            <a:endParaRPr/>
          </a:p>
          <a:p>
            <a:pPr indent="-330200" lvl="0" marL="457200" rtl="0" algn="l">
              <a:buClr>
                <a:srgbClr val="DEE2E6"/>
              </a:buClr>
              <a:spcBef>
                <a:spcPts val="0"/>
              </a:spcBef>
              <a:spcAft>
                <a:spcPts val="0"/>
              </a:spcAft>
              <a:buSzPts val="1600"/>
              <a:buChar char="●"/>
            </a:pPr>
            <a:r>
              <a:rPr lang="en" sz="1600">
                <a:solidFill>
                  <a:srgbClr val="DEE2E6"/>
                </a:solidFill>
              </a:rPr>
              <a:t>All through Game1</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B2BodyDef bodyDef = b2DefaultBodyDef();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bodyDef.type = B2BodyType.b2_dynamicBody;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bodyDef.position = new B2Vec2(</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x / PixelsPerMeter, -y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B2BodyId body = b2CreateBody(_world, in bodyDef);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B2Polygon box = b2MakeBox(</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width / 2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height / 2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B2ShapeDef shapeDef = b2DefaultShapeDef();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shapeDef.material.friction = 0.6f;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b2CreatePolygonShape(body, in shapeDef, in box);</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And every frame, for every 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B2Vec2 p = b2Body_GetPosition(body);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Vector2 pixels = new(p.X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-p.Y * PixelsPerMeter);</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Why Metres?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50-pixel block, taken as metres, is a 50-metre building: it falls in slow motion.</a:t>
            </a:r>
            <a:endParaRPr/>
          </a:p>
        </p:txBody>
      </p:sp>
      <p:sp>
        <p:nvSpPr>
          <p:cNvPr id="295" name="Rounded Rectangle 294"/>
          <p:cNvSpPr/>
          <p:nvPr/>
        </p:nvSpPr>
        <p:spPr>
          <a:xfrm>
            <a:off x="548640" y="1463040"/>
            <a:ext cx="2743200" cy="9144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Our game</a:t>
            </a:r>
          </a:p>
          <a:p>
            <a:pPr algn="ctr"/>
            <a:r>
              <a:rPr sz="1400" b="0">
                <a:solidFill>
                  <a:srgbClr val="9AA3AB"/>
                </a:solidFill>
              </a:rPr>
              <a:t>pixels, y down,</a:t>
            </a:r>
          </a:p>
          <a:p>
            <a:pPr algn="ctr"/>
            <a:r>
              <a:rPr sz="1400" b="0">
                <a:solidFill>
                  <a:srgbClr val="9AA3AB"/>
                </a:solidFill>
              </a:rPr>
              <a:t>clockwise</a:t>
            </a:r>
          </a:p>
        </p:txBody>
      </p:sp>
      <p:sp>
        <p:nvSpPr>
          <p:cNvPr id="296" name="Rounded Rectangle 295"/>
          <p:cNvSpPr/>
          <p:nvPr/>
        </p:nvSpPr>
        <p:spPr>
          <a:xfrm>
            <a:off x="5852160" y="1463040"/>
            <a:ext cx="2743200" cy="9144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Box2D</a:t>
            </a:r>
          </a:p>
          <a:p>
            <a:pPr algn="ctr"/>
            <a:r>
              <a:rPr sz="1400" b="0">
                <a:solidFill>
                  <a:srgbClr val="9AA3AB"/>
                </a:solidFill>
              </a:rPr>
              <a:t>metres, y up,</a:t>
            </a:r>
          </a:p>
          <a:p>
            <a:pPr algn="ctr"/>
            <a:r>
              <a:rPr sz="1400" b="0">
                <a:solidFill>
                  <a:srgbClr val="9AA3AB"/>
                </a:solidFill>
              </a:rPr>
              <a:t>counter-clockwise</a:t>
            </a:r>
          </a:p>
        </p:txBody>
      </p:sp>
      <p:cxnSp>
        <p:nvCxnSpPr>
          <p:cNvPr id="297" name="Connector 296"/>
          <p:cNvCxnSpPr/>
          <p:nvPr/>
        </p:nvCxnSpPr>
        <p:spPr>
          <a:xfrm>
            <a:off x="3337560" y="1783080"/>
            <a:ext cx="246888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298" name="TextBox 297"/>
          <p:cNvSpPr txBox="1"/>
          <p:nvPr/>
        </p:nvSpPr>
        <p:spPr>
          <a:xfrm>
            <a:off x="3154679" y="1490472"/>
            <a:ext cx="2834639" cy="274320"/>
          </a:xfrm>
          <a:prstGeom prst="rect">
            <a:avLst/>
          </a:prstGeom>
          <a:noFill/>
        </p:spPr>
        <p:txBody>
          <a:bodyPr wrap="square">
            <a:spAutoFit/>
          </a:bodyPr>
          <a:lstStyle/>
          <a:p>
            <a:pPr algn="ctr"/>
            <a:r>
              <a:rPr sz="1100" b="0" i="0">
                <a:solidFill>
                  <a:srgbClr val="9AA3AB"/>
                </a:solidFill>
              </a:rPr>
              <a:t>÷ 50, flip y</a:t>
            </a:r>
          </a:p>
        </p:txBody>
      </p:sp>
      <p:cxnSp>
        <p:nvCxnSpPr>
          <p:cNvPr id="299" name="Connector 298"/>
          <p:cNvCxnSpPr/>
          <p:nvPr/>
        </p:nvCxnSpPr>
        <p:spPr>
          <a:xfrm flipH="1">
            <a:off x="3337560" y="2103120"/>
            <a:ext cx="246888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300" name="TextBox 299"/>
          <p:cNvSpPr txBox="1"/>
          <p:nvPr/>
        </p:nvSpPr>
        <p:spPr>
          <a:xfrm>
            <a:off x="3337560" y="2148840"/>
            <a:ext cx="2468880" cy="274320"/>
          </a:xfrm>
          <a:prstGeom prst="rect">
            <a:avLst/>
          </a:prstGeom>
          <a:noFill/>
        </p:spPr>
        <p:txBody>
          <a:bodyPr wrap="square">
            <a:spAutoFit/>
          </a:bodyPr>
          <a:lstStyle/>
          <a:p>
            <a:pPr algn="ctr"/>
            <a:r>
              <a:rPr sz="1100" b="0" i="0">
                <a:solidFill>
                  <a:srgbClr val="9AA3AB"/>
                </a:solidFill>
              </a:rPr>
              <a:t>× 50, flip y</a:t>
            </a:r>
          </a:p>
        </p:txBody>
      </p:sp>
      <p:sp>
        <p:nvSpPr>
          <p:cNvPr id="301" name="TextBox 300"/>
          <p:cNvSpPr txBox="1"/>
          <p:nvPr/>
        </p:nvSpPr>
        <p:spPr>
          <a:xfrm>
            <a:off x="457200" y="2834640"/>
            <a:ext cx="8229600" cy="731520"/>
          </a:xfrm>
          <a:prstGeom prst="rect">
            <a:avLst/>
          </a:prstGeom>
          <a:noFill/>
        </p:spPr>
        <p:txBody>
          <a:bodyPr wrap="square">
            <a:spAutoFit/>
          </a:bodyPr>
          <a:lstStyle/>
          <a:p>
            <a:pPr algn="ctr"/>
            <a:r>
              <a:rPr sz="1700" b="1" i="0">
                <a:solidFill>
                  <a:srgbClr val="DEE2E6"/>
                </a:solidFill>
              </a:rPr>
              <a:t>Forget one conversion. What do you see?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Box2D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Birds0: Box2D, used directly in Game1</a:t>
            </a:r>
            <a:endParaRPr sz="180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Adapter &amp; Facade</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Keep Box2D in one place: the rest of the game never sees a Box2D type.</a:t>
            </a:r>
            <a:endParaRPr/>
          </a:p>
        </p:txBody>
      </p:sp>
      <p:sp>
        <p:nvSpPr>
          <p:cNvPr id="295" name="Rounded Rectangle 294"/>
          <p:cNvSpPr/>
          <p:nvPr/>
        </p:nvSpPr>
        <p:spPr>
          <a:xfrm>
            <a:off x="548640" y="1371600"/>
            <a:ext cx="804672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game: blocks, pigs, birds, levels</a:t>
            </a:r>
          </a:p>
        </p:txBody>
      </p:sp>
      <p:sp>
        <p:nvSpPr>
          <p:cNvPr id="296" name="Rounded Rectangle 295"/>
          <p:cNvSpPr/>
          <p:nvPr/>
        </p:nvSpPr>
        <p:spPr>
          <a:xfrm>
            <a:off x="548640" y="2148840"/>
            <a:ext cx="3886200" cy="8229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PhysicsWorld: a Facade</a:t>
            </a:r>
          </a:p>
          <a:p>
            <a:pPr algn="ctr"/>
            <a:r>
              <a:rPr sz="1300" b="0">
                <a:solidFill>
                  <a:srgbClr val="9AA3AB"/>
                </a:solidFill>
              </a:rPr>
              <a:t>a handful of calls: create, step, destroy</a:t>
            </a:r>
          </a:p>
        </p:txBody>
      </p:sp>
      <p:sp>
        <p:nvSpPr>
          <p:cNvPr id="297" name="Rounded Rectangle 296"/>
          <p:cNvSpPr/>
          <p:nvPr/>
        </p:nvSpPr>
        <p:spPr>
          <a:xfrm>
            <a:off x="4709160" y="2148840"/>
            <a:ext cx="3886200" cy="8229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PhysicsBody: an Adapter</a:t>
            </a:r>
          </a:p>
          <a:p>
            <a:pPr algn="ctr"/>
            <a:r>
              <a:rPr sz="1300" b="0">
                <a:solidFill>
                  <a:srgbClr val="9AA3AB"/>
                </a:solidFill>
              </a:rPr>
              <a:t>a body in pixels, turning like SpriteBatch</a:t>
            </a:r>
          </a:p>
        </p:txBody>
      </p:sp>
      <p:sp>
        <p:nvSpPr>
          <p:cNvPr id="298" name="Rounded Rectangle 297"/>
          <p:cNvSpPr/>
          <p:nvPr/>
        </p:nvSpPr>
        <p:spPr>
          <a:xfrm>
            <a:off x="548640" y="3200400"/>
            <a:ext cx="804672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Box2D: hundreds of functions, metres, structs and IDs</a:t>
            </a:r>
          </a:p>
        </p:txBody>
      </p:sp>
      <p:sp>
        <p:nvSpPr>
          <p:cNvPr id="299" name="TextBox 298"/>
          <p:cNvSpPr txBox="1"/>
          <p:nvPr/>
        </p:nvSpPr>
        <p:spPr>
          <a:xfrm>
            <a:off x="457200" y="3886200"/>
            <a:ext cx="8229600" cy="731520"/>
          </a:xfrm>
          <a:prstGeom prst="rect">
            <a:avLst/>
          </a:prstGeom>
          <a:noFill/>
        </p:spPr>
        <p:txBody>
          <a:bodyPr wrap="square">
            <a:spAutoFit/>
          </a:bodyPr>
          <a:lstStyle/>
          <a:p>
            <a:pPr algn="ctr"/>
            <a:r>
              <a:rPr sz="1500" b="1" i="0">
                <a:solidFill>
                  <a:srgbClr val="DEE2E6"/>
                </a:solidFill>
              </a:rPr>
              <a:t>Swap Box2D for another library. Which files change?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Adapter: PhysicsBody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Wraps a B2BodyId</a:t>
            </a:r>
            <a:endParaRPr/>
          </a:p>
          <a:p>
            <a:pPr indent="-330200" lvl="0" marL="457200" rtl="0" algn="l">
              <a:buClr>
                <a:srgbClr val="DEE2E6"/>
              </a:buClr>
              <a:spcBef>
                <a:spcPts val="0"/>
              </a:spcBef>
              <a:spcAft>
                <a:spcPts val="0"/>
              </a:spcAft>
              <a:buSzPts val="1600"/>
              <a:buChar char="●"/>
            </a:pPr>
            <a:r>
              <a:rPr lang="en" sz="1600">
                <a:solidFill>
                  <a:srgbClr val="DEE2E6"/>
                </a:solidFill>
              </a:rPr>
              <a:t>Position in pixels</a:t>
            </a:r>
            <a:endParaRPr/>
          </a:p>
          <a:p>
            <a:pPr indent="-330200" lvl="0" marL="457200" rtl="0" algn="l">
              <a:buClr>
                <a:srgbClr val="DEE2E6"/>
              </a:buClr>
              <a:spcBef>
                <a:spcPts val="0"/>
              </a:spcBef>
              <a:spcAft>
                <a:spcPts val="0"/>
              </a:spcAft>
              <a:buSzPts val="1600"/>
              <a:buChar char="●"/>
            </a:pPr>
            <a:r>
              <a:rPr lang="en" sz="1600">
                <a:solidFill>
                  <a:srgbClr val="DEE2E6"/>
                </a:solidFill>
              </a:rPr>
              <a:t>Rotation that turns like SpriteBatch</a:t>
            </a:r>
            <a:endParaRPr/>
          </a:p>
          <a:p>
            <a:pPr indent="-330200" lvl="0" marL="457200" rtl="0" algn="l">
              <a:buClr>
                <a:srgbClr val="DEE2E6"/>
              </a:buClr>
              <a:spcBef>
                <a:spcPts val="0"/>
              </a:spcBef>
              <a:spcAft>
                <a:spcPts val="0"/>
              </a:spcAft>
              <a:buSzPts val="1600"/>
              <a:buChar char="●"/>
            </a:pPr>
            <a:r>
              <a:rPr lang="en" sz="1600">
                <a:solidFill>
                  <a:srgbClr val="DEE2E6"/>
                </a:solidFill>
              </a:rPr>
              <a:t>Owner: the entity it belongs to</a:t>
            </a:r>
            <a:endParaRPr/>
          </a:p>
          <a:p>
            <a:pPr indent="-330200" lvl="0" marL="457200" rtl="0" algn="l">
              <a:buClr>
                <a:srgbClr val="DEE2E6"/>
              </a:buClr>
              <a:spcBef>
                <a:spcPts val="0"/>
              </a:spcBef>
              <a:spcAft>
                <a:spcPts val="0"/>
              </a:spcAft>
              <a:buSzPts val="1600"/>
              <a:buChar char="●"/>
            </a:pPr>
            <a:r>
              <a:rPr lang="en" sz="1600">
                <a:solidFill>
                  <a:srgbClr val="DEE2E6"/>
                </a:solidFill>
              </a:rPr>
              <a:t>Units: every conversion, in one place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sealed class PhysicsBody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internal B2BodyId Id { get;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object Owner { get;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Vector2 Position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Units.ToPixels(b2Body_GetPosition(Id));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float Rotation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get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B2Rot r = b2Body_GetRotation(Id);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-b2Rot_GetAngle(in 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Facade: PhysicsWorld</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The game reads like our game again</a:t>
            </a:r>
            <a:endParaRPr/>
          </a:p>
          <a:p>
            <a:pPr indent="-330200" lvl="0" marL="457200" rtl="0" algn="l">
              <a:buClr>
                <a:srgbClr val="DEE2E6"/>
              </a:buClr>
              <a:spcBef>
                <a:spcPts val="0"/>
              </a:spcBef>
              <a:spcAft>
                <a:spcPts val="0"/>
              </a:spcAft>
              <a:buSzPts val="1600"/>
              <a:buChar char="●"/>
            </a:pPr>
            <a:r>
              <a:rPr lang="en" sz="1600">
                <a:solidFill>
                  <a:srgbClr val="DEE2E6"/>
                </a:solidFill>
              </a:rPr>
              <a:t>Gains</a:t>
            </a:r>
            <a:endParaRPr/>
          </a:p>
          <a:p>
            <a:pPr indent="-317500" lvl="1" marL="914400" rtl="0" algn="l">
              <a:buClr>
                <a:srgbClr val="6C757D"/>
              </a:buClr>
              <a:spcBef>
                <a:spcPts val="0"/>
              </a:spcBef>
              <a:spcAft>
                <a:spcPts val="0"/>
              </a:spcAft>
              <a:buSzPts val="1400"/>
              <a:buChar char="○"/>
            </a:pPr>
            <a:r>
              <a:rPr lang="en" sz="1400">
                <a:solidFill>
                  <a:srgbClr val="6C757D"/>
                </a:solidFill>
              </a:rPr>
              <a:t>One place to change</a:t>
            </a:r>
            <a:endParaRPr/>
          </a:p>
          <a:p>
            <a:pPr indent="-317500" lvl="1" marL="914400" rtl="0" algn="l">
              <a:buClr>
                <a:srgbClr val="6C757D"/>
              </a:buClr>
              <a:spcBef>
                <a:spcPts val="0"/>
              </a:spcBef>
              <a:spcAft>
                <a:spcPts val="0"/>
              </a:spcAft>
              <a:buSzPts val="1400"/>
              <a:buChar char="○"/>
            </a:pPr>
            <a:r>
              <a:rPr lang="en" sz="1400">
                <a:solidFill>
                  <a:srgbClr val="6C757D"/>
                </a:solidFill>
              </a:rPr>
              <a:t>Our language: pixels, not metres</a:t>
            </a:r>
            <a:endParaRPr/>
          </a:p>
          <a:p>
            <a:pPr indent="-317500" lvl="1" marL="914400" rtl="0" algn="l">
              <a:buClr>
                <a:srgbClr val="6C757D"/>
              </a:buClr>
              <a:spcBef>
                <a:spcPts val="0"/>
              </a:spcBef>
              <a:spcAft>
                <a:spcPts val="0"/>
              </a:spcAft>
              <a:buSzPts val="1400"/>
              <a:buChar char="○"/>
            </a:pPr>
            <a:r>
              <a:rPr lang="en" sz="1400">
                <a:solidFill>
                  <a:srgbClr val="6C757D"/>
                </a:solidFill>
              </a:rPr>
              <a:t>A smaller surface</a:t>
            </a:r>
            <a:endParaRPr/>
          </a:p>
          <a:p>
            <a:pPr indent="-330200" lvl="0" marL="457200" rtl="0" algn="l">
              <a:buClr>
                <a:srgbClr val="DEE2E6"/>
              </a:buClr>
              <a:spcBef>
                <a:spcPts val="0"/>
              </a:spcBef>
              <a:spcAft>
                <a:spcPts val="0"/>
              </a:spcAft>
              <a:buSzPts val="1600"/>
              <a:buChar char="●"/>
            </a:pPr>
            <a:r>
              <a:rPr lang="en" sz="1600">
                <a:solidFill>
                  <a:srgbClr val="DEE2E6"/>
                </a:solidFill>
              </a:rPr>
              <a:t>Cost: every new feature goes through the facade first</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Units.cs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static B2Vec2 ToMeters(Vector2 pixels)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new(pixels.X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-pixels.Y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Block.cs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Block(PhysicsWorld world, Vector2 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Vector2 size, float rotation,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PhysicsMaterial material, TextureRegion sprite)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base(sprite)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Body = world.CreateBox(center, size,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rotation, material, this);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Two Worlds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block exists twice. The physics world owns where it is.</a:t>
            </a:r>
            <a:endParaRPr/>
          </a:p>
        </p:txBody>
      </p:sp>
      <p:sp>
        <p:nvSpPr>
          <p:cNvPr id="295" name="Rounded Rectangle 294"/>
          <p:cNvSpPr/>
          <p:nvPr/>
        </p:nvSpPr>
        <p:spPr>
          <a:xfrm>
            <a:off x="731520" y="1463040"/>
            <a:ext cx="3108960" cy="10058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Entity</a:t>
            </a:r>
          </a:p>
          <a:p>
            <a:pPr algn="ctr"/>
            <a:r>
              <a:rPr sz="1400" b="0">
                <a:solidFill>
                  <a:srgbClr val="9AA3AB"/>
                </a:solidFill>
              </a:rPr>
              <a:t>sprite, health, damage</a:t>
            </a:r>
          </a:p>
        </p:txBody>
      </p:sp>
      <p:sp>
        <p:nvSpPr>
          <p:cNvPr id="296" name="Rounded Rectangle 295"/>
          <p:cNvSpPr/>
          <p:nvPr/>
        </p:nvSpPr>
        <p:spPr>
          <a:xfrm>
            <a:off x="5303520" y="1463040"/>
            <a:ext cx="3108960" cy="10058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PhysicsBody</a:t>
            </a:r>
          </a:p>
          <a:p>
            <a:pPr algn="ctr"/>
            <a:r>
              <a:rPr sz="1400" b="0">
                <a:solidFill>
                  <a:srgbClr val="9AA3AB"/>
                </a:solidFill>
              </a:rPr>
              <a:t>position, rotation, velocity</a:t>
            </a:r>
          </a:p>
        </p:txBody>
      </p:sp>
      <p:cxnSp>
        <p:nvCxnSpPr>
          <p:cNvPr id="297" name="Connector 296"/>
          <p:cNvCxnSpPr/>
          <p:nvPr/>
        </p:nvCxnSpPr>
        <p:spPr>
          <a:xfrm flipH="1">
            <a:off x="3886200" y="1783080"/>
            <a:ext cx="137160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298" name="TextBox 297"/>
          <p:cNvSpPr txBox="1"/>
          <p:nvPr/>
        </p:nvSpPr>
        <p:spPr>
          <a:xfrm>
            <a:off x="3703320" y="1490472"/>
            <a:ext cx="1737360" cy="274320"/>
          </a:xfrm>
          <a:prstGeom prst="rect">
            <a:avLst/>
          </a:prstGeom>
          <a:noFill/>
        </p:spPr>
        <p:txBody>
          <a:bodyPr wrap="square">
            <a:spAutoFit/>
          </a:bodyPr>
          <a:lstStyle/>
          <a:p>
            <a:pPr algn="ctr"/>
            <a:r>
              <a:rPr sz="1100" b="0" i="0">
                <a:solidFill>
                  <a:srgbClr val="9AA3AB"/>
                </a:solidFill>
              </a:rPr>
              <a:t>position, every draw</a:t>
            </a:r>
          </a:p>
        </p:txBody>
      </p:sp>
      <p:cxnSp>
        <p:nvCxnSpPr>
          <p:cNvPr id="299" name="Connector 298"/>
          <p:cNvCxnSpPr/>
          <p:nvPr/>
        </p:nvCxnSpPr>
        <p:spPr>
          <a:xfrm>
            <a:off x="3886200" y="2194560"/>
            <a:ext cx="1371600"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0" name="TextBox 299"/>
          <p:cNvSpPr txBox="1"/>
          <p:nvPr/>
        </p:nvSpPr>
        <p:spPr>
          <a:xfrm>
            <a:off x="3886200" y="2240280"/>
            <a:ext cx="1371600" cy="274320"/>
          </a:xfrm>
          <a:prstGeom prst="rect">
            <a:avLst/>
          </a:prstGeom>
          <a:noFill/>
        </p:spPr>
        <p:txBody>
          <a:bodyPr wrap="square">
            <a:spAutoFit/>
          </a:bodyPr>
          <a:lstStyle/>
          <a:p>
            <a:pPr algn="ctr"/>
            <a:r>
              <a:rPr sz="1100" b="0" i="0">
                <a:solidFill>
                  <a:srgbClr val="9AA3AB"/>
                </a:solidFill>
              </a:rPr>
              <a:t>Owner</a:t>
            </a:r>
          </a:p>
        </p:txBody>
      </p:sp>
      <p:sp>
        <p:nvSpPr>
          <p:cNvPr id="301" name="TextBox 300"/>
          <p:cNvSpPr txBox="1"/>
          <p:nvPr/>
        </p:nvSpPr>
        <p:spPr>
          <a:xfrm>
            <a:off x="731520" y="2743200"/>
            <a:ext cx="7680960" cy="822960"/>
          </a:xfrm>
          <a:prstGeom prst="rect">
            <a:avLst/>
          </a:prstGeom>
          <a:noFill/>
        </p:spPr>
        <p:txBody>
          <a:bodyPr wrap="square">
            <a:spAutoFit/>
          </a:bodyPr>
          <a:lstStyle/>
          <a:p>
            <a:pPr algn="ctr"/>
            <a:r>
              <a:rPr sz="1400" b="0" i="0">
                <a:solidFill>
                  <a:srgbClr val="9AA3AB"/>
                </a:solidFill>
              </a:rPr>
              <a:t>The body knows its owner, so a hit between two bodies leads back to two entities.</a:t>
            </a:r>
          </a:p>
          <a:p>
            <a:pPr algn="ctr"/>
            <a:r>
              <a:rPr sz="1400" b="0" i="0">
                <a:solidFill>
                  <a:srgbClr val="9AA3AB"/>
                </a:solidFill>
              </a:rPr>
              <a:t>F1 shows what the physics world sees. A fixed time step: Snake’s accumulator again.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Adapter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Birds0 → Birds1: Box2D behind PhysicsWorld and PhysicsBody</a:t>
            </a:r>
            <a:endParaRPr sz="180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Contact Events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Box2D collects hit events during the step</a:t>
            </a:r>
            <a:endParaRPr/>
          </a:p>
          <a:p>
            <a:pPr indent="-317500" lvl="1" marL="914400" rtl="0" algn="l">
              <a:buClr>
                <a:srgbClr val="6C757D"/>
              </a:buClr>
              <a:spcBef>
                <a:spcPts val="0"/>
              </a:spcBef>
              <a:spcAft>
                <a:spcPts val="0"/>
              </a:spcAft>
              <a:buSzPts val="1400"/>
              <a:buChar char="○"/>
            </a:pPr>
            <a:r>
              <a:rPr lang="en" sz="1400">
                <a:solidFill>
                  <a:srgbClr val="6C757D"/>
                </a:solidFill>
              </a:rPr>
              <a:t>Read after the step</a:t>
            </a:r>
            <a:endParaRPr/>
          </a:p>
          <a:p>
            <a:pPr indent="-330200" lvl="0" marL="457200" rtl="0" algn="l">
              <a:buClr>
                <a:srgbClr val="DEE2E6"/>
              </a:buClr>
              <a:spcBef>
                <a:spcPts val="0"/>
              </a:spcBef>
              <a:spcAft>
                <a:spcPts val="0"/>
              </a:spcAft>
              <a:buSzPts val="1600"/>
              <a:buChar char="●"/>
            </a:pPr>
            <a:r>
              <a:rPr lang="en" sz="1600">
                <a:solidFill>
                  <a:srgbClr val="DEE2E6"/>
                </a:solidFill>
              </a:rPr>
              <a:t>The facade turns them into a C# event, in our terms</a:t>
            </a:r>
            <a:endParaRPr/>
          </a:p>
          <a:p>
            <a:pPr indent="-317500" lvl="1" marL="914400" rtl="0" algn="l">
              <a:buClr>
                <a:srgbClr val="6C757D"/>
              </a:buClr>
              <a:spcBef>
                <a:spcPts val="0"/>
              </a:spcBef>
              <a:spcAft>
                <a:spcPts val="0"/>
              </a:spcAft>
              <a:buSzPts val="1400"/>
              <a:buChar char="○"/>
            </a:pPr>
            <a:r>
              <a:rPr lang="en" sz="1400">
                <a:solidFill>
                  <a:srgbClr val="6C757D"/>
                </a:solidFill>
              </a:rPr>
              <a:t>Bodies, and a speed in pixels per second</a:t>
            </a:r>
            <a:endParaRPr/>
          </a:p>
          <a:p>
            <a:pPr indent="-330200" lvl="0" marL="457200" rtl="0" algn="l">
              <a:buClr>
                <a:srgbClr val="DEE2E6"/>
              </a:buClr>
              <a:spcBef>
                <a:spcPts val="0"/>
              </a:spcBef>
              <a:spcAft>
                <a:spcPts val="0"/>
              </a:spcAft>
              <a:buSzPts val="1600"/>
              <a:buChar char="●"/>
            </a:pPr>
            <a:r>
              <a:rPr lang="en" sz="1600">
                <a:solidFill>
                  <a:srgbClr val="DEE2E6"/>
                </a:solidFill>
              </a:rPr>
              <a:t>The game damages both entities</a:t>
            </a:r>
            <a:endParaRPr/>
          </a:p>
          <a:p>
            <a:pPr indent="-317500" lvl="1" marL="914400" rtl="0" algn="l">
              <a:buClr>
                <a:srgbClr val="6C757D"/>
              </a:buClr>
              <a:spcBef>
                <a:spcPts val="0"/>
              </a:spcBef>
              <a:spcAft>
                <a:spcPts val="0"/>
              </a:spcAft>
              <a:buSzPts val="1400"/>
              <a:buChar char="○"/>
            </a:pPr>
            <a:r>
              <a:rPr lang="en" sz="1400">
                <a:solidFill>
                  <a:srgbClr val="6C757D"/>
                </a:solidFill>
              </a:rPr>
              <a:t>Glass breaks easily, stone hardly at all</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event Action&lt;PhysicsBody, PhysicsBody,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float&gt; Hit;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B2ContactEvents events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b2World_GetContactEvents(_world);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0; i &lt; events.hitCount;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B2ContactHitEvent hit = events.hitEvents[i];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(!b2Shape_IsValid(hit.shapeIdA)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!b2Shape_IsValid(hit.shapeIdB))</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continue;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Hit?.Invoke(BodyOf(hit.shapeIdA),</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BodyOf(hit.shapeIdB),</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Units.ToPixels(hit.approachSpeed));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Destroying Safely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Not in the hit handler</a:t>
            </a:r>
            <a:endParaRPr/>
          </a:p>
          <a:p>
            <a:pPr indent="-317500" lvl="1" marL="914400" rtl="0" algn="l">
              <a:buClr>
                <a:srgbClr val="6C757D"/>
              </a:buClr>
              <a:spcBef>
                <a:spcPts val="0"/>
              </a:spcBef>
              <a:spcAft>
                <a:spcPts val="0"/>
              </a:spcAft>
              <a:buSzPts val="1400"/>
              <a:buChar char="○"/>
            </a:pPr>
            <a:r>
              <a:rPr lang="en" sz="1400">
                <a:solidFill>
                  <a:srgbClr val="6C757D"/>
                </a:solidFill>
              </a:rPr>
              <a:t>More hits may be about the body you destroyed</a:t>
            </a:r>
            <a:endParaRPr/>
          </a:p>
          <a:p>
            <a:pPr indent="-317500" lvl="1" marL="914400" rtl="0" algn="l">
              <a:buClr>
                <a:srgbClr val="6C757D"/>
              </a:buClr>
              <a:spcBef>
                <a:spcPts val="0"/>
              </a:spcBef>
              <a:spcAft>
                <a:spcPts val="0"/>
              </a:spcAft>
              <a:buSzPts val="1400"/>
              <a:buChar char="○"/>
            </a:pPr>
            <a:r>
              <a:rPr lang="en" sz="1400">
                <a:solidFill>
                  <a:srgbClr val="6C757D"/>
                </a:solidFill>
              </a:rPr>
              <a:t>Many libraries crash if the world changes during a callback</a:t>
            </a:r>
            <a:endParaRPr/>
          </a:p>
          <a:p>
            <a:pPr indent="-317500" lvl="1" marL="914400" rtl="0" algn="l">
              <a:buClr>
                <a:srgbClr val="6C757D"/>
              </a:buClr>
              <a:spcBef>
                <a:spcPts val="0"/>
              </a:spcBef>
              <a:spcAft>
                <a:spcPts val="0"/>
              </a:spcAft>
              <a:buSzPts val="1400"/>
              <a:buChar char="○"/>
            </a:pPr>
            <a:r>
              <a:rPr lang="en" sz="1400">
                <a:solidFill>
                  <a:srgbClr val="6C757D"/>
                </a:solidFill>
              </a:rPr>
              <a:t>You may be looping over the list</a:t>
            </a:r>
            <a:endParaRPr/>
          </a:p>
          <a:p>
            <a:pPr indent="-330200" lvl="0" marL="457200" rtl="0" algn="l">
              <a:buClr>
                <a:srgbClr val="DEE2E6"/>
              </a:buClr>
              <a:spcBef>
                <a:spcPts val="0"/>
              </a:spcBef>
              <a:spcAft>
                <a:spcPts val="0"/>
              </a:spcAft>
              <a:buSzPts val="1600"/>
              <a:buChar char="●"/>
            </a:pPr>
            <a:r>
              <a:rPr lang="en" sz="1600">
                <a:solidFill>
                  <a:srgbClr val="DEE2E6"/>
                </a:solidFill>
              </a:rPr>
              <a:t>Mark now, remove at a safe point</a:t>
            </a:r>
            <a:endParaRPr/>
          </a:p>
          <a:p>
            <a:pPr indent="-330200" lvl="0" marL="457200" rtl="0" algn="l">
              <a:buClr>
                <a:srgbClr val="DEE2E6"/>
              </a:buClr>
              <a:spcBef>
                <a:spcPts val="0"/>
              </a:spcBef>
              <a:spcAft>
                <a:spcPts val="0"/>
              </a:spcAft>
              <a:buSzPts val="1600"/>
              <a:buChar char="●"/>
            </a:pPr>
            <a:r>
              <a:rPr lang="en" sz="1600">
                <a:solidFill>
                  <a:srgbClr val="DEE2E6"/>
                </a:solidFill>
              </a:rPr>
              <a:t>Loop backwards when removing</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void OnHit(PhysicsBody a, PhysicsBody b,</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 speed)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(a.Owner as Entity)?.TakeDamage(speed / 100);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(b.Owner as Entity)?.TakeDamage(speed / 100);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_physics.Update(deltaSeconds);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RemoveDestroyed();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_entities.Count - 1; i &gt;= 0;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(!_entities[i].IsDestroyed) continue;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_physics.Destroy(_entities[i].Body);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_entities.RemoveAt(i);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Events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Birds2: hits that damage, removed after the step</a:t>
            </a:r>
            <a:endParaRPr sz="180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Prototype</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“Create new objects by copying a prototype”</a:t>
            </a:r>
            <a:endParaRPr/>
          </a:p>
          <a:p>
            <a:pPr indent="-330200" lvl="0" marL="457200" rtl="0" algn="l">
              <a:buClr>
                <a:srgbClr val="DEE2E6"/>
              </a:buClr>
              <a:spcBef>
                <a:spcPts val="0"/>
              </a:spcBef>
              <a:spcAft>
                <a:spcPts val="0"/>
              </a:spcAft>
              <a:buSzPts val="1600"/>
              <a:buChar char="●"/>
            </a:pPr>
            <a:r>
              <a:rPr lang="en" sz="1600">
                <a:solidFill>
                  <a:srgbClr val="DEE2E6"/>
                </a:solidFill>
              </a:rPr>
              <a:t>A configured entity, not in the world</a:t>
            </a:r>
            <a:endParaRPr/>
          </a:p>
          <a:p>
            <a:pPr indent="-330200" lvl="0" marL="457200" rtl="0" algn="l">
              <a:buClr>
                <a:srgbClr val="DEE2E6"/>
              </a:buClr>
              <a:spcBef>
                <a:spcPts val="0"/>
              </a:spcBef>
              <a:spcAft>
                <a:spcPts val="0"/>
              </a:spcAft>
              <a:buSzPts val="1600"/>
              <a:buChar char="●"/>
            </a:pPr>
            <a:r>
              <a:rPr lang="en" sz="1600">
                <a:solidFill>
                  <a:srgbClr val="DEE2E6"/>
                </a:solidFill>
              </a:rPr>
              <a:t>Copy it, and give the copy a body</a:t>
            </a:r>
            <a:endParaRPr/>
          </a:p>
          <a:p>
            <a:pPr indent="-330200" lvl="0" marL="457200" rtl="0" algn="l">
              <a:buClr>
                <a:srgbClr val="DEE2E6"/>
              </a:buClr>
              <a:spcBef>
                <a:spcPts val="0"/>
              </a:spcBef>
              <a:spcAft>
                <a:spcPts val="0"/>
              </a:spcAft>
              <a:buSzPts val="1600"/>
              <a:buChar char="●"/>
            </a:pPr>
            <a:r>
              <a:rPr lang="en" sz="1600">
                <a:solidFill>
                  <a:srgbClr val="DEE2E6"/>
                </a:solidFill>
              </a:rPr>
              <a:t>Prefabs: one prototype per kind, by name</a:t>
            </a:r>
            <a:endParaRPr/>
          </a:p>
          <a:p>
            <a:pPr indent="-317500" lvl="1" marL="914400" rtl="0" algn="l">
              <a:buClr>
                <a:srgbClr val="6C757D"/>
              </a:buClr>
              <a:spcBef>
                <a:spcPts val="0"/>
              </a:spcBef>
              <a:spcAft>
                <a:spcPts val="0"/>
              </a:spcAft>
              <a:buSzPts val="1400"/>
              <a:buChar char="○"/>
            </a:pPr>
            <a:r>
              <a:rPr lang="en" sz="1400">
                <a:solidFill>
                  <a:srgbClr val="6C757D"/>
                </a:solidFill>
              </a:rPr>
              <a:t>A big pig: a Pig with a bigger radius, not a subclass</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Entity Clone()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var copy = (Entity)MemberwiseClone();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copy.Body = null;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copy;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Prefabs.cs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Add("wood-post", new Block(Materials.Wood,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post, 8, 500, atlas.GetRegion("wood-post")));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Add("big-pig", new Pig(30, 6, 5000,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atlas.GetRegion("big-pig")));</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Entity entity = _prototypes[name].Clone();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entity.Spawn(world, position, rotation);</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Levels From Prefabs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level: prefab names and positions</a:t>
            </a:r>
            <a:endParaRPr/>
          </a:p>
          <a:p>
            <a:pPr indent="-317500" lvl="1" marL="914400" rtl="0" algn="l">
              <a:buClr>
                <a:srgbClr val="6C757D"/>
              </a:buClr>
              <a:spcBef>
                <a:spcPts val="0"/>
              </a:spcBef>
              <a:spcAft>
                <a:spcPts val="0"/>
              </a:spcAft>
              <a:buSzPts val="1400"/>
              <a:buChar char="○"/>
            </a:pPr>
            <a:r>
              <a:rPr lang="en" sz="1400">
                <a:solidFill>
                  <a:srgbClr val="6C757D"/>
                </a:solidFill>
              </a:rPr>
              <a:t>Levels as data, as in Sokoban</a:t>
            </a:r>
            <a:endParaRPr/>
          </a:p>
          <a:p>
            <a:pPr indent="-330200" lvl="0" marL="457200" rtl="0" algn="l">
              <a:buClr>
                <a:srgbClr val="DEE2E6"/>
              </a:buClr>
              <a:spcBef>
                <a:spcPts val="0"/>
              </a:spcBef>
              <a:spcAft>
                <a:spcPts val="0"/>
              </a:spcAft>
              <a:buSzPts val="1600"/>
              <a:buChar char="●"/>
            </a:pPr>
            <a:r>
              <a:rPr lang="en" sz="1600">
                <a:solidFill>
                  <a:srgbClr val="DEE2E6"/>
                </a:solidFill>
              </a:rPr>
              <a:t>MemberwiseClone: a shallow copy</a:t>
            </a:r>
            <a:endParaRPr/>
          </a:p>
          <a:p>
            <a:pPr indent="-317500" lvl="1" marL="914400" rtl="0" algn="l">
              <a:buClr>
                <a:srgbClr val="6C757D"/>
              </a:buClr>
              <a:spcBef>
                <a:spcPts val="0"/>
              </a:spcBef>
              <a:spcAft>
                <a:spcPts val="0"/>
              </a:spcAft>
              <a:buSzPts val="1400"/>
              <a:buChar char="○"/>
            </a:pPr>
            <a:r>
              <a:rPr lang="en" sz="1400">
                <a:solidFill>
                  <a:srgbClr val="6C757D"/>
                </a:solidFill>
              </a:rPr>
              <a:t>Sharing a sprite: fine</a:t>
            </a:r>
            <a:endParaRPr/>
          </a:p>
          <a:p>
            <a:pPr indent="-317500" lvl="1" marL="914400" rtl="0" algn="l">
              <a:buClr>
                <a:srgbClr val="6C757D"/>
              </a:buClr>
              <a:spcBef>
                <a:spcPts val="0"/>
              </a:spcBef>
              <a:spcAft>
                <a:spcPts val="0"/>
              </a:spcAft>
              <a:buSzPts val="1400"/>
              <a:buChar char="○"/>
            </a:pPr>
            <a:r>
              <a:rPr lang="en" sz="1400">
                <a:solidFill>
                  <a:srgbClr val="6C757D"/>
                </a:solidFill>
              </a:rPr>
              <a:t>Sharing a body: two blocks move as one</a:t>
            </a:r>
            <a:endParaRPr/>
          </a:p>
          <a:p>
            <a:pPr indent="-330200" lvl="0" marL="457200" rtl="0" algn="l">
              <a:buClr>
                <a:srgbClr val="DEE2E6"/>
              </a:buClr>
              <a:spcBef>
                <a:spcPts val="0"/>
              </a:spcBef>
              <a:spcAft>
                <a:spcPts val="0"/>
              </a:spcAft>
              <a:buSzPts val="1600"/>
              <a:buChar char="●"/>
            </a:pPr>
            <a:r>
              <a:rPr lang="en" sz="1600">
                <a:solidFill>
                  <a:srgbClr val="DEE2E6"/>
                </a:solidFill>
              </a:rPr>
              <a:t>Prototype vs. Type Object: in Plants vs. Zombies</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level1.txt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birds 3</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wood-post    880 590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wood-post   1040 590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wood-plank   960 530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pig          960 618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glass-box    960 495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pig          960 448 0</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Prototype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Birds3: prefabs, and levels as text files</a:t>
            </a:r>
            <a:endParaRPr sz="180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The Whole Game</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Three levels, a few birds each. Fly waits until the world has settled.</a:t>
            </a:r>
            <a:endParaRPr/>
          </a:p>
        </p:txBody>
      </p:sp>
      <p:sp>
        <p:nvSpPr>
          <p:cNvPr id="295" name="Rounded Rectangle 294"/>
          <p:cNvSpPr/>
          <p:nvPr/>
        </p:nvSpPr>
        <p:spPr>
          <a:xfrm>
            <a:off x="1463040" y="1463040"/>
            <a:ext cx="1828800" cy="5486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Aim</a:t>
            </a:r>
          </a:p>
        </p:txBody>
      </p:sp>
      <p:cxnSp>
        <p:nvCxnSpPr>
          <p:cNvPr id="296" name="Connector 295"/>
          <p:cNvCxnSpPr/>
          <p:nvPr/>
        </p:nvCxnSpPr>
        <p:spPr>
          <a:xfrm>
            <a:off x="3310128" y="173736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7" name="Rounded Rectangle 296"/>
          <p:cNvSpPr/>
          <p:nvPr/>
        </p:nvSpPr>
        <p:spPr>
          <a:xfrm>
            <a:off x="3566160" y="1463040"/>
            <a:ext cx="182880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Fly</a:t>
            </a:r>
          </a:p>
        </p:txBody>
      </p:sp>
      <p:cxnSp>
        <p:nvCxnSpPr>
          <p:cNvPr id="298" name="Connector 297"/>
          <p:cNvCxnSpPr/>
          <p:nvPr/>
        </p:nvCxnSpPr>
        <p:spPr>
          <a:xfrm>
            <a:off x="5413248" y="173736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5669279" y="1463040"/>
            <a:ext cx="182880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Aim again, or Level End</a:t>
            </a:r>
          </a:p>
        </p:txBody>
      </p:sp>
      <p:sp>
        <p:nvSpPr>
          <p:cNvPr id="300" name="Rectangle 299"/>
          <p:cNvSpPr/>
          <p:nvPr/>
        </p:nvSpPr>
        <p:spPr>
          <a:xfrm>
            <a:off x="914400" y="2468880"/>
            <a:ext cx="7315200" cy="68580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300">
                <a:solidFill>
                  <a:srgbClr val="9AA3AB"/>
                </a:solidFill>
                <a:latin typeface="Consolas"/>
              </a:rPr>
              <a:t>// the aiming curve: no physics world needed</a:t>
            </a:r>
          </a:p>
          <a:p>
            <a:pPr algn="l"/>
            <a:r>
              <a:rPr sz="1300">
                <a:solidFill>
                  <a:srgbClr val="DEE2E6"/>
                </a:solidFill>
                <a:latin typeface="Consolas"/>
              </a:rPr>
              <a:t>position = start + velocity * t + gravity * t * t / 2</a:t>
            </a: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Angry Birds Implementation</a:t>
            </a:r>
            <a:endParaRPr>
              <a:solidFill>
                <a:schemeClr val="accent5"/>
              </a:solidFill>
            </a:endParaRPr>
          </a:p>
        </p:txBody>
      </p:sp>
      <p:sp>
        <p:nvSpPr>
          <p:cNvPr id="208" name="Google Shape;208;p3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Birds4: the whole game</a:t>
            </a:r>
            <a:endParaRPr sz="1800"/>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Birds4, the finished game</a:t>
            </a:r>
            <a:endParaRPr/>
          </a:p>
          <a:p>
            <a:pPr indent="-330200" lvl="0" marL="457200" rtl="0" algn="l">
              <a:spcBef>
                <a:spcPts val="0"/>
              </a:spcBef>
              <a:spcAft>
                <a:spcPts val="0"/>
              </a:spcAft>
              <a:buSzPts val="1600"/>
              <a:buChar char="●"/>
            </a:pPr>
            <a:r>
              <a:rPr lang="en"/>
              <a:t>A new level, and a new prefab: how much code changed?</a:t>
            </a:r>
            <a:endParaRPr/>
          </a:p>
          <a:p>
            <a:pPr indent="-330200" lvl="0" marL="457200" rtl="0" algn="l">
              <a:spcBef>
                <a:spcPts val="0"/>
              </a:spcBef>
              <a:spcAft>
                <a:spcPts val="0"/>
              </a:spcAft>
              <a:buSzPts val="1600"/>
              <a:buChar char="●"/>
            </a:pPr>
            <a:r>
              <a:rPr lang="en"/>
              <a:t>A heavy bird, twice the size, as a prefab</a:t>
            </a:r>
            <a:endParaRPr/>
          </a:p>
          <a:p>
            <a:pPr indent="-317500" lvl="1" marL="914400" rtl="0" algn="l">
              <a:spcBef>
                <a:spcPts val="0"/>
              </a:spcBef>
              <a:spcAft>
                <a:spcPts val="0"/>
              </a:spcAft>
              <a:buSzPts val="1400"/>
              <a:buChar char="○"/>
            </a:pPr>
            <a:r>
              <a:rPr lang="en"/>
              <a:t>A list of birds per level: birds red red heavy</a:t>
            </a:r>
            <a:endParaRPr/>
          </a:p>
          <a:p>
            <a:pPr indent="-330200" lvl="0" marL="457200" rtl="0" algn="l">
              <a:spcBef>
                <a:spcPts val="0"/>
              </a:spcBef>
              <a:spcAft>
                <a:spcPts val="0"/>
              </a:spcAft>
              <a:buSzPts val="1600"/>
              <a:buChar char="●"/>
            </a:pPr>
            <a:r>
              <a:rPr lang="en"/>
              <a:t>A TNT box that pushes everything nearby away</a:t>
            </a:r>
            <a:endParaRPr/>
          </a:p>
          <a:p>
            <a:pPr indent="-317500" lvl="1" marL="914400" rtl="0" algn="l">
              <a:spcBef>
                <a:spcPts val="0"/>
              </a:spcBef>
              <a:spcAft>
                <a:spcPts val="0"/>
              </a:spcAft>
              <a:buSzPts val="1400"/>
              <a:buChar char="○"/>
            </a:pPr>
            <a:r>
              <a:rPr lang="en"/>
              <a:t>What must the facade offer? Keep Box2D inside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 (Stretch)</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Unit test Units: to metres and back, and y flips</a:t>
            </a:r>
            <a:endParaRPr/>
          </a:p>
          <a:p>
            <a:pPr indent="-330200" lvl="0" marL="457200" rtl="0" algn="l">
              <a:spcBef>
                <a:spcPts val="0"/>
              </a:spcBef>
              <a:spcAft>
                <a:spcPts val="0"/>
              </a:spcAft>
              <a:buSzPts val="1600"/>
              <a:buChar char="●"/>
            </a:pPr>
            <a:r>
              <a:rPr lang="en"/>
              <a:t>Swap the library: which files would change?</a:t>
            </a:r>
            <a:endParaRPr/>
          </a:p>
          <a:p>
            <a:pPr indent="-317500" lvl="1" marL="914400" rtl="0" algn="l">
              <a:spcBef>
                <a:spcPts val="0"/>
              </a:spcBef>
              <a:spcAft>
                <a:spcPts val="0"/>
              </a:spcAft>
              <a:buSzPts val="1400"/>
              <a:buChar char="○"/>
            </a:pPr>
            <a:r>
              <a:rPr lang="en"/>
              <a:t>Try it with Aether.Physics2D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What is the difference between an Adapter and a Facade?</a:t>
            </a:r>
            <a:endParaRPr/>
          </a:p>
          <a:p>
            <a:pPr indent="-330200" lvl="0" marL="457200" rtl="0" algn="l">
              <a:spcBef>
                <a:spcPts val="0"/>
              </a:spcBef>
              <a:spcAft>
                <a:spcPts val="0"/>
              </a:spcAft>
              <a:buSzPts val="1600"/>
              <a:buChar char="●"/>
            </a:pPr>
            <a:r>
              <a:rPr lang="en"/>
              <a:t>Why convert between metres and pixels at all?</a:t>
            </a:r>
            <a:endParaRPr/>
          </a:p>
          <a:p>
            <a:pPr indent="-330200" lvl="0" marL="457200" rtl="0" algn="l">
              <a:spcBef>
                <a:spcPts val="0"/>
              </a:spcBef>
              <a:spcAft>
                <a:spcPts val="0"/>
              </a:spcAft>
              <a:buSzPts val="1600"/>
              <a:buChar char="●"/>
            </a:pPr>
            <a:r>
              <a:rPr lang="en"/>
              <a:t>Why not destroy a body inside the hit handler?</a:t>
            </a:r>
            <a:endParaRPr/>
          </a:p>
          <a:p>
            <a:pPr indent="-330200" lvl="0" marL="457200" rtl="0" algn="l">
              <a:spcBef>
                <a:spcPts val="0"/>
              </a:spcBef>
              <a:spcAft>
                <a:spcPts val="0"/>
              </a:spcAft>
              <a:buSzPts val="1600"/>
              <a:buChar char="●"/>
            </a:pPr>
            <a:r>
              <a:rPr lang="en"/>
              <a:t>What does a shallow copy share with the original, and why does it matter?</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libraries does your game use? Would your code notice a swap?</a:t>
            </a:r>
            <a:endParaRPr/>
          </a:p>
          <a:p>
            <a:pPr indent="-330200" lvl="0" marL="457200" rtl="0" algn="l">
              <a:spcBef>
                <a:spcPts val="0"/>
              </a:spcBef>
              <a:spcAft>
                <a:spcPts val="0"/>
              </a:spcAft>
              <a:buSzPts val="1600"/>
              <a:buChar char="●"/>
            </a:pPr>
            <a:r>
              <a:rPr lang="en"/>
              <a:t>Does anything exist twice? Which copy owns it?</a:t>
            </a:r>
            <a:endParaRPr/>
          </a:p>
          <a:p>
            <a:pPr indent="-330200" lvl="0" marL="457200" rtl="0" algn="l">
              <a:spcBef>
                <a:spcPts val="0"/>
              </a:spcBef>
              <a:spcAft>
                <a:spcPts val="0"/>
              </a:spcAft>
              <a:buSzPts val="1600"/>
              <a:buChar char="●"/>
            </a:pPr>
            <a:r>
              <a:rPr lang="en"/>
              <a:t>Do you remove objects while looping over them?</a:t>
            </a:r>
            <a:endParaRPr/>
          </a:p>
          <a:p>
            <a:pPr indent="-330200" lvl="0" marL="457200" rtl="0" algn="l">
              <a:spcBef>
                <a:spcPts val="0"/>
              </a:spcBef>
              <a:spcAft>
                <a:spcPts val="0"/>
              </a:spcAft>
              <a:buSzPts val="1600"/>
              <a:buChar char="●"/>
            </a:pPr>
            <a:r>
              <a:rPr lang="en"/>
              <a:t>Which kinds of things could be prototypes, or data?</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Your Course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Next milestone, by session 09: self-review</a:t>
            </a:r>
            <a:endParaRPr/>
          </a:p>
          <a:p>
            <a:pPr indent="-317500" lvl="1" marL="914400" rtl="0" algn="l">
              <a:spcBef>
                <a:spcPts val="0"/>
              </a:spcBef>
              <a:spcAft>
                <a:spcPts val="0"/>
              </a:spcAft>
              <a:buSzPts val="1400"/>
              <a:buChar char="○"/>
            </a:pPr>
            <a:r>
              <a:rPr lang="en"/>
              <a:t>Updated class diagram, list of patterns, event map</a:t>
            </a:r>
            <a:endParaRPr/>
          </a:p>
          <a:p>
            <a:pPr indent="-317500" lvl="1" marL="914400" rtl="0" algn="l">
              <a:spcBef>
                <a:spcPts val="0"/>
              </a:spcBef>
              <a:spcAft>
                <a:spcPts val="0"/>
              </a:spcAft>
              <a:buSzPts val="1400"/>
              <a:buChar char="○"/>
            </a:pPr>
            <a:r>
              <a:rPr lang="en"/>
              <a:t>At least one refactoring</a:t>
            </a:r>
            <a:endParaRPr/>
          </a:p>
          <a:p>
            <a:pPr indent="-330200" lvl="0" marL="457200" rtl="0" algn="l">
              <a:spcBef>
                <a:spcPts val="0"/>
              </a:spcBef>
              <a:spcAft>
                <a:spcPts val="0"/>
              </a:spcAft>
              <a:buSzPts val="1600"/>
              <a:buChar char="●"/>
            </a:pPr>
            <a:r>
              <a:rPr lang="en"/>
              <a:t>Using a library? Where does it leak into your code?</a:t>
            </a:r>
            <a:endParaRPr/>
          </a:p>
        </p:txBody>
      </p:sp>
    </p:spTree>
  </p:cSld>
  <p:clrMapOvr>
    <a:masterClrMapping/>
  </p:clrMapOvr>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