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57" r:id="rId7"/>
    <p:sldId id="258" r:id="rId8"/>
    <p:sldId id="259" r:id="rId9"/>
    <p:sldId id="260" r:id="rId10"/>
    <p:sldId id="288" r:id="rId47"/>
    <p:sldId id="261" r:id="rId11"/>
    <p:sldId id="262" r:id="rId12"/>
    <p:sldId id="289" r:id="rId48"/>
    <p:sldId id="290" r:id="rId49"/>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91" r:id="rId50"/>
    <p:sldId id="284" r:id="rId34"/>
    <p:sldId id="285" r:id="rId35"/>
    <p:sldId id="286" r:id="rId36"/>
    <p:sldId id="292" r:id="rId51"/>
    <p:sldId id="287" r:id="rId37"/>
  </p:sldIdLst>
  <p:sldSz cy="5143500" cx="9144000"/>
  <p:notesSz cx="6858000" cy="9144000"/>
  <p:embeddedFontLst>
    <p:embeddedFont>
      <p:font typeface="Roboto"/>
      <p:regular r:id="rId38"/>
      <p:bold r:id="rId39"/>
      <p:italic r:id="rId40"/>
      <p:boldItalic r:id="rId41"/>
    </p:embeddedFont>
    <p:embeddedFont>
      <p:font typeface="VT323"/>
      <p:regular r:id="rId42"/>
    </p:embeddedFont>
    <p:embeddedFont>
      <p:font typeface="Roboto Light"/>
      <p:regular r:id="rId43"/>
      <p:bold r:id="rId44"/>
      <p:italic r:id="rId45"/>
      <p:boldItalic r:id="rId4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font" Target="fonts/Roboto-regular.fntdata"/><Relationship Id="rId39" Type="http://schemas.openxmlformats.org/officeDocument/2006/relationships/font" Target="fonts/Roboto-bold.fntdata"/><Relationship Id="rId40" Type="http://schemas.openxmlformats.org/officeDocument/2006/relationships/font" Target="fonts/Roboto-italic.fntdata"/><Relationship Id="rId41" Type="http://schemas.openxmlformats.org/officeDocument/2006/relationships/font" Target="fonts/Roboto-boldItalic.fntdata"/><Relationship Id="rId42" Type="http://schemas.openxmlformats.org/officeDocument/2006/relationships/font" Target="fonts/VT323-regular.fntdata"/><Relationship Id="rId43" Type="http://schemas.openxmlformats.org/officeDocument/2006/relationships/font" Target="fonts/RobotoLight-regular.fntdata"/><Relationship Id="rId44" Type="http://schemas.openxmlformats.org/officeDocument/2006/relationships/font" Target="fonts/RobotoLight-bold.fntdata"/><Relationship Id="rId45" Type="http://schemas.openxmlformats.org/officeDocument/2006/relationships/font" Target="fonts/RobotoLight-italic.fntdata"/><Relationship Id="rId46" Type="http://schemas.openxmlformats.org/officeDocument/2006/relationships/font" Target="fonts/RobotoLight-boldItalic.fntdata"/><Relationship Id="rId47" Type="http://schemas.openxmlformats.org/officeDocument/2006/relationships/slide" Target="slides/slide6.xml"/><Relationship Id="rId48" Type="http://schemas.openxmlformats.org/officeDocument/2006/relationships/slide" Target="slides/slide34.xml"/><Relationship Id="rId49" Type="http://schemas.openxmlformats.org/officeDocument/2006/relationships/slide" Target="slides/slide35.xml"/><Relationship Id="rId50" Type="http://schemas.openxmlformats.org/officeDocument/2006/relationships/slide" Target="slides/slide36.xml"/><Relationship Id="rId51"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d14c6fc9de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d14c6fc9de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ce57fd84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ce57fd84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d10de0346e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d10de0346e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g3d17f311e2b_0_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 name="Google Shape;73;g3d17f311e2b_0_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 name="Shape 77"/>
        <p:cNvGrpSpPr/>
        <p:nvPr/>
      </p:nvGrpSpPr>
      <p:grpSpPr>
        <a:xfrm>
          <a:off x="0" y="0"/>
          <a:ext cx="0" cy="0"/>
          <a:chOff x="0" y="0"/>
          <a:chExt cx="0" cy="0"/>
        </a:xfrm>
      </p:grpSpPr>
      <p:sp>
        <p:nvSpPr>
          <p:cNvPr id="78" name="Google Shape;78;g3d10de0346e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9" name="Google Shape;79;g3d10de0346e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Today’s assets don’t all conform to the same grid size</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g3d10de0346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8" name="Google Shape;88;g3d10de0346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g3d10de0346e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 name="Google Shape;94;g3d10de0346e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Player art shifted perspective</a:t>
            </a:r>
            <a:endParaRPr/>
          </a:p>
          <a:p>
            <a:pPr indent="0" lvl="0" marL="0" rtl="0" algn="l">
              <a:spcBef>
                <a:spcPts val="0"/>
              </a:spcBef>
              <a:spcAft>
                <a:spcPts val="0"/>
              </a:spcAft>
              <a:buNone/>
            </a:pPr>
            <a:r>
              <a:rPr lang="en"/>
              <a:t>Notice collider correction to “fake perspective”</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g3d0d4f8444f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 name="Google Shape;100;g3d0d4f8444f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Infinite dungeon generation</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g3d14c6fc9de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7" name="Google Shape;107;g3d14c6fc9de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d0d4f8444f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d0d4f8444f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Show example of Debug.Draw</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 name="Shape 122"/>
        <p:cNvGrpSpPr/>
        <p:nvPr/>
      </p:nvGrpSpPr>
      <p:grpSpPr>
        <a:xfrm>
          <a:off x="0" y="0"/>
          <a:ext cx="0" cy="0"/>
          <a:chOff x="0" y="0"/>
          <a:chExt cx="0" cy="0"/>
        </a:xfrm>
      </p:grpSpPr>
      <p:sp>
        <p:nvSpPr>
          <p:cNvPr id="123" name="Google Shape;123;g3d0d4f8444f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4" name="Google Shape;124;g3d0d4f8444f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domain maps cleanly to the concept. Games are naturally event-driven — something happens (player takes damage, enemy dies, room clears) and multiple systems need to react.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solidFill>
                  <a:schemeClr val="dk1"/>
                </a:solidFill>
              </a:rPr>
              <a:t>Notice that the trigger (sword hits enemy) and the reactions (damage, sound, particles) are completely unrelated concerns - events keep them from getting tangled together - This also makes the reactions easy to add or remove later without touching the trigger code.</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
                <a:solidFill>
                  <a:schemeClr val="dk1"/>
                </a:solidFill>
              </a:rPr>
              <a:t>Keep in mind, not all of these need to be event-based</a:t>
            </a:r>
            <a:endParaRPr>
              <a:solidFill>
                <a:schemeClr val="dk1"/>
              </a:solidFil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g3d1261d8a3d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1" name="Google Shape;131;g3d1261d8a3d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decoupling</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g3cde4e978fb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7" name="Google Shape;137;g3cde4e978fb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decoupling</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g3d1261d8a3d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3" name="Google Shape;143;g3d1261d8a3d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g3d17f311e2b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0" name="Google Shape;150;g3d17f311e2b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3d1261d8a3d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6" name="Google Shape;156;g3d1261d8a3d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d14c6fc9de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d14c6fc9de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C# way of doing callbacks</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A callback in C# refers to a function or method that is passed as an argument to another method, allowing the receiving method to invoke it at a later time</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This is commonly used in scenarios where you want to execute a specific action after a task is completed, such as in asynchronous programming or event-driven systems.</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Func&lt;Room&gt; in Dungeon (factory)</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g3d10de0346e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3" name="Google Shape;173;g3d10de0346e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event keyword is about who has control. The owner fires, everyone else just listens. That boundary is what makes large codebases manageable.</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g3d14c6fc9de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0" name="Google Shape;180;g3d14c6fc9de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d17f311e2b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3d17f311e2b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It motivates why lambdas exist. The behaviour is one-off, it needs access to local variables, and extracting it into a named method would actually make the code harder to follow.</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d17f311e2b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5" name="Google Shape;195;g3d17f311e2b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None/>
            </a:pPr>
            <a:r>
              <a:rPr lang="en">
                <a:solidFill>
                  <a:schemeClr val="dk1"/>
                </a:solidFill>
              </a:rPr>
              <a:t>Player health changed? HUD Updated</a:t>
            </a:r>
            <a:endParaRPr>
              <a:solidFill>
                <a:schemeClr val="dk1"/>
              </a:solidFill>
            </a:endParaRPr>
          </a:p>
          <a:p>
            <a:pPr indent="0" lvl="0" marL="0" rtl="0" algn="l">
              <a:spcBef>
                <a:spcPts val="0"/>
              </a:spcBef>
              <a:spcAft>
                <a:spcPts val="0"/>
              </a:spcAft>
              <a:buNone/>
            </a:pPr>
            <a:r>
              <a:rPr lang="en">
                <a:solidFill>
                  <a:schemeClr val="dk1"/>
                </a:solidFill>
              </a:rPr>
              <a:t>Enemy dies</a:t>
            </a:r>
            <a:endParaRPr>
              <a:solidFill>
                <a:schemeClr val="dk1"/>
              </a:solidFill>
            </a:endParaRPr>
          </a:p>
          <a:p>
            <a:pPr indent="0" lvl="0" marL="0" rtl="0" algn="l">
              <a:spcBef>
                <a:spcPts val="0"/>
              </a:spcBef>
              <a:spcAft>
                <a:spcPts val="0"/>
              </a:spcAft>
              <a:buNone/>
            </a:pPr>
            <a:r>
              <a:rPr lang="en">
                <a:solidFill>
                  <a:schemeClr val="dk1"/>
                </a:solidFill>
              </a:rPr>
              <a:t>Sword is swung!</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
                <a:solidFill>
                  <a:schemeClr val="dk1"/>
                </a:solidFill>
              </a:rPr>
              <a:t>The one caveat: the codebase is small enough that the polling isn't actually painful yet, so students need to be told to imagine it at scale. But that's actually a good teaching moment too - when should you reach for events vs. just polling?</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d17f311e2b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1" name="Google Shape;201;g3d17f311e2b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g3d17f311e2b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7" name="Google Shape;207;g3d17f311e2b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 name="Shape 211"/>
        <p:cNvGrpSpPr/>
        <p:nvPr/>
      </p:nvGrpSpPr>
      <p:grpSpPr>
        <a:xfrm>
          <a:off x="0" y="0"/>
          <a:ext cx="0" cy="0"/>
          <a:chOff x="0" y="0"/>
          <a:chExt cx="0" cy="0"/>
        </a:xfrm>
      </p:grpSpPr>
      <p:sp>
        <p:nvSpPr>
          <p:cNvPr id="212" name="Google Shape;212;g3d17f311e2b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3" name="Google Shape;213;g3d17f311e2b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g3d17f311e2b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9" name="Google Shape;219;g3d17f311e2b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lerp on the camera and the lerp on the player are independent but run in parallel, which is what makes the player look like they're walking through the doorway rather than floating across a black screen.</a:t>
            </a:r>
            <a:endParaRPr/>
          </a:p>
          <a:p>
            <a:pPr indent="0" lvl="0" marL="0" rtl="0" algn="l">
              <a:spcBef>
                <a:spcPts val="0"/>
              </a:spcBef>
              <a:spcAft>
                <a:spcPts val="0"/>
              </a:spcAft>
              <a:buNone/>
            </a:pPr>
            <a:r>
              <a:rPr lang="en"/>
              <a:t>During the scroll, Room.Update is not called — enemies and gameplay are frozen until the transition finishes</a:t>
            </a:r>
            <a:endParaRPr/>
          </a:p>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g3d0d4f8444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6" name="Google Shape;226;g3d0d4f8444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Stencil buffer</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g3d17f311e2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3" name="Google Shape;233;g3d17f311e2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point out that a designer can read and edit XML without knowing C#</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g3d10de0346e_0_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1" name="Google Shape;241;g3d10de0346e_0_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 name="Shape 245"/>
        <p:cNvGrpSpPr/>
        <p:nvPr/>
      </p:nvGrpSpPr>
      <p:grpSpPr>
        <a:xfrm>
          <a:off x="0" y="0"/>
          <a:ext cx="0" cy="0"/>
          <a:chOff x="0" y="0"/>
          <a:chExt cx="0" cy="0"/>
        </a:xfrm>
      </p:grpSpPr>
      <p:sp>
        <p:nvSpPr>
          <p:cNvPr id="246" name="Google Shape;246;g3d14c6fc9de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7" name="Google Shape;247;g3d14c6fc9de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1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21.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hyperlink" Target="https://github.com/Metamate/gmd2-zelda"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3" Type="http://schemas.openxmlformats.org/officeDocument/2006/relationships/hyperlink" Target="https://github.com/Metamate/gmd2-zelda"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3.png"/><Relationship Id="rId5" Type="http://schemas.openxmlformats.org/officeDocument/2006/relationships/image" Target="../media/image10.png"/><Relationship Id="rId6"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4.png"/><Relationship Id="rId4" Type="http://schemas.openxmlformats.org/officeDocument/2006/relationships/hyperlink" Target="https://tartarus.rpgclassics.com/zelda1/1stquest/dungeonmaps.s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9.png"/><Relationship Id="rId4"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22.png"/><Relationship Id="rId4" Type="http://schemas.openxmlformats.org/officeDocument/2006/relationships/image" Target="../media/image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2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24.gif"/></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hyperlink" Target="http://easings.net"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hyperlink" Target="https://docs.monogame.net/articles/getting_to_know/whatis/graphics/WhatIs_StencilBuffer.html" TargetMode="External"/><Relationship Id="rId4" Type="http://schemas.openxmlformats.org/officeDocument/2006/relationships/image" Target="../media/image1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hyperlink" Target="https://drive.google.com/drive/folders/1jW4p7mRIVKq429lcZrWH-ANjmsq2l0sH?usp=drive_link"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08: The Legend of Zelda</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Legend of Zelda</a:t>
            </a:r>
            <a:endParaRPr/>
          </a:p>
        </p:txBody>
      </p:sp>
      <p:pic>
        <p:nvPicPr>
          <p:cNvPr id="46" name="Google Shape;46;p10"/>
          <p:cNvPicPr preferRelativeResize="0"/>
          <p:nvPr/>
        </p:nvPicPr>
        <p:blipFill>
          <a:blip r:embed="rId3">
            <a:alphaModFix/>
          </a:blip>
          <a:stretch>
            <a:fillRect/>
          </a:stretch>
        </p:blipFill>
        <p:spPr>
          <a:xfrm>
            <a:off x="1866575" y="1138124"/>
            <a:ext cx="5410826" cy="355465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52" name="Google Shape;52;p11" title="zelda3.gif"/>
          <p:cNvPicPr preferRelativeResize="0"/>
          <p:nvPr/>
        </p:nvPicPr>
        <p:blipFill>
          <a:blip r:embed="rId3">
            <a:alphaModFix/>
          </a:blip>
          <a:stretch>
            <a:fillRect/>
          </a:stretch>
        </p:blipFill>
        <p:spPr>
          <a:xfrm>
            <a:off x="1394074" y="1203675"/>
            <a:ext cx="6355851" cy="355412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Composition vs. Inheritance</a:t>
            </a:r>
            <a:endParaRPr/>
          </a:p>
          <a:p>
            <a:pPr indent="-330200" lvl="0" marL="457200" rtl="0" algn="l">
              <a:spcBef>
                <a:spcPts val="0"/>
              </a:spcBef>
              <a:spcAft>
                <a:spcPts val="0"/>
              </a:spcAft>
              <a:buSzPts val="1600"/>
              <a:buChar char="●"/>
            </a:pPr>
            <a:r>
              <a:rPr lang="en"/>
              <a:t>Observer Pattern (Delegates &amp; Events)</a:t>
            </a:r>
            <a:endParaRPr/>
          </a:p>
          <a:p>
            <a:pPr indent="-330200" lvl="0" marL="457200" rtl="0" algn="l">
              <a:spcBef>
                <a:spcPts val="0"/>
              </a:spcBef>
              <a:spcAft>
                <a:spcPts val="0"/>
              </a:spcAft>
              <a:buSzPts val="1600"/>
              <a:buChar char="●"/>
            </a:pPr>
            <a:r>
              <a:rPr lang="en"/>
              <a:t>Hitboxes/Hurtboxes</a:t>
            </a:r>
            <a:endParaRPr/>
          </a:p>
          <a:p>
            <a:pPr indent="-330200" lvl="0" marL="457200" rtl="0" algn="l">
              <a:spcBef>
                <a:spcPts val="0"/>
              </a:spcBef>
              <a:spcAft>
                <a:spcPts val="0"/>
              </a:spcAft>
              <a:buSzPts val="1600"/>
              <a:buChar char="●"/>
            </a:pPr>
            <a:r>
              <a:rPr lang="en"/>
              <a:t>A Tweening System</a:t>
            </a:r>
            <a:endParaRPr/>
          </a:p>
          <a:p>
            <a:pPr indent="-330200" lvl="0" marL="457200" rtl="0" algn="l">
              <a:spcBef>
                <a:spcPts val="0"/>
              </a:spcBef>
              <a:spcAft>
                <a:spcPts val="0"/>
              </a:spcAft>
              <a:buSzPts val="1600"/>
              <a:buChar char="●"/>
            </a:pPr>
            <a:r>
              <a:rPr lang="en"/>
              <a:t>Dungeon Generation</a:t>
            </a:r>
            <a:endParaRPr/>
          </a:p>
          <a:p>
            <a:pPr indent="-330200" lvl="0" marL="457200" rtl="0" algn="l">
              <a:spcBef>
                <a:spcPts val="0"/>
              </a:spcBef>
              <a:spcAft>
                <a:spcPts val="0"/>
              </a:spcAft>
              <a:buSzPts val="1600"/>
              <a:buChar char="●"/>
            </a:pPr>
            <a:r>
              <a:rPr lang="en"/>
              <a:t>Data-Driven Design (again)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64" name="Google Shape;64;p1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All Source code for today’s game can be found here:</a:t>
            </a:r>
            <a:endParaRPr/>
          </a:p>
          <a:p>
            <a:pPr indent="-317500" lvl="1" marL="914400" rtl="0" algn="l">
              <a:spcBef>
                <a:spcPts val="0"/>
              </a:spcBef>
              <a:spcAft>
                <a:spcPts val="0"/>
              </a:spcAft>
              <a:buSzPts val="1400"/>
              <a:buChar char="○"/>
            </a:pPr>
            <a:r>
              <a:rPr lang="en" u="sng">
                <a:solidFill>
                  <a:schemeClr val="hlink"/>
                </a:solidFill>
                <a:hlinkClick r:id="rId3"/>
              </a:rPr>
              <a:t>https://github.com/Metamate/gmd2-zelda</a:t>
            </a:r>
            <a:endParaRPr/>
          </a:p>
          <a:p>
            <a:pPr indent="-330200" lvl="0" marL="457200" rtl="0" algn="l">
              <a:spcBef>
                <a:spcPts val="0"/>
              </a:spcBef>
              <a:spcAft>
                <a:spcPts val="0"/>
              </a:spcAft>
              <a:buSzPts val="1600"/>
              <a:buChar char="●"/>
            </a:pPr>
            <a:r>
              <a:rPr lang="en"/>
              <a:t>Walkthrough in README.md</a:t>
            </a:r>
            <a:endParaRPr/>
          </a:p>
          <a:p>
            <a:pPr indent="-330200" lvl="0" marL="457200" rtl="0" algn="l">
              <a:spcBef>
                <a:spcPts val="0"/>
              </a:spcBef>
              <a:spcAft>
                <a:spcPts val="0"/>
              </a:spcAft>
              <a:buSzPts val="1600"/>
              <a:buChar char="●"/>
            </a:pPr>
            <a:r>
              <a:rPr lang="en"/>
              <a:t>The game is built up in steps: Zelda0 → Zelda7</a:t>
            </a:r>
            <a:endParaRPr/>
          </a:p>
          <a:p>
            <a:pPr indent="-317500" lvl="1" marL="914400" rtl="0" algn="l">
              <a:spcBef>
                <a:spcPts val="0"/>
              </a:spcBef>
              <a:spcAft>
                <a:spcPts val="0"/>
              </a:spcAft>
              <a:buSzPts val="1400"/>
              <a:buChar char="○"/>
            </a:pPr>
            <a:r>
              <a:rPr lang="en"/>
              <a:t>Each step is a separate project that adds one concept</a:t>
            </a:r>
            <a:endParaRPr/>
          </a:p>
          <a:p>
            <a:pPr indent="-317500" lvl="1" marL="914400" rtl="0" algn="l">
              <a:spcBef>
                <a:spcPts val="0"/>
              </a:spcBef>
              <a:spcAft>
                <a:spcPts val="0"/>
              </a:spcAft>
              <a:buSzPts val="1400"/>
              <a:buChar char="○"/>
            </a:pPr>
            <a:r>
              <a:rPr lang="en"/>
              <a:t>Compare neighbouring steps to see exactly what changed</a:t>
            </a:r>
            <a:endParaRPr/>
          </a:p>
          <a:p>
            <a:pPr indent="-330200" lvl="0" marL="457200" rtl="0" algn="l">
              <a:spcBef>
                <a:spcPts val="0"/>
              </a:spcBef>
              <a:spcAft>
                <a:spcPts val="0"/>
              </a:spcAft>
              <a:buSzPts val="1600"/>
              <a:buChar char="●"/>
            </a:pPr>
            <a:r>
              <a:rPr lang="en"/>
              <a:t>Zelda7 is the finished game: explore it, and start the exercises from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Steps</a:t>
            </a:r>
            <a:endParaRPr/>
          </a:p>
        </p:txBody>
      </p:sp>
      <p:sp>
        <p:nvSpPr>
          <p:cNvPr id="64" name="Google Shape;64;p1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Zelda0: rooms generated as tilemaps</a:t>
            </a:r>
            <a:endParaRPr/>
          </a:p>
          <a:p>
            <a:pPr indent="-330200" lvl="0" marL="457200" rtl="0" algn="l">
              <a:spcBef>
                <a:spcPts val="0"/>
              </a:spcBef>
              <a:spcAft>
                <a:spcPts val="0"/>
              </a:spcAft>
              <a:buSzPts val="1600"/>
              <a:buChar char="●"/>
            </a:pPr>
            <a:r>
              <a:rPr lang="en"/>
              <a:t>Zelda1: the player, top-down movement</a:t>
            </a:r>
            <a:endParaRPr/>
          </a:p>
          <a:p>
            <a:pPr indent="-330200" lvl="0" marL="457200" rtl="0" algn="l">
              <a:spcBef>
                <a:spcPts val="0"/>
              </a:spcBef>
              <a:spcAft>
                <a:spcPts val="0"/>
              </a:spcAft>
              <a:buSzPts val="1600"/>
              <a:buChar char="●"/>
            </a:pPr>
            <a:r>
              <a:rPr lang="en"/>
              <a:t>Zelda2: enemies and AI</a:t>
            </a:r>
            <a:endParaRPr/>
          </a:p>
          <a:p>
            <a:pPr indent="-330200" lvl="0" marL="457200" rtl="0" algn="l">
              <a:spcBef>
                <a:spcPts val="0"/>
              </a:spcBef>
              <a:spcAft>
                <a:spcPts val="0"/>
              </a:spcAft>
              <a:buSzPts val="1600"/>
              <a:buChar char="●"/>
            </a:pPr>
            <a:r>
              <a:rPr lang="en"/>
              <a:t>Zelda3: combat (hitboxes, hurtboxes and damage)</a:t>
            </a:r>
            <a:endParaRPr/>
          </a:p>
          <a:p>
            <a:pPr indent="-330200" lvl="0" marL="457200" rtl="0" algn="l">
              <a:spcBef>
                <a:spcPts val="0"/>
              </a:spcBef>
              <a:spcAft>
                <a:spcPts val="0"/>
              </a:spcAft>
              <a:buSzPts val="1600"/>
              <a:buChar char="●"/>
            </a:pPr>
            <a:r>
              <a:rPr lang="en"/>
              <a:t>Zelda4: events (player death, the floor switch and doorways)</a:t>
            </a:r>
            <a:endParaRPr/>
          </a:p>
          <a:p>
            <a:pPr indent="-330200" lvl="0" marL="457200" rtl="0" algn="l">
              <a:spcBef>
                <a:spcPts val="0"/>
              </a:spcBef>
              <a:spcAft>
                <a:spcPts val="0"/>
              </a:spcAft>
              <a:buSzPts val="1600"/>
              <a:buChar char="●"/>
            </a:pPr>
            <a:r>
              <a:rPr lang="en"/>
              <a:t>Zelda5: screen scrolling between rooms</a:t>
            </a:r>
            <a:endParaRPr/>
          </a:p>
          <a:p>
            <a:pPr indent="-330200" lvl="0" marL="457200" rtl="0" algn="l">
              <a:spcBef>
                <a:spcPts val="0"/>
              </a:spcBef>
              <a:spcAft>
                <a:spcPts val="0"/>
              </a:spcAft>
              <a:buSzPts val="1600"/>
              <a:buChar char="●"/>
            </a:pPr>
            <a:r>
              <a:rPr lang="en"/>
              <a:t>Zelda6: stenciling the door arches</a:t>
            </a:r>
            <a:endParaRPr/>
          </a:p>
          <a:p>
            <a:pPr indent="-330200" lvl="0" marL="457200" rtl="0" algn="l">
              <a:spcBef>
                <a:spcPts val="0"/>
              </a:spcBef>
              <a:spcAft>
                <a:spcPts val="0"/>
              </a:spcAft>
              <a:buSzPts val="1600"/>
              <a:buChar char="●"/>
            </a:pPr>
            <a:r>
              <a:rPr lang="en"/>
              <a:t>Zelda7: audio (the finished game)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sp>
        <p:nvSpPr>
          <p:cNvPr id="69" name="Google Shape;69;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Diagram</a:t>
            </a:r>
            <a:endParaRPr/>
          </a:p>
        </p:txBody>
      </p:sp>
      <p:pic>
        <p:nvPicPr>
          <p:cNvPr id="70" name="Google Shape;70;p14"/>
          <p:cNvPicPr preferRelativeResize="0"/>
          <p:nvPr/>
        </p:nvPicPr>
        <p:blipFill>
          <a:blip r:embed="rId3">
            <a:alphaModFix/>
          </a:blip>
          <a:stretch>
            <a:fillRect/>
          </a:stretch>
        </p:blipFill>
        <p:spPr>
          <a:xfrm>
            <a:off x="152400" y="1302340"/>
            <a:ext cx="8839200" cy="2746159"/>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 name="Shape 74"/>
        <p:cNvGrpSpPr/>
        <p:nvPr/>
      </p:nvGrpSpPr>
      <p:grpSpPr>
        <a:xfrm>
          <a:off x="0" y="0"/>
          <a:ext cx="0" cy="0"/>
          <a:chOff x="0" y="0"/>
          <a:chExt cx="0" cy="0"/>
        </a:xfrm>
      </p:grpSpPr>
      <p:sp>
        <p:nvSpPr>
          <p:cNvPr id="75" name="Google Shape;75;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Explore the Codebase</a:t>
            </a:r>
            <a:endParaRPr>
              <a:solidFill>
                <a:schemeClr val="accent5"/>
              </a:solidFill>
            </a:endParaRPr>
          </a:p>
        </p:txBody>
      </p:sp>
      <p:sp>
        <p:nvSpPr>
          <p:cNvPr id="76" name="Google Shape;76;p1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Take ~15 minutes to browse the finished game, Zelda7. Use the README as a guide if you need it.</a:t>
            </a:r>
            <a:endParaRPr/>
          </a:p>
          <a:p>
            <a:pPr indent="-330200" lvl="0" marL="457200" rtl="0" algn="l">
              <a:spcBef>
                <a:spcPts val="1200"/>
              </a:spcBef>
              <a:spcAft>
                <a:spcPts val="0"/>
              </a:spcAft>
              <a:buSzPts val="1600"/>
              <a:buChar char="●"/>
            </a:pPr>
            <a:r>
              <a:rPr lang="en"/>
              <a:t>Find where the game transitions between the title screen, gameplay, and game over</a:t>
            </a:r>
            <a:endParaRPr/>
          </a:p>
          <a:p>
            <a:pPr indent="-330200" lvl="0" marL="457200" rtl="0" algn="l">
              <a:spcBef>
                <a:spcPts val="0"/>
              </a:spcBef>
              <a:spcAft>
                <a:spcPts val="0"/>
              </a:spcAft>
              <a:buSzPts val="1600"/>
              <a:buChar char="●"/>
            </a:pPr>
            <a:r>
              <a:rPr lang="en"/>
              <a:t>How does the player move?</a:t>
            </a:r>
            <a:endParaRPr/>
          </a:p>
          <a:p>
            <a:pPr indent="-330200" lvl="0" marL="457200" rtl="0" algn="l">
              <a:spcBef>
                <a:spcPts val="0"/>
              </a:spcBef>
              <a:spcAft>
                <a:spcPts val="0"/>
              </a:spcAft>
              <a:buSzPts val="1600"/>
              <a:buChar char="●"/>
            </a:pPr>
            <a:r>
              <a:rPr lang="en"/>
              <a:t>Find where a new room is generated and what it contains when it is created</a:t>
            </a:r>
            <a:endParaRPr/>
          </a:p>
          <a:p>
            <a:pPr indent="-330200" lvl="0" marL="457200" rtl="0" algn="l">
              <a:spcBef>
                <a:spcPts val="0"/>
              </a:spcBef>
              <a:spcAft>
                <a:spcPts val="0"/>
              </a:spcAft>
              <a:buSzPts val="1600"/>
              <a:buChar char="●"/>
            </a:pPr>
            <a:r>
              <a:rPr lang="en"/>
              <a:t>The player and enemies share a lot of code</a:t>
            </a:r>
            <a:endParaRPr/>
          </a:p>
          <a:p>
            <a:pPr indent="-317500" lvl="1" marL="914400" rtl="0" algn="l">
              <a:spcBef>
                <a:spcPts val="0"/>
              </a:spcBef>
              <a:spcAft>
                <a:spcPts val="0"/>
              </a:spcAft>
              <a:buSzPts val="1400"/>
              <a:buChar char="○"/>
            </a:pPr>
            <a:r>
              <a:rPr lang="en"/>
              <a:t>Find the common base and explain what it provides</a:t>
            </a:r>
            <a:endParaRPr/>
          </a:p>
          <a:p>
            <a:pPr indent="-330200" lvl="0" marL="457200" rtl="0" algn="l">
              <a:spcBef>
                <a:spcPts val="0"/>
              </a:spcBef>
              <a:spcAft>
                <a:spcPts val="0"/>
              </a:spcAft>
              <a:buSzPts val="1600"/>
              <a:buChar char="●"/>
            </a:pPr>
            <a:r>
              <a:rPr lang="en"/>
              <a:t>Trace what happens from the moment the player presses the spacebar to an enemy taking damage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 name="Shape 80"/>
        <p:cNvGrpSpPr/>
        <p:nvPr/>
      </p:nvGrpSpPr>
      <p:grpSpPr>
        <a:xfrm>
          <a:off x="0" y="0"/>
          <a:ext cx="0" cy="0"/>
          <a:chOff x="0" y="0"/>
          <a:chExt cx="0" cy="0"/>
        </a:xfrm>
      </p:grpSpPr>
      <p:sp>
        <p:nvSpPr>
          <p:cNvPr id="81" name="Google Shape;81;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Assets</a:t>
            </a:r>
            <a:endParaRPr/>
          </a:p>
        </p:txBody>
      </p:sp>
      <p:pic>
        <p:nvPicPr>
          <p:cNvPr id="82" name="Google Shape;82;p16"/>
          <p:cNvPicPr preferRelativeResize="0"/>
          <p:nvPr/>
        </p:nvPicPr>
        <p:blipFill>
          <a:blip r:embed="rId3">
            <a:alphaModFix/>
          </a:blip>
          <a:stretch>
            <a:fillRect/>
          </a:stretch>
        </p:blipFill>
        <p:spPr>
          <a:xfrm>
            <a:off x="408713" y="1425731"/>
            <a:ext cx="4573375" cy="3129150"/>
          </a:xfrm>
          <a:prstGeom prst="rect">
            <a:avLst/>
          </a:prstGeom>
          <a:noFill/>
          <a:ln>
            <a:noFill/>
          </a:ln>
        </p:spPr>
      </p:pic>
      <p:pic>
        <p:nvPicPr>
          <p:cNvPr id="83" name="Google Shape;83;p16"/>
          <p:cNvPicPr preferRelativeResize="0"/>
          <p:nvPr/>
        </p:nvPicPr>
        <p:blipFill>
          <a:blip r:embed="rId4">
            <a:alphaModFix/>
          </a:blip>
          <a:stretch>
            <a:fillRect/>
          </a:stretch>
        </p:blipFill>
        <p:spPr>
          <a:xfrm>
            <a:off x="6649450" y="899667"/>
            <a:ext cx="1697749" cy="1697749"/>
          </a:xfrm>
          <a:prstGeom prst="rect">
            <a:avLst/>
          </a:prstGeom>
          <a:noFill/>
          <a:ln>
            <a:noFill/>
          </a:ln>
        </p:spPr>
      </p:pic>
      <p:pic>
        <p:nvPicPr>
          <p:cNvPr id="84" name="Google Shape;84;p16"/>
          <p:cNvPicPr preferRelativeResize="0"/>
          <p:nvPr/>
        </p:nvPicPr>
        <p:blipFill>
          <a:blip r:embed="rId5">
            <a:alphaModFix/>
          </a:blip>
          <a:stretch>
            <a:fillRect/>
          </a:stretch>
        </p:blipFill>
        <p:spPr>
          <a:xfrm>
            <a:off x="5454471" y="874004"/>
            <a:ext cx="848875" cy="1697749"/>
          </a:xfrm>
          <a:prstGeom prst="rect">
            <a:avLst/>
          </a:prstGeom>
          <a:noFill/>
          <a:ln>
            <a:noFill/>
          </a:ln>
        </p:spPr>
      </p:pic>
      <p:pic>
        <p:nvPicPr>
          <p:cNvPr id="85" name="Google Shape;85;p16"/>
          <p:cNvPicPr preferRelativeResize="0"/>
          <p:nvPr/>
        </p:nvPicPr>
        <p:blipFill>
          <a:blip r:embed="rId6">
            <a:alphaModFix/>
          </a:blip>
          <a:stretch>
            <a:fillRect/>
          </a:stretch>
        </p:blipFill>
        <p:spPr>
          <a:xfrm>
            <a:off x="5230038" y="2728758"/>
            <a:ext cx="3282825" cy="21885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Tooling</a:t>
            </a:r>
            <a:endParaRPr/>
          </a:p>
        </p:txBody>
      </p:sp>
      <p:pic>
        <p:nvPicPr>
          <p:cNvPr id="91" name="Google Shape;91;p17"/>
          <p:cNvPicPr preferRelativeResize="0"/>
          <p:nvPr/>
        </p:nvPicPr>
        <p:blipFill>
          <a:blip r:embed="rId3">
            <a:alphaModFix/>
          </a:blip>
          <a:stretch>
            <a:fillRect/>
          </a:stretch>
        </p:blipFill>
        <p:spPr>
          <a:xfrm>
            <a:off x="1597488" y="920715"/>
            <a:ext cx="5949024" cy="407038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 name="Shape 95"/>
        <p:cNvGrpSpPr/>
        <p:nvPr/>
      </p:nvGrpSpPr>
      <p:grpSpPr>
        <a:xfrm>
          <a:off x="0" y="0"/>
          <a:ext cx="0" cy="0"/>
          <a:chOff x="0" y="0"/>
          <a:chExt cx="0" cy="0"/>
        </a:xfrm>
      </p:grpSpPr>
      <p:sp>
        <p:nvSpPr>
          <p:cNvPr id="96" name="Google Shape;96;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Top-Down Perspective</a:t>
            </a:r>
            <a:endParaRPr/>
          </a:p>
        </p:txBody>
      </p:sp>
      <p:pic>
        <p:nvPicPr>
          <p:cNvPr id="97" name="Google Shape;97;p18"/>
          <p:cNvPicPr preferRelativeResize="0"/>
          <p:nvPr/>
        </p:nvPicPr>
        <p:blipFill>
          <a:blip r:embed="rId3">
            <a:alphaModFix/>
          </a:blip>
          <a:stretch>
            <a:fillRect/>
          </a:stretch>
        </p:blipFill>
        <p:spPr>
          <a:xfrm>
            <a:off x="1113789" y="1062675"/>
            <a:ext cx="6916425" cy="38630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 name="Shape 101"/>
        <p:cNvGrpSpPr/>
        <p:nvPr/>
      </p:nvGrpSpPr>
      <p:grpSpPr>
        <a:xfrm>
          <a:off x="0" y="0"/>
          <a:ext cx="0" cy="0"/>
          <a:chOff x="0" y="0"/>
          <a:chExt cx="0" cy="0"/>
        </a:xfrm>
      </p:grpSpPr>
      <p:sp>
        <p:nvSpPr>
          <p:cNvPr id="102" name="Google Shape;102;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Dungeon Generation</a:t>
            </a:r>
            <a:endParaRPr/>
          </a:p>
        </p:txBody>
      </p:sp>
      <p:pic>
        <p:nvPicPr>
          <p:cNvPr id="103" name="Google Shape;103;p19"/>
          <p:cNvPicPr preferRelativeResize="0"/>
          <p:nvPr/>
        </p:nvPicPr>
        <p:blipFill>
          <a:blip r:embed="rId3">
            <a:alphaModFix/>
          </a:blip>
          <a:stretch>
            <a:fillRect/>
          </a:stretch>
        </p:blipFill>
        <p:spPr>
          <a:xfrm>
            <a:off x="1988337" y="1363350"/>
            <a:ext cx="5167327" cy="3552550"/>
          </a:xfrm>
          <a:prstGeom prst="rect">
            <a:avLst/>
          </a:prstGeom>
          <a:noFill/>
          <a:ln>
            <a:noFill/>
          </a:ln>
        </p:spPr>
      </p:pic>
      <p:sp>
        <p:nvSpPr>
          <p:cNvPr id="104" name="Google Shape;104;p1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u="sng">
                <a:solidFill>
                  <a:schemeClr val="hlink"/>
                </a:solidFill>
                <a:hlinkClick r:id="rId4"/>
              </a:rPr>
              <a:t>Dungeon Maps</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 name="Shape 108"/>
        <p:cNvGrpSpPr/>
        <p:nvPr/>
      </p:nvGrpSpPr>
      <p:grpSpPr>
        <a:xfrm>
          <a:off x="0" y="0"/>
          <a:ext cx="0" cy="0"/>
          <a:chOff x="0" y="0"/>
          <a:chExt cx="0" cy="0"/>
        </a:xfrm>
      </p:grpSpPr>
      <p:sp>
        <p:nvSpPr>
          <p:cNvPr id="109" name="Google Shape;109;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Dungeon Generation</a:t>
            </a:r>
            <a:endParaRPr/>
          </a:p>
        </p:txBody>
      </p:sp>
      <p:pic>
        <p:nvPicPr>
          <p:cNvPr id="110" name="Google Shape;110;p20"/>
          <p:cNvPicPr preferRelativeResize="0"/>
          <p:nvPr/>
        </p:nvPicPr>
        <p:blipFill>
          <a:blip r:embed="rId3">
            <a:alphaModFix/>
          </a:blip>
          <a:stretch>
            <a:fillRect/>
          </a:stretch>
        </p:blipFill>
        <p:spPr>
          <a:xfrm>
            <a:off x="957900" y="888915"/>
            <a:ext cx="7228193" cy="4070385"/>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Hitboxes/Hurtboxes</a:t>
            </a:r>
            <a:endParaRPr/>
          </a:p>
        </p:txBody>
      </p:sp>
      <p:pic>
        <p:nvPicPr>
          <p:cNvPr id="116" name="Google Shape;116;p21"/>
          <p:cNvPicPr preferRelativeResize="0"/>
          <p:nvPr/>
        </p:nvPicPr>
        <p:blipFill>
          <a:blip r:embed="rId3">
            <a:alphaModFix/>
          </a:blip>
          <a:stretch>
            <a:fillRect/>
          </a:stretch>
        </p:blipFill>
        <p:spPr>
          <a:xfrm>
            <a:off x="420250" y="1033600"/>
            <a:ext cx="3436050" cy="1935950"/>
          </a:xfrm>
          <a:prstGeom prst="rect">
            <a:avLst/>
          </a:prstGeom>
          <a:noFill/>
          <a:ln>
            <a:noFill/>
          </a:ln>
        </p:spPr>
      </p:pic>
      <p:pic>
        <p:nvPicPr>
          <p:cNvPr id="117" name="Google Shape;117;p21"/>
          <p:cNvPicPr preferRelativeResize="0"/>
          <p:nvPr/>
        </p:nvPicPr>
        <p:blipFill>
          <a:blip r:embed="rId4">
            <a:alphaModFix/>
          </a:blip>
          <a:stretch>
            <a:fillRect/>
          </a:stretch>
        </p:blipFill>
        <p:spPr>
          <a:xfrm>
            <a:off x="4171546" y="2254075"/>
            <a:ext cx="4735726" cy="2655175"/>
          </a:xfrm>
          <a:prstGeom prst="rect">
            <a:avLst/>
          </a:prstGeom>
          <a:noFill/>
          <a:ln>
            <a:noFill/>
          </a:ln>
        </p:spPr>
      </p:pic>
      <p:cxnSp>
        <p:nvCxnSpPr>
          <p:cNvPr id="118" name="Google Shape;118;p21"/>
          <p:cNvCxnSpPr>
            <a:stCxn id="119" idx="1"/>
          </p:cNvCxnSpPr>
          <p:nvPr/>
        </p:nvCxnSpPr>
        <p:spPr>
          <a:xfrm flipH="1">
            <a:off x="2667075" y="1824150"/>
            <a:ext cx="1590900" cy="758100"/>
          </a:xfrm>
          <a:prstGeom prst="straightConnector1">
            <a:avLst/>
          </a:prstGeom>
          <a:noFill/>
          <a:ln cap="flat" cmpd="sng" w="9525">
            <a:solidFill>
              <a:srgbClr val="FF0000"/>
            </a:solidFill>
            <a:prstDash val="solid"/>
            <a:round/>
            <a:headEnd len="med" w="med" type="none"/>
            <a:tailEnd len="med" w="med" type="triangle"/>
          </a:ln>
        </p:spPr>
      </p:cxnSp>
      <p:cxnSp>
        <p:nvCxnSpPr>
          <p:cNvPr id="120" name="Google Shape;120;p21"/>
          <p:cNvCxnSpPr>
            <a:stCxn id="121" idx="0"/>
          </p:cNvCxnSpPr>
          <p:nvPr/>
        </p:nvCxnSpPr>
        <p:spPr>
          <a:xfrm rot="10800000">
            <a:off x="1877175" y="2471025"/>
            <a:ext cx="599100" cy="1272600"/>
          </a:xfrm>
          <a:prstGeom prst="straightConnector1">
            <a:avLst/>
          </a:prstGeom>
          <a:noFill/>
          <a:ln cap="flat" cmpd="sng" w="9525">
            <a:solidFill>
              <a:srgbClr val="00FF00"/>
            </a:solidFill>
            <a:prstDash val="solid"/>
            <a:round/>
            <a:headEnd len="med" w="med" type="none"/>
            <a:tailEnd len="med" w="med" type="triangle"/>
          </a:ln>
        </p:spPr>
      </p:cxnSp>
      <p:sp>
        <p:nvSpPr>
          <p:cNvPr id="119" name="Google Shape;119;p21"/>
          <p:cNvSpPr txBox="1"/>
          <p:nvPr/>
        </p:nvSpPr>
        <p:spPr>
          <a:xfrm>
            <a:off x="4257975" y="1633200"/>
            <a:ext cx="843000" cy="3819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0000"/>
                </a:solidFill>
                <a:latin typeface="Roboto Light"/>
                <a:ea typeface="Roboto Light"/>
                <a:cs typeface="Roboto Light"/>
                <a:sym typeface="Roboto Light"/>
              </a:rPr>
              <a:t>Hitbox</a:t>
            </a:r>
            <a:endParaRPr sz="1600">
              <a:solidFill>
                <a:srgbClr val="FF0000"/>
              </a:solidFill>
              <a:latin typeface="Roboto Light"/>
              <a:ea typeface="Roboto Light"/>
              <a:cs typeface="Roboto Light"/>
              <a:sym typeface="Roboto Light"/>
            </a:endParaRPr>
          </a:p>
        </p:txBody>
      </p:sp>
      <p:sp>
        <p:nvSpPr>
          <p:cNvPr id="121" name="Google Shape;121;p21"/>
          <p:cNvSpPr txBox="1"/>
          <p:nvPr/>
        </p:nvSpPr>
        <p:spPr>
          <a:xfrm>
            <a:off x="2004375" y="3743625"/>
            <a:ext cx="943800" cy="429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00FF00"/>
                </a:solidFill>
                <a:latin typeface="Roboto Light"/>
                <a:ea typeface="Roboto Light"/>
                <a:cs typeface="Roboto Light"/>
                <a:sym typeface="Roboto Light"/>
              </a:rPr>
              <a:t>Hurtbox</a:t>
            </a:r>
            <a:endParaRPr sz="1600">
              <a:solidFill>
                <a:srgbClr val="00FF00"/>
              </a:solidFill>
              <a:latin typeface="Roboto Light"/>
              <a:ea typeface="Roboto Light"/>
              <a:cs typeface="Roboto Light"/>
              <a:sym typeface="Roboto Light"/>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Events in Games</a:t>
            </a:r>
            <a:endParaRPr/>
          </a:p>
        </p:txBody>
      </p:sp>
      <p:sp>
        <p:nvSpPr>
          <p:cNvPr id="127" name="Google Shape;127;p22"/>
          <p:cNvSpPr txBox="1"/>
          <p:nvPr>
            <p:ph idx="1" type="body"/>
          </p:nvPr>
        </p:nvSpPr>
        <p:spPr>
          <a:xfrm>
            <a:off x="311700" y="885950"/>
            <a:ext cx="8520600" cy="108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Games are full of moments where something happens and other things need to react</a:t>
            </a:r>
            <a:endParaRPr/>
          </a:p>
          <a:p>
            <a:pPr indent="-330200" lvl="0" marL="457200" rtl="0" algn="l">
              <a:spcBef>
                <a:spcPts val="0"/>
              </a:spcBef>
              <a:spcAft>
                <a:spcPts val="0"/>
              </a:spcAft>
              <a:buSzPts val="1600"/>
              <a:buChar char="●"/>
            </a:pPr>
            <a:r>
              <a:rPr lang="en"/>
              <a:t>The thing that happened shouldn't need to know what those other things are</a:t>
            </a:r>
            <a:endParaRPr/>
          </a:p>
          <a:p>
            <a:pPr indent="-330200" lvl="0" marL="457200" rtl="0" algn="l">
              <a:spcBef>
                <a:spcPts val="0"/>
              </a:spcBef>
              <a:spcAft>
                <a:spcPts val="0"/>
              </a:spcAft>
              <a:buSzPts val="1600"/>
              <a:buChar char="●"/>
            </a:pPr>
            <a:r>
              <a:rPr lang="en"/>
              <a:t>Events let you flip that around: the trigger just announces, anything that cares subscribes</a:t>
            </a:r>
            <a:endParaRPr/>
          </a:p>
        </p:txBody>
      </p:sp>
      <p:pic>
        <p:nvPicPr>
          <p:cNvPr id="128" name="Google Shape;128;p22"/>
          <p:cNvPicPr preferRelativeResize="0"/>
          <p:nvPr/>
        </p:nvPicPr>
        <p:blipFill>
          <a:blip r:embed="rId3">
            <a:alphaModFix/>
          </a:blip>
          <a:stretch>
            <a:fillRect/>
          </a:stretch>
        </p:blipFill>
        <p:spPr>
          <a:xfrm>
            <a:off x="989977" y="2267725"/>
            <a:ext cx="7164024" cy="21690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 name="Shape 132"/>
        <p:cNvGrpSpPr/>
        <p:nvPr/>
      </p:nvGrpSpPr>
      <p:grpSpPr>
        <a:xfrm>
          <a:off x="0" y="0"/>
          <a:ext cx="0" cy="0"/>
          <a:chOff x="0" y="0"/>
          <a:chExt cx="0" cy="0"/>
        </a:xfrm>
      </p:grpSpPr>
      <p:sp>
        <p:nvSpPr>
          <p:cNvPr id="133" name="Google Shape;13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Observer Pattern</a:t>
            </a:r>
            <a:endParaRPr/>
          </a:p>
        </p:txBody>
      </p:sp>
      <p:pic>
        <p:nvPicPr>
          <p:cNvPr id="134" name="Google Shape;134;p23"/>
          <p:cNvPicPr preferRelativeResize="0"/>
          <p:nvPr/>
        </p:nvPicPr>
        <p:blipFill>
          <a:blip r:embed="rId3">
            <a:alphaModFix/>
          </a:blip>
          <a:stretch>
            <a:fillRect/>
          </a:stretch>
        </p:blipFill>
        <p:spPr>
          <a:xfrm>
            <a:off x="2247900" y="1280598"/>
            <a:ext cx="4648200" cy="2905125"/>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 name="Shape 138"/>
        <p:cNvGrpSpPr/>
        <p:nvPr/>
      </p:nvGrpSpPr>
      <p:grpSpPr>
        <a:xfrm>
          <a:off x="0" y="0"/>
          <a:ext cx="0" cy="0"/>
          <a:chOff x="0" y="0"/>
          <a:chExt cx="0" cy="0"/>
        </a:xfrm>
      </p:grpSpPr>
      <p:sp>
        <p:nvSpPr>
          <p:cNvPr id="139" name="Google Shape;139;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Observer Pattern</a:t>
            </a:r>
            <a:endParaRPr/>
          </a:p>
        </p:txBody>
      </p:sp>
      <p:pic>
        <p:nvPicPr>
          <p:cNvPr id="140" name="Google Shape;140;p24"/>
          <p:cNvPicPr preferRelativeResize="0"/>
          <p:nvPr/>
        </p:nvPicPr>
        <p:blipFill>
          <a:blip r:embed="rId3">
            <a:alphaModFix/>
          </a:blip>
          <a:stretch>
            <a:fillRect/>
          </a:stretch>
        </p:blipFill>
        <p:spPr>
          <a:xfrm>
            <a:off x="1017138" y="1498598"/>
            <a:ext cx="7109724" cy="2936950"/>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Publisher-Subscriber / Subject-Observer</a:t>
            </a:r>
            <a:endParaRPr/>
          </a:p>
        </p:txBody>
      </p:sp>
      <p:pic>
        <p:nvPicPr>
          <p:cNvPr id="146" name="Google Shape;146;p25"/>
          <p:cNvPicPr preferRelativeResize="0"/>
          <p:nvPr/>
        </p:nvPicPr>
        <p:blipFill>
          <a:blip r:embed="rId3">
            <a:alphaModFix/>
          </a:blip>
          <a:stretch>
            <a:fillRect/>
          </a:stretch>
        </p:blipFill>
        <p:spPr>
          <a:xfrm>
            <a:off x="4250600" y="2017251"/>
            <a:ext cx="4487800" cy="1734700"/>
          </a:xfrm>
          <a:prstGeom prst="rect">
            <a:avLst/>
          </a:prstGeom>
          <a:noFill/>
          <a:ln>
            <a:noFill/>
          </a:ln>
        </p:spPr>
      </p:pic>
      <p:pic>
        <p:nvPicPr>
          <p:cNvPr id="147" name="Google Shape;147;p25"/>
          <p:cNvPicPr preferRelativeResize="0"/>
          <p:nvPr/>
        </p:nvPicPr>
        <p:blipFill>
          <a:blip r:embed="rId4">
            <a:alphaModFix/>
          </a:blip>
          <a:stretch>
            <a:fillRect/>
          </a:stretch>
        </p:blipFill>
        <p:spPr>
          <a:xfrm>
            <a:off x="152400" y="1233567"/>
            <a:ext cx="3901575" cy="3138223"/>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However…</a:t>
            </a:r>
            <a:endParaRPr/>
          </a:p>
        </p:txBody>
      </p:sp>
      <p:sp>
        <p:nvSpPr>
          <p:cNvPr id="153" name="Google Shape;153;p26"/>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a:t>In C#, we don’t need to implement the observer pattern. Events are part of the language!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
        <p:nvSpPr>
          <p:cNvPr id="158" name="Google Shape;15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 Events</a:t>
            </a:r>
            <a:endParaRPr/>
          </a:p>
        </p:txBody>
      </p:sp>
      <p:pic>
        <p:nvPicPr>
          <p:cNvPr id="159" name="Google Shape;159;p27"/>
          <p:cNvPicPr preferRelativeResize="0"/>
          <p:nvPr/>
        </p:nvPicPr>
        <p:blipFill>
          <a:blip r:embed="rId3">
            <a:alphaModFix/>
          </a:blip>
          <a:stretch>
            <a:fillRect/>
          </a:stretch>
        </p:blipFill>
        <p:spPr>
          <a:xfrm>
            <a:off x="311700" y="1645271"/>
            <a:ext cx="3573650" cy="2392125"/>
          </a:xfrm>
          <a:prstGeom prst="rect">
            <a:avLst/>
          </a:prstGeom>
          <a:noFill/>
          <a:ln>
            <a:noFill/>
          </a:ln>
        </p:spPr>
      </p:pic>
      <p:pic>
        <p:nvPicPr>
          <p:cNvPr id="160" name="Google Shape;160;p27"/>
          <p:cNvPicPr preferRelativeResize="0"/>
          <p:nvPr/>
        </p:nvPicPr>
        <p:blipFill>
          <a:blip r:embed="rId4">
            <a:alphaModFix/>
          </a:blip>
          <a:stretch>
            <a:fillRect/>
          </a:stretch>
        </p:blipFill>
        <p:spPr>
          <a:xfrm>
            <a:off x="4010100" y="1297490"/>
            <a:ext cx="4953849" cy="3087673"/>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Delegates</a:t>
            </a:r>
            <a:endParaRPr/>
          </a:p>
        </p:txBody>
      </p:sp>
      <p:sp>
        <p:nvSpPr>
          <p:cNvPr id="166" name="Google Shape;166;p28"/>
          <p:cNvSpPr txBox="1"/>
          <p:nvPr>
            <p:ph idx="1" type="body"/>
          </p:nvPr>
        </p:nvSpPr>
        <p:spPr>
          <a:xfrm>
            <a:off x="311700" y="1353550"/>
            <a:ext cx="3999900" cy="1076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Built-in delegate types: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Action</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void, no args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Action</a:t>
            </a:r>
            <a:r>
              <a:rPr lang="en" sz="1000">
                <a:solidFill>
                  <a:srgbClr val="D4D4D4"/>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void, takes T</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Func</a:t>
            </a:r>
            <a:r>
              <a:rPr lang="en" sz="1000">
                <a:solidFill>
                  <a:srgbClr val="D4D4D4"/>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T, no args</a:t>
            </a:r>
            <a:endParaRPr/>
          </a:p>
        </p:txBody>
      </p:sp>
      <p:sp>
        <p:nvSpPr>
          <p:cNvPr id="167" name="Google Shape;167;p28"/>
          <p:cNvSpPr txBox="1"/>
          <p:nvPr>
            <p:ph idx="2" type="body"/>
          </p:nvPr>
        </p:nvSpPr>
        <p:spPr>
          <a:xfrm>
            <a:off x="4832400" y="1353550"/>
            <a:ext cx="3999900" cy="20820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GameObject.cs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Action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Room.cs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foreach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var</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Doorways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IsOpen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168" name="Google Shape;168;p28"/>
          <p:cNvSpPr txBox="1"/>
          <p:nvPr>
            <p:ph idx="1" type="body"/>
          </p:nvPr>
        </p:nvSpPr>
        <p:spPr>
          <a:xfrm>
            <a:off x="311700" y="887200"/>
            <a:ext cx="8520600" cy="408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A delegate is a variable that holds a reference to a method — call it later, from anywhere.</a:t>
            </a:r>
            <a:endParaRPr/>
          </a:p>
        </p:txBody>
      </p:sp>
      <p:sp>
        <p:nvSpPr>
          <p:cNvPr id="169" name="Google Shape;169;p28"/>
          <p:cNvSpPr txBox="1"/>
          <p:nvPr>
            <p:ph idx="1" type="body"/>
          </p:nvPr>
        </p:nvSpPr>
        <p:spPr>
          <a:xfrm>
            <a:off x="311700" y="2571750"/>
            <a:ext cx="3999900" cy="15369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Assign one handler</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Console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WriteLine</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"hit"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Add multiple handlers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PlaySound</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"hit"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FlashRed</a:t>
            </a:r>
            <a:r>
              <a:rPr lang="en" sz="1000">
                <a:solidFill>
                  <a:srgbClr val="CCCCCC"/>
                </a:solidFill>
                <a:highlight>
                  <a:srgbClr val="1F1F1F"/>
                </a:highlight>
                <a:latin typeface="Consolas"/>
                <a:ea typeface="Consolas"/>
                <a:cs typeface="Consolas"/>
                <a:sym typeface="Consolas"/>
              </a:rPr>
              <a:t>();</a:t>
            </a:r>
            <a:endParaRPr/>
          </a:p>
        </p:txBody>
      </p:sp>
      <p:sp>
        <p:nvSpPr>
          <p:cNvPr id="170" name="Google Shape;170;p28"/>
          <p:cNvSpPr txBox="1"/>
          <p:nvPr>
            <p:ph idx="1" type="body"/>
          </p:nvPr>
        </p:nvSpPr>
        <p:spPr>
          <a:xfrm>
            <a:off x="311700" y="4250450"/>
            <a:ext cx="3999900" cy="6093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Call all subscribers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OnCollide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Invoke</a:t>
            </a: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4" name="Shape 174"/>
        <p:cNvGrpSpPr/>
        <p:nvPr/>
      </p:nvGrpSpPr>
      <p:grpSpPr>
        <a:xfrm>
          <a:off x="0" y="0"/>
          <a:ext cx="0" cy="0"/>
          <a:chOff x="0" y="0"/>
          <a:chExt cx="0" cy="0"/>
        </a:xfrm>
      </p:grpSpPr>
      <p:sp>
        <p:nvSpPr>
          <p:cNvPr id="175" name="Google Shape;175;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 Events</a:t>
            </a:r>
            <a:endParaRPr/>
          </a:p>
        </p:txBody>
      </p:sp>
      <p:pic>
        <p:nvPicPr>
          <p:cNvPr id="176" name="Google Shape;176;p29"/>
          <p:cNvPicPr preferRelativeResize="0"/>
          <p:nvPr/>
        </p:nvPicPr>
        <p:blipFill>
          <a:blip r:embed="rId3">
            <a:alphaModFix/>
          </a:blip>
          <a:stretch>
            <a:fillRect/>
          </a:stretch>
        </p:blipFill>
        <p:spPr>
          <a:xfrm>
            <a:off x="853111" y="1975100"/>
            <a:ext cx="7437776" cy="2037250"/>
          </a:xfrm>
          <a:prstGeom prst="rect">
            <a:avLst/>
          </a:prstGeom>
          <a:noFill/>
          <a:ln>
            <a:noFill/>
          </a:ln>
        </p:spPr>
      </p:pic>
      <p:sp>
        <p:nvSpPr>
          <p:cNvPr id="177" name="Google Shape;177;p29"/>
          <p:cNvSpPr txBox="1"/>
          <p:nvPr>
            <p:ph idx="1" type="body"/>
          </p:nvPr>
        </p:nvSpPr>
        <p:spPr>
          <a:xfrm>
            <a:off x="311700" y="885950"/>
            <a:ext cx="8520600" cy="8322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a:t>
            </a:r>
            <a:r>
              <a:rPr lang="en"/>
              <a:t>n </a:t>
            </a:r>
            <a:r>
              <a:rPr lang="en"/>
              <a:t>event is a delegate with guardrails</a:t>
            </a:r>
            <a:endParaRPr/>
          </a:p>
          <a:p>
            <a:pPr indent="-317500" lvl="1" marL="914400" rtl="0" algn="l">
              <a:spcBef>
                <a:spcPts val="0"/>
              </a:spcBef>
              <a:spcAft>
                <a:spcPts val="0"/>
              </a:spcAft>
              <a:buSzPts val="1400"/>
              <a:buChar char="○"/>
            </a:pPr>
            <a:r>
              <a:rPr lang="en"/>
              <a:t>under the hood it is a delegate, but the event keyword restricts what outside code can do with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1" name="Shape 181"/>
        <p:cNvGrpSpPr/>
        <p:nvPr/>
      </p:nvGrpSpPr>
      <p:grpSpPr>
        <a:xfrm>
          <a:off x="0" y="0"/>
          <a:ext cx="0" cy="0"/>
          <a:chOff x="0" y="0"/>
          <a:chExt cx="0" cy="0"/>
        </a:xfrm>
      </p:grpSpPr>
      <p:sp>
        <p:nvSpPr>
          <p:cNvPr id="182" name="Google Shape;182;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Lambda Expressions</a:t>
            </a:r>
            <a:endParaRPr/>
          </a:p>
        </p:txBody>
      </p:sp>
      <p:sp>
        <p:nvSpPr>
          <p:cNvPr id="183" name="Google Shape;183;p30"/>
          <p:cNvSpPr txBox="1"/>
          <p:nvPr>
            <p:ph idx="1" type="body"/>
          </p:nvPr>
        </p:nvSpPr>
        <p:spPr>
          <a:xfrm>
            <a:off x="311700" y="1989425"/>
            <a:ext cx="8520600" cy="1566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lambda is an anonymous function</a:t>
            </a:r>
            <a:endParaRPr/>
          </a:p>
          <a:p>
            <a:pPr indent="-317500" lvl="1" marL="914400" rtl="0" algn="l">
              <a:spcBef>
                <a:spcPts val="0"/>
              </a:spcBef>
              <a:spcAft>
                <a:spcPts val="0"/>
              </a:spcAft>
              <a:buSzPts val="1400"/>
              <a:buChar char="○"/>
            </a:pPr>
            <a:r>
              <a:rPr lang="en"/>
              <a:t>A function defined inline, without a name</a:t>
            </a:r>
            <a:endParaRPr/>
          </a:p>
          <a:p>
            <a:pPr indent="-330200" lvl="0" marL="457200" rtl="0" algn="l">
              <a:spcBef>
                <a:spcPts val="0"/>
              </a:spcBef>
              <a:spcAft>
                <a:spcPts val="0"/>
              </a:spcAft>
              <a:buSzPts val="1600"/>
              <a:buChar char="●"/>
            </a:pPr>
            <a:r>
              <a:rPr lang="en"/>
              <a:t>A short piece of behaviour in one place without declaring a whole method for it</a:t>
            </a:r>
            <a:endParaRPr/>
          </a:p>
          <a:p>
            <a:pPr indent="-330200" lvl="0" marL="457200" rtl="0" algn="l">
              <a:spcBef>
                <a:spcPts val="0"/>
              </a:spcBef>
              <a:spcAft>
                <a:spcPts val="0"/>
              </a:spcAft>
              <a:buSzPts val="1600"/>
              <a:buChar char="●"/>
            </a:pPr>
            <a:r>
              <a:rPr lang="en"/>
              <a:t>Implicit return</a:t>
            </a:r>
            <a:endParaRPr/>
          </a:p>
          <a:p>
            <a:pPr indent="-330200" lvl="0" marL="457200" rtl="0" algn="l">
              <a:spcBef>
                <a:spcPts val="0"/>
              </a:spcBef>
              <a:spcAft>
                <a:spcPts val="0"/>
              </a:spcAft>
              <a:buSzPts val="1600"/>
              <a:buChar char="●"/>
            </a:pPr>
            <a:r>
              <a:rPr lang="en"/>
              <a:t>Common use: passing behaviour as an argument, or subscribing to events</a:t>
            </a:r>
            <a:endParaRPr/>
          </a:p>
        </p:txBody>
      </p:sp>
      <p:sp>
        <p:nvSpPr>
          <p:cNvPr id="184" name="Google Shape;184;p30"/>
          <p:cNvSpPr txBox="1"/>
          <p:nvPr>
            <p:ph idx="1" type="body"/>
          </p:nvPr>
        </p:nvSpPr>
        <p:spPr>
          <a:xfrm>
            <a:off x="311700" y="3795886"/>
            <a:ext cx="8520600" cy="8637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IsEven</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The same thing as a lambda</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endParaRPr/>
          </a:p>
        </p:txBody>
      </p:sp>
      <p:sp>
        <p:nvSpPr>
          <p:cNvPr id="185" name="Google Shape;185;p30"/>
          <p:cNvSpPr txBox="1"/>
          <p:nvPr>
            <p:ph idx="1" type="body"/>
          </p:nvPr>
        </p:nvSpPr>
        <p:spPr>
          <a:xfrm>
            <a:off x="311700" y="1066157"/>
            <a:ext cx="8520600" cy="8028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400"/>
              <a:t>(parameters) =&gt; expression</a:t>
            </a:r>
            <a:endParaRPr sz="2400"/>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31"/>
          <p:cNvSpPr txBox="1"/>
          <p:nvPr>
            <p:ph idx="1" type="body"/>
          </p:nvPr>
        </p:nvSpPr>
        <p:spPr>
          <a:xfrm>
            <a:off x="2965500" y="1018600"/>
            <a:ext cx="3213000" cy="2342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"unpressed"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foreach</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var</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Doorways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IsOpen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569CD6"/>
              </a:solidFill>
              <a:highlight>
                <a:srgbClr val="1F1F1F"/>
              </a:highlight>
              <a:latin typeface="Consolas"/>
              <a:ea typeface="Consolas"/>
              <a:cs typeface="Consolas"/>
              <a:sym typeface="Consolas"/>
            </a:endParaRPr>
          </a:p>
        </p:txBody>
      </p:sp>
      <p:sp>
        <p:nvSpPr>
          <p:cNvPr id="191" name="Google Shape;191;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Lambda Expressions &amp; Events</a:t>
            </a:r>
            <a:endParaRPr/>
          </a:p>
        </p:txBody>
      </p:sp>
      <p:sp>
        <p:nvSpPr>
          <p:cNvPr id="192" name="Google Shape;192;p31"/>
          <p:cNvSpPr txBox="1"/>
          <p:nvPr>
            <p:ph idx="1" type="body"/>
          </p:nvPr>
        </p:nvSpPr>
        <p:spPr>
          <a:xfrm>
            <a:off x="311700" y="3527800"/>
            <a:ext cx="8520600" cy="13716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lambda captures variables from its surrounding scope</a:t>
            </a:r>
            <a:endParaRPr/>
          </a:p>
          <a:p>
            <a:pPr indent="-317500" lvl="1" marL="914400" rtl="0" algn="l">
              <a:spcBef>
                <a:spcPts val="0"/>
              </a:spcBef>
              <a:spcAft>
                <a:spcPts val="0"/>
              </a:spcAft>
              <a:buSzPts val="1400"/>
              <a:buChar char="○"/>
            </a:pPr>
            <a:r>
              <a:rPr lang="en"/>
              <a:t>E.g. switchObj &amp; Doorways. This is called a closure.</a:t>
            </a:r>
            <a:endParaRPr/>
          </a:p>
          <a:p>
            <a:pPr indent="-330200" lvl="0" marL="457200" rtl="0" algn="l">
              <a:spcBef>
                <a:spcPts val="0"/>
              </a:spcBef>
              <a:spcAft>
                <a:spcPts val="0"/>
              </a:spcAft>
              <a:buSzPts val="1600"/>
              <a:buChar char="●"/>
            </a:pPr>
            <a:r>
              <a:rPr lang="en"/>
              <a:t>Without lambdas, the switch behaviour would need to be a separate named method that somehow still had access to switchObj and Doorways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sp>
        <p:nvSpPr>
          <p:cNvPr id="197" name="Google Shape;19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Making Zelda (more) Event-driven</a:t>
            </a:r>
            <a:endParaRPr>
              <a:solidFill>
                <a:schemeClr val="accent5"/>
              </a:solidFill>
            </a:endParaRPr>
          </a:p>
        </p:txBody>
      </p:sp>
      <p:sp>
        <p:nvSpPr>
          <p:cNvPr id="198" name="Google Shape;198;p3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OnPlayerDied is detected in one place but causes a game over screen to appear somewhere completely different. Trace the full chain through the code.</a:t>
            </a:r>
            <a:endParaRPr/>
          </a:p>
          <a:p>
            <a:pPr indent="-330200" lvl="0" marL="457200" rtl="0" algn="l">
              <a:spcBef>
                <a:spcPts val="0"/>
              </a:spcBef>
              <a:spcAft>
                <a:spcPts val="0"/>
              </a:spcAft>
              <a:buSzPts val="1600"/>
              <a:buChar char="●"/>
            </a:pPr>
            <a:r>
              <a:rPr lang="en"/>
              <a:t>Enemy death is handled asymmetrically to player death.</a:t>
            </a:r>
            <a:endParaRPr/>
          </a:p>
          <a:p>
            <a:pPr indent="-317500" lvl="1" marL="914400" rtl="0" algn="l">
              <a:spcBef>
                <a:spcPts val="0"/>
              </a:spcBef>
              <a:spcAft>
                <a:spcPts val="0"/>
              </a:spcAft>
              <a:buSzPts val="1400"/>
              <a:buChar char="○"/>
            </a:pPr>
            <a:r>
              <a:rPr lang="en"/>
              <a:t>What happens now when an enemy dies?</a:t>
            </a:r>
            <a:endParaRPr/>
          </a:p>
          <a:p>
            <a:pPr indent="-317500" lvl="1" marL="914400" rtl="0" algn="l">
              <a:spcBef>
                <a:spcPts val="0"/>
              </a:spcBef>
              <a:spcAft>
                <a:spcPts val="0"/>
              </a:spcAft>
              <a:buSzPts val="1400"/>
              <a:buChar char="○"/>
            </a:pPr>
            <a:r>
              <a:rPr lang="en"/>
              <a:t>What could happen if there were an event for it?</a:t>
            </a:r>
            <a:endParaRPr/>
          </a:p>
          <a:p>
            <a:pPr indent="-317500" lvl="1" marL="914400" rtl="0" algn="l">
              <a:spcBef>
                <a:spcPts val="0"/>
              </a:spcBef>
              <a:spcAft>
                <a:spcPts val="0"/>
              </a:spcAft>
              <a:buSzPts val="1400"/>
              <a:buChar char="○"/>
            </a:pPr>
            <a:r>
              <a:rPr lang="en"/>
              <a:t>What would you need to add, and where?</a:t>
            </a:r>
            <a:endParaRPr/>
          </a:p>
          <a:p>
            <a:pPr indent="-330200" lvl="0" marL="457200" rtl="0" algn="l">
              <a:spcBef>
                <a:spcPts val="0"/>
              </a:spcBef>
              <a:spcAft>
                <a:spcPts val="0"/>
              </a:spcAft>
              <a:buSzPts val="1600"/>
              <a:buChar char="●"/>
            </a:pPr>
            <a:r>
              <a:rPr lang="en"/>
              <a:t>SoundManager.PlaySound(...) is called directly from several unrelated classes.</a:t>
            </a:r>
            <a:endParaRPr/>
          </a:p>
          <a:p>
            <a:pPr indent="-317500" lvl="1" marL="914400" rtl="0" algn="l">
              <a:spcBef>
                <a:spcPts val="0"/>
              </a:spcBef>
              <a:spcAft>
                <a:spcPts val="0"/>
              </a:spcAft>
              <a:buSzPts val="1400"/>
              <a:buChar char="○"/>
            </a:pPr>
            <a:r>
              <a:rPr lang="en"/>
              <a:t>Find all the call sites. Why is this a problem, and how would events fix it?</a:t>
            </a:r>
            <a:endParaRPr/>
          </a:p>
          <a:p>
            <a:pPr indent="-330200" lvl="0" marL="457200" rtl="0" algn="l">
              <a:spcBef>
                <a:spcPts val="0"/>
              </a:spcBef>
              <a:spcAft>
                <a:spcPts val="0"/>
              </a:spcAft>
              <a:buSzPts val="1600"/>
              <a:buChar char="●"/>
            </a:pPr>
            <a:r>
              <a:rPr lang="en"/>
              <a:t>Pick one of the above and refactor it to be event-driven.</a:t>
            </a:r>
            <a:endParaRPr/>
          </a:p>
          <a:p>
            <a:pPr indent="-317500" lvl="1" marL="914400" rtl="0" algn="l">
              <a:spcBef>
                <a:spcPts val="0"/>
              </a:spcBef>
              <a:spcAft>
                <a:spcPts val="0"/>
              </a:spcAft>
              <a:buSzPts val="1400"/>
              <a:buChar char="○"/>
            </a:pPr>
            <a:r>
              <a:rPr lang="en"/>
              <a:t>The class firing the event should have no reference to the class reacting to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 name="Shape 202"/>
        <p:cNvGrpSpPr/>
        <p:nvPr/>
      </p:nvGrpSpPr>
      <p:grpSpPr>
        <a:xfrm>
          <a:off x="0" y="0"/>
          <a:ext cx="0" cy="0"/>
          <a:chOff x="0" y="0"/>
          <a:chExt cx="0" cy="0"/>
        </a:xfrm>
      </p:grpSpPr>
      <p:sp>
        <p:nvSpPr>
          <p:cNvPr id="203" name="Google Shape;203;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Screen Scrolling</a:t>
            </a:r>
            <a:endParaRPr/>
          </a:p>
        </p:txBody>
      </p:sp>
      <p:pic>
        <p:nvPicPr>
          <p:cNvPr id="204" name="Google Shape;204;p33" title="R.gif"/>
          <p:cNvPicPr preferRelativeResize="0"/>
          <p:nvPr/>
        </p:nvPicPr>
        <p:blipFill>
          <a:blip r:embed="rId3">
            <a:alphaModFix/>
          </a:blip>
          <a:stretch>
            <a:fillRect/>
          </a:stretch>
        </p:blipFill>
        <p:spPr>
          <a:xfrm>
            <a:off x="2842337" y="1240300"/>
            <a:ext cx="3459325" cy="3243125"/>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8" name="Shape 208"/>
        <p:cNvGrpSpPr/>
        <p:nvPr/>
      </p:nvGrpSpPr>
      <p:grpSpPr>
        <a:xfrm>
          <a:off x="0" y="0"/>
          <a:ext cx="0" cy="0"/>
          <a:chOff x="0" y="0"/>
          <a:chExt cx="0" cy="0"/>
        </a:xfrm>
      </p:grpSpPr>
      <p:sp>
        <p:nvSpPr>
          <p:cNvPr id="209" name="Google Shape;209;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Tweening</a:t>
            </a:r>
            <a:endParaRPr/>
          </a:p>
        </p:txBody>
      </p:sp>
      <p:sp>
        <p:nvSpPr>
          <p:cNvPr id="210" name="Google Shape;210;p3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Short for “in-betweening”</a:t>
            </a:r>
            <a:endParaRPr/>
          </a:p>
          <a:p>
            <a:pPr indent="-317500" lvl="1" marL="914400" rtl="0" algn="l">
              <a:spcBef>
                <a:spcPts val="0"/>
              </a:spcBef>
              <a:spcAft>
                <a:spcPts val="0"/>
              </a:spcAft>
              <a:buSzPts val="1400"/>
              <a:buChar char="○"/>
            </a:pPr>
            <a:r>
              <a:rPr lang="en"/>
              <a:t>Animating a value from A to B over time</a:t>
            </a:r>
            <a:endParaRPr/>
          </a:p>
          <a:p>
            <a:pPr indent="-330200" lvl="0" marL="457200" rtl="0" algn="l">
              <a:spcBef>
                <a:spcPts val="0"/>
              </a:spcBef>
              <a:spcAft>
                <a:spcPts val="0"/>
              </a:spcAft>
              <a:buSzPts val="1600"/>
              <a:buChar char="●"/>
            </a:pPr>
            <a:r>
              <a:rPr lang="en"/>
              <a:t>Comes from traditional animation</a:t>
            </a:r>
            <a:endParaRPr/>
          </a:p>
          <a:p>
            <a:pPr indent="-317500" lvl="1" marL="914400" rtl="0" algn="l">
              <a:spcBef>
                <a:spcPts val="0"/>
              </a:spcBef>
              <a:spcAft>
                <a:spcPts val="0"/>
              </a:spcAft>
              <a:buSzPts val="1400"/>
              <a:buChar char="○"/>
            </a:pPr>
            <a:r>
              <a:rPr lang="en"/>
              <a:t>Artists drew keyframes, assistants filled in the frames in between</a:t>
            </a:r>
            <a:endParaRPr/>
          </a:p>
          <a:p>
            <a:pPr indent="-330200" lvl="0" marL="457200" rtl="0" algn="l">
              <a:spcBef>
                <a:spcPts val="0"/>
              </a:spcBef>
              <a:spcAft>
                <a:spcPts val="0"/>
              </a:spcAft>
              <a:buSzPts val="1600"/>
              <a:buChar char="●"/>
            </a:pPr>
            <a:r>
              <a:rPr lang="en"/>
              <a:t>Instead of snapping a position instantly, you move it a little each frame until it arrives</a:t>
            </a:r>
            <a:endParaRPr/>
          </a:p>
          <a:p>
            <a:pPr indent="-330200" lvl="0" marL="457200" rtl="0" algn="l">
              <a:spcBef>
                <a:spcPts val="0"/>
              </a:spcBef>
              <a:spcAft>
                <a:spcPts val="0"/>
              </a:spcAft>
              <a:buSzPts val="1600"/>
              <a:buChar char="●"/>
            </a:pPr>
            <a:r>
              <a:rPr lang="en"/>
              <a:t>Used everywhere in games</a:t>
            </a:r>
            <a:endParaRPr/>
          </a:p>
          <a:p>
            <a:pPr indent="-317500" lvl="1" marL="914400" rtl="0" algn="l">
              <a:spcBef>
                <a:spcPts val="0"/>
              </a:spcBef>
              <a:spcAft>
                <a:spcPts val="0"/>
              </a:spcAft>
              <a:buSzPts val="1400"/>
              <a:buChar char="○"/>
            </a:pPr>
            <a:r>
              <a:rPr lang="en"/>
              <a:t>UI animations, camera movement, character transitions, screen wipes</a:t>
            </a:r>
            <a:endParaRPr/>
          </a:p>
          <a:p>
            <a:pPr indent="-330200" lvl="0" marL="457200" rtl="0" algn="l">
              <a:spcBef>
                <a:spcPts val="0"/>
              </a:spcBef>
              <a:spcAft>
                <a:spcPts val="0"/>
              </a:spcAft>
              <a:buSzPts val="1600"/>
              <a:buChar char="●"/>
            </a:pPr>
            <a:r>
              <a:rPr lang="en"/>
              <a:t>The two things you always need to define:</a:t>
            </a:r>
            <a:endParaRPr/>
          </a:p>
          <a:p>
            <a:pPr indent="-317500" lvl="1" marL="914400" rtl="0" algn="l">
              <a:spcBef>
                <a:spcPts val="0"/>
              </a:spcBef>
              <a:spcAft>
                <a:spcPts val="0"/>
              </a:spcAft>
              <a:buSzPts val="1400"/>
              <a:buChar char="○"/>
            </a:pPr>
            <a:r>
              <a:rPr lang="en"/>
              <a:t>What is moving</a:t>
            </a:r>
            <a:endParaRPr/>
          </a:p>
          <a:p>
            <a:pPr indent="-317500" lvl="1" marL="914400" rtl="0" algn="l">
              <a:spcBef>
                <a:spcPts val="0"/>
              </a:spcBef>
              <a:spcAft>
                <a:spcPts val="0"/>
              </a:spcAft>
              <a:buSzPts val="1400"/>
              <a:buChar char="○"/>
            </a:pPr>
            <a:r>
              <a:rPr lang="en"/>
              <a:t>How fast / by what curve (</a:t>
            </a:r>
            <a:r>
              <a:rPr lang="en" u="sng">
                <a:solidFill>
                  <a:schemeClr val="hlink"/>
                </a:solidFill>
                <a:hlinkClick r:id="rId3"/>
              </a:rPr>
              <a:t>Easings.net</a:t>
            </a:r>
            <a:r>
              <a:rPr lang="en"/>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4" name="Shape 214"/>
        <p:cNvGrpSpPr/>
        <p:nvPr/>
      </p:nvGrpSpPr>
      <p:grpSpPr>
        <a:xfrm>
          <a:off x="0" y="0"/>
          <a:ext cx="0" cy="0"/>
          <a:chOff x="0" y="0"/>
          <a:chExt cx="0" cy="0"/>
        </a:xfrm>
      </p:grpSpPr>
      <p:sp>
        <p:nvSpPr>
          <p:cNvPr id="215" name="Google Shape;215;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Linear Interpolation</a:t>
            </a:r>
            <a:endParaRPr/>
          </a:p>
        </p:txBody>
      </p:sp>
      <p:sp>
        <p:nvSpPr>
          <p:cNvPr id="216" name="Google Shape;216;p3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simplest tween curve - constant speed from A to B</a:t>
            </a:r>
            <a:endParaRPr/>
          </a:p>
          <a:p>
            <a:pPr indent="-330200" lvl="0" marL="457200" rtl="0" algn="l">
              <a:spcBef>
                <a:spcPts val="0"/>
              </a:spcBef>
              <a:spcAft>
                <a:spcPts val="0"/>
              </a:spcAft>
              <a:buSzPts val="1600"/>
              <a:buChar char="●"/>
            </a:pPr>
            <a:r>
              <a:rPr lang="en"/>
              <a:t>lerp(a, b, t) = a + (b - a) * t where t goes from 0 to 1</a:t>
            </a:r>
            <a:endParaRPr/>
          </a:p>
          <a:p>
            <a:pPr indent="-317500" lvl="1" marL="914400" rtl="0" algn="l">
              <a:spcBef>
                <a:spcPts val="0"/>
              </a:spcBef>
              <a:spcAft>
                <a:spcPts val="0"/>
              </a:spcAft>
              <a:buSzPts val="1400"/>
              <a:buChar char="○"/>
            </a:pPr>
            <a:r>
              <a:rPr lang="en"/>
              <a:t>t = 0 → result is a</a:t>
            </a:r>
            <a:endParaRPr/>
          </a:p>
          <a:p>
            <a:pPr indent="-317500" lvl="1" marL="914400" rtl="0" algn="l">
              <a:spcBef>
                <a:spcPts val="0"/>
              </a:spcBef>
              <a:spcAft>
                <a:spcPts val="0"/>
              </a:spcAft>
              <a:buSzPts val="1400"/>
              <a:buChar char="○"/>
            </a:pPr>
            <a:r>
              <a:rPr lang="en"/>
              <a:t>t = 0.5 → result is exactly halfway</a:t>
            </a:r>
            <a:endParaRPr/>
          </a:p>
          <a:p>
            <a:pPr indent="-317500" lvl="1" marL="914400" rtl="0" algn="l">
              <a:spcBef>
                <a:spcPts val="0"/>
              </a:spcBef>
              <a:spcAft>
                <a:spcPts val="0"/>
              </a:spcAft>
              <a:buSzPts val="1400"/>
              <a:buChar char="○"/>
            </a:pPr>
            <a:r>
              <a:rPr lang="en"/>
              <a:t>t = 1 → result is b</a:t>
            </a:r>
            <a:endParaRPr/>
          </a:p>
          <a:p>
            <a:pPr indent="-330200" lvl="0" marL="457200" rtl="0" algn="l">
              <a:spcBef>
                <a:spcPts val="0"/>
              </a:spcBef>
              <a:spcAft>
                <a:spcPts val="0"/>
              </a:spcAft>
              <a:buSzPts val="1600"/>
              <a:buChar char="●"/>
            </a:pPr>
            <a:r>
              <a:rPr lang="en"/>
              <a:t>"Linear" means equal steps</a:t>
            </a:r>
            <a:endParaRPr/>
          </a:p>
          <a:p>
            <a:pPr indent="-317500" lvl="1" marL="914400" rtl="0" algn="l">
              <a:spcBef>
                <a:spcPts val="0"/>
              </a:spcBef>
              <a:spcAft>
                <a:spcPts val="0"/>
              </a:spcAft>
              <a:buSzPts val="1400"/>
              <a:buChar char="○"/>
            </a:pPr>
            <a:r>
              <a:rPr lang="en"/>
              <a:t>The value moves the same amount every frame</a:t>
            </a:r>
            <a:endParaRPr/>
          </a:p>
          <a:p>
            <a:pPr indent="-330200" lvl="0" marL="457200" rtl="0" algn="l">
              <a:spcBef>
                <a:spcPts val="0"/>
              </a:spcBef>
              <a:spcAft>
                <a:spcPts val="0"/>
              </a:spcAft>
              <a:buSzPts val="1600"/>
              <a:buChar char="●"/>
            </a:pPr>
            <a:r>
              <a:rPr lang="en"/>
              <a:t>Works on anything numeric</a:t>
            </a:r>
            <a:endParaRPr/>
          </a:p>
          <a:p>
            <a:pPr indent="-317500" lvl="1" marL="914400" rtl="0" algn="l">
              <a:spcBef>
                <a:spcPts val="0"/>
              </a:spcBef>
              <a:spcAft>
                <a:spcPts val="0"/>
              </a:spcAft>
              <a:buSzPts val="1400"/>
              <a:buChar char="○"/>
            </a:pPr>
            <a:r>
              <a:rPr lang="en"/>
              <a:t>floats, positions, colours, even angles</a:t>
            </a:r>
            <a:endParaRPr/>
          </a:p>
          <a:p>
            <a:pPr indent="-330200" lvl="0" marL="457200" rtl="0" algn="l">
              <a:spcBef>
                <a:spcPts val="0"/>
              </a:spcBef>
              <a:spcAft>
                <a:spcPts val="0"/>
              </a:spcAft>
              <a:buSzPts val="1600"/>
              <a:buChar char="●"/>
            </a:pPr>
            <a:r>
              <a:rPr lang="en"/>
              <a:t>Non-linear curves (ease-in, ease-out) feel more natural but lerp is a good starting point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0" name="Shape 220"/>
        <p:cNvGrpSpPr/>
        <p:nvPr/>
      </p:nvGrpSpPr>
      <p:grpSpPr>
        <a:xfrm>
          <a:off x="0" y="0"/>
          <a:ext cx="0" cy="0"/>
          <a:chOff x="0" y="0"/>
          <a:chExt cx="0" cy="0"/>
        </a:xfrm>
      </p:grpSpPr>
      <p:sp>
        <p:nvSpPr>
          <p:cNvPr id="221" name="Google Shape;221;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Screen Scrolling</a:t>
            </a:r>
            <a:endParaRPr/>
          </a:p>
        </p:txBody>
      </p:sp>
      <p:sp>
        <p:nvSpPr>
          <p:cNvPr id="222" name="Google Shape;222;p36"/>
          <p:cNvSpPr txBox="1"/>
          <p:nvPr>
            <p:ph idx="1" type="body"/>
          </p:nvPr>
        </p:nvSpPr>
        <p:spPr>
          <a:xfrm>
            <a:off x="311700" y="885950"/>
            <a:ext cx="8520600" cy="28890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When the player walks through a door, two things tween simultaneously</a:t>
            </a:r>
            <a:endParaRPr/>
          </a:p>
          <a:p>
            <a:pPr indent="-317500" lvl="1" marL="914400" rtl="0" algn="l">
              <a:spcBef>
                <a:spcPts val="0"/>
              </a:spcBef>
              <a:spcAft>
                <a:spcPts val="0"/>
              </a:spcAft>
              <a:buSzPts val="1400"/>
              <a:buChar char="○"/>
            </a:pPr>
            <a:r>
              <a:rPr lang="en"/>
              <a:t>The camera - from (0, 0) to _shiftTarget (one screen width/height away)</a:t>
            </a:r>
            <a:endParaRPr/>
          </a:p>
          <a:p>
            <a:pPr indent="-317500" lvl="1" marL="914400" rtl="0" algn="l">
              <a:spcBef>
                <a:spcPts val="0"/>
              </a:spcBef>
              <a:spcAft>
                <a:spcPts val="0"/>
              </a:spcAft>
              <a:buSzPts val="1400"/>
              <a:buChar char="○"/>
            </a:pPr>
            <a:r>
              <a:rPr lang="en"/>
              <a:t>The player - from the exit doorway to the matching entry point in the new room</a:t>
            </a:r>
            <a:endParaRPr/>
          </a:p>
          <a:p>
            <a:pPr indent="-330200" lvl="0" marL="457200" rtl="0" algn="l">
              <a:spcBef>
                <a:spcPts val="0"/>
              </a:spcBef>
              <a:spcAft>
                <a:spcPts val="0"/>
              </a:spcAft>
              <a:buSzPts val="1600"/>
              <a:buChar char="●"/>
            </a:pPr>
            <a:r>
              <a:rPr lang="en"/>
              <a:t>The new room is placed at _shiftTarget and never moves</a:t>
            </a:r>
            <a:endParaRPr/>
          </a:p>
          <a:p>
            <a:pPr indent="-317500" lvl="1" marL="914400" rtl="0" algn="l">
              <a:spcBef>
                <a:spcPts val="0"/>
              </a:spcBef>
              <a:spcAft>
                <a:spcPts val="0"/>
              </a:spcAft>
              <a:buSzPts val="1400"/>
              <a:buChar char="○"/>
            </a:pPr>
            <a:r>
              <a:rPr lang="en"/>
              <a:t>The camera travelling toward it is what creates the scroll effect</a:t>
            </a:r>
            <a:endParaRPr/>
          </a:p>
          <a:p>
            <a:pPr indent="-330200" lvl="0" marL="457200" rtl="0" algn="l">
              <a:spcBef>
                <a:spcPts val="0"/>
              </a:spcBef>
              <a:spcAft>
                <a:spcPts val="0"/>
              </a:spcAft>
              <a:buSzPts val="1600"/>
              <a:buChar char="●"/>
            </a:pPr>
            <a:r>
              <a:rPr lang="en"/>
              <a:t>All objects render through the same camera.Transform * screenScaleMatrix</a:t>
            </a:r>
            <a:endParaRPr/>
          </a:p>
          <a:p>
            <a:pPr indent="-317500" lvl="1" marL="914400" rtl="0" algn="l">
              <a:spcBef>
                <a:spcPts val="0"/>
              </a:spcBef>
              <a:spcAft>
                <a:spcPts val="0"/>
              </a:spcAft>
              <a:buSzPts val="1400"/>
              <a:buChar char="○"/>
            </a:pPr>
            <a:r>
              <a:rPr lang="en"/>
              <a:t>The whole scene shifts together</a:t>
            </a:r>
            <a:endParaRPr/>
          </a:p>
          <a:p>
            <a:pPr indent="-330200" lvl="0" marL="457200" rtl="0" algn="l">
              <a:spcBef>
                <a:spcPts val="0"/>
              </a:spcBef>
              <a:spcAft>
                <a:spcPts val="0"/>
              </a:spcAft>
              <a:buSzPts val="1600"/>
              <a:buChar char="●"/>
            </a:pPr>
            <a:r>
              <a:rPr lang="en"/>
              <a:t>When the tween finishes, FinishShift makes the new room current</a:t>
            </a:r>
            <a:endParaRPr/>
          </a:p>
          <a:p>
            <a:pPr indent="-317500" lvl="1" marL="914400" rtl="0" algn="l">
              <a:spcBef>
                <a:spcPts val="0"/>
              </a:spcBef>
              <a:spcAft>
                <a:spcPts val="0"/>
              </a:spcAft>
              <a:buSzPts val="1400"/>
              <a:buChar char="○"/>
            </a:pPr>
            <a:r>
              <a:rPr lang="en"/>
              <a:t>Camera &amp; Player position is then reset</a:t>
            </a:r>
            <a:endParaRPr/>
          </a:p>
          <a:p>
            <a:pPr indent="-317500" lvl="1" marL="914400" rtl="0" algn="l">
              <a:spcBef>
                <a:spcPts val="0"/>
              </a:spcBef>
              <a:spcAft>
                <a:spcPts val="0"/>
              </a:spcAft>
              <a:buSzPts val="1400"/>
              <a:buChar char="○"/>
            </a:pPr>
            <a:r>
              <a:rPr lang="en"/>
              <a:t>Gameplay resumes (Room.Update is now called again)</a:t>
            </a:r>
            <a:endParaRPr/>
          </a:p>
        </p:txBody>
      </p:sp>
      <p:sp>
        <p:nvSpPr>
          <p:cNvPr id="223" name="Google Shape;223;p36"/>
          <p:cNvSpPr txBox="1"/>
          <p:nvPr>
            <p:ph idx="1" type="body"/>
          </p:nvPr>
        </p:nvSpPr>
        <p:spPr>
          <a:xfrm>
            <a:off x="1908900" y="3807823"/>
            <a:ext cx="5326200" cy="1092162"/>
          </a:xfrm>
          <a:prstGeom prst="rect">
            <a:avLst/>
          </a:prstGeom>
          <a:solidFill>
            <a:schemeClr val="dk2"/>
          </a:solidFill>
        </p:spPr>
        <p:txBody>
          <a:bodyPr anchorCtr="0" anchor="t" bIns="91425" lIns="91425" spcFirstLastPara="1" rIns="91425" wrap="square" tIns="91425">
            <a:normAutofit fontScale="85000" lnSpcReduction="20000"/>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Dungeon.cs, BeginShift</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_tweens.Tween(GameSettings.RoomShiftDuration)</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    .Add(t =&gt; /* move the camera */, 0f, 1f)</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    .Add(t =&gt; /* walk the player */, 0f, 1f)</a:t>
            </a:r>
            <a:endParaRPr sz="1000">
              <a:solidFill>
                <a:srgbClr val="9CDCFE"/>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    .Finish(FinishShift);</a:t>
            </a:r>
            <a:endParaRPr sz="1000">
              <a:solidFill>
                <a:srgbClr val="9CDCFE"/>
              </a:solidFill>
              <a:highlight>
                <a:srgbClr val="1F1F1F"/>
              </a:highlight>
              <a:latin typeface="Consolas"/>
              <a:ea typeface="Consolas"/>
              <a:cs typeface="Consolas"/>
              <a:sym typeface="Consola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7" name="Shape 227"/>
        <p:cNvGrpSpPr/>
        <p:nvPr/>
      </p:nvGrpSpPr>
      <p:grpSpPr>
        <a:xfrm>
          <a:off x="0" y="0"/>
          <a:ext cx="0" cy="0"/>
          <a:chOff x="0" y="0"/>
          <a:chExt cx="0" cy="0"/>
        </a:xfrm>
      </p:grpSpPr>
      <p:sp>
        <p:nvSpPr>
          <p:cNvPr id="228" name="Google Shape;228;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Stenciling</a:t>
            </a:r>
            <a:endParaRPr/>
          </a:p>
        </p:txBody>
      </p:sp>
      <p:sp>
        <p:nvSpPr>
          <p:cNvPr id="229" name="Google Shape;229;p37"/>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u="sng">
                <a:solidFill>
                  <a:schemeClr val="hlink"/>
                </a:solidFill>
                <a:hlinkClick r:id="rId3"/>
              </a:rPr>
              <a:t>Stencil buffer</a:t>
            </a:r>
            <a:endParaRPr/>
          </a:p>
        </p:txBody>
      </p:sp>
      <p:pic>
        <p:nvPicPr>
          <p:cNvPr id="230" name="Google Shape;230;p37"/>
          <p:cNvPicPr preferRelativeResize="0"/>
          <p:nvPr/>
        </p:nvPicPr>
        <p:blipFill>
          <a:blip r:embed="rId4">
            <a:alphaModFix/>
          </a:blip>
          <a:stretch>
            <a:fillRect/>
          </a:stretch>
        </p:blipFill>
        <p:spPr>
          <a:xfrm>
            <a:off x="2752000" y="1920300"/>
            <a:ext cx="3640000" cy="2319500"/>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4" name="Shape 234"/>
        <p:cNvGrpSpPr/>
        <p:nvPr/>
      </p:nvGrpSpPr>
      <p:grpSpPr>
        <a:xfrm>
          <a:off x="0" y="0"/>
          <a:ext cx="0" cy="0"/>
          <a:chOff x="0" y="0"/>
          <a:chExt cx="0" cy="0"/>
        </a:xfrm>
      </p:grpSpPr>
      <p:sp>
        <p:nvSpPr>
          <p:cNvPr id="235" name="Google Shape;235;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Data Driven Design</a:t>
            </a:r>
            <a:endParaRPr/>
          </a:p>
        </p:txBody>
      </p:sp>
      <p:sp>
        <p:nvSpPr>
          <p:cNvPr id="236" name="Google Shape;236;p38"/>
          <p:cNvSpPr txBox="1"/>
          <p:nvPr>
            <p:ph idx="1" type="body"/>
          </p:nvPr>
        </p:nvSpPr>
        <p:spPr>
          <a:xfrm>
            <a:off x="311700" y="885950"/>
            <a:ext cx="8520600" cy="23580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Content lives in config files, behaviour lives in C#</a:t>
            </a:r>
            <a:endParaRPr/>
          </a:p>
          <a:p>
            <a:pPr indent="-317500" lvl="1" marL="914400" rtl="0" algn="l">
              <a:spcBef>
                <a:spcPts val="0"/>
              </a:spcBef>
              <a:spcAft>
                <a:spcPts val="0"/>
              </a:spcAft>
              <a:buSzPts val="1400"/>
              <a:buChar char="○"/>
            </a:pPr>
            <a:r>
              <a:rPr lang="en"/>
              <a:t>This project uses XML — alternatives: JSON, YAML, TOML, Lua</a:t>
            </a:r>
            <a:endParaRPr/>
          </a:p>
          <a:p>
            <a:pPr indent="-330200" lvl="0" marL="457200" rtl="0" algn="l">
              <a:spcBef>
                <a:spcPts val="0"/>
              </a:spcBef>
              <a:spcAft>
                <a:spcPts val="0"/>
              </a:spcAft>
              <a:buSzPts val="1600"/>
              <a:buChar char="●"/>
            </a:pPr>
            <a:r>
              <a:rPr lang="en"/>
              <a:t>Definition classes parse the files once at startup into dictionaries</a:t>
            </a:r>
            <a:endParaRPr/>
          </a:p>
          <a:p>
            <a:pPr indent="-317500" lvl="1" marL="914400" rtl="0" algn="l">
              <a:spcBef>
                <a:spcPts val="0"/>
              </a:spcBef>
              <a:spcAft>
                <a:spcPts val="0"/>
              </a:spcAft>
              <a:buSzPts val="1400"/>
              <a:buChar char="○"/>
            </a:pPr>
            <a:r>
              <a:rPr lang="en"/>
              <a:t>The rest of the code never touches XML</a:t>
            </a:r>
            <a:endParaRPr/>
          </a:p>
          <a:p>
            <a:pPr indent="-330200" lvl="0" marL="457200" rtl="0" algn="l">
              <a:spcBef>
                <a:spcPts val="0"/>
              </a:spcBef>
              <a:spcAft>
                <a:spcPts val="0"/>
              </a:spcAft>
              <a:buSzPts val="1600"/>
              <a:buChar char="●"/>
            </a:pPr>
            <a:r>
              <a:rPr lang="en"/>
              <a:t>Adding a new enemy type = one &lt;Enemy&gt; block in XML + a spritesheet row</a:t>
            </a:r>
            <a:endParaRPr/>
          </a:p>
          <a:p>
            <a:pPr indent="-317500" lvl="1" marL="914400" rtl="0" algn="l">
              <a:spcBef>
                <a:spcPts val="0"/>
              </a:spcBef>
              <a:spcAft>
                <a:spcPts val="0"/>
              </a:spcAft>
              <a:buSzPts val="1400"/>
              <a:buChar char="○"/>
            </a:pPr>
            <a:r>
              <a:rPr lang="en"/>
              <a:t>No C# changes, no recompile</a:t>
            </a:r>
            <a:endParaRPr/>
          </a:p>
          <a:p>
            <a:pPr indent="-330200" lvl="0" marL="457200" rtl="0" algn="l">
              <a:spcBef>
                <a:spcPts val="0"/>
              </a:spcBef>
              <a:spcAft>
                <a:spcPts val="0"/>
              </a:spcAft>
              <a:buSzPts val="1600"/>
              <a:buChar char="●"/>
            </a:pPr>
            <a:r>
              <a:rPr lang="en"/>
              <a:t>GameObject has no if (type == "switch") anywhere</a:t>
            </a:r>
            <a:endParaRPr/>
          </a:p>
          <a:p>
            <a:pPr indent="-317500" lvl="1" marL="914400" rtl="0" algn="l">
              <a:spcBef>
                <a:spcPts val="0"/>
              </a:spcBef>
              <a:spcAft>
                <a:spcPts val="0"/>
              </a:spcAft>
              <a:buSzPts val="1400"/>
              <a:buChar char="○"/>
            </a:pPr>
            <a:r>
              <a:rPr lang="en"/>
              <a:t>the XML defines valid states, the C# just looks up the current state name at draw time</a:t>
            </a:r>
            <a:endParaRPr/>
          </a:p>
        </p:txBody>
      </p:sp>
      <p:sp>
        <p:nvSpPr>
          <p:cNvPr id="237" name="Google Shape;237;p38"/>
          <p:cNvSpPr txBox="1"/>
          <p:nvPr>
            <p:ph idx="1" type="body"/>
          </p:nvPr>
        </p:nvSpPr>
        <p:spPr>
          <a:xfrm>
            <a:off x="311700" y="3244025"/>
            <a:ext cx="8520600" cy="10995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Enemy</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type</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"skeleton"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width</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"16"</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height</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"16"</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walkSpeed</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"20"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health</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"1"</a:t>
            </a:r>
            <a:r>
              <a:rPr lang="en" sz="10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Animation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name</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"walk-down"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frames</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"9,10,11,10"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interval</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"0.2"</a:t>
            </a:r>
            <a:r>
              <a:rPr lang="en" sz="1000">
                <a:solidFill>
                  <a:srgbClr val="CCCCCC"/>
                </a:solidFill>
                <a:highlight>
                  <a:srgbClr val="1F1F1F"/>
                </a:highlight>
                <a:latin typeface="Consolas"/>
                <a:ea typeface="Consolas"/>
                <a:cs typeface="Consolas"/>
                <a:sym typeface="Consolas"/>
              </a:rPr>
              <a:t> </a:t>
            </a:r>
            <a:r>
              <a:rPr lang="en" sz="10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Animation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name</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"idle-down"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frames</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"10"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interval</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"0.2"</a:t>
            </a:r>
            <a:r>
              <a:rPr lang="en" sz="1000">
                <a:solidFill>
                  <a:srgbClr val="CCCCCC"/>
                </a:solidFill>
                <a:highlight>
                  <a:srgbClr val="1F1F1F"/>
                </a:highlight>
                <a:latin typeface="Consolas"/>
                <a:ea typeface="Consolas"/>
                <a:cs typeface="Consolas"/>
                <a:sym typeface="Consolas"/>
              </a:rPr>
              <a:t> </a:t>
            </a:r>
            <a:r>
              <a:rPr lang="en" sz="10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Enemy</a:t>
            </a:r>
            <a:r>
              <a:rPr lang="en" sz="1000">
                <a:solidFill>
                  <a:srgbClr val="808080"/>
                </a:solidFill>
                <a:highlight>
                  <a:srgbClr val="1F1F1F"/>
                </a:highlight>
                <a:latin typeface="Consolas"/>
                <a:ea typeface="Consolas"/>
                <a:cs typeface="Consolas"/>
                <a:sym typeface="Consolas"/>
              </a:rPr>
              <a:t>&gt;</a:t>
            </a:r>
            <a:endParaRPr/>
          </a:p>
        </p:txBody>
      </p:sp>
      <p:sp>
        <p:nvSpPr>
          <p:cNvPr id="238" name="Google Shape;238;p38"/>
          <p:cNvSpPr txBox="1"/>
          <p:nvPr>
            <p:ph idx="1" type="body"/>
          </p:nvPr>
        </p:nvSpPr>
        <p:spPr>
          <a:xfrm>
            <a:off x="311700" y="4321525"/>
            <a:ext cx="8520600" cy="572700"/>
          </a:xfrm>
          <a:prstGeom prst="rect">
            <a:avLst/>
          </a:prstGeom>
        </p:spPr>
        <p:txBody>
          <a:bodyPr anchorCtr="0" anchor="t" bIns="91425" lIns="91425" spcFirstLastPara="1" rIns="91425" wrap="square" tIns="91425">
            <a:normAutofit fontScale="85000"/>
          </a:bodyPr>
          <a:lstStyle/>
          <a:p>
            <a:pPr indent="0" lvl="0" marL="0" rtl="0" algn="l">
              <a:spcBef>
                <a:spcPts val="0"/>
              </a:spcBef>
              <a:spcAft>
                <a:spcPts val="1200"/>
              </a:spcAft>
              <a:buNone/>
            </a:pPr>
            <a:r>
              <a:rPr lang="en">
                <a:solidFill>
                  <a:schemeClr val="lt1"/>
                </a:solidFill>
              </a:rPr>
              <a:t>T</a:t>
            </a:r>
            <a:r>
              <a:rPr lang="en" sz="1600">
                <a:solidFill>
                  <a:schemeClr val="lt1"/>
                </a:solidFill>
              </a:rPr>
              <a:t>radeoff: typos in XML become runtime errors, not compile errors — the compiler can't catch type="skelton"</a:t>
            </a:r>
            <a:endParaRPr>
              <a:solidFill>
                <a:schemeClr val="lt1"/>
              </a:solidFil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3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Extending Zelda</a:t>
            </a:r>
            <a:endParaRPr>
              <a:solidFill>
                <a:schemeClr val="accent5"/>
              </a:solidFill>
            </a:endParaRPr>
          </a:p>
        </p:txBody>
      </p:sp>
      <p:sp>
        <p:nvSpPr>
          <p:cNvPr id="244" name="Google Shape;244;p3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Zelda7, the finished game</a:t>
            </a:r>
            <a:endParaRPr/>
          </a:p>
          <a:p>
            <a:pPr indent="-330200" lvl="0" marL="457200" rtl="0" algn="l">
              <a:spcBef>
                <a:spcPts val="0"/>
              </a:spcBef>
              <a:spcAft>
                <a:spcPts val="0"/>
              </a:spcAft>
              <a:buSzPts val="1600"/>
              <a:buChar char="●"/>
            </a:pPr>
            <a:r>
              <a:rPr lang="en"/>
              <a:t>Make some enemies drop hearts randomly, which heal the player for 2 damage</a:t>
            </a:r>
            <a:endParaRPr/>
          </a:p>
          <a:p>
            <a:pPr indent="-317500" lvl="1" marL="914400" rtl="0" algn="l">
              <a:spcBef>
                <a:spcPts val="0"/>
              </a:spcBef>
              <a:spcAft>
                <a:spcPts val="0"/>
              </a:spcAft>
              <a:buSzPts val="1400"/>
              <a:buChar char="○"/>
            </a:pPr>
            <a:r>
              <a:rPr lang="en"/>
              <a:t>I.e. one whole heart</a:t>
            </a:r>
            <a:endParaRPr/>
          </a:p>
          <a:p>
            <a:pPr indent="-330200" lvl="0" marL="457200" rtl="0" algn="l">
              <a:spcBef>
                <a:spcPts val="0"/>
              </a:spcBef>
              <a:spcAft>
                <a:spcPts val="0"/>
              </a:spcAft>
              <a:buSzPts val="1600"/>
              <a:buChar char="●"/>
            </a:pPr>
            <a:r>
              <a:rPr lang="en"/>
              <a:t>Allow the player to lift pots</a:t>
            </a:r>
            <a:endParaRPr/>
          </a:p>
          <a:p>
            <a:pPr indent="-317500" lvl="1" marL="914400" rtl="0" algn="l">
              <a:spcBef>
                <a:spcPts val="0"/>
              </a:spcBef>
              <a:spcAft>
                <a:spcPts val="0"/>
              </a:spcAft>
              <a:buSzPts val="1400"/>
              <a:buChar char="○"/>
            </a:pPr>
            <a:r>
              <a:rPr lang="en"/>
              <a:t>Using the animations included in the sp</a:t>
            </a:r>
            <a:r>
              <a:rPr lang="en">
                <a:solidFill>
                  <a:schemeClr val="lt1"/>
                </a:solidFill>
              </a:rPr>
              <a:t>rite sheets </a:t>
            </a:r>
            <a:r>
              <a:rPr lang="en" u="sng">
                <a:solidFill>
                  <a:schemeClr val="hlink"/>
                </a:solidFill>
                <a:hlinkClick r:id="rId3"/>
              </a:rPr>
              <a:t>here</a:t>
            </a:r>
            <a:endParaRPr>
              <a:solidFill>
                <a:schemeClr val="lt1"/>
              </a:solidFill>
            </a:endParaRPr>
          </a:p>
          <a:p>
            <a:pPr indent="-330200" lvl="0" marL="457200" rtl="0" algn="l">
              <a:spcBef>
                <a:spcPts val="0"/>
              </a:spcBef>
              <a:spcAft>
                <a:spcPts val="0"/>
              </a:spcAft>
              <a:buSzPts val="1600"/>
              <a:buChar char="●"/>
            </a:pPr>
            <a:r>
              <a:rPr lang="en"/>
              <a:t>Pots should stick to the player while they are carrying them</a:t>
            </a:r>
            <a:endParaRPr/>
          </a:p>
          <a:p>
            <a:pPr indent="-317500" lvl="1" marL="914400" rtl="0" algn="l">
              <a:spcBef>
                <a:spcPts val="0"/>
              </a:spcBef>
              <a:spcAft>
                <a:spcPts val="0"/>
              </a:spcAft>
              <a:buSzPts val="1400"/>
              <a:buChar char="○"/>
            </a:pPr>
            <a:r>
              <a:rPr lang="en"/>
              <a:t>The pot needs to track player position</a:t>
            </a:r>
            <a:endParaRPr/>
          </a:p>
          <a:p>
            <a:pPr indent="-330200" lvl="0" marL="457200" rtl="0" algn="l">
              <a:spcBef>
                <a:spcPts val="0"/>
              </a:spcBef>
              <a:spcAft>
                <a:spcPts val="0"/>
              </a:spcAft>
              <a:buSzPts val="1600"/>
              <a:buChar char="●"/>
            </a:pPr>
            <a:r>
              <a:rPr lang="en"/>
              <a:t>Allow the player to throw pots and damage enemies</a:t>
            </a:r>
            <a:endParaRPr/>
          </a:p>
          <a:p>
            <a:pPr indent="-317500" lvl="1" marL="914400" rtl="0" algn="l">
              <a:spcBef>
                <a:spcPts val="0"/>
              </a:spcBef>
              <a:spcAft>
                <a:spcPts val="0"/>
              </a:spcAft>
              <a:buSzPts val="1400"/>
              <a:buChar char="○"/>
            </a:pPr>
            <a:r>
              <a:rPr lang="en"/>
              <a:t>If it hits a wall, an enemy, or travels farther than four tiles, destroy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8" name="Shape 248"/>
        <p:cNvGrpSpPr/>
        <p:nvPr/>
      </p:nvGrpSpPr>
      <p:grpSpPr>
        <a:xfrm>
          <a:off x="0" y="0"/>
          <a:ext cx="0" cy="0"/>
          <a:chOff x="0" y="0"/>
          <a:chExt cx="0" cy="0"/>
        </a:xfrm>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50" name="Google Shape;250;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are the meaningful moments in your game?</a:t>
            </a:r>
            <a:endParaRPr/>
          </a:p>
          <a:p>
            <a:pPr indent="-317500" lvl="1" marL="914400" rtl="0" algn="l">
              <a:spcBef>
                <a:spcPts val="0"/>
              </a:spcBef>
              <a:spcAft>
                <a:spcPts val="0"/>
              </a:spcAft>
              <a:buSzPts val="1400"/>
              <a:buChar char="○"/>
            </a:pPr>
            <a:r>
              <a:rPr lang="en"/>
              <a:t>The things that happen that other systems might care about</a:t>
            </a:r>
            <a:endParaRPr/>
          </a:p>
          <a:p>
            <a:pPr indent="-330200" lvl="0" marL="457200" rtl="0" algn="l">
              <a:spcBef>
                <a:spcPts val="0"/>
              </a:spcBef>
              <a:spcAft>
                <a:spcPts val="0"/>
              </a:spcAft>
              <a:buSzPts val="1600"/>
              <a:buChar char="●"/>
            </a:pPr>
            <a:r>
              <a:rPr lang="en"/>
              <a:t>Map out at least two of them</a:t>
            </a:r>
            <a:endParaRPr/>
          </a:p>
          <a:p>
            <a:pPr indent="-317500" lvl="1" marL="914400" rtl="0" algn="l">
              <a:spcBef>
                <a:spcPts val="0"/>
              </a:spcBef>
              <a:spcAft>
                <a:spcPts val="0"/>
              </a:spcAft>
              <a:buSzPts val="1400"/>
              <a:buChar char="○"/>
            </a:pPr>
            <a:r>
              <a:rPr lang="en"/>
              <a:t>What fires the event, and what should react?</a:t>
            </a:r>
            <a:endParaRPr/>
          </a:p>
          <a:p>
            <a:pPr indent="-330200" lvl="0" marL="457200" rtl="0" algn="l">
              <a:spcBef>
                <a:spcPts val="0"/>
              </a:spcBef>
              <a:spcAft>
                <a:spcPts val="0"/>
              </a:spcAft>
              <a:buSzPts val="1600"/>
              <a:buChar char="●"/>
            </a:pPr>
            <a:r>
              <a:rPr lang="en"/>
              <a:t>Is there anywhere a class knows too much about another?</a:t>
            </a:r>
            <a:endParaRPr/>
          </a:p>
          <a:p>
            <a:pPr indent="-317500" lvl="1" marL="914400" rtl="0" algn="l">
              <a:spcBef>
                <a:spcPts val="0"/>
              </a:spcBef>
              <a:spcAft>
                <a:spcPts val="0"/>
              </a:spcAft>
              <a:buSzPts val="1400"/>
              <a:buChar char="○"/>
            </a:pPr>
            <a:r>
              <a:rPr lang="en"/>
              <a:t>Could an event fix that?</a:t>
            </a:r>
            <a:endParaRPr/>
          </a:p>
          <a:p>
            <a:pPr indent="-330200" lvl="0" marL="457200" rtl="0" algn="l">
              <a:spcBef>
                <a:spcPts val="0"/>
              </a:spcBef>
              <a:spcAft>
                <a:spcPts val="0"/>
              </a:spcAft>
              <a:buSzPts val="1600"/>
              <a:buChar char="●"/>
            </a:pPr>
            <a:r>
              <a:rPr lang="en"/>
              <a:t>Where does your game use inheritance?</a:t>
            </a:r>
            <a:endParaRPr/>
          </a:p>
          <a:p>
            <a:pPr indent="-317500" lvl="1" marL="914400" rtl="0" algn="l">
              <a:spcBef>
                <a:spcPts val="0"/>
              </a:spcBef>
              <a:spcAft>
                <a:spcPts val="0"/>
              </a:spcAft>
              <a:buSzPts val="1400"/>
              <a:buChar char="○"/>
            </a:pPr>
            <a:r>
              <a:rPr lang="en"/>
              <a:t>Is each subclass what something is, or what it can do?</a:t>
            </a:r>
            <a:endParaRPr/>
          </a:p>
        </p:txBody>
      </p:sp>
      <p:pic>
        <p:nvPicPr>
          <p:cNvPr id="251" name="Google Shape;251;p40"/>
          <p:cNvPicPr preferRelativeResize="0"/>
          <p:nvPr/>
        </p:nvPicPr>
        <p:blipFill>
          <a:blip r:embed="rId3">
            <a:alphaModFix/>
          </a:blip>
          <a:stretch>
            <a:fillRect/>
          </a:stretch>
        </p:blipFill>
        <p:spPr>
          <a:xfrm>
            <a:off x="3451113" y="3209325"/>
            <a:ext cx="2241775" cy="1699924"/>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Composition vs. Inheritance</a:t>
            </a:r>
            <a:endParaRPr>
              <a:solidFill>
                <a:schemeClr val="accent5"/>
              </a:solidFill>
            </a:endParaRPr>
          </a:p>
        </p:txBody>
      </p:sp>
      <p:sp>
        <p:nvSpPr>
          <p:cNvPr id="250" name="Google Shape;250;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player and the enemies share an abstract Entity base class</a:t>
            </a:r>
            <a:endParaRPr/>
          </a:p>
          <a:p>
            <a:pPr indent="-317500" lvl="1" marL="914400" rtl="0" algn="l">
              <a:spcBef>
                <a:spcPts val="0"/>
              </a:spcBef>
              <a:spcAft>
                <a:spcPts val="0"/>
              </a:spcAft>
              <a:buSzPts val="1400"/>
              <a:buChar char="○"/>
            </a:pPr>
            <a:r>
              <a:rPr lang="en"/>
              <a:t>Position, collision box, animations, health, invulnerability, a current state</a:t>
            </a:r>
            <a:endParaRPr/>
          </a:p>
          <a:p>
            <a:pPr indent="-330200" lvl="0" marL="457200" rtl="0" algn="l">
              <a:spcBef>
                <a:spcPts val="0"/>
              </a:spcBef>
              <a:spcAft>
                <a:spcPts val="0"/>
              </a:spcAft>
              <a:buSzPts val="1600"/>
              <a:buChar char="●"/>
            </a:pPr>
            <a:r>
              <a:rPr lang="en"/>
              <a:t>Inheritance works while there is one axis of variation</a:t>
            </a:r>
            <a:endParaRPr/>
          </a:p>
          <a:p>
            <a:pPr indent="-317500" lvl="1" marL="914400" rtl="0" algn="l">
              <a:spcBef>
                <a:spcPts val="0"/>
              </a:spcBef>
              <a:spcAft>
                <a:spcPts val="0"/>
              </a:spcAft>
              <a:buSzPts val="1400"/>
              <a:buChar char="○"/>
            </a:pPr>
            <a:r>
              <a:rPr lang="en"/>
              <a:t>But an enemy that shoots and flies and explodes?</a:t>
            </a:r>
            <a:endParaRPr/>
          </a:p>
          <a:p>
            <a:pPr indent="-330200" lvl="0" marL="457200" rtl="0" algn="l">
              <a:spcBef>
                <a:spcPts val="0"/>
              </a:spcBef>
              <a:spcAft>
                <a:spcPts val="0"/>
              </a:spcAft>
              <a:buSzPts val="1600"/>
              <a:buChar char="●"/>
            </a:pPr>
            <a:r>
              <a:rPr lang="en"/>
              <a:t>Deep hierarchies lead to duplicated code, or a bloated base class</a:t>
            </a:r>
            <a:endParaRPr/>
          </a:p>
          <a:p>
            <a:pPr indent="-330200" lvl="0" marL="457200" rtl="0" algn="l">
              <a:spcBef>
                <a:spcPts val="0"/>
              </a:spcBef>
              <a:spcAft>
                <a:spcPts val="0"/>
              </a:spcAft>
              <a:buSzPts val="1600"/>
              <a:buChar char="●"/>
            </a:pPr>
            <a:r>
              <a:rPr lang="en"/>
              <a:t>“Favor object composition over class inheritance” (Gang of Four)</a:t>
            </a:r>
            <a:endParaRP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Composition in Zelda</a:t>
            </a:r>
            <a:endParaRPr>
              <a:solidFill>
                <a:schemeClr val="accent5"/>
              </a:solidFill>
            </a:endParaRPr>
          </a:p>
        </p:txBody>
      </p:sp>
      <p:sp>
        <p:nvSpPr>
          <p:cNvPr id="250" name="Google Shape;250;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Behaviour in state objects</a:t>
            </a:r>
            <a:endParaRPr/>
          </a:p>
          <a:p>
            <a:pPr indent="-317500" lvl="1" marL="914400" rtl="0" algn="l">
              <a:spcBef>
                <a:spcPts val="0"/>
              </a:spcBef>
              <a:spcAft>
                <a:spcPts val="0"/>
              </a:spcAft>
              <a:buSzPts val="1400"/>
              <a:buChar char="○"/>
            </a:pPr>
            <a:r>
              <a:rPr lang="en"/>
              <a:t>An enemy’s AI is the state object it holds, not the Enemy class itself</a:t>
            </a:r>
            <a:endParaRPr/>
          </a:p>
          <a:p>
            <a:pPr indent="-330200" lvl="0" marL="457200" rtl="0" algn="l">
              <a:spcBef>
                <a:spcPts val="0"/>
              </a:spcBef>
              <a:spcAft>
                <a:spcPts val="0"/>
              </a:spcAft>
              <a:buSzPts val="1600"/>
              <a:buChar char="●"/>
            </a:pPr>
            <a:r>
              <a:rPr lang="en"/>
              <a:t>Behaviour wired from outside</a:t>
            </a:r>
            <a:endParaRPr/>
          </a:p>
          <a:p>
            <a:pPr indent="-317500" lvl="1" marL="914400" rtl="0" algn="l">
              <a:spcBef>
                <a:spcPts val="0"/>
              </a:spcBef>
              <a:spcAft>
                <a:spcPts val="0"/>
              </a:spcAft>
              <a:buSzPts val="1400"/>
              <a:buChar char="○"/>
            </a:pPr>
            <a:r>
              <a:rPr lang="en"/>
              <a:t>A floor switch is a plain GameObject; the room attaches what happens via OnCollide</a:t>
            </a:r>
            <a:endParaRPr/>
          </a:p>
          <a:p>
            <a:pPr indent="-330200" lvl="0" marL="457200" rtl="0" algn="l">
              <a:spcBef>
                <a:spcPts val="0"/>
              </a:spcBef>
              <a:spcAft>
                <a:spcPts val="0"/>
              </a:spcAft>
              <a:buSzPts val="1600"/>
              <a:buChar char="●"/>
            </a:pPr>
            <a:r>
              <a:rPr lang="en"/>
              <a:t>Data instead of subclasses</a:t>
            </a:r>
            <a:endParaRPr/>
          </a:p>
          <a:p>
            <a:pPr indent="-317500" lvl="1" marL="914400" rtl="0" algn="l">
              <a:spcBef>
                <a:spcPts val="0"/>
              </a:spcBef>
              <a:spcAft>
                <a:spcPts val="0"/>
              </a:spcAft>
              <a:buSzPts val="1400"/>
              <a:buChar char="○"/>
            </a:pPr>
            <a:r>
              <a:rPr lang="en"/>
              <a:t>Enemy types come from XML, not one class per type</a:t>
            </a:r>
            <a:endParaRPr/>
          </a:p>
          <a:p>
            <a:pPr indent="-330200" lvl="0" marL="457200" rtl="0" algn="l">
              <a:spcBef>
                <a:spcPts val="0"/>
              </a:spcBef>
              <a:spcAft>
                <a:spcPts val="0"/>
              </a:spcAft>
              <a:buSzPts val="1600"/>
              <a:buChar char="●"/>
            </a:pPr>
            <a:r>
              <a:rPr lang="en"/>
              <a:t>Ask: is it what something is, or what it can do?</a:t>
            </a:r>
            <a:endParaRPr/>
          </a:p>
          <a:p>
            <a:pPr indent="-317500" lvl="1" marL="914400" rtl="0" algn="l">
              <a:spcBef>
                <a:spcPts val="0"/>
              </a:spcBef>
              <a:spcAft>
                <a:spcPts val="0"/>
              </a:spcAft>
              <a:buSzPts val="1400"/>
              <a:buChar char="○"/>
            </a:pPr>
            <a:r>
              <a:rPr lang="en"/>
              <a:t>Plants vs. Zombies takes this all the way: the Component pattern</a:t>
            </a:r>
            <a:endParaRP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65" name="Google Shape;165;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Tweening System</a:t>
            </a:r>
            <a:endParaRPr/>
          </a:p>
        </p:txBody>
      </p:sp>
      <p:sp>
        <p:nvSpPr>
          <p:cNvPr id="249" name="Google Shape;249;p40"/>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Games tween all the time: fades, flashes, menus, floating numbers</a:t>
            </a:r>
            <a:endParaRPr/>
          </a:p>
          <a:p>
            <a:pPr indent="-330200" lvl="0" marL="457200" rtl="0" algn="l">
              <a:buClr>
                <a:srgbClr val="DEE2E6"/>
              </a:buClr>
              <a:spcBef>
                <a:spcPts val="0"/>
              </a:spcBef>
              <a:spcAft>
                <a:spcPts val="0"/>
              </a:spcAft>
              <a:buSzPts val="1600"/>
              <a:buChar char="●"/>
            </a:pPr>
            <a:r>
              <a:rPr lang="en" sz="1600">
                <a:solidFill>
                  <a:srgbClr val="DEE2E6"/>
                </a:solidFill>
              </a:rPr>
              <a:t>GMDCore gets a reusable TweenManager</a:t>
            </a:r>
            <a:endParaRPr/>
          </a:p>
          <a:p>
            <a:pPr indent="-317500" lvl="1" marL="914400" rtl="0" algn="l">
              <a:buClr>
                <a:srgbClr val="6C757D"/>
              </a:buClr>
              <a:spcBef>
                <a:spcPts val="0"/>
              </a:spcBef>
              <a:spcAft>
                <a:spcPts val="0"/>
              </a:spcAft>
              <a:buSzPts val="1400"/>
              <a:buChar char="○"/>
            </a:pPr>
            <a:r>
              <a:rPr lang="en" sz="1400">
                <a:solidFill>
                  <a:srgbClr val="6C757D"/>
                </a:solidFill>
              </a:rPr>
              <a:t>Tween: values from A to B over time</a:t>
            </a:r>
            <a:endParaRPr/>
          </a:p>
          <a:p>
            <a:pPr indent="-317500" lvl="1" marL="914400" rtl="0" algn="l">
              <a:buClr>
                <a:srgbClr val="6C757D"/>
              </a:buClr>
              <a:spcBef>
                <a:spcPts val="0"/>
              </a:spcBef>
              <a:spcAft>
                <a:spcPts val="0"/>
              </a:spcAft>
              <a:buSzPts val="1400"/>
              <a:buChar char="○"/>
            </a:pPr>
            <a:r>
              <a:rPr lang="en" sz="1400">
                <a:solidFill>
                  <a:srgbClr val="6C757D"/>
                </a:solidFill>
              </a:rPr>
              <a:t>After: run a method later</a:t>
            </a:r>
            <a:endParaRPr/>
          </a:p>
          <a:p>
            <a:pPr indent="-317500" lvl="1" marL="914400" rtl="0" algn="l">
              <a:buClr>
                <a:srgbClr val="6C757D"/>
              </a:buClr>
              <a:spcBef>
                <a:spcPts val="0"/>
              </a:spcBef>
              <a:spcAft>
                <a:spcPts val="0"/>
              </a:spcAft>
              <a:buSzPts val="1400"/>
              <a:buChar char="○"/>
            </a:pPr>
            <a:r>
              <a:rPr lang="en" sz="1400">
                <a:solidFill>
                  <a:srgbClr val="6C757D"/>
                </a:solidFill>
              </a:rPr>
              <a:t>Every: repeat at an interval</a:t>
            </a:r>
            <a:endParaRPr/>
          </a:p>
          <a:p>
            <a:pPr indent="-317500" lvl="1" marL="914400" rtl="0" algn="l">
              <a:buClr>
                <a:srgbClr val="6C757D"/>
              </a:buClr>
              <a:spcBef>
                <a:spcPts val="0"/>
              </a:spcBef>
              <a:spcAft>
                <a:spcPts val="0"/>
              </a:spcAft>
              <a:buSzPts val="1400"/>
              <a:buChar char="○"/>
            </a:pPr>
            <a:r>
              <a:rPr lang="en" sz="1400">
                <a:solidFill>
                  <a:srgbClr val="6C757D"/>
                </a:solidFill>
              </a:rPr>
              <a:t>Chaining: .Add() and .Finish()</a:t>
            </a:r>
            <a:endParaRPr/>
          </a:p>
          <a:p>
            <a:pPr indent="-330200" lvl="0" marL="457200" rtl="0" algn="l">
              <a:buClr>
                <a:srgbClr val="DEE2E6"/>
              </a:buClr>
              <a:spcBef>
                <a:spcPts val="0"/>
              </a:spcBef>
              <a:spcAft>
                <a:spcPts val="0"/>
              </a:spcAft>
              <a:buSzPts val="1600"/>
              <a:buChar char="●"/>
            </a:pPr>
            <a:r>
              <a:rPr lang="en" sz="1600">
                <a:solidFill>
                  <a:srgbClr val="DEE2E6"/>
                </a:solidFill>
              </a:rPr>
              <a:t>No progress variable, no “is it done yet?” check</a:t>
            </a:r>
            <a:endParaRPr/>
          </a:p>
        </p:txBody>
      </p:sp>
      <p:sp>
        <p:nvSpPr>
          <p:cNvPr id="166" name="Google Shape;166;p28"/>
          <p:cNvSpPr txBox="1"/>
          <p:nvPr>
            <p:ph idx="1" type="body"/>
          </p:nvPr>
        </p:nvSpPr>
        <p:spPr>
          <a:xfrm>
            <a:off x="4150000" y="1152475"/>
            <a:ext cx="4750000" cy="36000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_tweens.Tween(duration)</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.Add(t =&gt; _camera.Position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Vector2.Lerp(from, to, t), 0f, 1f)</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.Finish(FinishShift);</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_tweens.After(0.5f, () =&gt; Flash());</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_tweens.Every(0.1f, Blink).Limit(6);</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Every frame</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_tweens.Update(gameTime);</a:t>
            </a:r>
            <a:endParaRPr sz="1000">
              <a:solidFill>
                <a:srgbClr val="6A9955"/>
              </a:solidFill>
              <a:highlight>
                <a:srgbClr val="1F1F1F"/>
              </a:highlight>
              <a:latin typeface="Consolas"/>
              <a:ea typeface="Consolas"/>
              <a:cs typeface="Consolas"/>
              <a:sym typeface="Consolas"/>
            </a:endParaRP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 Composition</a:t>
            </a:r>
            <a:endParaRPr>
              <a:solidFill>
                <a:schemeClr val="accent5"/>
              </a:solidFill>
            </a:endParaRPr>
          </a:p>
        </p:txBody>
      </p:sp>
      <p:sp>
        <p:nvSpPr>
          <p:cNvPr id="250" name="Google Shape;250;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Sketch the class hierarchy for enemies that can walk, fly, shoot or explode, in any combination</a:t>
            </a:r>
            <a:endParaRPr/>
          </a:p>
          <a:p>
            <a:pPr indent="-330200" lvl="0" marL="457200" rtl="0" algn="l">
              <a:spcBef>
                <a:spcPts val="0"/>
              </a:spcBef>
              <a:spcAft>
                <a:spcPts val="0"/>
              </a:spcAft>
              <a:buSzPts val="1600"/>
              <a:buChar char="●"/>
            </a:pPr>
            <a:r>
              <a:rPr lang="en"/>
              <a:t>Then sketch it with composition: which parts would an enemy have?</a:t>
            </a:r>
            <a:endParaRPr/>
          </a:p>
          <a:p>
            <a:pPr indent="-330200" lvl="0" marL="457200" rtl="0" algn="l">
              <a:spcBef>
                <a:spcPts val="0"/>
              </a:spcBef>
              <a:spcAft>
                <a:spcPts val="0"/>
              </a:spcAft>
              <a:buSzPts val="1600"/>
              <a:buChar char="●"/>
            </a:pPr>
            <a:r>
              <a:rPr lang="en"/>
              <a:t>Implement one part</a:t>
            </a:r>
            <a:endParaRPr/>
          </a:p>
          <a:p>
            <a:pPr indent="-317500" lvl="1" marL="914400" rtl="0" algn="l">
              <a:spcBef>
                <a:spcPts val="0"/>
              </a:spcBef>
              <a:spcAft>
                <a:spcPts val="0"/>
              </a:spcAft>
              <a:buSzPts val="1400"/>
              <a:buChar char="○"/>
            </a:pPr>
            <a:r>
              <a:rPr lang="en"/>
              <a:t>E.g. a shooting behaviour that any enemy can be given</a:t>
            </a:r>
            <a:endParaRPr/>
          </a:p>
        </p:txBody>
      </p:sp>
    </p:spTree>
  </p:cSld>
  <p:clrMapOvr>
    <a:masterClrMapping/>
  </p:clrMapOvr>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