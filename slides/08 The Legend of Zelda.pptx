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88" r:id="rId47"/>
    <p:sldId id="261" r:id="rId11"/>
    <p:sldId id="262" r:id="rId12"/>
    <p:sldId id="289" r:id="rId48"/>
    <p:sldId id="290" r:id="rId49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1" r:id="rId50"/>
    <p:sldId id="284" r:id="rId34"/>
    <p:sldId id="285" r:id="rId35"/>
    <p:sldId id="286" r:id="rId36"/>
    <p:sldId id="292" r:id="rId51"/>
    <p:sldId id="294" r:id="rId53"/>
    <p:sldId id="287" r:id="rId37"/>
    <p:sldId id="293" r:id="rId52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VT323"/>
      <p:regular r:id="rId42"/>
    </p:embeddedFont>
    <p:embeddedFont>
      <p:font typeface="Roboto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8.xml"/><Relationship Id="rId38" Type="http://schemas.openxmlformats.org/officeDocument/2006/relationships/font" Target="fonts/Roboto-regular.fntdata"/><Relationship Id="rId39" Type="http://schemas.openxmlformats.org/officeDocument/2006/relationships/font" Target="fonts/Roboto-bold.fntdata"/><Relationship Id="rId40" Type="http://schemas.openxmlformats.org/officeDocument/2006/relationships/font" Target="fonts/Roboto-italic.fntdata"/><Relationship Id="rId41" Type="http://schemas.openxmlformats.org/officeDocument/2006/relationships/font" Target="fonts/Roboto-boldItalic.fntdata"/><Relationship Id="rId42" Type="http://schemas.openxmlformats.org/officeDocument/2006/relationships/font" Target="fonts/VT323-regular.fntdata"/><Relationship Id="rId43" Type="http://schemas.openxmlformats.org/officeDocument/2006/relationships/font" Target="fonts/RobotoLight-regular.fntdata"/><Relationship Id="rId44" Type="http://schemas.openxmlformats.org/officeDocument/2006/relationships/font" Target="fonts/RobotoLight-bold.fntdata"/><Relationship Id="rId45" Type="http://schemas.openxmlformats.org/officeDocument/2006/relationships/font" Target="fonts/RobotoLight-italic.fntdata"/><Relationship Id="rId46" Type="http://schemas.openxmlformats.org/officeDocument/2006/relationships/font" Target="fonts/RobotoLight-boldItalic.fntdata"/><Relationship Id="rId47" Type="http://schemas.openxmlformats.org/officeDocument/2006/relationships/slide" Target="slides/slide6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32.xml"/><Relationship Id="rId51" Type="http://schemas.openxmlformats.org/officeDocument/2006/relationships/slide" Target="slides/slide36.xml"/><Relationship Id="rId52" Type="http://schemas.openxmlformats.org/officeDocument/2006/relationships/slide" Target="slides/slide39.xml"/><Relationship Id="rId5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The Legend of Zelda. The main topic: composition vs. inheritance.</a:t>
            </a:r>
          </a:p>
          <a:p>
            <a:r>
              <a:t>Start by playing the finished game, Zelda7,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14c6fc9d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14c6fc9d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1986 original: top-down, room by room. Ask who has played a Zelda.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f6ac40e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f6ac40e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Zelda7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8f6ac40e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8f6ac40e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main topic: composition vs. inheritance. With it: the Observer pattern and C# events, hitboxes, and a tweening system.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ce57fd8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ce57fd8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gar-games/08-zelda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0de0346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0de0346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finished game’s main classes. Don’t read it all: find Entity, Player, Enemy, Room and Dungeon.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17f311e2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17f311e2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Fifteen minutes in pairs with Zelda7 and the README’s code map. Take answers to two or three of the questions afterwards.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10de034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10de034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sheets: tiles, the player walking and swinging, and the monsters. Not all on the same grid size.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0de034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0de034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LabelTiles writes each tile’s number onto a copy of the sheet. The XML refers to tiles by number; nobody can read those off an image. Small tools like this are common in game projects.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0de0346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0de0346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sprite is drawn higher than its collision box, so characters stand on the floor. Point at the player’s feet.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0d4f8444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0d4f8444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Real dungeon maps: rooms connected by doors. Ours is simpler: an endless series of rooms.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4c6fc9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14c6fc9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Each room is generated when entered: walls, a random floor, enemies, a switch and doors.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d4f8444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d4f844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hitbox deals damage (the sword), a hurtbox receives it (the body). Separate, so reach and body don’t have to match the sprite.</a:t>
            </a:r>
          </a:p>
          <a:p>
            <a:r>
              <a:t>Show F1 debug drawing in the game.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d4f8444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0d4f8444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Something happens, and other things need to react. The thing that happened shouldn’t need to know them.</a:t>
            </a:r>
          </a:p>
          <a:p>
            <a:r>
              <a:t>Ask: list moments in a game like this. Health changes, an enemy dies, a room clears, the sword swings.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1261d8a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1261d8a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subject announces; observers subscribe. The dependency is flipped: the subject doesn’t know who listens.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de4e978f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de4e978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structure: a list of observers, and notify calls each.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261d8a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261d8a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Two names for the same idea. Publisher-subscriber usually means there’s something in between.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7f311e2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17f311e2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 C# we don’t write the pattern ourselves: delegates and events are part of the language.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1261d8a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1261d8a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same Observer structure, with C# events instead of an interface.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14c6fc9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14c6fc9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delegate holds a reference to a method. Action and Func are the built-in ones. += adds a handler, Invoke calls them all.</a:t>
            </a:r>
          </a:p>
          <a:p>
            <a:r>
              <a:t>Point at the switch in Room.cs: that’s where the room wires its door logic.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0de0346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10de0346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An event is a delegate with guardrails: outside code can only += and -=. The owner fires; everyone else listens.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14c6fc9d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14c6fc9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lambda: a function without a name, written where it’s used. The same IsEven, twice.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17f311e2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17f311e2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switch handler captures switchObj and Doorways from the room: a closure.</a:t>
            </a:r>
          </a:p>
          <a:p>
            <a:r>
              <a:t>Ask: what would this look like as a named method? It would need both as fields or parameters.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17f311e2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17f311e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pick one of the three and refactor it. The class firing the event must not know who reacts.</a:t>
            </a:r>
          </a:p>
          <a:p>
            <a:r>
              <a:t>The OnPlayerDied chain is the one to trace first: room, dungeon, play state.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17f311e2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17f311e2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original’s scroll between rooms. How would you build this?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17f311e2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17f311e2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tween moves a value from A to B over time. The dots are nine frames of the same move: evenly spaced for linear, bunched up at the end for ease-out.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17f311e2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17f311e2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lerp: a plus a fraction of the way to b. t = 0, a; t = 1, b. Works on positions, colours, angles.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17f311e2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17f311e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next room is placed one screen away and never moves. The camera tweens towards it while the player walks through the door.</a:t>
            </a:r>
          </a:p>
          <a:p>
            <a:r>
              <a:t>When the tween finishes, the next room becomes the current one.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0d4f844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0d4f844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Without it, the player is drawn over the door arch. Three passes: rooms; arch masks into the stencil buffer only; the player where nothing is marked.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7f311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17f311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new enemy is one XML block and a row in the sheet. Ask the question: someone writes type="skelton". When do you find out? At runtime, not compile time. That’s the cost.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10de0346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10de0346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keys dropped by enemies, and locked doors they open.</a:t>
            </a:r>
          </a:p>
          <a:p>
            <a:r>
              <a:t>It joins the two ideas of the day: the key drop is an event, the locked look is data.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14c6fc9d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14c6fc9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Give the project groups five minutes with these questions.</a:t>
            </a:r>
          </a:p>
          <a:p>
            <a:r>
              <a:t>Ask two groups to share one answer each. Push for concrete classes and files, not intentions.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the tree with them: Enemy, then flying, shooting and exploding enemies. Then ask: an enemy that flies and shoots?</a:t>
            </a:r>
          </a:p>
          <a:p>
            <a:r>
              <a:t>Copy the code, or move it up into Enemy until every enemy carries everything. Neither is good.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Zelda already composes in three ways; go through the boxes.</a:t>
            </a:r>
          </a:p>
          <a:p>
            <a:r>
              <a:t>The question to keep asking: is this what something is, or what it can do? Plants vs. Zombies takes it all the way.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When does inheritance fit, and when is composition better?</a:t>
            </a:r>
          </a:p>
          <a:p>
            <a:r>
              <a:t>A: Inheritance fits when there is one clear "is a" axis and the shared behaviour is needed by every subclass. Composition fits when behaviours combine freely: instead of one subclass per combination, an object has the parts it needs, and they can even change at runtime.</a:t>
            </a:r>
          </a:p>
          <a:p/>
          <a:p>
            <a:r>
              <a:t>Q: Why does Observer suit UI code particularly well?</a:t>
            </a:r>
          </a:p>
          <a:p>
            <a:r>
              <a:t>A: The UI depends on the game data, but the game shouldn't depend on the UI. With events, the health bar subscribes to HealthChanged and gameplay code never needs to know a health bar exists. The UI also only updates when something actually changes.</a:t>
            </a:r>
          </a:p>
          <a:p/>
          <a:p>
            <a:r>
              <a:t>Q: What is the difference between a delegate and an event in C#?</a:t>
            </a:r>
          </a:p>
          <a:p>
            <a:r>
              <a:t>A: An event is a delegate that outside code can only subscribe to and unsubscribe from. Only the declaring class can invoke it or overwrite its subscriber list.</a:t>
            </a:r>
          </a:p>
          <a:p/>
          <a:p>
            <a:r>
              <a:t>Q: What is the cost of data-driven design?</a:t>
            </a:r>
          </a:p>
          <a:p>
            <a:r>
              <a:t>A: Errors move from compile time to runtime, you need loading and validation code, and behaviour is split between code and data files.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eight steps, one idea each. The README has the same table with more detail.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Games tween constantly, so GMDCore gets a TweenManager: Tween, After, Every, chained with Add and Finish. No progress variables anywhere.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Exercise: sketch the hierarchy, then the composition, then implement one part (a shooting behaviour any enemy can have).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milestone by session 09: the self-review, with an event map of your game.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4" Type="http://schemas.openxmlformats.org/officeDocument/2006/relationships/image" Target="../media/image25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Metamate/gar-games/tree/main/08-zeld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Metamate/gmd2-zeld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4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s://tartarus.rpgclassics.com/zelda1/1stquest/dungeonmaps.s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easings.net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monogame.net/articles/getting_to_know/whatis/graphics/WhatIs_StencilBuffer.html" TargetMode="External"/><Relationship Id="rId4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rive.google.com/drive/folders/1jW4p7mRIVKq429lcZrWH-ANjmsq2l0sH?usp=drive_link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08: The Legend of Zelda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Legend of Zelda</a:t>
            </a:r>
            <a:endParaRPr/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575" y="1138124"/>
            <a:ext cx="5410826" cy="35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52" name="Picture 52" descr="gif-zeld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77" y="1203675"/>
            <a:ext cx="6318444" cy="3554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Composition vs. Inheritance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Observer Pattern (Delegates &amp; Events)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Hitboxes/Hurtboxes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Tweening System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Dungeon Generation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Data-Driven Design (again)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08-zelda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(Zelda0 to Zelda7), a map of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Zelda0: rooms generated as tilemaps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Zelda1: the player, top-down movement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Zelda2: enemies and AI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Zelda3: combat (hitboxes, hurtboxes and damage)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Zelda4: events (player death, the floor switch and doorways)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Zelda5: screen scrolling between rooms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Zelda6: stenciling the door arches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Zelda7: audio (the finished game)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2340"/>
            <a:ext cx="8839200" cy="2746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Explore the Codebase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~15 minutes to browse the finished game, Zelda7. Use the README as a guide if you need it.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Find where the game transitions between the title screen, gameplay, and game over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does the player move?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Find where a new room is generated and what it contains when it is created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player and enemies share a lot of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common base and explain what it provides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Trace what happens from the moment the player presses the spacebar to an enemy taking damage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Composition vs. Inheritance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 enemy that flies, one that shoots, one that does both. Where do they go?</a:t>
            </a:r>
            <a:endParaRPr/>
          </a:p>
        </p:txBody>
      </p:sp>
      <p:sp>
        <p:nvSpPr>
          <p:cNvPr id="251" name="Rounded Rectangle 250"/>
          <p:cNvSpPr/>
          <p:nvPr/>
        </p:nvSpPr>
        <p:spPr>
          <a:xfrm>
            <a:off x="3566160" y="132588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Entity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566160" y="205740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Enemy</a:t>
            </a:r>
          </a:p>
        </p:txBody>
      </p:sp>
      <p:cxnSp>
        <p:nvCxnSpPr>
          <p:cNvPr id="253" name="Connector 252"/>
          <p:cNvCxnSpPr/>
          <p:nvPr/>
        </p:nvCxnSpPr>
        <p:spPr>
          <a:xfrm flipV="1">
            <a:off x="4572000" y="1847088"/>
            <a:ext cx="0" cy="19202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1097280" y="278892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FlyingEnemy</a:t>
            </a:r>
          </a:p>
        </p:txBody>
      </p:sp>
      <p:cxnSp>
        <p:nvCxnSpPr>
          <p:cNvPr id="255" name="Connector 254"/>
          <p:cNvCxnSpPr/>
          <p:nvPr/>
        </p:nvCxnSpPr>
        <p:spPr>
          <a:xfrm flipV="1">
            <a:off x="2148840" y="2578608"/>
            <a:ext cx="2423160" cy="19202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ounded Rectangle 255"/>
          <p:cNvSpPr/>
          <p:nvPr/>
        </p:nvSpPr>
        <p:spPr>
          <a:xfrm>
            <a:off x="3474720" y="278892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ShootingEnemy</a:t>
            </a:r>
          </a:p>
        </p:txBody>
      </p:sp>
      <p:cxnSp>
        <p:nvCxnSpPr>
          <p:cNvPr id="257" name="Connector 256"/>
          <p:cNvCxnSpPr/>
          <p:nvPr/>
        </p:nvCxnSpPr>
        <p:spPr>
          <a:xfrm flipV="1">
            <a:off x="4526280" y="2578608"/>
            <a:ext cx="45720" cy="19202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/>
          <p:cNvSpPr/>
          <p:nvPr/>
        </p:nvSpPr>
        <p:spPr>
          <a:xfrm>
            <a:off x="5852160" y="278892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ExplodingEnemy</a:t>
            </a:r>
          </a:p>
        </p:txBody>
      </p:sp>
      <p:cxnSp>
        <p:nvCxnSpPr>
          <p:cNvPr id="259" name="Connector 258"/>
          <p:cNvCxnSpPr/>
          <p:nvPr/>
        </p:nvCxnSpPr>
        <p:spPr>
          <a:xfrm flipH="1" flipV="1">
            <a:off x="4572000" y="2578608"/>
            <a:ext cx="2331720" cy="19202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Rounded Rectangle 259"/>
          <p:cNvSpPr/>
          <p:nvPr/>
        </p:nvSpPr>
        <p:spPr>
          <a:xfrm>
            <a:off x="2286000" y="3566160"/>
            <a:ext cx="457200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FlyingShootingEnemy? copy code, or move it all up?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“Favor object composition over class inheritance.” Gang of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Composition in Zelda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Zelda already composes: ask whether it’s what something is, or what it can do.</a:t>
            </a:r>
            <a:endParaRPr/>
          </a:p>
        </p:txBody>
      </p:sp>
      <p:sp>
        <p:nvSpPr>
          <p:cNvPr id="251" name="Rounded Rectangle 250"/>
          <p:cNvSpPr/>
          <p:nvPr/>
        </p:nvSpPr>
        <p:spPr>
          <a:xfrm>
            <a:off x="41148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Behaviour in state objects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an enemy’s AI is the state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it holds, not the Enemy class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24612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Behaviour wired from outside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switch is a plain GameObject;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the room attaches OnCollide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6080760" y="146304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Data instead of subclasses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enemy types come from XML,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not one class each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11480" y="29260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Plants vs. Zombies takes this all the way: the Component pattern.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Assets</a:t>
            </a:r>
            <a:endParaRPr/>
          </a:p>
        </p:txBody>
      </p:sp>
      <p:pic>
        <p:nvPicPr>
          <p:cNvPr id="82" name="Picture 85" descr="zelda_tileshe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14" y="1425731"/>
            <a:ext cx="4573373" cy="3129150"/>
          </a:xfrm>
          <a:prstGeom prst="rect">
            <a:avLst/>
          </a:prstGeom>
        </p:spPr>
      </p:pic>
      <p:pic>
        <p:nvPicPr>
          <p:cNvPr id="83" name="Picture 85" descr="zelda_swo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450" y="899667"/>
            <a:ext cx="1697749" cy="1697749"/>
          </a:xfrm>
          <a:prstGeom prst="rect">
            <a:avLst/>
          </a:prstGeom>
        </p:spPr>
      </p:pic>
      <p:pic>
        <p:nvPicPr>
          <p:cNvPr id="84" name="Picture 85" descr="zelda_wal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4471" y="874004"/>
            <a:ext cx="848874" cy="1697749"/>
          </a:xfrm>
          <a:prstGeom prst="rect">
            <a:avLst/>
          </a:prstGeom>
        </p:spPr>
      </p:pic>
      <p:pic>
        <p:nvPicPr>
          <p:cNvPr id="85" name="Picture 85" descr="zelda_entiti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038" y="2728758"/>
            <a:ext cx="3282825" cy="2188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pic>
        <p:nvPicPr>
          <p:cNvPr id="91" name="Picture 91" descr="tilesheet_labe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488" y="920715"/>
            <a:ext cx="5949024" cy="4070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Top-Down Perspective</a:t>
            </a:r>
            <a:endParaRPr/>
          </a:p>
        </p:txBody>
      </p:sp>
      <p:pic>
        <p:nvPicPr>
          <p:cNvPr id="97" name="Picture 97" descr="zelda-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24" y="1062675"/>
            <a:ext cx="6867555" cy="3862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Dungeon Generation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337" y="1363350"/>
            <a:ext cx="5167327" cy="35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Dungeon Maps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Dungeon Generation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900" y="888915"/>
            <a:ext cx="7228193" cy="4070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Hitboxes/Hurtboxes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50" y="1033600"/>
            <a:ext cx="3436050" cy="19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546" y="2254075"/>
            <a:ext cx="4735726" cy="265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1"/>
          <p:cNvCxnSpPr>
            <a:stCxn id="119" idx="1"/>
          </p:cNvCxnSpPr>
          <p:nvPr/>
        </p:nvCxnSpPr>
        <p:spPr>
          <a:xfrm flipH="1">
            <a:off x="2667075" y="1824150"/>
            <a:ext cx="1590900" cy="758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>
            <a:stCxn id="121" idx="0"/>
          </p:cNvCxnSpPr>
          <p:nvPr/>
        </p:nvCxnSpPr>
        <p:spPr>
          <a:xfrm rot="10800000">
            <a:off x="1877175" y="2471025"/>
            <a:ext cx="599100" cy="1272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21"/>
          <p:cNvSpPr txBox="1"/>
          <p:nvPr/>
        </p:nvSpPr>
        <p:spPr>
          <a:xfrm>
            <a:off x="4257975" y="1633200"/>
            <a:ext cx="843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Roboto Light"/>
                <a:ea typeface="Roboto Light"/>
                <a:cs typeface="Roboto Light"/>
                <a:sym typeface="Roboto Light"/>
              </a:rPr>
              <a:t>Hitbox</a:t>
            </a:r>
            <a:endParaRPr sz="1600">
              <a:solidFill>
                <a:srgbClr val="FF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2004375" y="3743625"/>
            <a:ext cx="9438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FF00"/>
                </a:solidFill>
                <a:latin typeface="Roboto Light"/>
                <a:ea typeface="Roboto Light"/>
                <a:cs typeface="Roboto Light"/>
                <a:sym typeface="Roboto Light"/>
              </a:rPr>
              <a:t>Hurtbox</a:t>
            </a:r>
            <a:endParaRPr sz="1600">
              <a:solidFill>
                <a:srgbClr val="00FF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 in Games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885950"/>
            <a:ext cx="85206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Games are full of moments where something happens and other things need to react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thing that happened shouldn't need to know what those other things are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Events let you flip that around: the trigger just announces, anything that cares subscribes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977" y="2267725"/>
            <a:ext cx="7164024" cy="21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 Pattern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900" y="1280598"/>
            <a:ext cx="464820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 Pattern</a:t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38" y="1498598"/>
            <a:ext cx="7109724" cy="29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Publisher-Subscriber / Subject-Observer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600" y="2017251"/>
            <a:ext cx="4487800" cy="17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33567"/>
            <a:ext cx="3901575" cy="3138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However…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C#, we don’t need to implement the observer pattern. Events are part of the language!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C# Events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45271"/>
            <a:ext cx="3573650" cy="23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100" y="1297490"/>
            <a:ext cx="4953849" cy="308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Delegates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353550"/>
            <a:ext cx="3999900" cy="1076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Built-in delegate types: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returns void, no args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returns void, takes T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returns T, no args</a:t>
            </a:r>
            <a:endParaRPr/>
          </a:p>
        </p:txBody>
      </p:sp>
      <p:sp>
        <p:nvSpPr>
          <p:cNvPr id="167" name="Google Shape;167;p28"/>
          <p:cNvSpPr txBox="1"/>
          <p:nvPr>
            <p:ph idx="2" type="body"/>
          </p:nvPr>
        </p:nvSpPr>
        <p:spPr>
          <a:xfrm>
            <a:off x="4832400" y="1353550"/>
            <a:ext cx="3999900" cy="20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GameObject.cs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Room.cs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"pressed"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Doorways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IsOpen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887200"/>
            <a:ext cx="85206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delegate is a variable that holds a reference to a method — call it later, from anywhere.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2571750"/>
            <a:ext cx="3999900" cy="15369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Assign one handler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"hit"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Add multiple handlers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PlaySound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"hit"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FlashRed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4250450"/>
            <a:ext cx="3999900" cy="609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Call all subscribers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Invoke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C# Events</a:t>
            </a:r>
            <a:endParaRPr/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111" y="1975100"/>
            <a:ext cx="7437776" cy="20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885950"/>
            <a:ext cx="85206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</a:t>
            </a:r>
            <a:r>
              <a:rPr lang="en"/>
              <a:t>n </a:t>
            </a:r>
            <a:r>
              <a:rPr lang="en"/>
              <a:t>event is a delegate with guardrails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 the hood it is a delegate, but the event keyword restricts what outside code can do with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Expressions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311700" y="1989425"/>
            <a:ext cx="8520600" cy="15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lambda is an anonymous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defined inline, without a name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short piece of behaviour in one place without declaring a whole method for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Implicit return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Common use: passing behaviour as an argument, or subscribing to events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3795886"/>
            <a:ext cx="8520600" cy="863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IsEven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The same thing as a lambda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066157"/>
            <a:ext cx="8520600" cy="8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(parameters) =&gt; expression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2965500" y="1018600"/>
            <a:ext cx="3213000" cy="2342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OnCollide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endParaRPr sz="100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"unpressed"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switchObj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"pressed"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Doorways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IsOpen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569CD6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Expressions &amp; Events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3527800"/>
            <a:ext cx="8520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lambda captures variables from its surrounding scope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switchObj &amp; Doorways. This is called a closure.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Without lambdas, the switch behaviour would need to be a separate named method that somehow still had access to switchObj and Doorways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Making Zelda (more) Event-driven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Pick one and make it event-driven. The class firing the event must not know who reacts.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OnPlayerDied: trace the chain from the room to the game-over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Enemy death: what could react to an event for it?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SoundManager.PlaySound is called from many classes. How would events help?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Scrolling</a:t>
            </a:r>
            <a:endParaRPr/>
          </a:p>
        </p:txBody>
      </p:sp>
      <p:pic>
        <p:nvPicPr>
          <p:cNvPr id="204" name="Google Shape;204;p33" title="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337" y="1240300"/>
            <a:ext cx="3459325" cy="32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Tweening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Tweening: move a value from A to B over time, instead of snapping it there.</a:t>
            </a:r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64008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linear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40080" y="2240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B"/>
                </a:solidFill>
              </a:rPr>
              <a:t>ease-out</a:t>
            </a:r>
          </a:p>
        </p:txBody>
      </p:sp>
      <p:sp>
        <p:nvSpPr>
          <p:cNvPr id="213" name="Oval 212"/>
          <p:cNvSpPr/>
          <p:nvPr/>
        </p:nvSpPr>
        <p:spPr>
          <a:xfrm>
            <a:off x="1901952" y="1417320"/>
            <a:ext cx="219456" cy="219456"/>
          </a:xfrm>
          <a:prstGeom prst="ellipse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4" name="Oval 213"/>
          <p:cNvSpPr/>
          <p:nvPr/>
        </p:nvSpPr>
        <p:spPr>
          <a:xfrm>
            <a:off x="267919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5" name="Oval 214"/>
          <p:cNvSpPr/>
          <p:nvPr/>
        </p:nvSpPr>
        <p:spPr>
          <a:xfrm>
            <a:off x="345643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6" name="Oval 215"/>
          <p:cNvSpPr/>
          <p:nvPr/>
        </p:nvSpPr>
        <p:spPr>
          <a:xfrm>
            <a:off x="423367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7" name="Oval 216"/>
          <p:cNvSpPr/>
          <p:nvPr/>
        </p:nvSpPr>
        <p:spPr>
          <a:xfrm>
            <a:off x="501091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8" name="Oval 217"/>
          <p:cNvSpPr/>
          <p:nvPr/>
        </p:nvSpPr>
        <p:spPr>
          <a:xfrm>
            <a:off x="578815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19" name="Oval 218"/>
          <p:cNvSpPr/>
          <p:nvPr/>
        </p:nvSpPr>
        <p:spPr>
          <a:xfrm>
            <a:off x="656539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0" name="Oval 219"/>
          <p:cNvSpPr/>
          <p:nvPr/>
        </p:nvSpPr>
        <p:spPr>
          <a:xfrm>
            <a:off x="7342632" y="141732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1" name="Oval 220"/>
          <p:cNvSpPr/>
          <p:nvPr/>
        </p:nvSpPr>
        <p:spPr>
          <a:xfrm>
            <a:off x="8119872" y="1417320"/>
            <a:ext cx="219456" cy="219456"/>
          </a:xfrm>
          <a:prstGeom prst="ellipse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2" name="Oval 221"/>
          <p:cNvSpPr/>
          <p:nvPr/>
        </p:nvSpPr>
        <p:spPr>
          <a:xfrm>
            <a:off x="1901952" y="2240280"/>
            <a:ext cx="219456" cy="219456"/>
          </a:xfrm>
          <a:prstGeom prst="ellipse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3" name="Oval 222"/>
          <p:cNvSpPr/>
          <p:nvPr/>
        </p:nvSpPr>
        <p:spPr>
          <a:xfrm>
            <a:off x="3359277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4" name="Oval 223"/>
          <p:cNvSpPr/>
          <p:nvPr/>
        </p:nvSpPr>
        <p:spPr>
          <a:xfrm>
            <a:off x="4622292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5" name="Oval 224"/>
          <p:cNvSpPr/>
          <p:nvPr/>
        </p:nvSpPr>
        <p:spPr>
          <a:xfrm>
            <a:off x="5690997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6" name="Oval 225"/>
          <p:cNvSpPr/>
          <p:nvPr/>
        </p:nvSpPr>
        <p:spPr>
          <a:xfrm>
            <a:off x="6565392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7" name="Oval 226"/>
          <p:cNvSpPr/>
          <p:nvPr/>
        </p:nvSpPr>
        <p:spPr>
          <a:xfrm>
            <a:off x="7245476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8" name="Oval 227"/>
          <p:cNvSpPr/>
          <p:nvPr/>
        </p:nvSpPr>
        <p:spPr>
          <a:xfrm>
            <a:off x="7731252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29" name="Oval 228"/>
          <p:cNvSpPr/>
          <p:nvPr/>
        </p:nvSpPr>
        <p:spPr>
          <a:xfrm>
            <a:off x="8022717" y="2240280"/>
            <a:ext cx="219456" cy="219456"/>
          </a:xfrm>
          <a:prstGeom prst="ellipse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30" name="Oval 229"/>
          <p:cNvSpPr/>
          <p:nvPr/>
        </p:nvSpPr>
        <p:spPr>
          <a:xfrm>
            <a:off x="8119872" y="2240280"/>
            <a:ext cx="219456" cy="219456"/>
          </a:xfrm>
          <a:prstGeom prst="ellipse">
            <a:avLst/>
          </a:prstGeom>
          <a:solidFill>
            <a:srgbClr val="D45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same nine frames. Where the dots bunch up, the value moves slowly.</a:t>
            </a:r>
          </a:p>
          <a:p>
            <a:pPr algn="ctr"/>
            <a:r>
              <a:rPr sz="1400" b="0" i="0">
                <a:solidFill>
                  <a:srgbClr val="9AA3AB"/>
                </a:solidFill>
              </a:rPr>
              <a:t>More curves: easings.net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Interpolation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Linear interpolation: the simplest curve.</a:t>
            </a:r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371600" y="1417320"/>
            <a:ext cx="6400800" cy="64008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500">
                <a:solidFill>
                  <a:srgbClr val="DEE2E6"/>
                </a:solidFill>
                <a:latin typeface="Consolas"/>
              </a:rPr>
              <a:t>lerp(a, b, t) = a + (b - a) * t        // t from 0 to 1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371600" y="23774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 = 0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a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611880" y="23774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 = 0.5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halfway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52160" y="23774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 = 1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b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Works on anything numeric: positions, colours, angles.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Scrolling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next room waits one screen away. The camera moves, and the player walks with it.</a:t>
            </a:r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548640" y="1463040"/>
            <a:ext cx="3291840" cy="1463040"/>
          </a:xfrm>
          <a:prstGeom prst="rect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This room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937760" y="1463040"/>
            <a:ext cx="3291840" cy="1463040"/>
          </a:xfrm>
          <a:prstGeom prst="rect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The next room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placed one screen away,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never moves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457200" y="1371600"/>
            <a:ext cx="3474720" cy="1645920"/>
          </a:xfrm>
          <a:prstGeom prst="rect">
            <a:avLst/>
          </a:prstGeom>
          <a:noFill/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DEE2E6"/>
                </a:solidFill>
              </a:rPr>
              <a:t/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3977639" y="2194560"/>
            <a:ext cx="868681" cy="0"/>
          </a:xfrm>
          <a:prstGeom prst="line">
            <a:avLst/>
          </a:prstGeom>
          <a:ln w="25400">
            <a:solidFill>
              <a:srgbClr val="D45D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3794759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camera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48640" y="3246120"/>
            <a:ext cx="7680960" cy="91440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DEE2E6"/>
                </a:solidFill>
                <a:latin typeface="Consolas"/>
              </a:rPr>
              <a:t>_tweens.Tween(GameSettings.RoomShiftDuration)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.Add(t =&gt; /* move the camera */, 0f, 1f).Add(t =&gt; /* walk the player */, 0f, 1f)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  .Finish(FinishShift);   // the next room becomes the current one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Tweening System</a:t>
            </a:r>
            <a:endParaRPr/>
          </a:p>
        </p:txBody>
      </p:sp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Games tween all the time: fades, flashes, menus, floating numbers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GMDCore gets a reusable TweenManager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Tween: values from A to B over time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After: run a method later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Every: repeat at an interval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Chaining: .Add() and .Finish()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No progress variable, no “is it done yet?” check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_tweens.Tween(duration)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.Add(t =&gt; _camera.Position =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Vector2.Lerp(from, to, t), 0f, 1f)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.Finish(FinishShift);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_tweens.After(0.5f, () =&gt; Flash());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_tweens.Every(0.1f, Blink).Limit(6);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Every frame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_tweens.Update(gameTime);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Stenciling</a:t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Walking through a door, the player should go under the arch, not over it.</a:t>
            </a:r>
            <a:endParaRPr/>
          </a:p>
        </p:txBody>
      </p:sp>
      <p:pic>
        <p:nvPicPr>
          <p:cNvPr id="230" name="Google Shape;23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720" y="1463040"/>
            <a:ext cx="2926080" cy="186457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Rounded Rectangle 230"/>
          <p:cNvSpPr/>
          <p:nvPr/>
        </p:nvSpPr>
        <p:spPr>
          <a:xfrm>
            <a:off x="457200" y="1417320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DEE2E6"/>
                </a:solidFill>
              </a:rPr>
              <a:t>Pass 1: draw the rooms</a:t>
            </a:r>
          </a:p>
          <a:p>
            <a:pPr algn="l"/>
            <a:r>
              <a:rPr sz="1300" b="0">
                <a:solidFill>
                  <a:srgbClr val="9AA3AB"/>
                </a:solidFill>
              </a:rPr>
              <a:t>as usual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457200" y="2286000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DEE2E6"/>
                </a:solidFill>
              </a:rPr>
              <a:t>Pass 2: mark the arches</a:t>
            </a:r>
          </a:p>
          <a:p>
            <a:pPr algn="l"/>
            <a:r>
              <a:rPr sz="1300" b="0">
                <a:solidFill>
                  <a:srgbClr val="9AA3AB"/>
                </a:solidFill>
              </a:rPr>
              <a:t>in the stencil buffer, with no colour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457200" y="3154680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DEE2E6"/>
                </a:solidFill>
              </a:rPr>
              <a:t>Pass 3: draw the player again</a:t>
            </a:r>
          </a:p>
          <a:p>
            <a:pPr algn="l"/>
            <a:r>
              <a:rPr sz="1300" b="0">
                <a:solidFill>
                  <a:srgbClr val="9AA3AB"/>
                </a:solidFill>
              </a:rPr>
              <a:t>only where nothing is marked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Driven Design</a:t>
            </a:r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Content in data, behaviour in C#: a new enemy is one XML block and a row of sprites.</a:t>
            </a:r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/>
          <a:lstStyle/>
          <a:p>
            <a:pPr algn="l"/>
            <a:r>
              <a:rPr sz="1400" b="0">
                <a:solidFill>
                  <a:srgbClr val="DEE2E6"/>
                </a:solidFill>
              </a:rPr>
              <a:t/>
            </a:r>
            <a:r>
              <a:rPr sz="1200">
                <a:solidFill>
                  <a:srgbClr val="DEE2E6"/>
                </a:solidFill>
                <a:latin typeface="Consolas"/>
              </a:rPr>
              <a:t>&lt;Enemy type="skeleton" width="16" height="16" walkSpeed="20" health="1"&gt;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&lt;Animation name="walk-down" frames="9,10,11,10" interval="0.2" /&gt;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  &lt;Animation name="idle-down" frames="10"         interval="0.2" /&gt;</a:t>
            </a:r>
          </a:p>
          <a:p>
            <a:pPr algn="l"/>
            <a:r>
              <a:rPr sz="1200">
                <a:solidFill>
                  <a:srgbClr val="DEE2E6"/>
                </a:solidFill>
                <a:latin typeface="Consolas"/>
              </a:rPr>
              <a:t>&lt;/Enemy&gt;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definition classes read the XML once; the rest of the code never sees it.</a:t>
            </a:r>
          </a:p>
          <a:p>
            <a:pPr algn="ctr"/>
            <a:r>
              <a:rPr sz="1400" b="0" i="0">
                <a:solidFill>
                  <a:srgbClr val="9AA3AB"/>
                </a:solidFill>
              </a:rPr>
              <a:t>GameObject has no if (type == "switch") anywhere.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EE2E6"/>
                </a:solidFill>
              </a:rPr>
              <a:t>Someone writes type="skelton". When do you find out?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Keys and Locked Doors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Zelda7. Full instructions are on the course site.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Some enemies drop a key when they die: use an event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locked state for doorways, in door_layouts.xml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key opens a locked door for good; show the keys next to the hearts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Exercise: Composition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Sketch the class hierarchy for enemies that can walk, fly, shoot or explode, in any combination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sketch it with composition: which parts would an enemy have?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Implement one part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a shooting behaviour that any enemy can be given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71907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When does inheritance fit, and when is composition better?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does Observer suit UI code particularly well?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difference between a delegate and an event in C#?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cost of data-driven design?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Apply It to Your Project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are the meaningful moments in your game?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things that happen that other systems might care about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Map out at least two of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fires the event, and what should react?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Is there anywhere a class knows too much about another?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an event fix that?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does your game use inheritance?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each subclass what something is, or what it can do?</a:t>
            </a:r>
            <a:endParaRPr/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113" y="3209325"/>
            <a:ext cx="2241775" cy="169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Course Project</a:t>
            </a:r>
            <a:endParaRPr/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Next milestone, by session 09: self-review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Updated class diagram, list of patterns, and an event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meaningful moments in your game: who fires them, who reacts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least one refactoring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