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89" r:id="rId48"/>
    <p:sldId id="290" r:id="rId49"/>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91" r:id="rId50"/>
    <p:sldId id="284" r:id="rId34"/>
    <p:sldId id="285" r:id="rId35"/>
    <p:sldId id="286" r:id="rId36"/>
    <p:sldId id="292" r:id="rId51"/>
    <p:sldId id="287" r:id="rId37"/>
    <p:sldId id="293" r:id="rId52"/>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7.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9.xml"/><Relationship Id="rId49" Type="http://schemas.openxmlformats.org/officeDocument/2006/relationships/slide" Target="slides/slide10.xml"/><Relationship Id="rId50" Type="http://schemas.openxmlformats.org/officeDocument/2006/relationships/slide" Target="slides/slide32.xml"/><Relationship Id="rId51" Type="http://schemas.openxmlformats.org/officeDocument/2006/relationships/slide" Target="slides/slide36.xml"/><Relationship Id="rId52"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Today’s assets don’t all conform to the same grid size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Player art shifted perspective</a:t>
            </a:r>
            <a:endParaRPr/>
          </a:p>
          <a:p>
            <a:pPr indent="0" lvl="0" marL="0" rtl="0" algn="l">
              <a:spcBef>
                <a:spcPts val="0"/>
              </a:spcBef>
              <a:spcAft>
                <a:spcPts val="0"/>
              </a:spcAft>
              <a:buNone/>
            </a:pPr>
            <a:r>
              <a:rPr lang="en"/>
              <a:t>Notice collider correction to “fake perspective”</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Infinite dungeon generation</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Show example of Debug.Draw</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domain maps cleanly to the concept. Games are naturally event-driven — something happens (player takes damage, enemy dies, room clears) and multiple systems need to react.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solidFill>
                  <a:schemeClr val="dk1"/>
                </a:solidFill>
              </a:rPr>
              <a:t>Notice that the trigger (sword hits enemy) and the reactions (damage, sound, particles) are completely unrelated concerns - events keep them from getting tangled together - This also makes the reactions easy to add or remove later without touching the trigger code.</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
                <a:solidFill>
                  <a:schemeClr val="dk1"/>
                </a:solidFill>
              </a:rPr>
              <a:t>Keep in mind, not all of these need to be event-based</a:t>
            </a:r>
            <a:endParaRPr>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decoupling</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decoupling</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 way of doing callbacks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 callback in C# refers to a function or method that is passed as an argument to another method, allowing the receiving method to invoke it at a later time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This is commonly used in scenarios where you want to execute a specific action after a task is completed, such as in asynchronous programming or event-driven systems.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Func&lt;Room&gt; in Dungeon (factory)</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event keyword is about who has control. The owner fires, everyone else just listens. That boundary is what makes large codebases manageable.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 motivates why lambdas exist. The behaviour is one-off, it needs access to local variables, and extracting it into a named method would actually make the code harder to follow.</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None/>
            </a:pPr>
            <a:r>
              <a:rPr lang="en">
                <a:solidFill>
                  <a:schemeClr val="dk1"/>
                </a:solidFill>
              </a:rPr>
              <a:t>Player health changed? HUD Updated</a:t>
            </a:r>
            <a:endParaRPr>
              <a:solidFill>
                <a:schemeClr val="dk1"/>
              </a:solidFill>
            </a:endParaRPr>
          </a:p>
          <a:p>
            <a:pPr indent="0" lvl="0" marL="0" rtl="0" algn="l">
              <a:spcBef>
                <a:spcPts val="0"/>
              </a:spcBef>
              <a:spcAft>
                <a:spcPts val="0"/>
              </a:spcAft>
              <a:buNone/>
            </a:pPr>
            <a:r>
              <a:rPr lang="en">
                <a:solidFill>
                  <a:schemeClr val="dk1"/>
                </a:solidFill>
              </a:rPr>
              <a:t>Enemy dies</a:t>
            </a:r>
            <a:endParaRPr>
              <a:solidFill>
                <a:schemeClr val="dk1"/>
              </a:solidFill>
            </a:endParaRPr>
          </a:p>
          <a:p>
            <a:pPr indent="0" lvl="0" marL="0" rtl="0" algn="l">
              <a:spcBef>
                <a:spcPts val="0"/>
              </a:spcBef>
              <a:spcAft>
                <a:spcPts val="0"/>
              </a:spcAft>
              <a:buNone/>
            </a:pPr>
            <a:r>
              <a:rPr lang="en">
                <a:solidFill>
                  <a:schemeClr val="dk1"/>
                </a:solidFill>
              </a:rPr>
              <a:t>Sword is swung!</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
                <a:solidFill>
                  <a:schemeClr val="dk1"/>
                </a:solidFill>
              </a:rPr>
              <a:t>The one caveat: the codebase is small enough that the polling isn't actually painful yet, so students need to be told to imagine it at scale. But that's actually a good teaching moment too - when should you reach for events vs. just polling?</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lerp on the camera and the lerp on the player are independent but run in parallel, which is what makes the player look like they're walking through the doorway rather than floating across a black screen.</a:t>
            </a:r>
            <a:endParaRPr/>
          </a:p>
          <a:p>
            <a:pPr indent="0" lvl="0" marL="0" rtl="0" algn="l">
              <a:spcBef>
                <a:spcPts val="0"/>
              </a:spcBef>
              <a:spcAft>
                <a:spcPts val="0"/>
              </a:spcAft>
              <a:buNone/>
            </a:pPr>
            <a:r>
              <a:rPr lang="en"/>
              <a:t>During the scroll, Room.Update is not called — enemies and gameplay are frozen until the transition finishes</a:t>
            </a:r>
            <a:endParaRPr/>
          </a:p>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Stencil buffer</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point out that a designer can read and edit XML without knowing C#</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4" Type="http://schemas.openxmlformats.org/officeDocument/2006/relationships/image" Target="../media/image25.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75" y="1138124"/>
            <a:ext cx="5410826" cy="35546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gif-zelda.gif"/>
          <p:cNvPicPr>
            <a:picLocks noChangeAspect="1"/>
          </p:cNvPicPr>
          <p:nvPr/>
        </p:nvPicPr>
        <p:blipFill>
          <a:blip r:embed="rId4"/>
          <a:stretch>
            <a:fillRect/>
          </a:stretch>
        </p:blipFill>
        <p:spPr>
          <a:xfrm>
            <a:off x="1412777" y="1203675"/>
            <a:ext cx="6318444" cy="355412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Composition vs. Inheritance</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Data-Driven Design (again)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08-zelda)</a:t>
            </a:r>
            <a:endParaRPr/>
          </a:p>
          <a:p>
            <a:pPr indent="-330200" lvl="0" marL="457200" rtl="0" algn="l">
              <a:spcBef>
                <a:spcPts val="0"/>
              </a:spcBef>
              <a:spcAft>
                <a:spcPts val="0"/>
              </a:spcAft>
              <a:buSzPts val="1600"/>
              <a:buChar char="●"/>
            </a:pPr>
            <a:r>
              <a:rPr lang="en"/>
              <a:t>Walkthrough in README.md</a:t>
            </a:r>
            <a:endParaRPr/>
          </a:p>
          <a:p>
            <a:pPr indent="-330200" lvl="0" marL="457200" rtl="0" algn="l">
              <a:spcBef>
                <a:spcPts val="0"/>
              </a:spcBef>
              <a:spcAft>
                <a:spcPts val="0"/>
              </a:spcAft>
              <a:buSzPts val="1600"/>
              <a:buChar char="●"/>
            </a:pPr>
            <a:r>
              <a:rPr lang="en"/>
              <a:t>The game is built up in steps: Zelda0 → Zelda7</a:t>
            </a:r>
            <a:endParaRPr/>
          </a:p>
          <a:p>
            <a:pPr indent="-317500" lvl="1" marL="914400" rtl="0" algn="l">
              <a:spcBef>
                <a:spcPts val="0"/>
              </a:spcBef>
              <a:spcAft>
                <a:spcPts val="0"/>
              </a:spcAft>
              <a:buSzPts val="1400"/>
              <a:buChar char="○"/>
            </a:pPr>
            <a:r>
              <a:rPr lang="en"/>
              <a:t>Each step is a separate project that adds one concept</a:t>
            </a:r>
            <a:endParaRPr/>
          </a:p>
          <a:p>
            <a:pPr indent="-317500" lvl="1" marL="914400" rtl="0" algn="l">
              <a:spcBef>
                <a:spcPts val="0"/>
              </a:spcBef>
              <a:spcAft>
                <a:spcPts val="0"/>
              </a:spcAft>
              <a:buSzPts val="1400"/>
              <a:buChar char="○"/>
            </a:pPr>
            <a:r>
              <a:rPr lang="en"/>
              <a:t>Compare neighbouring steps to see exactly what changed</a:t>
            </a:r>
            <a:endParaRPr/>
          </a:p>
          <a:p>
            <a:pPr indent="-330200" lvl="0" marL="457200" rtl="0" algn="l">
              <a:spcBef>
                <a:spcPts val="0"/>
              </a:spcBef>
              <a:spcAft>
                <a:spcPts val="0"/>
              </a:spcAft>
              <a:buSzPts val="1600"/>
              <a:buChar char="●"/>
            </a:pPr>
            <a:r>
              <a:rPr lang="en"/>
              <a:t>Zelda7 is the finished game: explore it, and start the exercises from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and the enemies share an abstract Entity base class</a:t>
            </a:r>
            <a:endParaRPr/>
          </a:p>
          <a:p>
            <a:pPr indent="-317500" lvl="1" marL="914400" rtl="0" algn="l">
              <a:spcBef>
                <a:spcPts val="0"/>
              </a:spcBef>
              <a:spcAft>
                <a:spcPts val="0"/>
              </a:spcAft>
              <a:buSzPts val="1400"/>
              <a:buChar char="○"/>
            </a:pPr>
            <a:r>
              <a:rPr lang="en"/>
              <a:t>Position, collision box, animations, health, invulnerability, a current state</a:t>
            </a:r>
            <a:endParaRPr/>
          </a:p>
          <a:p>
            <a:pPr indent="-330200" lvl="0" marL="457200" rtl="0" algn="l">
              <a:spcBef>
                <a:spcPts val="0"/>
              </a:spcBef>
              <a:spcAft>
                <a:spcPts val="0"/>
              </a:spcAft>
              <a:buSzPts val="1600"/>
              <a:buChar char="●"/>
            </a:pPr>
            <a:r>
              <a:rPr lang="en"/>
              <a:t>Inheritance works while there is one axis of variation</a:t>
            </a:r>
            <a:endParaRPr/>
          </a:p>
          <a:p>
            <a:pPr indent="-317500" lvl="1" marL="914400" rtl="0" algn="l">
              <a:spcBef>
                <a:spcPts val="0"/>
              </a:spcBef>
              <a:spcAft>
                <a:spcPts val="0"/>
              </a:spcAft>
              <a:buSzPts val="1400"/>
              <a:buChar char="○"/>
            </a:pPr>
            <a:r>
              <a:rPr lang="en"/>
              <a:t>But an enemy that shoots and flies and explodes?</a:t>
            </a:r>
            <a:endParaRPr/>
          </a:p>
          <a:p>
            <a:pPr indent="-330200" lvl="0" marL="457200" rtl="0" algn="l">
              <a:spcBef>
                <a:spcPts val="0"/>
              </a:spcBef>
              <a:spcAft>
                <a:spcPts val="0"/>
              </a:spcAft>
              <a:buSzPts val="1600"/>
              <a:buChar char="●"/>
            </a:pPr>
            <a:r>
              <a:rPr lang="en"/>
              <a:t>Deep hierarchies lead to duplicated code, or a bloated base class</a:t>
            </a:r>
            <a:endParaRPr/>
          </a:p>
          <a:p>
            <a:pPr indent="-330200" lvl="0" marL="457200" rtl="0" algn="l">
              <a:spcBef>
                <a:spcPts val="0"/>
              </a:spcBef>
              <a:spcAft>
                <a:spcPts val="0"/>
              </a:spcAft>
              <a:buSzPts val="1600"/>
              <a:buChar char="●"/>
            </a:pPr>
            <a:r>
              <a:rPr lang="en"/>
              <a:t>“Favor object composition over class inheritance” (Gang of Four)</a:t>
            </a:r>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Behaviour in state objects</a:t>
            </a:r>
            <a:endParaRPr/>
          </a:p>
          <a:p>
            <a:pPr indent="-317500" lvl="1" marL="914400" rtl="0" algn="l">
              <a:spcBef>
                <a:spcPts val="0"/>
              </a:spcBef>
              <a:spcAft>
                <a:spcPts val="0"/>
              </a:spcAft>
              <a:buSzPts val="1400"/>
              <a:buChar char="○"/>
            </a:pPr>
            <a:r>
              <a:rPr lang="en"/>
              <a:t>An enemy’s AI is the state object it holds, not the Enemy class itself</a:t>
            </a:r>
            <a:endParaRPr/>
          </a:p>
          <a:p>
            <a:pPr indent="-330200" lvl="0" marL="457200" rtl="0" algn="l">
              <a:spcBef>
                <a:spcPts val="0"/>
              </a:spcBef>
              <a:spcAft>
                <a:spcPts val="0"/>
              </a:spcAft>
              <a:buSzPts val="1600"/>
              <a:buChar char="●"/>
            </a:pPr>
            <a:r>
              <a:rPr lang="en"/>
              <a:t>Behaviour wired from outside</a:t>
            </a:r>
            <a:endParaRPr/>
          </a:p>
          <a:p>
            <a:pPr indent="-317500" lvl="1" marL="914400" rtl="0" algn="l">
              <a:spcBef>
                <a:spcPts val="0"/>
              </a:spcBef>
              <a:spcAft>
                <a:spcPts val="0"/>
              </a:spcAft>
              <a:buSzPts val="1400"/>
              <a:buChar char="○"/>
            </a:pPr>
            <a:r>
              <a:rPr lang="en"/>
              <a:t>A floor switch is a plain GameObject; the room attaches what happens via OnCollide</a:t>
            </a:r>
            <a:endParaRPr/>
          </a:p>
          <a:p>
            <a:pPr indent="-330200" lvl="0" marL="457200" rtl="0" algn="l">
              <a:spcBef>
                <a:spcPts val="0"/>
              </a:spcBef>
              <a:spcAft>
                <a:spcPts val="0"/>
              </a:spcAft>
              <a:buSzPts val="1600"/>
              <a:buChar char="●"/>
            </a:pPr>
            <a:r>
              <a:rPr lang="en"/>
              <a:t>Data instead of subclasses</a:t>
            </a:r>
            <a:endParaRPr/>
          </a:p>
          <a:p>
            <a:pPr indent="-317500" lvl="1" marL="914400" rtl="0" algn="l">
              <a:spcBef>
                <a:spcPts val="0"/>
              </a:spcBef>
              <a:spcAft>
                <a:spcPts val="0"/>
              </a:spcAft>
              <a:buSzPts val="1400"/>
              <a:buChar char="○"/>
            </a:pPr>
            <a:r>
              <a:rPr lang="en"/>
              <a:t>Enemy types come from XML, not one class per type</a:t>
            </a:r>
            <a:endParaRPr/>
          </a:p>
          <a:p>
            <a:pPr indent="-330200" lvl="0" marL="457200" rtl="0" algn="l">
              <a:spcBef>
                <a:spcPts val="0"/>
              </a:spcBef>
              <a:spcAft>
                <a:spcPts val="0"/>
              </a:spcAft>
              <a:buSzPts val="1600"/>
              <a:buChar char="●"/>
            </a:pPr>
            <a:r>
              <a:rPr lang="en"/>
              <a:t>Ask: is it what something is, or what it can do?</a:t>
            </a:r>
            <a:endParaRPr/>
          </a:p>
          <a:p>
            <a:pPr indent="-317500" lvl="1" marL="914400" rtl="0" algn="l">
              <a:spcBef>
                <a:spcPts val="0"/>
              </a:spcBef>
              <a:spcAft>
                <a:spcPts val="0"/>
              </a:spcAft>
              <a:buSzPts val="1400"/>
              <a:buChar char="○"/>
            </a:pPr>
            <a:r>
              <a:rPr lang="en"/>
              <a:t>Plants vs. Zombies takes this all the way: the Component pattern</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zelda_tilesheet.png"/>
          <p:cNvPicPr>
            <a:picLocks noChangeAspect="1"/>
          </p:cNvPicPr>
          <p:nvPr/>
        </p:nvPicPr>
        <p:blipFill>
          <a:blip r:embed="rId7"/>
          <a:stretch>
            <a:fillRect/>
          </a:stretch>
        </p:blipFill>
        <p:spPr>
          <a:xfrm>
            <a:off x="408714" y="1425731"/>
            <a:ext cx="4573373" cy="3129150"/>
          </a:xfrm>
          <a:prstGeom prst="rect">
            <a:avLst/>
          </a:prstGeom>
        </p:spPr>
      </p:pic>
      <p:pic>
        <p:nvPicPr>
          <p:cNvPr id="83" name="Picture 85" descr="zelda_sword.png"/>
          <p:cNvPicPr>
            <a:picLocks noChangeAspect="1"/>
          </p:cNvPicPr>
          <p:nvPr/>
        </p:nvPicPr>
        <p:blipFill>
          <a:blip r:embed="rId8"/>
          <a:stretch>
            <a:fillRect/>
          </a:stretch>
        </p:blipFill>
        <p:spPr>
          <a:xfrm>
            <a:off x="6649450" y="899667"/>
            <a:ext cx="1697749" cy="1697749"/>
          </a:xfrm>
          <a:prstGeom prst="rect">
            <a:avLst/>
          </a:prstGeom>
        </p:spPr>
      </p:pic>
      <p:pic>
        <p:nvPicPr>
          <p:cNvPr id="84" name="Picture 85" descr="zelda_walk.png"/>
          <p:cNvPicPr>
            <a:picLocks noChangeAspect="1"/>
          </p:cNvPicPr>
          <p:nvPr/>
        </p:nvPicPr>
        <p:blipFill>
          <a:blip r:embed="rId9"/>
          <a:stretch>
            <a:fillRect/>
          </a:stretch>
        </p:blipFill>
        <p:spPr>
          <a:xfrm>
            <a:off x="5454471" y="874004"/>
            <a:ext cx="848874" cy="1697749"/>
          </a:xfrm>
          <a:prstGeom prst="rect">
            <a:avLst/>
          </a:prstGeom>
        </p:spPr>
      </p:pic>
      <p:pic>
        <p:nvPicPr>
          <p:cNvPr id="85" name="Picture 85" descr="zelda_entities.png"/>
          <p:cNvPicPr>
            <a:picLocks noChangeAspect="1"/>
          </p:cNvPicPr>
          <p:nvPr/>
        </p:nvPicPr>
        <p:blipFill>
          <a:blip r:embed="rId10"/>
          <a:stretch>
            <a:fillRect/>
          </a:stretch>
        </p:blipFill>
        <p:spPr>
          <a:xfrm>
            <a:off x="5230038" y="2728758"/>
            <a:ext cx="3282825" cy="21885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4"/>
          <a:stretch>
            <a:fillRect/>
          </a:stretch>
        </p:blipFill>
        <p:spPr>
          <a:xfrm>
            <a:off x="1597488" y="920715"/>
            <a:ext cx="5949024" cy="407038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zelda-play.png"/>
          <p:cNvPicPr>
            <a:picLocks noChangeAspect="1"/>
          </p:cNvPicPr>
          <p:nvPr/>
        </p:nvPicPr>
        <p:blipFill>
          <a:blip r:embed="rId4"/>
          <a:stretch>
            <a:fillRect/>
          </a:stretch>
        </p:blipFill>
        <p:spPr>
          <a:xfrm>
            <a:off x="1138224" y="1062675"/>
            <a:ext cx="6867555" cy="386299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 call it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under the hood it is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OnPlayerDied is detected in one place but causes a game over screen to appear somewhere completely different. Trace the full chain through the code.</a:t>
            </a:r>
            <a:endParaRPr/>
          </a:p>
          <a:p>
            <a:pPr indent="-330200" lvl="0" marL="457200" rtl="0" algn="l">
              <a:spcBef>
                <a:spcPts val="0"/>
              </a:spcBef>
              <a:spcAft>
                <a:spcPts val="0"/>
              </a:spcAft>
              <a:buSzPts val="1600"/>
              <a:buChar char="●"/>
            </a:pPr>
            <a:r>
              <a:rPr lang="en"/>
              <a:t>Enemy death is handled asymmetrically to player death.</a:t>
            </a:r>
            <a:endParaRPr/>
          </a:p>
          <a:p>
            <a:pPr indent="-317500" lvl="1" marL="914400" rtl="0" algn="l">
              <a:spcBef>
                <a:spcPts val="0"/>
              </a:spcBef>
              <a:spcAft>
                <a:spcPts val="0"/>
              </a:spcAft>
              <a:buSzPts val="1400"/>
              <a:buChar char="○"/>
            </a:pPr>
            <a:r>
              <a:rPr lang="en"/>
              <a:t>What happens now when an enemy dies?</a:t>
            </a:r>
            <a:endParaRPr/>
          </a:p>
          <a:p>
            <a:pPr indent="-317500" lvl="1" marL="914400" rtl="0" algn="l">
              <a:spcBef>
                <a:spcPts val="0"/>
              </a:spcBef>
              <a:spcAft>
                <a:spcPts val="0"/>
              </a:spcAft>
              <a:buSzPts val="1400"/>
              <a:buChar char="○"/>
            </a:pPr>
            <a:r>
              <a:rPr lang="en"/>
              <a:t>What could happen if there were an event for it?</a:t>
            </a:r>
            <a:endParaRPr/>
          </a:p>
          <a:p>
            <a:pPr indent="-317500" lvl="1" marL="914400" rtl="0" algn="l">
              <a:spcBef>
                <a:spcPts val="0"/>
              </a:spcBef>
              <a:spcAft>
                <a:spcPts val="0"/>
              </a:spcAft>
              <a:buSzPts val="1400"/>
              <a:buChar char="○"/>
            </a:pPr>
            <a:r>
              <a:rPr lang="en"/>
              <a:t>What would you need to add, and where?</a:t>
            </a:r>
            <a:endParaRPr/>
          </a:p>
          <a:p>
            <a:pPr indent="-330200" lvl="0" marL="457200" rtl="0" algn="l">
              <a:spcBef>
                <a:spcPts val="0"/>
              </a:spcBef>
              <a:spcAft>
                <a:spcPts val="0"/>
              </a:spcAft>
              <a:buSzPts val="1600"/>
              <a:buChar char="●"/>
            </a:pPr>
            <a:r>
              <a:rPr lang="en"/>
              <a:t>SoundManager.PlaySound(...) is called directly from several unrelated classes.</a:t>
            </a:r>
            <a:endParaRPr/>
          </a:p>
          <a:p>
            <a:pPr indent="-317500" lvl="1" marL="914400" rtl="0" algn="l">
              <a:spcBef>
                <a:spcPts val="0"/>
              </a:spcBef>
              <a:spcAft>
                <a:spcPts val="0"/>
              </a:spcAft>
              <a:buSzPts val="1400"/>
              <a:buChar char="○"/>
            </a:pPr>
            <a:r>
              <a:rPr lang="en"/>
              <a:t>Find all the call sites. Why is this a problem, and how would events fix it?</a:t>
            </a:r>
            <a:endParaRPr/>
          </a:p>
          <a:p>
            <a:pPr indent="-330200" lvl="0" marL="457200" rtl="0" algn="l">
              <a:spcBef>
                <a:spcPts val="0"/>
              </a:spcBef>
              <a:spcAft>
                <a:spcPts val="0"/>
              </a:spcAft>
              <a:buSzPts val="1600"/>
              <a:buChar char="●"/>
            </a:pPr>
            <a:r>
              <a:rPr lang="en"/>
              <a:t>Pick one of the above and refactor it to be event-driven.</a:t>
            </a:r>
            <a:endParaRPr/>
          </a:p>
          <a:p>
            <a:pPr indent="-317500" lvl="1" marL="914400" rtl="0" algn="l">
              <a:spcBef>
                <a:spcPts val="0"/>
              </a:spcBef>
              <a:spcAft>
                <a:spcPts val="0"/>
              </a:spcAft>
              <a:buSzPts val="1400"/>
              <a:buChar char="○"/>
            </a:pPr>
            <a:r>
              <a:rPr lang="en"/>
              <a:t>The class firing the event should have no reference to the class reacting to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Short for “in-betweening”</a:t>
            </a:r>
            <a:endParaRPr/>
          </a:p>
          <a:p>
            <a:pPr indent="-317500" lvl="1" marL="914400" rtl="0" algn="l">
              <a:spcBef>
                <a:spcPts val="0"/>
              </a:spcBef>
              <a:spcAft>
                <a:spcPts val="0"/>
              </a:spcAft>
              <a:buSzPts val="1400"/>
              <a:buChar char="○"/>
            </a:pPr>
            <a:r>
              <a:rPr lang="en"/>
              <a:t>Animating a value from A to B over time</a:t>
            </a:r>
            <a:endParaRPr/>
          </a:p>
          <a:p>
            <a:pPr indent="-330200" lvl="0" marL="457200" rtl="0" algn="l">
              <a:spcBef>
                <a:spcPts val="0"/>
              </a:spcBef>
              <a:spcAft>
                <a:spcPts val="0"/>
              </a:spcAft>
              <a:buSzPts val="1600"/>
              <a:buChar char="●"/>
            </a:pPr>
            <a:r>
              <a:rPr lang="en"/>
              <a:t>Comes from traditional animation</a:t>
            </a:r>
            <a:endParaRPr/>
          </a:p>
          <a:p>
            <a:pPr indent="-317500" lvl="1" marL="914400" rtl="0" algn="l">
              <a:spcBef>
                <a:spcPts val="0"/>
              </a:spcBef>
              <a:spcAft>
                <a:spcPts val="0"/>
              </a:spcAft>
              <a:buSzPts val="1400"/>
              <a:buChar char="○"/>
            </a:pPr>
            <a:r>
              <a:rPr lang="en"/>
              <a:t>Artists drew keyframes, assistants filled in the frames in between</a:t>
            </a:r>
            <a:endParaRPr/>
          </a:p>
          <a:p>
            <a:pPr indent="-330200" lvl="0" marL="457200" rtl="0" algn="l">
              <a:spcBef>
                <a:spcPts val="0"/>
              </a:spcBef>
              <a:spcAft>
                <a:spcPts val="0"/>
              </a:spcAft>
              <a:buSzPts val="1600"/>
              <a:buChar char="●"/>
            </a:pPr>
            <a:r>
              <a:rPr lang="en"/>
              <a:t>Instead of snapping a position instantly, you move it a little each frame until it arrives</a:t>
            </a:r>
            <a:endParaRPr/>
          </a:p>
          <a:p>
            <a:pPr indent="-330200" lvl="0" marL="457200" rtl="0" algn="l">
              <a:spcBef>
                <a:spcPts val="0"/>
              </a:spcBef>
              <a:spcAft>
                <a:spcPts val="0"/>
              </a:spcAft>
              <a:buSzPts val="1600"/>
              <a:buChar char="●"/>
            </a:pPr>
            <a:r>
              <a:rPr lang="en"/>
              <a:t>Used everywhere in games</a:t>
            </a:r>
            <a:endParaRPr/>
          </a:p>
          <a:p>
            <a:pPr indent="-317500" lvl="1" marL="914400" rtl="0" algn="l">
              <a:spcBef>
                <a:spcPts val="0"/>
              </a:spcBef>
              <a:spcAft>
                <a:spcPts val="0"/>
              </a:spcAft>
              <a:buSzPts val="1400"/>
              <a:buChar char="○"/>
            </a:pPr>
            <a:r>
              <a:rPr lang="en"/>
              <a:t>UI animations, camera movement, character transitions, screen wipes</a:t>
            </a:r>
            <a:endParaRPr/>
          </a:p>
          <a:p>
            <a:pPr indent="-330200" lvl="0" marL="457200" rtl="0" algn="l">
              <a:spcBef>
                <a:spcPts val="0"/>
              </a:spcBef>
              <a:spcAft>
                <a:spcPts val="0"/>
              </a:spcAft>
              <a:buSzPts val="1600"/>
              <a:buChar char="●"/>
            </a:pPr>
            <a:r>
              <a:rPr lang="en"/>
              <a:t>The two things you always need to define:</a:t>
            </a:r>
            <a:endParaRPr/>
          </a:p>
          <a:p>
            <a:pPr indent="-317500" lvl="1" marL="914400" rtl="0" algn="l">
              <a:spcBef>
                <a:spcPts val="0"/>
              </a:spcBef>
              <a:spcAft>
                <a:spcPts val="0"/>
              </a:spcAft>
              <a:buSzPts val="1400"/>
              <a:buChar char="○"/>
            </a:pPr>
            <a:r>
              <a:rPr lang="en"/>
              <a:t>What is moving</a:t>
            </a:r>
            <a:endParaRPr/>
          </a:p>
          <a:p>
            <a:pPr indent="-317500" lvl="1" marL="914400" rtl="0" algn="l">
              <a:spcBef>
                <a:spcPts val="0"/>
              </a:spcBef>
              <a:spcAft>
                <a:spcPts val="0"/>
              </a:spcAft>
              <a:buSzPts val="1400"/>
              <a:buChar char="○"/>
            </a:pPr>
            <a:r>
              <a:rPr lang="en"/>
              <a:t>How fast / by what curve (</a:t>
            </a:r>
            <a:r>
              <a:rPr lang="en" u="sng">
                <a:solidFill>
                  <a:schemeClr val="hlink"/>
                </a:solidFill>
                <a:hlinkClick r:id="rId3"/>
              </a:rPr>
              <a:t>Easings.net</a:t>
            </a:r>
            <a:r>
              <a:rPr lang="en"/>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simplest tween curve - constant speed from A to B</a:t>
            </a:r>
            <a:endParaRPr/>
          </a:p>
          <a:p>
            <a:pPr indent="-330200" lvl="0" marL="457200" rtl="0" algn="l">
              <a:spcBef>
                <a:spcPts val="0"/>
              </a:spcBef>
              <a:spcAft>
                <a:spcPts val="0"/>
              </a:spcAft>
              <a:buSzPts val="1600"/>
              <a:buChar char="●"/>
            </a:pPr>
            <a:r>
              <a:rPr lang="en"/>
              <a:t>lerp(a, b, t) = a + (b - a) * t where t goes from 0 to 1</a:t>
            </a:r>
            <a:endParaRPr/>
          </a:p>
          <a:p>
            <a:pPr indent="-317500" lvl="1" marL="914400" rtl="0" algn="l">
              <a:spcBef>
                <a:spcPts val="0"/>
              </a:spcBef>
              <a:spcAft>
                <a:spcPts val="0"/>
              </a:spcAft>
              <a:buSzPts val="1400"/>
              <a:buChar char="○"/>
            </a:pPr>
            <a:r>
              <a:rPr lang="en"/>
              <a:t>t = 0 → result is a</a:t>
            </a:r>
            <a:endParaRPr/>
          </a:p>
          <a:p>
            <a:pPr indent="-317500" lvl="1" marL="914400" rtl="0" algn="l">
              <a:spcBef>
                <a:spcPts val="0"/>
              </a:spcBef>
              <a:spcAft>
                <a:spcPts val="0"/>
              </a:spcAft>
              <a:buSzPts val="1400"/>
              <a:buChar char="○"/>
            </a:pPr>
            <a:r>
              <a:rPr lang="en"/>
              <a:t>t = 0.5 → result is exactly halfway</a:t>
            </a:r>
            <a:endParaRPr/>
          </a:p>
          <a:p>
            <a:pPr indent="-317500" lvl="1" marL="914400" rtl="0" algn="l">
              <a:spcBef>
                <a:spcPts val="0"/>
              </a:spcBef>
              <a:spcAft>
                <a:spcPts val="0"/>
              </a:spcAft>
              <a:buSzPts val="1400"/>
              <a:buChar char="○"/>
            </a:pPr>
            <a:r>
              <a:rPr lang="en"/>
              <a:t>t = 1 → result is b</a:t>
            </a:r>
            <a:endParaRPr/>
          </a:p>
          <a:p>
            <a:pPr indent="-330200" lvl="0" marL="457200" rtl="0" algn="l">
              <a:spcBef>
                <a:spcPts val="0"/>
              </a:spcBef>
              <a:spcAft>
                <a:spcPts val="0"/>
              </a:spcAft>
              <a:buSzPts val="1600"/>
              <a:buChar char="●"/>
            </a:pPr>
            <a:r>
              <a:rPr lang="en"/>
              <a:t>"Linear" means equal steps</a:t>
            </a:r>
            <a:endParaRPr/>
          </a:p>
          <a:p>
            <a:pPr indent="-317500" lvl="1" marL="914400" rtl="0" algn="l">
              <a:spcBef>
                <a:spcPts val="0"/>
              </a:spcBef>
              <a:spcAft>
                <a:spcPts val="0"/>
              </a:spcAft>
              <a:buSzPts val="1400"/>
              <a:buChar char="○"/>
            </a:pPr>
            <a:r>
              <a:rPr lang="en"/>
              <a:t>The value moves the same amount every frame</a:t>
            </a:r>
            <a:endParaRPr/>
          </a:p>
          <a:p>
            <a:pPr indent="-330200" lvl="0" marL="457200" rtl="0" algn="l">
              <a:spcBef>
                <a:spcPts val="0"/>
              </a:spcBef>
              <a:spcAft>
                <a:spcPts val="0"/>
              </a:spcAft>
              <a:buSzPts val="1600"/>
              <a:buChar char="●"/>
            </a:pPr>
            <a:r>
              <a:rPr lang="en"/>
              <a:t>Works on anything numeric</a:t>
            </a:r>
            <a:endParaRPr/>
          </a:p>
          <a:p>
            <a:pPr indent="-317500" lvl="1" marL="914400" rtl="0" algn="l">
              <a:spcBef>
                <a:spcPts val="0"/>
              </a:spcBef>
              <a:spcAft>
                <a:spcPts val="0"/>
              </a:spcAft>
              <a:buSzPts val="1400"/>
              <a:buChar char="○"/>
            </a:pPr>
            <a:r>
              <a:rPr lang="en"/>
              <a:t>floats, positions, colours, even angles</a:t>
            </a:r>
            <a:endParaRPr/>
          </a:p>
          <a:p>
            <a:pPr indent="-330200" lvl="0" marL="457200" rtl="0" algn="l">
              <a:spcBef>
                <a:spcPts val="0"/>
              </a:spcBef>
              <a:spcAft>
                <a:spcPts val="0"/>
              </a:spcAft>
              <a:buSzPts val="1600"/>
              <a:buChar char="●"/>
            </a:pPr>
            <a:r>
              <a:rPr lang="en"/>
              <a:t>Non-linear curves (ease-in, ease-out) feel more natural but lerp is a good starting point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2889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When the player walks through a door, two things tween simultaneously</a:t>
            </a:r>
            <a:endParaRPr/>
          </a:p>
          <a:p>
            <a:pPr indent="-317500" lvl="1" marL="914400" rtl="0" algn="l">
              <a:spcBef>
                <a:spcPts val="0"/>
              </a:spcBef>
              <a:spcAft>
                <a:spcPts val="0"/>
              </a:spcAft>
              <a:buSzPts val="1400"/>
              <a:buChar char="○"/>
            </a:pPr>
            <a:r>
              <a:rPr lang="en"/>
              <a:t>The camera - from (0, 0) to _shiftTarget (one screen width/height away)</a:t>
            </a:r>
            <a:endParaRPr/>
          </a:p>
          <a:p>
            <a:pPr indent="-317500" lvl="1" marL="914400" rtl="0" algn="l">
              <a:spcBef>
                <a:spcPts val="0"/>
              </a:spcBef>
              <a:spcAft>
                <a:spcPts val="0"/>
              </a:spcAft>
              <a:buSzPts val="1400"/>
              <a:buChar char="○"/>
            </a:pPr>
            <a:r>
              <a:rPr lang="en"/>
              <a:t>The player - from the exit doorway to the matching entry point in the new room</a:t>
            </a:r>
            <a:endParaRPr/>
          </a:p>
          <a:p>
            <a:pPr indent="-330200" lvl="0" marL="457200" rtl="0" algn="l">
              <a:spcBef>
                <a:spcPts val="0"/>
              </a:spcBef>
              <a:spcAft>
                <a:spcPts val="0"/>
              </a:spcAft>
              <a:buSzPts val="1600"/>
              <a:buChar char="●"/>
            </a:pPr>
            <a:r>
              <a:rPr lang="en"/>
              <a:t>The new room is placed at _shiftTarget and never moves</a:t>
            </a:r>
            <a:endParaRPr/>
          </a:p>
          <a:p>
            <a:pPr indent="-317500" lvl="1" marL="914400" rtl="0" algn="l">
              <a:spcBef>
                <a:spcPts val="0"/>
              </a:spcBef>
              <a:spcAft>
                <a:spcPts val="0"/>
              </a:spcAft>
              <a:buSzPts val="1400"/>
              <a:buChar char="○"/>
            </a:pPr>
            <a:r>
              <a:rPr lang="en"/>
              <a:t>The camera travelling toward it is what creates the scroll effect</a:t>
            </a:r>
            <a:endParaRPr/>
          </a:p>
          <a:p>
            <a:pPr indent="-330200" lvl="0" marL="457200" rtl="0" algn="l">
              <a:spcBef>
                <a:spcPts val="0"/>
              </a:spcBef>
              <a:spcAft>
                <a:spcPts val="0"/>
              </a:spcAft>
              <a:buSzPts val="1600"/>
              <a:buChar char="●"/>
            </a:pPr>
            <a:r>
              <a:rPr lang="en"/>
              <a:t>All objects render through the same camera.Transform * screenScaleMatrix</a:t>
            </a:r>
            <a:endParaRPr/>
          </a:p>
          <a:p>
            <a:pPr indent="-317500" lvl="1" marL="914400" rtl="0" algn="l">
              <a:spcBef>
                <a:spcPts val="0"/>
              </a:spcBef>
              <a:spcAft>
                <a:spcPts val="0"/>
              </a:spcAft>
              <a:buSzPts val="1400"/>
              <a:buChar char="○"/>
            </a:pPr>
            <a:r>
              <a:rPr lang="en"/>
              <a:t>The whole scene shifts together</a:t>
            </a:r>
            <a:endParaRPr/>
          </a:p>
          <a:p>
            <a:pPr indent="-330200" lvl="0" marL="457200" rtl="0" algn="l">
              <a:spcBef>
                <a:spcPts val="0"/>
              </a:spcBef>
              <a:spcAft>
                <a:spcPts val="0"/>
              </a:spcAft>
              <a:buSzPts val="1600"/>
              <a:buChar char="●"/>
            </a:pPr>
            <a:r>
              <a:rPr lang="en"/>
              <a:t>When the tween finishes, FinishShift makes the new room current</a:t>
            </a:r>
            <a:endParaRPr/>
          </a:p>
          <a:p>
            <a:pPr indent="-317500" lvl="1" marL="914400" rtl="0" algn="l">
              <a:spcBef>
                <a:spcPts val="0"/>
              </a:spcBef>
              <a:spcAft>
                <a:spcPts val="0"/>
              </a:spcAft>
              <a:buSzPts val="1400"/>
              <a:buChar char="○"/>
            </a:pPr>
            <a:r>
              <a:rPr lang="en"/>
              <a:t>Camera &amp; Player position is then reset</a:t>
            </a:r>
            <a:endParaRPr/>
          </a:p>
          <a:p>
            <a:pPr indent="-317500" lvl="1" marL="914400" rtl="0" algn="l">
              <a:spcBef>
                <a:spcPts val="0"/>
              </a:spcBef>
              <a:spcAft>
                <a:spcPts val="0"/>
              </a:spcAft>
              <a:buSzPts val="1400"/>
              <a:buChar char="○"/>
            </a:pPr>
            <a:r>
              <a:rPr lang="en"/>
              <a:t>Gameplay resumes (Room.Update is now called again)</a:t>
            </a:r>
            <a:endParaRPr/>
          </a:p>
        </p:txBody>
      </p:sp>
      <p:sp>
        <p:nvSpPr>
          <p:cNvPr id="223" name="Google Shape;223;p36"/>
          <p:cNvSpPr txBox="1"/>
          <p:nvPr>
            <p:ph idx="1" type="body"/>
          </p:nvPr>
        </p:nvSpPr>
        <p:spPr>
          <a:xfrm>
            <a:off x="1908900" y="3807823"/>
            <a:ext cx="5326200" cy="1092162"/>
          </a:xfrm>
          <a:prstGeom prst="rect">
            <a:avLst/>
          </a:prstGeom>
          <a:solidFill>
            <a:schemeClr val="dk2"/>
          </a:solidFill>
        </p:spPr>
        <p:txBody>
          <a:bodyPr anchorCtr="0" anchor="t" bIns="91425" lIns="91425" spcFirstLastPara="1" rIns="91425" wrap="square" tIns="91425">
            <a:normAutofit fontScale="85000" lnSpcReduction="20000"/>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Dungeon.cs, BeginShift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_tweens.Tween(GameSettings.RoomShiftDuration)</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.Add(t =&gt; /* move the camera */, 0f, 1f)</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.Add(t =&gt; /* walk the player */, 0f, 1f)</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.Finish(FinishShift);</a:t>
            </a:r>
            <a:endParaRPr sz="1000">
              <a:solidFill>
                <a:srgbClr val="9CDCFE"/>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GMDCore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No progress variable, no “is it done yet?” check</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3"/>
              </a:rPr>
              <a:t>Stencil buffer</a:t>
            </a:r>
            <a:endParaRPr/>
          </a:p>
        </p:txBody>
      </p:sp>
      <p:pic>
        <p:nvPicPr>
          <p:cNvPr id="230" name="Google Shape;230;p37"/>
          <p:cNvPicPr preferRelativeResize="0"/>
          <p:nvPr/>
        </p:nvPicPr>
        <p:blipFill>
          <a:blip r:embed="rId4">
            <a:alphaModFix/>
          </a:blip>
          <a:stretch>
            <a:fillRect/>
          </a:stretch>
        </p:blipFill>
        <p:spPr>
          <a:xfrm>
            <a:off x="2752000" y="1920300"/>
            <a:ext cx="3640000" cy="23195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2358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lives in config files, behaviour lives in C#</a:t>
            </a:r>
            <a:endParaRPr/>
          </a:p>
          <a:p>
            <a:pPr indent="-317500" lvl="1" marL="914400" rtl="0" algn="l">
              <a:spcBef>
                <a:spcPts val="0"/>
              </a:spcBef>
              <a:spcAft>
                <a:spcPts val="0"/>
              </a:spcAft>
              <a:buSzPts val="1400"/>
              <a:buChar char="○"/>
            </a:pPr>
            <a:r>
              <a:rPr lang="en"/>
              <a:t>This project uses XML — alternatives: JSON, YAML, TOML, Lua</a:t>
            </a:r>
            <a:endParaRPr/>
          </a:p>
          <a:p>
            <a:pPr indent="-330200" lvl="0" marL="457200" rtl="0" algn="l">
              <a:spcBef>
                <a:spcPts val="0"/>
              </a:spcBef>
              <a:spcAft>
                <a:spcPts val="0"/>
              </a:spcAft>
              <a:buSzPts val="1600"/>
              <a:buChar char="●"/>
            </a:pPr>
            <a:r>
              <a:rPr lang="en"/>
              <a:t>Definition classes parse the files once at startup into dictionaries</a:t>
            </a:r>
            <a:endParaRPr/>
          </a:p>
          <a:p>
            <a:pPr indent="-317500" lvl="1" marL="914400" rtl="0" algn="l">
              <a:spcBef>
                <a:spcPts val="0"/>
              </a:spcBef>
              <a:spcAft>
                <a:spcPts val="0"/>
              </a:spcAft>
              <a:buSzPts val="1400"/>
              <a:buChar char="○"/>
            </a:pPr>
            <a:r>
              <a:rPr lang="en"/>
              <a:t>The rest of the code never touches XML</a:t>
            </a:r>
            <a:endParaRPr/>
          </a:p>
          <a:p>
            <a:pPr indent="-330200" lvl="0" marL="457200" rtl="0" algn="l">
              <a:spcBef>
                <a:spcPts val="0"/>
              </a:spcBef>
              <a:spcAft>
                <a:spcPts val="0"/>
              </a:spcAft>
              <a:buSzPts val="1600"/>
              <a:buChar char="●"/>
            </a:pPr>
            <a:r>
              <a:rPr lang="en"/>
              <a:t>Adding a new enemy type = one &lt;Enemy&gt; block in XML + a spritesheet row</a:t>
            </a:r>
            <a:endParaRPr/>
          </a:p>
          <a:p>
            <a:pPr indent="-317500" lvl="1" marL="914400" rtl="0" algn="l">
              <a:spcBef>
                <a:spcPts val="0"/>
              </a:spcBef>
              <a:spcAft>
                <a:spcPts val="0"/>
              </a:spcAft>
              <a:buSzPts val="1400"/>
              <a:buChar char="○"/>
            </a:pPr>
            <a:r>
              <a:rPr lang="en"/>
              <a:t>No C# changes, no recompile</a:t>
            </a:r>
            <a:endParaRPr/>
          </a:p>
          <a:p>
            <a:pPr indent="-330200" lvl="0" marL="457200" rtl="0" algn="l">
              <a:spcBef>
                <a:spcPts val="0"/>
              </a:spcBef>
              <a:spcAft>
                <a:spcPts val="0"/>
              </a:spcAft>
              <a:buSzPts val="1600"/>
              <a:buChar char="●"/>
            </a:pPr>
            <a:r>
              <a:rPr lang="en"/>
              <a:t>GameObject has no if (type == "switch") anywhere</a:t>
            </a:r>
            <a:endParaRPr/>
          </a:p>
          <a:p>
            <a:pPr indent="-317500" lvl="1" marL="914400" rtl="0" algn="l">
              <a:spcBef>
                <a:spcPts val="0"/>
              </a:spcBef>
              <a:spcAft>
                <a:spcPts val="0"/>
              </a:spcAft>
              <a:buSzPts val="1400"/>
              <a:buChar char="○"/>
            </a:pPr>
            <a:r>
              <a:rPr lang="en"/>
              <a:t>the XML defines valid states, the C# just looks up the current state name at draw time</a:t>
            </a:r>
            <a:endParaRPr/>
          </a:p>
        </p:txBody>
      </p:sp>
      <p:sp>
        <p:nvSpPr>
          <p:cNvPr id="237" name="Google Shape;237;p38"/>
          <p:cNvSpPr txBox="1"/>
          <p:nvPr>
            <p:ph idx="1" type="body"/>
          </p:nvPr>
        </p:nvSpPr>
        <p:spPr>
          <a:xfrm>
            <a:off x="311700" y="3244025"/>
            <a:ext cx="8520600" cy="1099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Enemy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type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"skeleton"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"16"</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"16"</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walkSpeed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health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Animation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name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"walk-down"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frames</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"9,10,11,10"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interval</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Animation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name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"idle-down"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frames</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interval</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Enemy</a:t>
            </a:r>
            <a:r>
              <a:rPr lang="en" sz="1000">
                <a:solidFill>
                  <a:srgbClr val="808080"/>
                </a:solidFill>
                <a:highlight>
                  <a:srgbClr val="1F1F1F"/>
                </a:highlight>
                <a:latin typeface="Consolas"/>
                <a:ea typeface="Consolas"/>
                <a:cs typeface="Consolas"/>
                <a:sym typeface="Consolas"/>
              </a:rPr>
              <a:t>&gt;</a:t>
            </a:r>
            <a:endParaRPr/>
          </a:p>
        </p:txBody>
      </p:sp>
      <p:sp>
        <p:nvSpPr>
          <p:cNvPr id="238" name="Google Shape;238;p38"/>
          <p:cNvSpPr txBox="1"/>
          <p:nvPr>
            <p:ph idx="1" type="body"/>
          </p:nvPr>
        </p:nvSpPr>
        <p:spPr>
          <a:xfrm>
            <a:off x="311700" y="4321525"/>
            <a:ext cx="8520600" cy="572700"/>
          </a:xfrm>
          <a:prstGeom prst="rect">
            <a:avLst/>
          </a:prstGeom>
        </p:spPr>
        <p:txBody>
          <a:bodyPr anchorCtr="0" anchor="t" bIns="91425" lIns="91425" spcFirstLastPara="1" rIns="91425" wrap="square" tIns="91425">
            <a:normAutofit fontScale="85000"/>
          </a:bodyPr>
          <a:lstStyle/>
          <a:p>
            <a:pPr indent="0" lvl="0" marL="0" rtl="0" algn="l">
              <a:spcBef>
                <a:spcPts val="0"/>
              </a:spcBef>
              <a:spcAft>
                <a:spcPts val="1200"/>
              </a:spcAft>
              <a:buNone/>
            </a:pPr>
            <a:r>
              <a:rPr lang="en">
                <a:solidFill>
                  <a:schemeClr val="lt1"/>
                </a:solidFill>
              </a:rPr>
              <a:t>T</a:t>
            </a:r>
            <a:r>
              <a:rPr lang="en" sz="1600">
                <a:solidFill>
                  <a:schemeClr val="lt1"/>
                </a:solidFill>
              </a:rPr>
              <a:t>radeoff: typos in XML become runtime errors, not compile errors — the compiler can't catch type="skelton"</a:t>
            </a:r>
            <a:endParaRPr>
              <a:solidFill>
                <a:schemeClr val="lt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Extending Zelda</a:t>
            </a:r>
            <a:endParaRPr>
              <a:solidFill>
                <a:schemeClr val="accent5"/>
              </a:solidFill>
            </a:endParaRPr>
          </a:p>
        </p:txBody>
      </p:sp>
      <p:sp>
        <p:nvSpPr>
          <p:cNvPr id="244" name="Google Shape;244;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the finished game</a:t>
            </a:r>
            <a:endParaRPr/>
          </a:p>
          <a:p>
            <a:pPr indent="-330200" lvl="0" marL="457200" rtl="0" algn="l">
              <a:spcBef>
                <a:spcPts val="0"/>
              </a:spcBef>
              <a:spcAft>
                <a:spcPts val="0"/>
              </a:spcAft>
              <a:buSzPts val="1600"/>
              <a:buChar char="●"/>
            </a:pPr>
            <a:r>
              <a:rPr lang="en"/>
              <a:t>Make some enemies drop hearts randomly, which heal the player for 2 damage</a:t>
            </a:r>
            <a:endParaRPr/>
          </a:p>
          <a:p>
            <a:pPr indent="-317500" lvl="1" marL="914400" rtl="0" algn="l">
              <a:spcBef>
                <a:spcPts val="0"/>
              </a:spcBef>
              <a:spcAft>
                <a:spcPts val="0"/>
              </a:spcAft>
              <a:buSzPts val="1400"/>
              <a:buChar char="○"/>
            </a:pPr>
            <a:r>
              <a:rPr lang="en"/>
              <a:t>I.e. one whole heart</a:t>
            </a:r>
            <a:endParaRPr/>
          </a:p>
          <a:p>
            <a:pPr indent="-330200" lvl="0" marL="457200" rtl="0" algn="l">
              <a:spcBef>
                <a:spcPts val="0"/>
              </a:spcBef>
              <a:spcAft>
                <a:spcPts val="0"/>
              </a:spcAft>
              <a:buSzPts val="1600"/>
              <a:buChar char="●"/>
            </a:pPr>
            <a:r>
              <a:rPr lang="en"/>
              <a:t>Allow the player to lift pots</a:t>
            </a:r>
            <a:endParaRPr/>
          </a:p>
          <a:p>
            <a:pPr indent="-317500" lvl="1" marL="914400" rtl="0" algn="l">
              <a:spcBef>
                <a:spcPts val="0"/>
              </a:spcBef>
              <a:spcAft>
                <a:spcPts val="0"/>
              </a:spcAft>
              <a:buSzPts val="1400"/>
              <a:buChar char="○"/>
            </a:pPr>
            <a:r>
              <a:rPr lang="en"/>
              <a:t>Using the animations included in the sp</a:t>
            </a:r>
            <a:r>
              <a:rPr lang="en">
                <a:solidFill>
                  <a:schemeClr val="lt1"/>
                </a:solidFill>
              </a:rPr>
              <a:t>rite sheets </a:t>
            </a:r>
            <a:r>
              <a:rPr lang="en" u="sng">
                <a:solidFill>
                  <a:schemeClr val="hlink"/>
                </a:solidFill>
                <a:hlinkClick r:id="rId3"/>
              </a:rPr>
              <a:t>here</a:t>
            </a:r>
            <a:endParaRPr>
              <a:solidFill>
                <a:schemeClr val="lt1"/>
              </a:solidFill>
            </a:endParaRPr>
          </a:p>
          <a:p>
            <a:pPr indent="-330200" lvl="0" marL="457200" rtl="0" algn="l">
              <a:spcBef>
                <a:spcPts val="0"/>
              </a:spcBef>
              <a:spcAft>
                <a:spcPts val="0"/>
              </a:spcAft>
              <a:buSzPts val="1600"/>
              <a:buChar char="●"/>
            </a:pPr>
            <a:r>
              <a:rPr lang="en"/>
              <a:t>Pots should stick to the player while they are carrying them</a:t>
            </a:r>
            <a:endParaRPr/>
          </a:p>
          <a:p>
            <a:pPr indent="-317500" lvl="1" marL="914400" rtl="0" algn="l">
              <a:spcBef>
                <a:spcPts val="0"/>
              </a:spcBef>
              <a:spcAft>
                <a:spcPts val="0"/>
              </a:spcAft>
              <a:buSzPts val="1400"/>
              <a:buChar char="○"/>
            </a:pPr>
            <a:r>
              <a:rPr lang="en"/>
              <a:t>The pot needs to track player position</a:t>
            </a:r>
            <a:endParaRPr/>
          </a:p>
          <a:p>
            <a:pPr indent="-330200" lvl="0" marL="457200" rtl="0" algn="l">
              <a:spcBef>
                <a:spcPts val="0"/>
              </a:spcBef>
              <a:spcAft>
                <a:spcPts val="0"/>
              </a:spcAft>
              <a:buSzPts val="1600"/>
              <a:buChar char="●"/>
            </a:pPr>
            <a:r>
              <a:rPr lang="en"/>
              <a:t>Allow the player to throw pots and damage enemies</a:t>
            </a:r>
            <a:endParaRPr/>
          </a:p>
          <a:p>
            <a:pPr indent="-317500" lvl="1" marL="914400" rtl="0" algn="l">
              <a:spcBef>
                <a:spcPts val="0"/>
              </a:spcBef>
              <a:spcAft>
                <a:spcPts val="0"/>
              </a:spcAft>
              <a:buSzPts val="1400"/>
              <a:buChar char="○"/>
            </a:pPr>
            <a:r>
              <a:rPr lang="en"/>
              <a:t>If it hits a wall, an enemy, or travels farther than four tiles, destroy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Next milestone, by session 09: self-review</a:t>
            </a:r>
            <a:endParaRPr/>
          </a:p>
          <a:p>
            <a:pPr indent="-317500" lvl="1" marL="914400" rtl="0" algn="l">
              <a:spcBef>
                <a:spcPts val="0"/>
              </a:spcBef>
              <a:spcAft>
                <a:spcPts val="0"/>
              </a:spcAft>
              <a:buSzPts val="1400"/>
              <a:buChar char="○"/>
            </a:pPr>
            <a:r>
              <a:rPr lang="en"/>
              <a:t>Updated class diagram, list of patterns, and an event map</a:t>
            </a:r>
            <a:endParaRPr/>
          </a:p>
          <a:p>
            <a:pPr indent="-317500" lvl="1" marL="914400" rtl="0" algn="l">
              <a:spcBef>
                <a:spcPts val="0"/>
              </a:spcBef>
              <a:spcAft>
                <a:spcPts val="0"/>
              </a:spcAft>
              <a:buSzPts val="1400"/>
              <a:buChar char="○"/>
            </a:pPr>
            <a:r>
              <a:rPr lang="en"/>
              <a:t>The meaningful moments in your game: who fires them, who reacts</a:t>
            </a:r>
            <a:endParaRPr/>
          </a:p>
          <a:p>
            <a:pPr indent="-317500" lvl="1" marL="914400" rtl="0" algn="l">
              <a:spcBef>
                <a:spcPts val="0"/>
              </a:spcBef>
              <a:spcAft>
                <a:spcPts val="0"/>
              </a:spcAft>
              <a:buSzPts val="1400"/>
              <a:buChar char="○"/>
            </a:pPr>
            <a:r>
              <a:rPr lang="en"/>
              <a:t>At least one refactoring</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