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94" r:id="rId53"/>
    <p:sldId id="287" r:id="rId37"/>
    <p:sldId id="293" r:id="rId52"/>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7.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32.xml"/><Relationship Id="rId51" Type="http://schemas.openxmlformats.org/officeDocument/2006/relationships/slide" Target="slides/slide36.xml"/><Relationship Id="rId52" Type="http://schemas.openxmlformats.org/officeDocument/2006/relationships/slide" Target="slides/slide38.xml"/><Relationship Id="rId53"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All Source code for today’s game can be found here:</a:t>
            </a:r>
          </a:p>
          <a:p>
            <a:r>
              <a:t>  - github.com/Metamate/gar-games (folder 08-zelda)</a:t>
            </a:r>
          </a:p>
          <a:p>
            <a:r>
              <a:t>- Walkthrough in README.md</a:t>
            </a:r>
          </a:p>
          <a:p>
            <a:r>
              <a:t>- The game is built up in steps: Zelda0 → Zelda7</a:t>
            </a:r>
          </a:p>
          <a:p>
            <a:r>
              <a:t>  - Each step is a separate project that adds one concept</a:t>
            </a:r>
          </a:p>
          <a:p>
            <a:r>
              <a:t>  - Compare neighbouring steps to see exactly what changed</a:t>
            </a:r>
          </a:p>
          <a:p>
            <a:r>
              <a:t>- Zelda7 is the finished game: explore it, and start the exercises from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Player health changed? HUD Updated</a:t>
            </a:r>
          </a:p>
          <a:p>
            <a:r>
              <a:t>Enemy dies</a:t>
            </a:r>
          </a:p>
          <a:p>
            <a:r>
              <a:t>Sword is swung!</a:t>
            </a:r>
          </a:p>
          <a:p/>
          <a:p>
            <a:r>
              <a:t>The one caveat: the codebase is small enough that the polling isn't actually painful yet, so students need to be told to imagine it at scale. But that's actually a good teaching moment too - when should you reach for events vs. just polling?</a:t>
            </a:r>
          </a:p>
          <a:p/>
          <a:p>
            <a:r>
              <a:t>Full instructions (also on the course site):</a:t>
            </a:r>
          </a:p>
          <a:p>
            <a:r>
              <a:t>- OnPlayerDied is detected in one place but causes a game over screen to appear somewhere completely different. Trace the full chain through the code.</a:t>
            </a:r>
          </a:p>
          <a:p>
            <a:r>
              <a:t>- Enemy death is handled asymmetrically to player death.</a:t>
            </a:r>
          </a:p>
          <a:p>
            <a:r>
              <a:t>  - What happens now when an enemy dies?</a:t>
            </a:r>
          </a:p>
          <a:p>
            <a:r>
              <a:t>  - What could happen if there were an event for it?</a:t>
            </a:r>
          </a:p>
          <a:p>
            <a:r>
              <a:t>  - What would you need to add, and where?</a:t>
            </a:r>
          </a:p>
          <a:p>
            <a:r>
              <a:t>- SoundManager.PlaySound(...) is called directly from several unrelated classes.</a:t>
            </a:r>
          </a:p>
          <a:p>
            <a:r>
              <a:t>  - Find all the call sites. Why is this a problem, and how would events fix it?</a:t>
            </a:r>
          </a:p>
          <a:p>
            <a:r>
              <a:t>- Pick one of the above and refactor it to be event-driven.</a:t>
            </a:r>
          </a:p>
          <a:p>
            <a:r>
              <a:t>  - The class firing the event should have no reference to the class reacting to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Short for “in-betweening”</a:t>
            </a:r>
          </a:p>
          <a:p>
            <a:r>
              <a:t>  - Animating a value from A to B over time</a:t>
            </a:r>
          </a:p>
          <a:p>
            <a:r>
              <a:t>- Comes from traditional animation</a:t>
            </a:r>
          </a:p>
          <a:p>
            <a:r>
              <a:t>  - Artists drew keyframes, assistants filled in the frames in between</a:t>
            </a:r>
          </a:p>
          <a:p>
            <a:r>
              <a:t>- Instead of snapping a position instantly, you move it a little each frame until it arrives</a:t>
            </a:r>
          </a:p>
          <a:p>
            <a:r>
              <a:t>- Used everywhere in games</a:t>
            </a:r>
          </a:p>
          <a:p>
            <a:r>
              <a:t>  - UI animations, camera movement, character transitions, screen wipes</a:t>
            </a:r>
          </a:p>
          <a:p>
            <a:r>
              <a:t>- The two things you always need to define:</a:t>
            </a:r>
          </a:p>
          <a:p>
            <a:r>
              <a:t>  - What is moving</a:t>
            </a:r>
          </a:p>
          <a:p>
            <a:r>
              <a:t>  - How fast / by what curve (Easings.net)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The simplest tween curve - constant speed from A to B</a:t>
            </a:r>
          </a:p>
          <a:p>
            <a:r>
              <a:t>- lerp(a, b, t) = a + (b - a) * t where t goes from 0 to 1</a:t>
            </a:r>
          </a:p>
          <a:p>
            <a:r>
              <a:t>  - t = 0 → result is a</a:t>
            </a:r>
          </a:p>
          <a:p>
            <a:r>
              <a:t>  - t = 0.5 → result is exactly halfway</a:t>
            </a:r>
          </a:p>
          <a:p>
            <a:r>
              <a:t>  - t = 1 → result is b</a:t>
            </a:r>
          </a:p>
          <a:p>
            <a:r>
              <a:t>- "Linear" means equal steps</a:t>
            </a:r>
          </a:p>
          <a:p>
            <a:r>
              <a:t>  - The value moves the same amount every frame</a:t>
            </a:r>
          </a:p>
          <a:p>
            <a:r>
              <a:t>- Works on anything numeric</a:t>
            </a:r>
          </a:p>
          <a:p>
            <a:r>
              <a:t>  - floats, positions, colours, even angles</a:t>
            </a:r>
          </a:p>
          <a:p>
            <a:r>
              <a:t>- Non-linear curves (ease-in, ease-out) feel more natural but lerp is a good starting point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lerp on the camera and the lerp on the player are independent but run in parallel, which is what makes the player look like they're walking through the doorway rather than floating across a black screen.</a:t>
            </a:r>
          </a:p>
          <a:p>
            <a:r>
              <a:t>During the scroll, Room.Update is not called — enemies and gameplay are frozen until the transition finishes</a:t>
            </a:r>
          </a:p>
          <a:p/>
          <a:p>
            <a:r>
              <a:t>Talking points:</a:t>
            </a:r>
          </a:p>
          <a:p>
            <a:r>
              <a:t>- When the player walks through a door, two things tween simultaneously</a:t>
            </a:r>
          </a:p>
          <a:p>
            <a:r>
              <a:t>  - The camera - from (0, 0) to _shiftTarget (one screen width/height away)</a:t>
            </a:r>
          </a:p>
          <a:p>
            <a:r>
              <a:t>  - The player - from the exit doorway to the matching entry point in the new room</a:t>
            </a:r>
          </a:p>
          <a:p>
            <a:r>
              <a:t>- The new room is placed at _shiftTarget and never moves</a:t>
            </a:r>
          </a:p>
          <a:p>
            <a:r>
              <a:t>  - The camera travelling toward it is what creates the scroll effect</a:t>
            </a:r>
          </a:p>
          <a:p>
            <a:r>
              <a:t>- All objects render through the same camera.Transform * screenScaleMatrix</a:t>
            </a:r>
          </a:p>
          <a:p>
            <a:r>
              <a:t>  - The whole scene shifts together</a:t>
            </a:r>
          </a:p>
          <a:p>
            <a:r>
              <a:t>- When the tween finishes, FinishShift makes the new room current</a:t>
            </a:r>
          </a:p>
          <a:p>
            <a:r>
              <a:t>  - Camera &amp; Player position is then reset</a:t>
            </a:r>
          </a:p>
          <a:p>
            <a:r>
              <a:t>  - Gameplay resumes (Room.Update is now called again)</a:t>
            </a:r>
          </a:p>
          <a:p>
            <a:r>
              <a:t>// Dungeon.cs, BeginShift</a:t>
            </a:r>
          </a:p>
          <a:p>
            <a:r>
              <a:t>_tweens.Tween(GameSettings.RoomShiftDuration)</a:t>
            </a:r>
          </a:p>
          <a:p>
            <a:r>
              <a:t>    .Add(t =&gt; /* move the camera */, 0f, 1f)</a:t>
            </a:r>
          </a:p>
          <a:p>
            <a:r>
              <a:t>    .Add(t =&gt; /* walk the player */, 0f, 1f)</a:t>
            </a:r>
          </a:p>
          <a:p>
            <a:r>
              <a:t>    .Finish(FinishShift);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Stencil buffer</a:t>
            </a:r>
          </a:p>
          <a:p/>
          <a:p>
            <a:r>
              <a:t>Talking points:</a:t>
            </a:r>
          </a:p>
          <a:p>
            <a:r>
              <a:t>- Stencil buffer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point out that a designer can read and edit XML without knowing C#</a:t>
            </a:r>
          </a:p>
          <a:p/>
          <a:p>
            <a:r>
              <a:t>Talking points:</a:t>
            </a:r>
          </a:p>
          <a:p>
            <a:r>
              <a:t>- Content lives in config files, behaviour lives in C#</a:t>
            </a:r>
          </a:p>
          <a:p>
            <a:r>
              <a:t>  - This project uses XML — alternatives: JSON, YAML, TOML, Lua</a:t>
            </a:r>
          </a:p>
          <a:p>
            <a:r>
              <a:t>- Definition classes parse the files once at startup into dictionaries</a:t>
            </a:r>
          </a:p>
          <a:p>
            <a:r>
              <a:t>  - The rest of the code never touches XML</a:t>
            </a:r>
          </a:p>
          <a:p>
            <a:r>
              <a:t>- Adding a new enemy type = one &lt;Enemy&gt; block in XML + a spritesheet row</a:t>
            </a:r>
          </a:p>
          <a:p>
            <a:r>
              <a:t>  - No C# changes, no recompile</a:t>
            </a:r>
          </a:p>
          <a:p>
            <a:r>
              <a:t>- GameObject has no if (type == "switch") anywhere</a:t>
            </a:r>
          </a:p>
          <a:p>
            <a:r>
              <a:t>  - the XML defines valid states, the C# just looks up the current state name at draw time</a:t>
            </a:r>
          </a:p>
          <a:p>
            <a:r>
              <a:t>&lt;Enemy type="skeleton" width="16" height="16" walkSpeed="20" health="1"&gt;</a:t>
            </a:r>
          </a:p>
          <a:p>
            <a:r>
              <a:t>  &lt;Animation name="walk-down"  frames="9,10,11,10"   interval="0.2" /&gt;</a:t>
            </a:r>
          </a:p>
          <a:p>
            <a:r>
              <a:t>  &lt;Animation name="idle-down"  frames="10"           interval="0.2" /&gt;</a:t>
            </a:r>
          </a:p>
          <a:p>
            <a:r>
              <a:t>&lt;/Enemy&gt;</a:t>
            </a:r>
          </a:p>
          <a:p>
            <a:r>
              <a:t>Tradeoff: typos in XML become runtime errors, not compile errors — the compiler can't catch type="skelton"</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instructions (also on the course site):</a:t>
            </a:r>
          </a:p>
          <a:p>
            <a:r>
              <a:t>- Start from Zelda7, the finished game</a:t>
            </a:r>
          </a:p>
          <a:p>
            <a:r>
              <a:t>- Make some enemies drop hearts randomly, which heal the player for 2 damage</a:t>
            </a:r>
          </a:p>
          <a:p>
            <a:r>
              <a:t>  - I.e. one whole heart</a:t>
            </a:r>
          </a:p>
          <a:p>
            <a:r>
              <a:t>- Allow the player to lift pots</a:t>
            </a:r>
          </a:p>
          <a:p>
            <a:r>
              <a:t>  - Using the animations included in the sprite sheets here</a:t>
            </a:r>
          </a:p>
          <a:p>
            <a:r>
              <a:t>- Pots should stick to the player while they are carrying them</a:t>
            </a:r>
          </a:p>
          <a:p>
            <a:r>
              <a:t>  - The pot needs to track player position</a:t>
            </a:r>
          </a:p>
          <a:p>
            <a:r>
              <a:t>- Allow the player to throw pots and damage enemies</a:t>
            </a:r>
          </a:p>
          <a:p>
            <a:r>
              <a:t>  - If it hits a wall, an enemy, or travels farther than four tiles, destroy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Talking points:</a:t>
            </a:r>
          </a:p>
          <a:p>
            <a:r>
              <a:t>- The player and the enemies share an abstract Entity base class</a:t>
            </a:r>
          </a:p>
          <a:p>
            <a:r>
              <a:t>  - Position, collision box, animations, health, invulnerability, a current state</a:t>
            </a:r>
          </a:p>
          <a:p>
            <a:r>
              <a:t>- Inheritance works while there is one axis of variation</a:t>
            </a:r>
          </a:p>
          <a:p>
            <a:r>
              <a:t>  - But an enemy that shoots and flies and explodes?</a:t>
            </a:r>
          </a:p>
          <a:p>
            <a:r>
              <a:t>- Deep hierarchies lead to duplicated code, or a bloated base class</a:t>
            </a:r>
          </a:p>
          <a:p>
            <a:r>
              <a:t>- “Favor object composition over class inheritance” (Gang of Four)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Talking points:</a:t>
            </a:r>
          </a:p>
          <a:p>
            <a:r>
              <a:t>- Behaviour in state objects</a:t>
            </a:r>
          </a:p>
          <a:p>
            <a:r>
              <a:t>  - An enemy’s AI is the state object it holds, not the Enemy class itself</a:t>
            </a:r>
          </a:p>
          <a:p>
            <a:r>
              <a:t>- Behaviour wired from outside</a:t>
            </a:r>
          </a:p>
          <a:p>
            <a:r>
              <a:t>  - A floor switch is a plain GameObject; the room attaches what happens via OnCollide</a:t>
            </a:r>
          </a:p>
          <a:p>
            <a:r>
              <a:t>- Data instead of subclasses</a:t>
            </a:r>
          </a:p>
          <a:p>
            <a:r>
              <a:t>  - Enemy types come from XML, not one class per type</a:t>
            </a:r>
          </a:p>
          <a:p>
            <a:r>
              <a:t>- Ask: is it what something is, or what it can do?</a:t>
            </a:r>
          </a:p>
          <a:p>
            <a:r>
              <a:t>  - Plants vs. Zombies takes this all the way: the Component pattern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let them answer in pairs for a minute, then take a few answers. These are the site’s Check yourself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25.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gif-zelda.gif"/>
          <p:cNvPicPr>
            <a:picLocks noChangeAspect="1"/>
          </p:cNvPicPr>
          <p:nvPr/>
        </p:nvPicPr>
        <p:blipFill>
          <a:blip r:embed="rId4"/>
          <a:stretch>
            <a:fillRect/>
          </a:stretch>
        </p:blipFill>
        <p:spPr>
          <a:xfrm>
            <a:off x="1412777" y="1203675"/>
            <a:ext cx="6318444" cy="35541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08-zelda</a:t>
            </a:r>
            <a:endParaRPr/>
          </a:p>
          <a:p>
            <a:pPr indent="-330200" lvl="0" marL="457200" rtl="0" algn="l">
              <a:spcBef>
                <a:spcPts val="0"/>
              </a:spcBef>
              <a:spcAft>
                <a:spcPts val="0"/>
              </a:spcAft>
              <a:buSzPts val="1600"/>
              <a:buChar char="●"/>
            </a:pPr>
            <a:r>
              <a:rPr lang="en"/>
              <a:t>Its README: the steps (Zelda0 to Zelda7), a map of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 not the Enemy class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Data instead of subclasses</a:t>
            </a:r>
          </a:p>
          <a:p>
            <a:pPr algn="ctr"/>
            <a:r>
              <a:rPr sz="1300" b="0">
                <a:solidFill>
                  <a:srgbClr val="9AA3AB"/>
                </a:solidFill>
              </a:rPr>
              <a:t>enemy types come from XML,</a:t>
            </a:r>
          </a:p>
          <a:p>
            <a:pPr algn="ctr"/>
            <a:r>
              <a:rPr sz="1300" b="0">
                <a:solidFill>
                  <a:srgbClr val="9AA3AB"/>
                </a:solidFill>
              </a:rPr>
              <a:t>not one class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the Component pattern.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zelda_tilesheet.png"/>
          <p:cNvPicPr>
            <a:picLocks noChangeAspect="1"/>
          </p:cNvPicPr>
          <p:nvPr/>
        </p:nvPicPr>
        <p:blipFill>
          <a:blip r:embed="rId7"/>
          <a:stretch>
            <a:fillRect/>
          </a:stretch>
        </p:blipFill>
        <p:spPr>
          <a:xfrm>
            <a:off x="408714" y="1425731"/>
            <a:ext cx="4573373" cy="3129150"/>
          </a:xfrm>
          <a:prstGeom prst="rect">
            <a:avLst/>
          </a:prstGeom>
        </p:spPr>
      </p:pic>
      <p:pic>
        <p:nvPicPr>
          <p:cNvPr id="83" name="Picture 85" descr="zelda_sword.png"/>
          <p:cNvPicPr>
            <a:picLocks noChangeAspect="1"/>
          </p:cNvPicPr>
          <p:nvPr/>
        </p:nvPicPr>
        <p:blipFill>
          <a:blip r:embed="rId8"/>
          <a:stretch>
            <a:fillRect/>
          </a:stretch>
        </p:blipFill>
        <p:spPr>
          <a:xfrm>
            <a:off x="6649450" y="899667"/>
            <a:ext cx="1697749" cy="1697749"/>
          </a:xfrm>
          <a:prstGeom prst="rect">
            <a:avLst/>
          </a:prstGeom>
        </p:spPr>
      </p:pic>
      <p:pic>
        <p:nvPicPr>
          <p:cNvPr id="84" name="Picture 85" descr="zelda_walk.png"/>
          <p:cNvPicPr>
            <a:picLocks noChangeAspect="1"/>
          </p:cNvPicPr>
          <p:nvPr/>
        </p:nvPicPr>
        <p:blipFill>
          <a:blip r:embed="rId9"/>
          <a:stretch>
            <a:fillRect/>
          </a:stretch>
        </p:blipFill>
        <p:spPr>
          <a:xfrm>
            <a:off x="5454471" y="874004"/>
            <a:ext cx="848874" cy="1697749"/>
          </a:xfrm>
          <a:prstGeom prst="rect">
            <a:avLst/>
          </a:prstGeom>
        </p:spPr>
      </p:pic>
      <p:pic>
        <p:nvPicPr>
          <p:cNvPr id="85" name="Picture 85" descr="zelda_entities.png"/>
          <p:cNvPicPr>
            <a:picLocks noChangeAspect="1"/>
          </p:cNvPicPr>
          <p:nvPr/>
        </p:nvPicPr>
        <p:blipFill>
          <a:blip r:embed="rId10"/>
          <a:stretch>
            <a:fillRect/>
          </a:stretch>
        </p:blipFill>
        <p:spPr>
          <a:xfrm>
            <a:off x="5230038" y="2728758"/>
            <a:ext cx="3282825" cy="21885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4"/>
          <a:stretch>
            <a:fillRect/>
          </a:stretch>
        </p:blipFill>
        <p:spPr>
          <a:xfrm>
            <a:off x="1597488" y="920715"/>
            <a:ext cx="5949024" cy="407038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zelda-play.png"/>
          <p:cNvPicPr>
            <a:picLocks noChangeAspect="1"/>
          </p:cNvPicPr>
          <p:nvPr/>
        </p:nvPicPr>
        <p:blipFill>
          <a:blip r:embed="rId4"/>
          <a:stretch>
            <a:fillRect/>
          </a:stretch>
        </p:blipFill>
        <p:spPr>
          <a:xfrm>
            <a:off x="1138224" y="1062675"/>
            <a:ext cx="6867555" cy="386299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 a value from A to B over time, instead of snapping it there.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 not over it.</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type="skeleton"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type="skelton".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Enemies sometimes drop a heart that heals one whole heart</a:t>
            </a:r>
            <a:endParaRPr/>
          </a:p>
          <a:p>
            <a:pPr indent="-330200" lvl="0" marL="457200" rtl="0" algn="l">
              <a:spcBef>
                <a:spcPts val="0"/>
              </a:spcBef>
              <a:spcAft>
                <a:spcPts val="0"/>
              </a:spcAft>
              <a:buSzPts val="1600"/>
              <a:buChar char="●"/>
            </a:pPr>
            <a:r>
              <a:rPr lang="en"/>
              <a:t>The player lifts pots (the animations are in the sheet), and carries them</a:t>
            </a:r>
            <a:endParaRPr/>
          </a:p>
          <a:p>
            <a:pPr indent="-330200" lvl="0" marL="457200" rtl="0" algn="l">
              <a:spcBef>
                <a:spcPts val="0"/>
              </a:spcBef>
              <a:spcAft>
                <a:spcPts val="0"/>
              </a:spcAft>
              <a:buSzPts val="1600"/>
              <a:buChar char="●"/>
            </a:pPr>
            <a:r>
              <a:rPr lang="en"/>
              <a:t>Thrown pots damage enemies, and break on walls, enemies or after four tiles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and an event map</a:t>
            </a:r>
            <a:endParaRPr/>
          </a:p>
          <a:p>
            <a:pPr indent="-317500" lvl="1" marL="914400" rtl="0" algn="l">
              <a:spcBef>
                <a:spcPts val="0"/>
              </a:spcBef>
              <a:spcAft>
                <a:spcPts val="0"/>
              </a:spcAft>
              <a:buSzPts val="1400"/>
              <a:buChar char="○"/>
            </a:pPr>
            <a:r>
              <a:rPr lang="en"/>
              <a:t>The meaningful moments in your game: who fires them, who reacts</a:t>
            </a:r>
            <a:endParaRPr/>
          </a:p>
          <a:p>
            <a:pPr indent="-317500" lvl="1" marL="914400" rtl="0" algn="l">
              <a:spcBef>
                <a:spcPts val="0"/>
              </a:spcBef>
              <a:spcAft>
                <a:spcPts val="0"/>
              </a:spcAft>
              <a:buSzPts val="1400"/>
              <a:buChar char="○"/>
            </a:pPr>
            <a:r>
              <a:rPr lang="en"/>
              <a:t>At least one refactoring</a:t>
            </a:r>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