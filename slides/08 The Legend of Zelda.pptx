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87" r:id="rId37"/>
    <p:sldId id="293" r:id="rId52"/>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7.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32.xml"/><Relationship Id="rId51" Type="http://schemas.openxmlformats.org/officeDocument/2006/relationships/slide" Target="slides/slide36.xml"/><Relationship Id="rId52"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Google Shape;52;p11" title="zelda3.gif"/>
          <p:cNvPicPr preferRelativeResize="0"/>
          <p:nvPr/>
        </p:nvPicPr>
        <p:blipFill>
          <a:blip r:embed="rId3">
            <a:alphaModFix/>
          </a:blip>
          <a:stretch>
            <a:fillRect/>
          </a:stretch>
        </p:blipFill>
        <p:spPr>
          <a:xfrm>
            <a:off x="1394074" y="1203675"/>
            <a:ext cx="6355851" cy="3554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08-zelda)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and the enemies share an abstract Entity base class</a:t>
            </a:r>
            <a:endParaRPr/>
          </a:p>
          <a:p>
            <a:pPr indent="-317500" lvl="1" marL="914400" rtl="0" algn="l">
              <a:spcBef>
                <a:spcPts val="0"/>
              </a:spcBef>
              <a:spcAft>
                <a:spcPts val="0"/>
              </a:spcAft>
              <a:buSzPts val="1400"/>
              <a:buChar char="○"/>
            </a:pPr>
            <a:r>
              <a:rPr lang="en"/>
              <a:t>Position, collision box, animations, health, invulnerability, a current state</a:t>
            </a:r>
            <a:endParaRPr/>
          </a:p>
          <a:p>
            <a:pPr indent="-330200" lvl="0" marL="457200" rtl="0" algn="l">
              <a:spcBef>
                <a:spcPts val="0"/>
              </a:spcBef>
              <a:spcAft>
                <a:spcPts val="0"/>
              </a:spcAft>
              <a:buSzPts val="1600"/>
              <a:buChar char="●"/>
            </a:pPr>
            <a:r>
              <a:rPr lang="en"/>
              <a:t>Inheritance works while there is one axis of variation</a:t>
            </a:r>
            <a:endParaRPr/>
          </a:p>
          <a:p>
            <a:pPr indent="-317500" lvl="1" marL="914400" rtl="0" algn="l">
              <a:spcBef>
                <a:spcPts val="0"/>
              </a:spcBef>
              <a:spcAft>
                <a:spcPts val="0"/>
              </a:spcAft>
              <a:buSzPts val="1400"/>
              <a:buChar char="○"/>
            </a:pPr>
            <a:r>
              <a:rPr lang="en"/>
              <a:t>But an enemy that shoots and flies and explodes?</a:t>
            </a:r>
            <a:endParaRPr/>
          </a:p>
          <a:p>
            <a:pPr indent="-330200" lvl="0" marL="457200" rtl="0" algn="l">
              <a:spcBef>
                <a:spcPts val="0"/>
              </a:spcBef>
              <a:spcAft>
                <a:spcPts val="0"/>
              </a:spcAft>
              <a:buSzPts val="1600"/>
              <a:buChar char="●"/>
            </a:pPr>
            <a:r>
              <a:rPr lang="en"/>
              <a:t>Deep hierarchies lead to duplicated code, or a bloated base class</a:t>
            </a:r>
            <a:endParaRPr/>
          </a:p>
          <a:p>
            <a:pPr indent="-330200" lvl="0" marL="457200" rtl="0" algn="l">
              <a:spcBef>
                <a:spcPts val="0"/>
              </a:spcBef>
              <a:spcAft>
                <a:spcPts val="0"/>
              </a:spcAft>
              <a:buSzPts val="1600"/>
              <a:buChar char="●"/>
            </a:pPr>
            <a:r>
              <a:rPr lang="en"/>
              <a:t>“Favor object composition over class inheritance” (Gang of Four)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Behaviour in state objects</a:t>
            </a:r>
            <a:endParaRPr/>
          </a:p>
          <a:p>
            <a:pPr indent="-317500" lvl="1" marL="914400" rtl="0" algn="l">
              <a:spcBef>
                <a:spcPts val="0"/>
              </a:spcBef>
              <a:spcAft>
                <a:spcPts val="0"/>
              </a:spcAft>
              <a:buSzPts val="1400"/>
              <a:buChar char="○"/>
            </a:pPr>
            <a:r>
              <a:rPr lang="en"/>
              <a:t>An enemy’s AI is the state object it holds, not the Enemy class itself</a:t>
            </a:r>
            <a:endParaRPr/>
          </a:p>
          <a:p>
            <a:pPr indent="-330200" lvl="0" marL="457200" rtl="0" algn="l">
              <a:spcBef>
                <a:spcPts val="0"/>
              </a:spcBef>
              <a:spcAft>
                <a:spcPts val="0"/>
              </a:spcAft>
              <a:buSzPts val="1600"/>
              <a:buChar char="●"/>
            </a:pPr>
            <a:r>
              <a:rPr lang="en"/>
              <a:t>Behaviour wired from outside</a:t>
            </a:r>
            <a:endParaRPr/>
          </a:p>
          <a:p>
            <a:pPr indent="-317500" lvl="1" marL="914400" rtl="0" algn="l">
              <a:spcBef>
                <a:spcPts val="0"/>
              </a:spcBef>
              <a:spcAft>
                <a:spcPts val="0"/>
              </a:spcAft>
              <a:buSzPts val="1400"/>
              <a:buChar char="○"/>
            </a:pPr>
            <a:r>
              <a:rPr lang="en"/>
              <a:t>A floor switch is a plain GameObject; the room attaches what happens via OnCollide</a:t>
            </a:r>
            <a:endParaRPr/>
          </a:p>
          <a:p>
            <a:pPr indent="-330200" lvl="0" marL="457200" rtl="0" algn="l">
              <a:spcBef>
                <a:spcPts val="0"/>
              </a:spcBef>
              <a:spcAft>
                <a:spcPts val="0"/>
              </a:spcAft>
              <a:buSzPts val="1600"/>
              <a:buChar char="●"/>
            </a:pPr>
            <a:r>
              <a:rPr lang="en"/>
              <a:t>Data instead of subclasses</a:t>
            </a:r>
            <a:endParaRPr/>
          </a:p>
          <a:p>
            <a:pPr indent="-317500" lvl="1" marL="914400" rtl="0" algn="l">
              <a:spcBef>
                <a:spcPts val="0"/>
              </a:spcBef>
              <a:spcAft>
                <a:spcPts val="0"/>
              </a:spcAft>
              <a:buSzPts val="1400"/>
              <a:buChar char="○"/>
            </a:pPr>
            <a:r>
              <a:rPr lang="en"/>
              <a:t>Enemy types come from XML, not one class per type</a:t>
            </a:r>
            <a:endParaRPr/>
          </a:p>
          <a:p>
            <a:pPr indent="-330200" lvl="0" marL="457200" rtl="0" algn="l">
              <a:spcBef>
                <a:spcPts val="0"/>
              </a:spcBef>
              <a:spcAft>
                <a:spcPts val="0"/>
              </a:spcAft>
              <a:buSzPts val="1600"/>
              <a:buChar char="●"/>
            </a:pPr>
            <a:r>
              <a:rPr lang="en"/>
              <a:t>Ask: is it what something is, or what it can do?</a:t>
            </a:r>
            <a:endParaRPr/>
          </a:p>
          <a:p>
            <a:pPr indent="-317500" lvl="1" marL="914400" rtl="0" algn="l">
              <a:spcBef>
                <a:spcPts val="0"/>
              </a:spcBef>
              <a:spcAft>
                <a:spcPts val="0"/>
              </a:spcAft>
              <a:buSzPts val="1400"/>
              <a:buChar char="○"/>
            </a:pPr>
            <a:r>
              <a:rPr lang="en"/>
              <a:t>Plants vs. Zombies takes this all the way: the Component pattern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Google Shape;82;p16"/>
          <p:cNvPicPr preferRelativeResize="0"/>
          <p:nvPr/>
        </p:nvPicPr>
        <p:blipFill>
          <a:blip r:embed="rId3">
            <a:alphaModFix/>
          </a:blip>
          <a:stretch>
            <a:fillRect/>
          </a:stretch>
        </p:blipFill>
        <p:spPr>
          <a:xfrm>
            <a:off x="408713" y="1425731"/>
            <a:ext cx="4573375" cy="3129150"/>
          </a:xfrm>
          <a:prstGeom prst="rect">
            <a:avLst/>
          </a:prstGeom>
          <a:noFill/>
          <a:ln>
            <a:noFill/>
          </a:ln>
        </p:spPr>
      </p:pic>
      <p:pic>
        <p:nvPicPr>
          <p:cNvPr id="83" name="Google Shape;83;p16"/>
          <p:cNvPicPr preferRelativeResize="0"/>
          <p:nvPr/>
        </p:nvPicPr>
        <p:blipFill>
          <a:blip r:embed="rId4">
            <a:alphaModFix/>
          </a:blip>
          <a:stretch>
            <a:fillRect/>
          </a:stretch>
        </p:blipFill>
        <p:spPr>
          <a:xfrm>
            <a:off x="6649450" y="899667"/>
            <a:ext cx="1697749" cy="1697749"/>
          </a:xfrm>
          <a:prstGeom prst="rect">
            <a:avLst/>
          </a:prstGeom>
          <a:noFill/>
          <a:ln>
            <a:noFill/>
          </a:ln>
        </p:spPr>
      </p:pic>
      <p:pic>
        <p:nvPicPr>
          <p:cNvPr id="84" name="Google Shape;84;p16"/>
          <p:cNvPicPr preferRelativeResize="0"/>
          <p:nvPr/>
        </p:nvPicPr>
        <p:blipFill>
          <a:blip r:embed="rId5">
            <a:alphaModFix/>
          </a:blip>
          <a:stretch>
            <a:fillRect/>
          </a:stretch>
        </p:blipFill>
        <p:spPr>
          <a:xfrm>
            <a:off x="5454471" y="874004"/>
            <a:ext cx="848875" cy="1697749"/>
          </a:xfrm>
          <a:prstGeom prst="rect">
            <a:avLst/>
          </a:prstGeom>
          <a:noFill/>
          <a:ln>
            <a:noFill/>
          </a:ln>
        </p:spPr>
      </p:pic>
      <p:pic>
        <p:nvPicPr>
          <p:cNvPr id="85" name="Google Shape;85;p16"/>
          <p:cNvPicPr preferRelativeResize="0"/>
          <p:nvPr/>
        </p:nvPicPr>
        <p:blipFill>
          <a:blip r:embed="rId6">
            <a:alphaModFix/>
          </a:blip>
          <a:stretch>
            <a:fillRect/>
          </a:stretch>
        </p:blipFill>
        <p:spPr>
          <a:xfrm>
            <a:off x="5230038" y="2728758"/>
            <a:ext cx="3282825" cy="21885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Google Shape;91;p17"/>
          <p:cNvPicPr preferRelativeResize="0"/>
          <p:nvPr/>
        </p:nvPicPr>
        <p:blipFill>
          <a:blip r:embed="rId3">
            <a:alphaModFix/>
          </a:blip>
          <a:stretch>
            <a:fillRect/>
          </a:stretch>
        </p:blipFill>
        <p:spPr>
          <a:xfrm>
            <a:off x="1597488" y="920715"/>
            <a:ext cx="5949024" cy="407038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Google Shape;97;p18"/>
          <p:cNvPicPr preferRelativeResize="0"/>
          <p:nvPr/>
        </p:nvPicPr>
        <p:blipFill>
          <a:blip r:embed="rId3">
            <a:alphaModFix/>
          </a:blip>
          <a:stretch>
            <a:fillRect/>
          </a:stretch>
        </p:blipFill>
        <p:spPr>
          <a:xfrm>
            <a:off x="1113789" y="1062675"/>
            <a:ext cx="6916425" cy="3863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the tween finishes, FinishShift makes the new room current</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807823"/>
            <a:ext cx="5326200" cy="1092162"/>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 BeginShift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_tweens.Tween(GameSettings.RoomShiftDuration)</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move the camera */, 0f, 1f)</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walk the player */, 0f, 1f)</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.Finish(FinishShift);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and an event map</a:t>
            </a:r>
            <a:endParaRPr/>
          </a:p>
          <a:p>
            <a:pPr indent="-317500" lvl="1" marL="914400" rtl="0" algn="l">
              <a:spcBef>
                <a:spcPts val="0"/>
              </a:spcBef>
              <a:spcAft>
                <a:spcPts val="0"/>
              </a:spcAft>
              <a:buSzPts val="1400"/>
              <a:buChar char="○"/>
            </a:pPr>
            <a:r>
              <a:rPr lang="en"/>
              <a:t>The meaningful moments in your game: who fires them, who reacts</a:t>
            </a:r>
            <a:endParaRPr/>
          </a:p>
          <a:p>
            <a:pPr indent="-317500" lvl="1" marL="914400" rtl="0" algn="l">
              <a:spcBef>
                <a:spcPts val="0"/>
              </a:spcBef>
              <a:spcAft>
                <a:spcPts val="0"/>
              </a:spcAft>
              <a:buSzPts val="1400"/>
              <a:buChar char="○"/>
            </a:pPr>
            <a:r>
              <a:rPr lang="en"/>
              <a:t>At least one refactoring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