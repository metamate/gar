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266" r:id="rId16"/>
    <p:sldId id="267" r:id="rId17"/>
    <p:sldId id="303" r:id="rId62"/>
    <p:sldId id="277" r:id="rId27"/>
    <p:sldId id="278" r:id="rId28"/>
    <p:sldId id="279" r:id="rId29"/>
    <p:sldId id="280" r:id="rId30"/>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1" r:id="rId41"/>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21" Type="http://schemas.openxmlformats.org/officeDocument/2006/relationships/slide" Target="slides/slide31.xml"/><Relationship Id="rId23" Type="http://schemas.openxmlformats.org/officeDocument/2006/relationships/slide" Target="slides/slide38.xml"/><Relationship Id="rId24" Type="http://schemas.openxmlformats.org/officeDocument/2006/relationships/slide" Target="slides/slide39.xml"/><Relationship Id="rId25" Type="http://schemas.openxmlformats.org/officeDocument/2006/relationships/slide" Target="slides/slide33.xml"/><Relationship Id="rId26" Type="http://schemas.openxmlformats.org/officeDocument/2006/relationships/slide" Target="slides/slide3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8.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27.xml"/><Relationship Id="rId43" Type="http://schemas.openxmlformats.org/officeDocument/2006/relationships/slide" Target="slides/slide26.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5.xml"/><Relationship Id="rId55" Type="http://schemas.openxmlformats.org/officeDocument/2006/relationships/slide" Target="slides/slide44.xml"/><Relationship Id="rId56" Type="http://schemas.openxmlformats.org/officeDocument/2006/relationships/slide" Target="slides/slide2.xml"/><Relationship Id="rId57" Type="http://schemas.openxmlformats.org/officeDocument/2006/relationships/slide" Target="slides/slide43.xml"/><Relationship Id="rId58" Type="http://schemas.openxmlformats.org/officeDocument/2006/relationships/slide" Target="slides/slide29.xml"/><Relationship Id="rId59" Type="http://schemas.openxmlformats.org/officeDocument/2006/relationships/slide" Target="slides/slide35.xml"/><Relationship Id="rId60" Type="http://schemas.openxmlformats.org/officeDocument/2006/relationships/slide" Target="slides/slide30.xml"/><Relationship Id="rId61" Type="http://schemas.openxmlformats.org/officeDocument/2006/relationships/slide" Target="slides/slide32.xml"/><Relationship Id="rId62" Type="http://schemas.openxmlformats.org/officeDocument/2006/relationships/slide" Target="slides/slide15.xml"/><Relationship Id="rId63" Type="http://schemas.openxmlformats.org/officeDocument/2006/relationships/slide" Target="slides/slide10.xml"/><Relationship Id="rId64"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game world, which means a tilemap, entities and a camera. We also cover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Many tilesets and toppers in one image.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mole’s AI is the same pattern: idle, walk, and chase when the player comes close.</a:t>
            </a:r>
          </a:p>
          <a:p>
            <a:r>
              <a:t>Ask the question: the player and the mole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MoleStates/</a:t>
            </a:r>
          </a:p>
          <a:p>
            <a:r>
              <a:t>- AnimatedSprite.Play swaps animations</a:t>
            </a:r>
          </a:p>
          <a:p>
            <a:r>
              <a:t>- the collision code duplicated between mole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one tile wide, so he can run across a one-tile pit. Shrink the hitbox by 2 pixels each side, and he falls.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point to tile,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a star sets a flag and a timer, a mushroom scales the player.</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cde4c02cc0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cde4c02cc0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art for the power-ups is in the repo, in extras.png. The game doesn’t use it yet.</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Every state needs gravity, tile collision and moving sideways,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38 to 50, 2 pixels into the wall. It snaps back so its right edge is at 48 (left edge 36),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4" Type="http://schemas.openxmlformats.org/officeDocument/2006/relationships/image" Target="../media/image2.png"/><Relationship Id="rId5"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17.gif"/><Relationship Id="rId4" Type="http://schemas.openxmlformats.org/officeDocument/2006/relationships/image" Target="../media/image29.gi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4"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4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4"/>
          <a:stretch>
            <a:fillRect/>
          </a:stretch>
        </p:blipFill>
        <p:spPr>
          <a:xfrm>
            <a:off x="2002294" y="1688925"/>
            <a:ext cx="5139418"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03</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05</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06</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05</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07</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08</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07</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12</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13</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13</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15</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Tilemap</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region</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 40 80 80"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tileWidth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tileHeight</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808080"/>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images/atlas</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Tileset</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00 01 02 01 03</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04 05 06 05 07</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08 09 10 09 11</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04 09 09 09 07</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12 13 14 13 15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Tilemap</a:t>
            </a:r>
            <a:r>
              <a:rPr lang="en" sz="10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image.png"/>
          <p:cNvPicPr>
            <a:picLocks noChangeAspect="1"/>
          </p:cNvPicPr>
          <p:nvPr/>
        </p:nvPicPr>
        <p:blipFill>
          <a:blip r:embed="rId4"/>
          <a:stretch>
            <a:fillRect/>
          </a:stretch>
        </p:blipFill>
        <p:spPr>
          <a:xfrm>
            <a:off x="1702525" y="920715"/>
            <a:ext cx="3052788" cy="4070384"/>
          </a:xfrm>
          <a:prstGeom prst="rect">
            <a:avLst/>
          </a:prstGeom>
        </p:spPr>
      </p:pic>
      <p:pic>
        <p:nvPicPr>
          <p:cNvPr id="94" name="Picture 100" descr="tile_tops.png"/>
          <p:cNvPicPr>
            <a:picLocks noChangeAspect="1"/>
          </p:cNvPicPr>
          <p:nvPr/>
        </p:nvPicPr>
        <p:blipFill>
          <a:blip r:embed="rId5"/>
          <a:stretch>
            <a:fillRect/>
          </a:stretch>
        </p:blipFill>
        <p:spPr>
          <a:xfrm>
            <a:off x="5405455" y="920725"/>
            <a:ext cx="1695990" cy="4070376"/>
          </a:xfrm>
          <a:prstGeom prst="rect">
            <a:avLst/>
          </a:prstGeom>
        </p:spPr>
      </p:pic>
      <p:sp>
        <p:nvSpPr>
          <p:cNvPr id="95" name="Google Shape;95;p17"/>
          <p:cNvSpPr/>
          <p:nvPr/>
        </p:nvSpPr>
        <p:spPr>
          <a:xfrm>
            <a:off x="17025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22101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27177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3997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6859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9721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levels.png"/>
          <p:cNvPicPr>
            <a:picLocks noChangeAspect="1"/>
          </p:cNvPicPr>
          <p:nvPr/>
        </p:nvPicPr>
        <p:blipFill>
          <a:blip r:embed="rId3"/>
          <a:stretch>
            <a:fillRect/>
          </a:stretch>
        </p:blipFill>
        <p:spPr>
          <a:xfrm>
            <a:off x="1141489" y="970656"/>
            <a:ext cx="6861021" cy="3884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level.png"/>
          <p:cNvPicPr>
            <a:picLocks noChangeAspect="1"/>
          </p:cNvPicPr>
          <p:nvPr/>
        </p:nvPicPr>
        <p:blipFill>
          <a:blip r:embed="rId3"/>
          <a:stretch>
            <a:fillRect/>
          </a:stretch>
        </p:blipFill>
        <p:spPr>
          <a:xfrm>
            <a:off x="3888100" y="887231"/>
            <a:ext cx="4718421" cy="2654112"/>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This is NOT the Command Pattern!</a:t>
            </a:r>
            <a:endParaRPr/>
          </a:p>
          <a:p>
            <a:pPr indent="-317500" lvl="1" marL="914400" rtl="0" algn="l">
              <a:spcBef>
                <a:spcPts val="0"/>
              </a:spcBef>
              <a:spcAft>
                <a:spcPts val="0"/>
              </a:spcAft>
              <a:buSzPts val="1400"/>
              <a:buChar char="○"/>
            </a:pPr>
            <a:r>
              <a:rPr lang="en"/>
              <a:t>why not?</a:t>
            </a:r>
            <a:endParaRPr/>
          </a:p>
        </p:txBody>
      </p:sp>
      <p:pic>
        <p:nvPicPr>
          <p:cNvPr id="185" name="Google Shape;185;p30"/>
          <p:cNvPicPr preferRelativeResize="0"/>
          <p:nvPr/>
        </p:nvPicPr>
        <p:blipFill>
          <a:blip r:embed="rId3">
            <a:alphaModFix/>
          </a:blip>
          <a:stretch>
            <a:fillRect/>
          </a:stretch>
        </p:blipFill>
        <p:spPr>
          <a:xfrm>
            <a:off x="3702216" y="3223775"/>
            <a:ext cx="1739575" cy="1160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Player is same width as tiles, this makes it hard to fall down pits</a:t>
            </a:r>
            <a:endParaRPr/>
          </a:p>
          <a:p>
            <a:pPr indent="-317500" lvl="1" marL="914400" rtl="0" algn="l">
              <a:spcBef>
                <a:spcPts val="0"/>
              </a:spcBef>
              <a:spcAft>
                <a:spcPts val="0"/>
              </a:spcAft>
              <a:buSzPts val="1400"/>
              <a:buChar char="○"/>
            </a:pPr>
            <a:r>
              <a:rPr lang="en"/>
              <a:t>The player can run across a pit without falling down!</a:t>
            </a:r>
            <a:endParaRPr/>
          </a:p>
          <a:p>
            <a:pPr indent="-330200" lvl="0" marL="457200" rtl="0" algn="l">
              <a:spcBef>
                <a:spcPts val="0"/>
              </a:spcBef>
              <a:spcAft>
                <a:spcPts val="0"/>
              </a:spcAft>
              <a:buSzPts val="1600"/>
              <a:buChar char="●"/>
            </a:pPr>
            <a:r>
              <a:rPr lang="en"/>
              <a:t>We shrink the hitbox/collider with 2px on each side</a:t>
            </a:r>
            <a:endParaRPr/>
          </a:p>
          <a:p>
            <a:pPr indent="-317500" lvl="1" marL="914400" rtl="0" algn="l">
              <a:spcBef>
                <a:spcPts val="0"/>
              </a:spcBef>
              <a:spcAft>
                <a:spcPts val="0"/>
              </a:spcAft>
              <a:buSzPts val="1400"/>
              <a:buChar char="○"/>
            </a:pPr>
            <a:r>
              <a:rPr lang="en"/>
              <a:t>Now you gotta jump those pits!</a:t>
            </a:r>
            <a:endParaRPr/>
          </a:p>
        </p:txBody>
      </p:sp>
      <p:pic>
        <p:nvPicPr>
          <p:cNvPr id="192" name="Picture 192" descr="hitbox.png"/>
          <p:cNvPicPr>
            <a:picLocks noChangeAspect="1"/>
          </p:cNvPicPr>
          <p:nvPr/>
        </p:nvPicPr>
        <p:blipFill>
          <a:blip r:embed="rId3"/>
          <a:stretch>
            <a:fillRect/>
          </a:stretch>
        </p:blipFill>
        <p:spPr>
          <a:xfrm>
            <a:off x="3745230" y="2229213"/>
            <a:ext cx="1653540" cy="2066925"/>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updown.png"/>
          <p:cNvPicPr>
            <a:picLocks noChangeAspect="1"/>
          </p:cNvPicPr>
          <p:nvPr/>
        </p:nvPicPr>
        <p:blipFill>
          <a:blip r:embed="rId4"/>
          <a:stretch>
            <a:fillRect/>
          </a:stretch>
        </p:blipFill>
        <p:spPr>
          <a:xfrm>
            <a:off x="3503650" y="1211298"/>
            <a:ext cx="2114724" cy="2290951"/>
          </a:xfrm>
          <a:prstGeom prst="rect">
            <a:avLst/>
          </a:prstGeom>
        </p:spPr>
      </p:pic>
      <p:sp>
        <p:nvSpPr>
          <p:cNvPr id="199" name="Google Shape;199;p32"/>
          <p:cNvSpPr/>
          <p:nvPr/>
        </p:nvSpPr>
        <p:spPr>
          <a:xfrm>
            <a:off x="4247321" y="257176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76003" y="257176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image.png"/>
          <p:cNvPicPr>
            <a:picLocks noChangeAspect="1"/>
          </p:cNvPicPr>
          <p:nvPr/>
        </p:nvPicPr>
        <p:blipFill>
          <a:blip r:embed="rId3"/>
          <a:stretch>
            <a:fillRect/>
          </a:stretch>
        </p:blipFill>
        <p:spPr>
          <a:xfrm>
            <a:off x="3503650" y="3502250"/>
            <a:ext cx="2114724" cy="1057362"/>
          </a:xfrm>
          <a:prstGeom prst="rect">
            <a:avLst/>
          </a:prstGeom>
        </p:spPr>
      </p:pic>
      <p:sp>
        <p:nvSpPr>
          <p:cNvPr id="202" name="Google Shape;202;p32"/>
          <p:cNvSpPr/>
          <p:nvPr/>
        </p:nvSpPr>
        <p:spPr>
          <a:xfrm>
            <a:off x="4247321" y="3452900"/>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76003" y="3452900"/>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leftright.png"/>
          <p:cNvPicPr>
            <a:picLocks noChangeAspect="1"/>
          </p:cNvPicPr>
          <p:nvPr/>
        </p:nvPicPr>
        <p:blipFill>
          <a:blip r:embed="rId3"/>
          <a:stretch>
            <a:fillRect/>
          </a:stretch>
        </p:blipFill>
        <p:spPr>
          <a:xfrm>
            <a:off x="3141583" y="1603300"/>
            <a:ext cx="2860834" cy="2409123"/>
          </a:xfrm>
          <a:prstGeom prst="rect">
            <a:avLst/>
          </a:prstGeom>
        </p:spPr>
      </p:pic>
      <p:sp>
        <p:nvSpPr>
          <p:cNvPr id="210" name="Google Shape;210;p33"/>
          <p:cNvSpPr/>
          <p:nvPr/>
        </p:nvSpPr>
        <p:spPr>
          <a:xfrm>
            <a:off x="4296795" y="238208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748505" y="238208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296795" y="3134937"/>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748505" y="3134937"/>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16-pixel tiles:</a:t>
            </a:r>
            <a:endParaRPr/>
          </a:p>
          <a:p>
            <a:pPr indent="-330200" lvl="0" marL="457200" rtl="0" algn="l">
              <a:spcBef>
                <a:spcPts val="0"/>
              </a:spcBef>
              <a:spcAft>
                <a:spcPts val="0"/>
              </a:spcAft>
              <a:buSzPts val="1600"/>
              <a:buChar char="●"/>
            </a:pPr>
            <a:r>
              <a:rPr lang="en"/>
              <a:t>The hitbox spans x 30 to 42, and moves 8 pixels right</a:t>
            </a:r>
            <a:endParaRPr/>
          </a:p>
          <a:p>
            <a:pPr indent="-330200" lvl="0" marL="457200" rtl="0" algn="l">
              <a:spcBef>
                <a:spcPts val="0"/>
              </a:spcBef>
              <a:spcAft>
                <a:spcPts val="0"/>
              </a:spcAft>
              <a:buSzPts val="1600"/>
              <a:buChar char="●"/>
            </a:pPr>
            <a:r>
              <a:rPr lang="en"/>
              <a:t>A wall starts at x 48</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PointToTile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point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Google Shape;237;p37" title="Celeste-Coyote-Time.gif"/>
          <p:cNvPicPr preferRelativeResize="0"/>
          <p:nvPr/>
        </p:nvPicPr>
        <p:blipFill>
          <a:blip r:embed="rId3">
            <a:alphaModFix/>
          </a:blip>
          <a:stretch>
            <a:fillRect/>
          </a:stretch>
        </p:blipFill>
        <p:spPr>
          <a:xfrm>
            <a:off x="451675" y="1679747"/>
            <a:ext cx="4120325" cy="2317675"/>
          </a:xfrm>
          <a:prstGeom prst="rect">
            <a:avLst/>
          </a:prstGeom>
          <a:noFill/>
          <a:ln>
            <a:noFill/>
          </a:ln>
        </p:spPr>
      </p:pic>
      <p:pic>
        <p:nvPicPr>
          <p:cNvPr id="238" name="Google Shape;238;p37" title="coyote.gif"/>
          <p:cNvPicPr preferRelativeResize="0"/>
          <p:nvPr/>
        </p:nvPicPr>
        <p:blipFill>
          <a:blip r:embed="rId4">
            <a:alphaModFix/>
          </a:blip>
          <a:stretch>
            <a:fillRect/>
          </a:stretch>
        </p:blipFill>
        <p:spPr>
          <a:xfrm>
            <a:off x="5345575" y="1971802"/>
            <a:ext cx="3048000" cy="17335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because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debug.png"/>
          <p:cNvPicPr>
            <a:picLocks noChangeAspect="1"/>
          </p:cNvPicPr>
          <p:nvPr/>
        </p:nvPicPr>
        <p:blipFill>
          <a:blip r:embed="rId4"/>
          <a:stretch>
            <a:fillRect/>
          </a:stretch>
        </p:blipFill>
        <p:spPr>
          <a:xfrm>
            <a:off x="1280160" y="1005840"/>
            <a:ext cx="6583680" cy="37033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sp>
        <p:nvSpPr>
          <p:cNvPr id="172" name="Rectangle 171"/>
          <p:cNvSpPr/>
          <p:nvPr/>
        </p:nvSpPr>
        <p:spPr>
          <a:xfrm>
            <a:off x="365760" y="1508760"/>
            <a:ext cx="8412480" cy="91440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173" name="TextBox 172"/>
          <p:cNvSpPr txBox="1"/>
          <p:nvPr/>
        </p:nvSpPr>
        <p:spPr>
          <a:xfrm>
            <a:off x="457200" y="1554480"/>
            <a:ext cx="2743200" cy="274320"/>
          </a:xfrm>
          <a:prstGeom prst="rect">
            <a:avLst/>
          </a:prstGeom>
          <a:noFill/>
        </p:spPr>
        <p:txBody>
          <a:bodyPr wrap="square">
            <a:spAutoFit/>
          </a:bodyPr>
          <a:lstStyle/>
          <a:p>
            <a:pPr algn="l"/>
            <a:r>
              <a:rPr sz="1200" b="0" i="0">
                <a:solidFill>
                  <a:srgbClr val="9AA3AB"/>
                </a:solidFill>
              </a:rPr>
              <a:t>the level</a:t>
            </a:r>
          </a:p>
        </p:txBody>
      </p:sp>
      <p:sp>
        <p:nvSpPr>
          <p:cNvPr id="174" name="Rectangle 173"/>
          <p:cNvSpPr/>
          <p:nvPr/>
        </p:nvSpPr>
        <p:spPr>
          <a:xfrm>
            <a:off x="3291840" y="1371600"/>
            <a:ext cx="2377440" cy="1188720"/>
          </a:xfrm>
          <a:prstGeom prst="rect">
            <a:avLst/>
          </a:prstGeom>
          <a:solidFill>
            <a:srgbClr val="212529"/>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screen</a:t>
            </a:r>
          </a:p>
          <a:p>
            <a:pPr algn="ctr"/>
            <a:r>
              <a:rPr sz="1300" b="0">
                <a:solidFill>
                  <a:srgbClr val="9AA3AB"/>
                </a:solidFill>
              </a:rPr>
              <a:t>centred on the player</a:t>
            </a:r>
          </a:p>
        </p:txBody>
      </p:sp>
      <p:sp>
        <p:nvSpPr>
          <p:cNvPr id="175" name="TextBox 174"/>
          <p:cNvSpPr txBox="1"/>
          <p:nvPr/>
        </p:nvSpPr>
        <p:spPr>
          <a:xfrm>
            <a:off x="365760" y="2788920"/>
            <a:ext cx="8412480" cy="822960"/>
          </a:xfrm>
          <a:prstGeom prst="rect">
            <a:avLst/>
          </a:prstGeom>
          <a:noFill/>
        </p:spPr>
        <p:txBody>
          <a:bodyPr wrap="square">
            <a:spAutoFit/>
          </a:bodyPr>
          <a:lstStyle/>
          <a:p>
            <a:pPr algn="ctr"/>
            <a:r>
              <a:rPr sz="1400" b="0" i="0">
                <a:solidFill>
                  <a:srgbClr val="9AA3AB"/>
                </a:solidFill>
              </a:rPr>
              <a:t>The camera shifts the whole world by one matrix, and stops at the ends of the level.</a:t>
            </a:r>
          </a:p>
          <a:p>
            <a:pPr algn="ctr"/>
            <a:r>
              <a:rPr sz="1400" b="0" i="0">
                <a:solidFill>
                  <a:srgbClr val="9AA3AB"/>
                </a:solidFill>
              </a:rPr>
              <a:t>Only on x, since the level is one screen tall.</a:t>
            </a:r>
          </a:p>
        </p:txBody>
      </p:sp>
      <p:sp>
        <p:nvSpPr>
          <p:cNvPr id="176" name="TextBox 175"/>
          <p:cNvSpPr txBox="1"/>
          <p:nvPr/>
        </p:nvSpPr>
        <p:spPr>
          <a:xfrm>
            <a:off x="457200" y="3611880"/>
            <a:ext cx="8229600" cy="731520"/>
          </a:xfrm>
          <a:prstGeom prst="rect">
            <a:avLst/>
          </a:prstGeom>
          <a:noFill/>
        </p:spPr>
        <p:txBody>
          <a:bodyPr wrap="square">
            <a:spAutoFit/>
          </a:bodyPr>
          <a:lstStyle/>
          <a:p>
            <a:pPr algn="ctr"/>
            <a:r>
              <a:rPr sz="1600" b="1" i="0">
                <a:solidFill>
                  <a:srgbClr val="DEE2E6"/>
                </a:solidFill>
              </a:rPr>
              <a:t>Why didn’t Pong, Snake or Pac-Man need a camera?</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are the things that aren’t tiles. They move, and don’t line up with the grid.</a:t>
            </a:r>
            <a:endParaRPr/>
          </a:p>
          <a:p>
            <a:pPr indent="-330200" lvl="0" marL="457200" rtl="0" algn="l">
              <a:spcBef>
                <a:spcPts val="0"/>
              </a:spcBef>
              <a:spcAft>
                <a:spcPts val="0"/>
              </a:spcAft>
              <a:buSzPts val="1600"/>
              <a:buChar char="●"/>
            </a:pPr>
            <a:r>
              <a:rPr lang="en"/>
              <a:t>The player, moles, boxes, coins; each with its own states.</a:t>
            </a:r>
            <a:endParaRPr/>
          </a:p>
        </p:txBody>
      </p:sp>
      <p:pic>
        <p:nvPicPr>
          <p:cNvPr id="259" name="Picture 260" descr="entities.png"/>
          <p:cNvPicPr>
            <a:picLocks noChangeAspect="1"/>
          </p:cNvPicPr>
          <p:nvPr/>
        </p:nvPicPr>
        <p:blipFill>
          <a:blip r:embed="rId4"/>
          <a:stretch>
            <a:fillRect/>
          </a:stretch>
        </p:blipFill>
        <p:spPr>
          <a:xfrm>
            <a:off x="6223513" y="323751"/>
            <a:ext cx="2782285" cy="4489597"/>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W</a:t>
            </a:r>
            <a:r>
              <a:rPr lang="en"/>
              <a:t>e iterate over all entities in</a:t>
            </a:r>
            <a:r>
              <a:rPr lang="en"/>
              <a:t> the world </a:t>
            </a:r>
            <a:r>
              <a:rPr lang="en"/>
              <a:t>at the same time</a:t>
            </a:r>
            <a:endParaRPr/>
          </a:p>
          <a:p>
            <a:pPr indent="-304800" lvl="1" marL="914400" rtl="0" algn="l">
              <a:lnSpc>
                <a:spcPct val="157500"/>
              </a:lnSpc>
              <a:spcBef>
                <a:spcPts val="0"/>
              </a:spcBef>
              <a:spcAft>
                <a:spcPts val="0"/>
              </a:spcAft>
              <a:buSzPts val="1200"/>
              <a:buChar char="○"/>
            </a:pPr>
            <a:r>
              <a:rPr lang="en"/>
              <a:t>Made possible by the update method pattern!</a:t>
            </a:r>
            <a:endParaRPr/>
          </a:p>
          <a:p>
            <a:pPr indent="-317500" lvl="0" marL="457200" rtl="0" algn="l">
              <a:lnSpc>
                <a:spcPct val="157500"/>
              </a:lnSpc>
              <a:spcBef>
                <a:spcPts val="0"/>
              </a:spcBef>
              <a:spcAft>
                <a:spcPts val="0"/>
              </a:spcAft>
              <a:buSzPts val="1400"/>
              <a:buChar char="●"/>
            </a:pPr>
            <a:r>
              <a:rPr lang="en"/>
              <a:t>Collisions can be done entity-to-entity</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Since entities often move, we cannot do an instant lookup check like for tilemap collisions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Mole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mole’s AI is a state machine too.</a:t>
            </a:r>
            <a:endParaRPr/>
          </a:p>
        </p:txBody>
      </p:sp>
      <p:pic>
        <p:nvPicPr>
          <p:cNvPr id="159" name="Picture 168" descr="mole.png"/>
          <p:cNvPicPr>
            <a:picLocks noChangeAspect="1"/>
          </p:cNvPicPr>
          <p:nvPr/>
        </p:nvPicPr>
        <p:blipFill>
          <a:blip r:embed="rId3"/>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MoleStateBase: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Mole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mole AI</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longer every level</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Effectively an Entity that changes some state or trait of the player</a:t>
            </a:r>
            <a:endParaRPr/>
          </a:p>
          <a:p>
            <a:pPr indent="-317500" lvl="1" marL="914400" rtl="0" algn="l">
              <a:spcBef>
                <a:spcPts val="0"/>
              </a:spcBef>
              <a:spcAft>
                <a:spcPts val="0"/>
              </a:spcAft>
              <a:buSzPts val="1400"/>
              <a:buChar char="○"/>
            </a:pPr>
            <a:r>
              <a:rPr lang="en"/>
              <a:t>A star may flip an “invincible” flag on the player and begin an “invincibleDuration” timer</a:t>
            </a:r>
            <a:endParaRPr/>
          </a:p>
          <a:p>
            <a:pPr indent="-317500" lvl="1" marL="914400" rtl="0" algn="l">
              <a:spcBef>
                <a:spcPts val="0"/>
              </a:spcBef>
              <a:spcAft>
                <a:spcPts val="0"/>
              </a:spcAft>
              <a:buSzPts val="1400"/>
              <a:buChar char="○"/>
            </a:pPr>
            <a:r>
              <a:rPr lang="en"/>
              <a:t>A mushroom may trigger a “huge” flag on the player that alters their </a:t>
            </a:r>
            <a:r>
              <a:rPr lang="en"/>
              <a:t>x, y, width, and height and then scales their sprite</a:t>
            </a:r>
            <a:endParaRPr/>
          </a:p>
        </p:txBody>
      </p:sp>
      <p:pic>
        <p:nvPicPr>
          <p:cNvPr id="290" name="Google Shape;290;p43"/>
          <p:cNvPicPr preferRelativeResize="0"/>
          <p:nvPr/>
        </p:nvPicPr>
        <p:blipFill>
          <a:blip r:embed="rId3">
            <a:alphaModFix/>
          </a:blip>
          <a:stretch>
            <a:fillRect/>
          </a:stretch>
        </p:blipFill>
        <p:spPr>
          <a:xfrm>
            <a:off x="2867738" y="2571750"/>
            <a:ext cx="3408525" cy="230927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Extra Assets</a:t>
            </a:r>
            <a:endParaRPr/>
          </a:p>
        </p:txBody>
      </p:sp>
      <p:sp>
        <p:nvSpPr>
          <p:cNvPr id="296" name="Google Shape;296;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Power-ups for the exercises, in the repo: Content/Assets/images/extras.png (the game doesn’t use them)</a:t>
            </a:r>
            <a:endParaRPr/>
          </a:p>
        </p:txBody>
      </p:sp>
      <p:pic>
        <p:nvPicPr>
          <p:cNvPr id="297" name="Picture 297" descr="mario_extras.png"/>
          <p:cNvPicPr>
            <a:picLocks noChangeAspect="1"/>
          </p:cNvPicPr>
          <p:nvPr/>
        </p:nvPicPr>
        <p:blipFill>
          <a:blip r:embed="rId3"/>
          <a:stretch>
            <a:fillRect/>
          </a:stretch>
        </p:blipFill>
        <p:spPr>
          <a:xfrm>
            <a:off x="3551348" y="3016803"/>
            <a:ext cx="2041300" cy="34021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Why is a switch on an enum still a problematic way to model character state?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