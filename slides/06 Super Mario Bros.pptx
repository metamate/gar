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97" r:id="rId5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303" r:id="rId62"/>
    <p:sldId id="268" r:id="rId18"/>
    <p:sldId id="269" r:id="rId19"/>
    <p:sldId id="270" r:id="rId20"/>
    <p:sldId id="271" r:id="rId21"/>
    <p:sldId id="302" r:id="rId61"/>
    <p:sldId id="272" r:id="rId22"/>
    <p:sldId id="273" r:id="rId23"/>
    <p:sldId id="274" r:id="rId24"/>
    <p:sldId id="301" r:id="rId60"/>
    <p:sldId id="275" r:id="rId25"/>
    <p:sldId id="276" r:id="rId26"/>
    <p:sldId id="300" r:id="rId59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92" r:id="rId43"/>
    <p:sldId id="293" r:id="rId42"/>
    <p:sldId id="286" r:id="rId36"/>
    <p:sldId id="299" r:id="rId58"/>
    <p:sldId id="287" r:id="rId37"/>
    <p:sldId id="288" r:id="rId38"/>
    <p:sldId id="289" r:id="rId39"/>
    <p:sldId id="290" r:id="rId40"/>
    <p:sldId id="291" r:id="rId41"/>
    <p:sldId id="298" r:id="rId57"/>
    <p:sldId id="296" r:id="rId55"/>
    <p:sldId id="294" r:id="rId53"/>
    <p:sldId id="295" r:id="rId54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8.xml"/><Relationship Id="rId37" Type="http://schemas.openxmlformats.org/officeDocument/2006/relationships/slide" Target="slides/slide40.xml"/><Relationship Id="rId38" Type="http://schemas.openxmlformats.org/officeDocument/2006/relationships/slide" Target="slides/slide41.xml"/><Relationship Id="rId39" Type="http://schemas.openxmlformats.org/officeDocument/2006/relationships/slide" Target="slides/slide42.xml"/><Relationship Id="rId40" Type="http://schemas.openxmlformats.org/officeDocument/2006/relationships/slide" Target="slides/slide43.xml"/><Relationship Id="rId41" Type="http://schemas.openxmlformats.org/officeDocument/2006/relationships/slide" Target="slides/slide44.xml"/><Relationship Id="rId42" Type="http://schemas.openxmlformats.org/officeDocument/2006/relationships/slide" Target="slides/slide37.xml"/><Relationship Id="rId43" Type="http://schemas.openxmlformats.org/officeDocument/2006/relationships/slide" Target="slides/slide36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6.xml"/><Relationship Id="rId56" Type="http://schemas.openxmlformats.org/officeDocument/2006/relationships/slide" Target="slides/slide2.xml"/><Relationship Id="rId57" Type="http://schemas.openxmlformats.org/officeDocument/2006/relationships/slide" Target="slides/slide45.xml"/><Relationship Id="rId58" Type="http://schemas.openxmlformats.org/officeDocument/2006/relationships/slide" Target="slides/slide39.xml"/><Relationship Id="rId59" Type="http://schemas.openxmlformats.org/officeDocument/2006/relationships/slide" Target="slides/slide26.xml"/><Relationship Id="rId60" Type="http://schemas.openxmlformats.org/officeDocument/2006/relationships/slide" Target="slides/slide23.xml"/><Relationship Id="rId61" Type="http://schemas.openxmlformats.org/officeDocument/2006/relationships/slide" Target="slides/slide19.xml"/><Relationship Id="rId62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Super Mario Bros. The main topic: platformer physics and tile collision.</a:t>
            </a:r>
          </a:p>
          <a:p>
            <a:r>
              <a:t>Start by playing the finished game, Platformer8,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Platformer8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platformer physics and tile collision. Around it: debug drawing, a camera, level makers, and the State pattern for the player.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gar-games/06-platformer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room came from a file of tile numbers. A platformer’s levels will come from code instead.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simplest level maker: fill the bottom two rows with ground. Everything else builds on this loop.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tile was an int: which picture. Now a tile also knows whether it’s solid, so collision can ask the tilemap.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 struct: a graphic ID and IsSolid. Empty means no graphic.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tilesets and toppers in one image. R in the game picks a random combination.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Nine random levels from the same code. Same rules, different looks.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family of level makers behind one base class; the game picks one. That’s the Strategy pattern, as in Pac-Man’s targeting.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Platformer0 and Platformer1 side by side (a diff tool, or two editor panes), then run Platformer1.</a:t>
            </a:r>
          </a:p>
          <a:p>
            <a:r>
              <a:t>- LevelMakerBase and the five makers</a:t>
            </a:r>
          </a:p>
          <a:p>
            <a:r>
              <a:t>- keys 1 to 5 switch the maker in Platformer1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Nystrom’s example: booleans for jumping and ducking. Ask: can you spot the bug? You can air-jump while diving. Booleans allow illegal combinations.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enum makes illegal states impossible. Ask: why is it still a problem? States with their own data (a charge timer), and a switch everywhere: Pac-Man’s problem again.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cdeac4f9f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cdeac4f9f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class per state; adding a state doesn’t touch the others. Hierarchical and stack-based state machines exist too; Pokemon uses a stack.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Platformer2 and Platformer3 side by side (a diff tool, or two editor panes), then run Platformer3.</a:t>
            </a:r>
          </a:p>
          <a:p>
            <a:r>
              <a:t>- PlayerStates/: idle, walk, jump, fall, duck</a:t>
            </a:r>
          </a:p>
          <a:p>
            <a:r>
              <a:t>- each state decides its own transitions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de4c02cc0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cde4c02cc0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Platformer5.</a:t>
            </a:r>
          </a:p>
          <a:p>
            <a:r>
              <a:t>- a title state and a play state, as in Flappy Bird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snail’s AI is the same pattern: idle, walk, and chase when the player comes close.</a:t>
            </a:r>
          </a:p>
          <a:p>
            <a:r>
              <a:t>Ask the question: the player and the snail do the same collision work. How could they share it? A base state, or something both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Platformer6 and Platformer7 side by side (a diff tool, or two editor panes), then run Platformer7.</a:t>
            </a:r>
          </a:p>
          <a:p>
            <a:r>
              <a:t>- SnailStates/</a:t>
            </a:r>
          </a:p>
          <a:p>
            <a:r>
              <a:t>- AnimatedSprite.Play swaps animations</a:t>
            </a:r>
          </a:p>
          <a:p>
            <a:r>
              <a:t>- the collision code duplicated between snail and player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bottom first: why didn’t earlier games need a camera? Their world fit on one screen.</a:t>
            </a:r>
          </a:p>
          <a:p>
            <a:r>
              <a:t>The camera shifts the whole world by one matrix, and stops at the level’s ends. Only x here.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Platformer3 and Platformer4 side by side (a diff tool, or two editor panes), then run Platformer4.</a:t>
            </a:r>
          </a:p>
          <a:p>
            <a:r>
              <a:t>- Graphics/Camera.cs</a:t>
            </a:r>
          </a:p>
          <a:p>
            <a:r>
              <a:t>- the transform passed to SpriteBatch.Begin</a:t>
            </a:r>
          </a:p>
          <a:p>
            <a:r>
              <a:t>- walk to the end of the level: the camera stops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GameController maps keys to actions, as in Snake. Ask: is this the Command pattern? No: nothing is turned into an object you can store or undo.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player is exactly one tile wide, so he can run across a one-tile pit. Shrink the hitbox by 2 pixels each side, and he falls.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points per direction, at the hitbox’s corners (the red dots), slightly inset. Ask: why inset? So you can jump up next to a wall without catching it.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for walls: two points on each side, inset so you don’t catch the floor or a tile just above.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Snap to the tile edge and zero the velocity in that direction. The inset appears again here.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 the ground if a solid tile or a solid entity is just below the hitbox. The jump state asks this.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helpers that make the rest short: point to tile, tile to point, is solid at, tile edges.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Let the player jump for a few frames after leaving a ledge, like the coyote running off the cliff. Feels fair; players never notice.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tiles never move, so checking a point is a lookup: O(1), however big the level.</a:t>
            </a:r>
          </a:p>
          <a:p>
            <a:r>
              <a:t>Entities move, so each needs a check; every pair would be O(n²). Vampire Survivors deals with that.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Platformer2 and press F1. Jump into a corner, walk off a ledge and jump late (coyote time), and watch the hitbox.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Entities: anything that isn’t a tile. They move and don’t line up with the grid.</a:t>
            </a:r>
          </a:p>
          <a:p>
            <a:r>
              <a:t>Ask the question: a class for every kind of entity; where does that end? Zelda and Plants vs. Zombies answer it.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IEntity: what every entity has. The level updates and draws them all in one loop: the Update Method pattern from Pong.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level maker built from hand-made chunks, and a moving platform.</a:t>
            </a:r>
          </a:p>
          <a:p>
            <a:r>
              <a:t>The chunks mix both earlier approaches: designed by hand, combined by code. Spelunky works this way.</a:t>
            </a:r>
          </a:p>
          <a:p>
            <a:r>
              <a:t>Ask about the platform. Answer: there is no single right place; a common one is the player remembering what it stands on, and moving with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power-up is an entity that changes the player: a star sets a flag and a timer, a mushroom scales the player.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art for the power-ups is in the repo, in extras.png. The game doesn’t use it yet.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the player falls through a corner; why? You can’t tell: the hitbox isn’t drawn.</a:t>
            </a:r>
          </a:p>
          <a:p>
            <a:r>
              <a:t>F1 draws what the game can’t show. The debugger shows one moment; debug drawing shows motion over time.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is a switch on an enum still a problematic way to model character state?</a:t>
            </a:r>
          </a:p>
          <a:p>
            <a:r>
              <a:t>A: Every method has to switch over every state, so adding a state means touching many places, and state-specific data has nowhere natural to live.</a:t>
            </a:r>
          </a:p>
          <a:p/>
          <a:p>
            <a:r>
              <a:t>Q: Why can tile collision be O(1) while entity collision can't?</a:t>
            </a:r>
          </a:p>
          <a:p>
            <a:r>
              <a:t>A: Tiles never move and sit in a grid, so a position maps directly to a tile index. Entities move freely, so we have to check them against each other.</a:t>
            </a:r>
          </a:p>
          <a:p/>
          <a:p>
            <a:r>
              <a:t>Q: Why keep debug drawing in the code, behind a switch, instead of deleting it once a bug is fixed?</a:t>
            </a:r>
          </a:p>
          <a:p>
            <a:r>
              <a:t>A: The next bug needs it too. Behind a switch it costs nothing when it is off, and anyone working on the game can turn it on to see what the collision code is doing.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Red: solid tiles. Green: the player’s hitbox. Yellow: entities.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Milestone today: a playable core loop and a class diagram. Next, by session 09: the self-review.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Super Mario Bros.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extend the debug drawing. The probe is IsOnGround in PlayerStateBase.</a:t>
            </a:r>
          </a:p>
          <a:p>
            <a:r>
              <a:t>Ask afterwards: how long does coyote time last on screen? About six frames (0.1 s).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Both constants are in Player. Without the inset, the player is as wide as a tile and walks over one-tile pits. Half a second of coyote time feels like jumping in mid-air.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parallaxFactor in DrawBackground. 0: the background never moves, like a painted sky. 1: it moves with the level, and the depth is gone.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ChaseDistance in SnailStateBase, ChaseSpeed in SnailChaseState.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JumpImpulse in PlayerJumpState, MoveSpeed in PlayerStateBase.</a:t>
            </a:r>
          </a:p>
          <a:p>
            <a:r>
              <a:t>For the double jump, take a few answers: a count in the jump and fall states is enough; a flag on Player is what the State pattern tries to avoid.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pitChance in PitLevelMaker. Only that maker changes; the game still just asks a maker for a level.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1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6-platformer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5" Type="http://schemas.openxmlformats.org/officeDocument/2006/relationships/image" Target="../media/image28.png"/><Relationship Id="rId6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3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3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4" Type="http://schemas.openxmlformats.org/officeDocument/2006/relationships/image" Target="../media/image3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4" Type="http://schemas.openxmlformats.org/officeDocument/2006/relationships/image" Target="../media/image3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3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15" Type="http://schemas.openxmlformats.org/officeDocument/2006/relationships/image" Target="../media/image4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06: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Super Mario Bros.</a:t>
            </a:r>
            <a:endParaRPr/>
          </a:p>
        </p:txBody>
      </p:sp>
      <p:pic>
        <p:nvPicPr>
          <p:cNvPr id="3" name="Picture 2" descr="super-mario-b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280" y="960120"/>
            <a:ext cx="390144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Super Mario Bros. (Nintendo, 1985).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mario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292" y="1688925"/>
            <a:ext cx="5139422" cy="28909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 &amp; Tile 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Makers (Strategy, 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 (again, for the player)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06-platformer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(Platformer0 to Platformer8),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tile now knows more than its picture.</a:t>
            </a:r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731520" y="1463040"/>
            <a:ext cx="31089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Snake: an int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which picture to draw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931920" y="1965960"/>
            <a:ext cx="8229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4846320" y="1463040"/>
            <a:ext cx="35661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Platformer: a Tile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GraphicId · IsSolid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Collision asks the tilemap: is there something solid at (x, y)?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The grass toppers are a second tilemap, drawn on top.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Picture 100" descr="mario_ti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2525" y="920715"/>
            <a:ext cx="3052789" cy="4070385"/>
          </a:xfrm>
          <a:prstGeom prst="rect">
            <a:avLst/>
          </a:prstGeom>
        </p:spPr>
      </p:pic>
      <p:pic>
        <p:nvPicPr>
          <p:cNvPr id="94" name="Picture 100" descr="mario_tile_top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5455" y="920725"/>
            <a:ext cx="1695990" cy="4070376"/>
          </a:xfrm>
          <a:prstGeom prst="rect">
            <a:avLst/>
          </a:prstGeom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Picture 106" descr="mario_lev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88" y="970656"/>
            <a:ext cx="6861024" cy="388400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13" name="Picture 113" descr="mario-r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099" y="887231"/>
            <a:ext cx="4718424" cy="26541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Platformer0 → Platformer1: tilemaps from code and level makers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Level Maker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Platformer1’s PitLevelMaker: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pits twice as common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Press 4 to see it, and R for new graphics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an object to change its behaviour based on an internal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State-specific behavior is defined independently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Adding new states does not impact the behavior of existing states</a:t>
            </a:r>
            <a:endParaRPr/>
          </a:p>
        </p:txBody>
      </p:sp>
      <p:sp>
        <p:nvSpPr>
          <p:cNvPr id="139" name="Google Shape;139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Pattern</a:t>
            </a:r>
            <a:endParaRPr/>
          </a:p>
        </p:txBody>
      </p:sp>
      <p:pic>
        <p:nvPicPr>
          <p:cNvPr id="140" name="Google Shape;14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02502" y="1999823"/>
            <a:ext cx="4538999" cy="291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 → Platformer3: from an enum to the State pattern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Tune the Player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Platformer3: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player jump higher, and walk faster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holds each value?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double jump: a new state, or a flag?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Platformer5: title and play states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Snail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snail’s AI is a state machine too.</a:t>
            </a:r>
            <a:endParaRPr/>
          </a:p>
        </p:txBody>
      </p:sp>
      <p:pic>
        <p:nvPicPr>
          <p:cNvPr id="159" name="Picture 15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1645920" cy="548640"/>
          </a:xfrm>
          <a:prstGeom prst="rect">
            <a:avLst/>
          </a:prstGeom>
        </p:spPr>
      </p:pic>
      <p:sp>
        <p:nvSpPr>
          <p:cNvPr id="160" name="Rounded Rectangle 159"/>
          <p:cNvSpPr/>
          <p:nvPr/>
        </p:nvSpPr>
        <p:spPr>
          <a:xfrm>
            <a:off x="274320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Idle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waits a while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93776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Walk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turns at edges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713232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towards the player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407408" y="16459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4407408" y="1874519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601968" y="173736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6419088" y="1444751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player near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43200" y="246888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>SnailStateBase: gravity, ground, collisions, shared by all three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The player’s base state does the same collision work. How could they share it?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Snail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Platformer7: snail AI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Sharper Snails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snails notice you from twice as far, and chase faster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classes?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level is wider than the screen. Something has to follow the player.</a:t>
            </a:r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365760" y="1508760"/>
            <a:ext cx="8412480" cy="91440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AB"/>
                </a:solidFill>
              </a:rPr>
              <a:t>the level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3291840" y="1371600"/>
            <a:ext cx="2377440" cy="1188720"/>
          </a:xfrm>
          <a:prstGeom prst="rect">
            <a:avLst/>
          </a:prstGeom>
          <a:solidFill>
            <a:srgbClr val="212529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screen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centred on the player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65760" y="278892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camera shifts the whole world by one matrix, and stops at the ends of the level.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Only on x: the level is exactly one screen tall.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didn’t Pong, Snake or Pac-Man need a camera?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Platformer4: camera and a wide level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Background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Platformer4’s GameLevel: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background scroll at a quarter of the camera’s speed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0 and 1 look like?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Picture 192" descr="mario_hit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230" y="2229213"/>
            <a:ext cx="1653540" cy="20669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Picture 203" descr="mario_updo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3650" y="1211298"/>
            <a:ext cx="2114725" cy="2290952"/>
          </a:xfrm>
          <a:prstGeom prst="rect">
            <a:avLst/>
          </a:prstGeom>
        </p:spPr>
      </p:pic>
      <p:sp>
        <p:nvSpPr>
          <p:cNvPr id="199" name="Google Shape;199;p32"/>
          <p:cNvSpPr/>
          <p:nvPr/>
        </p:nvSpPr>
        <p:spPr>
          <a:xfrm>
            <a:off x="4247321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776003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Picture 203" descr="mario_fl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650" y="3502250"/>
            <a:ext cx="2114725" cy="1057362"/>
          </a:xfrm>
          <a:prstGeom prst="rect">
            <a:avLst/>
          </a:prstGeom>
        </p:spPr>
      </p:pic>
      <p:sp>
        <p:nvSpPr>
          <p:cNvPr id="202" name="Google Shape;202;p32"/>
          <p:cNvSpPr/>
          <p:nvPr/>
        </p:nvSpPr>
        <p:spPr>
          <a:xfrm>
            <a:off x="4247321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776003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Picture 213" descr="mario_left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1583" y="1603300"/>
            <a:ext cx="2860835" cy="2409125"/>
          </a:xfrm>
          <a:prstGeom prst="rect">
            <a:avLst/>
          </a:prstGeom>
        </p:spPr>
      </p:pic>
      <p:sp>
        <p:nvSpPr>
          <p:cNvPr id="210" name="Google Shape;210;p33"/>
          <p:cNvSpPr/>
          <p:nvPr/>
        </p:nvSpPr>
        <p:spPr>
          <a:xfrm>
            <a:off x="429679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474850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429679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474850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against the tiles: a lookup. Against entities: checks.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Tiles: O(1)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grid never moves: look up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tile at a point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Entities: O(n) per mover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they move, so check each;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every pair would be O(n²)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48640" y="2788920"/>
            <a:ext cx="8046720" cy="7315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public bool IsSolidAt(float x, float y) =&gt; GetTileAt(x, y)?.IsSolid ?? false;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falls through a corner, and you can’t see why: hitboxes are invisible.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Solid tiles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red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32918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player’s hitbox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green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60350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yellow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548640" y="22860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Press F1. DebugDraw in GMDCore draws nothing unless enabled, so the calls can stay in the code.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54864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debugger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exact values, at one moment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484632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Debug drawing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what happens, over time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 in Action</a:t>
            </a:r>
            <a:endParaRPr/>
          </a:p>
        </p:txBody>
      </p:sp>
      <p:pic>
        <p:nvPicPr>
          <p:cNvPr id="237" name="Picture 237" descr="mario-deb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005840"/>
            <a:ext cx="65836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Platformer2: gravity, tile collision, coyote time and debug drawing (F1)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Hitbox and Coyote Time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Platformer2, press F1: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Set HitboxInset to 0. Can you still fall into a one-tile pit?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Set CoyoteTime to 0.5. How does jumping off ledges feel?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669280" cy="118872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Entities: anything that isn’t a tile. They move, and don’t line up with the grid.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player, snails, boxes, gems; each with its own states.</a:t>
            </a:r>
            <a:endParaRPr/>
          </a:p>
        </p:txBody>
      </p:sp>
      <p:pic>
        <p:nvPicPr>
          <p:cNvPr id="259" name="Picture 270" descr="mario_entitie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23513" y="323750"/>
            <a:ext cx="2782287" cy="4489599"/>
          </a:xfrm>
          <a:prstGeom prst="rect">
            <a:avLst/>
          </a:prstGeom>
        </p:spPr>
      </p:pic>
      <p:sp>
        <p:nvSpPr>
          <p:cNvPr id="260" name="TextBox 259"/>
          <p:cNvSpPr txBox="1"/>
          <p:nvPr/>
        </p:nvSpPr>
        <p:spPr>
          <a:xfrm>
            <a:off x="457200" y="3017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Many kinds of entity, each a class. Where does that end?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Chunks and Moving Platforms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Platformer8.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few short chunks by hand, as small tile grids in a data file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maker that strings random chunks together, longer every level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moving platform that carries the player standing on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“carried along” belong?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Power-ups for the exercises, in the repo: Content/Assets/images/extras.png (the game doesn’t use them)</a:t>
            </a:r>
            <a:endParaRPr/>
          </a:p>
        </p:txBody>
      </p:sp>
      <p:pic>
        <p:nvPicPr>
          <p:cNvPr id="297" name="Picture 297" descr="mario_extr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348" y="3016803"/>
            <a:ext cx="2041300" cy="340216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Exercise: Debug Drawing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Also draw the probe below the player that checks for ground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IsOnGround, in PlayerStateBase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player’s state and velocity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to find where coyote time starts and ends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switch on an enum still a problematic way to model character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can tile collision be O(1) while entity collision can’t?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keep debug drawing in the code, behind a switch, instead of deleting it?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want to see while debugging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debug drawing for hitboxes, triggers or AI targets, behind a key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entities have distinct behaviour modes? Draw a state diagram for 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a set of booleans that should be a state machine?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loop, and 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09: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map, at least one refactoring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