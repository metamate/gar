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92" r:id="rId43"/>
    <p:sldId id="293" r:id="rId42"/>
    <p:sldId id="286" r:id="rId36"/>
    <p:sldId id="287" r:id="rId37"/>
    <p:sldId id="288" r:id="rId38"/>
    <p:sldId id="289" r:id="rId39"/>
    <p:sldId id="290" r:id="rId40"/>
    <p:sldId id="291" r:id="rId41"/>
  </p:sldIdLst>
  <p:sldSz cy="5143500" cx="9144000"/>
  <p:notesSz cx="6858000" cy="9144000"/>
  <p:embeddedFontLst>
    <p:embeddedFont>
      <p:font typeface="Roboto"/>
      <p:regular r:id="rId44"/>
      <p:bold r:id="rId45"/>
      <p:italic r:id="rId46"/>
      <p:boldItalic r:id="rId47"/>
    </p:embeddedFont>
    <p:embeddedFont>
      <p:font typeface="VT323"/>
      <p:regular r:id="rId48"/>
    </p:embeddedFont>
    <p:embeddedFont>
      <p:font typeface="Roboto Light"/>
      <p:regular r:id="rId49"/>
      <p:bold r:id="rId50"/>
      <p:italic r:id="rId51"/>
      <p:boldItalic r:id="rId5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2.xml"/><Relationship Id="rId43" Type="http://schemas.openxmlformats.org/officeDocument/2006/relationships/slide" Target="slides/slide31.xml"/><Relationship Id="rId44" Type="http://schemas.openxmlformats.org/officeDocument/2006/relationships/font" Target="fonts/Roboto-regular.fntdata"/><Relationship Id="rId45" Type="http://schemas.openxmlformats.org/officeDocument/2006/relationships/font" Target="fonts/Roboto-bold.fntdata"/><Relationship Id="rId46" Type="http://schemas.openxmlformats.org/officeDocument/2006/relationships/font" Target="fonts/Roboto-italic.fntdata"/><Relationship Id="rId47" Type="http://schemas.openxmlformats.org/officeDocument/2006/relationships/font" Target="fonts/Roboto-boldItalic.fntdata"/><Relationship Id="rId48" Type="http://schemas.openxmlformats.org/officeDocument/2006/relationships/font" Target="fonts/VT323-regular.fntdata"/><Relationship Id="rId49" Type="http://schemas.openxmlformats.org/officeDocument/2006/relationships/font" Target="fonts/RobotoLight-regular.fntdata"/><Relationship Id="rId50" Type="http://schemas.openxmlformats.org/officeDocument/2006/relationships/font" Target="fonts/RobotoLight-bold.fntdata"/><Relationship Id="rId51" Type="http://schemas.openxmlformats.org/officeDocument/2006/relationships/font" Target="fonts/RobotoLight-italic.fntdata"/><Relationship Id="rId52" Type="http://schemas.openxmlformats.org/officeDocument/2006/relationships/font" Target="fonts/RobotoLight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ce57fd84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ce57fd84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cda89e0d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cda89e0d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cde4c02cc0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cde4c02cc0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ccfb4281ea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ccfb4281ea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ccfb4281e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ccfb4281e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de4c02cc0_0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cde4c02cc0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cde4c02cc0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cde4c02cc0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ccfb4281ea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ccfb4281ea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cdf1bf870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cdf1bf870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cdeac4f9fd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cdeac4f9fd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cdeac4f9fd_0_1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cdeac4f9fd_0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cdeac4f9fd_0_1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cdeac4f9fd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Hierarchical state machines, stack-based state machines, pushdown automata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cde4c02cc0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cde4c02cc0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cde4c02cc0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cde4c02cc0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ccfb4281ea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3ccfb4281ea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cde4c02cc0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cde4c02cc0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Notice new Play() method of AnimatedSprite for swapping animation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Duplicate collision detection logic between snail and player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en"/>
              <a:t>Any ideas on how we could fix this? 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en"/>
              <a:t>The component design pattern!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ccfb4281ea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ccfb4281ea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ccfb4281ea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ccfb4281ea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ccfb4281ea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ccfb4281ea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cd8a4d586b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cd8a4d586b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cd8a4d586b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cd8a4d586b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Two checks (per direction)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Small inset to allow jumping/falling next to solid tiles (otherwise could be problematic due to floating point precision)</a:t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cd8a4d586b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3cd8a4d586b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</a:t>
            </a:r>
            <a:r>
              <a:rPr lang="en"/>
              <a:t>nset to avoid getting stuck in the ground and tiles right above the player</a:t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cdeac4f9fd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cdeac4f9fd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cd8a4d586b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cd8a4d586b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cde4c02cc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cde4c02cc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d8a4d586b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d8a4d586b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cd8a4d586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3cd8a4d586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3cdf6a5cc1f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9" name="Google Shape;249;g3cdf6a5cc1f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ca46b0a91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ca46b0a91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Entities may</a:t>
            </a:r>
            <a:r>
              <a:rPr lang="en"/>
              <a:t> have different widths/heights or their positions are offset by a different amount than TileSize</a:t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3cdeac4f9fd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3" name="Google Shape;273;g3cdeac4f9fd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cd8a4d586b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3cd8a4d586b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cd8a4d586b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3cd8a4d586b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cde4c02cc0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3cde4c02cc0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7.gi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6-platformer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7.gif"/><Relationship Id="rId4" Type="http://schemas.openxmlformats.org/officeDocument/2006/relationships/image" Target="../media/image29.gif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6.png"/><Relationship Id="rId4" Type="http://schemas.openxmlformats.org/officeDocument/2006/relationships/image" Target="../media/image16.png"/><Relationship Id="rId5" Type="http://schemas.openxmlformats.org/officeDocument/2006/relationships/image" Target="../media/image14.png"/><Relationship Id="rId6" Type="http://schemas.openxmlformats.org/officeDocument/2006/relationships/image" Target="../media/image22.png"/><Relationship Id="rId7" Type="http://schemas.openxmlformats.org/officeDocument/2006/relationships/image" Target="../media/image18.png"/><Relationship Id="rId8" Type="http://schemas.openxmlformats.org/officeDocument/2006/relationships/image" Target="../media/image8.png"/><Relationship Id="rId9" Type="http://schemas.openxmlformats.org/officeDocument/2006/relationships/image" Target="../media/image11.png"/><Relationship Id="rId10" Type="http://schemas.openxmlformats.org/officeDocument/2006/relationships/image" Target="../media/image15.png"/><Relationship Id="rId11" Type="http://schemas.openxmlformats.org/officeDocument/2006/relationships/image" Target="../media/image21.png"/><Relationship Id="rId12" Type="http://schemas.openxmlformats.org/officeDocument/2006/relationships/image" Target="../media/image25.png"/><Relationship Id="rId13" Type="http://schemas.openxmlformats.org/officeDocument/2006/relationships/image" Target="../media/image6.png"/><Relationship Id="rId14" Type="http://schemas.openxmlformats.org/officeDocument/2006/relationships/image" Target="../media/image2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drive.google.com/drive/folders/1kLxyRifVY0676F_rVBo7TbG2AB3S1cJg?usp=sharing" TargetMode="External"/><Relationship Id="rId4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06: Super Mario Bros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Google Shape;46;p10" title="platformer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7091" y="1688925"/>
            <a:ext cx="5169824" cy="2890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Platformer Physics &amp; Tile Collision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Debug Drawing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Camera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Level Makers (Strategy, again)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Pattern (again, for the player)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Basic AI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Source code for today’s game can be found here: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https://github.com/Metamate/gar-games/tree/main/06-platformer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is built up in steps: Platformer0 → Platformer8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step is a separate project that adds one concept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Compare neighbouring steps to see exactly what changed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Platformer8 is the finished game, and the starting point for the exercises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 Generation</a:t>
            </a:r>
            <a:endParaRPr/>
          </a:p>
        </p:txBody>
      </p:sp>
      <p:sp>
        <p:nvSpPr>
          <p:cNvPr id="64" name="Google Shape;64;p13"/>
          <p:cNvSpPr txBox="1"/>
          <p:nvPr/>
        </p:nvSpPr>
        <p:spPr>
          <a:xfrm>
            <a:off x="6733688" y="2246150"/>
            <a:ext cx="1183800" cy="13029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15</a:t>
            </a:r>
            <a:endParaRPr sz="1600">
              <a:solidFill>
                <a:srgbClr val="DEE2E6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65" name="Google Shape;65;p13"/>
          <p:cNvSpPr txBox="1"/>
          <p:nvPr/>
        </p:nvSpPr>
        <p:spPr>
          <a:xfrm>
            <a:off x="572425" y="1767800"/>
            <a:ext cx="5330700" cy="2259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 fontScale="85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region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"0 40 80 80"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tileWidth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"20"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"20"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images/atlas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00 01 02 01 03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04 05 06 05 07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08 09 10 09 11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04 09 09 09 07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12 13 14 13 15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6" name="Google Shape;66;p13"/>
          <p:cNvCxnSpPr>
            <a:stCxn id="65" idx="3"/>
            <a:endCxn id="64" idx="1"/>
          </p:cNvCxnSpPr>
          <p:nvPr/>
        </p:nvCxnSpPr>
        <p:spPr>
          <a:xfrm>
            <a:off x="5903125" y="2897600"/>
            <a:ext cx="830700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Procedural Level Generation</a:t>
            </a:r>
            <a:endParaRPr/>
          </a:p>
        </p:txBody>
      </p:sp>
      <p:sp>
        <p:nvSpPr>
          <p:cNvPr id="72" name="Google Shape;72;p14"/>
          <p:cNvSpPr txBox="1"/>
          <p:nvPr/>
        </p:nvSpPr>
        <p:spPr>
          <a:xfrm>
            <a:off x="7124788" y="2246150"/>
            <a:ext cx="1183800" cy="13029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endParaRPr sz="1600">
              <a:solidFill>
                <a:srgbClr val="DEE2E6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73" name="Google Shape;73;p14"/>
          <p:cNvSpPr txBox="1"/>
          <p:nvPr/>
        </p:nvSpPr>
        <p:spPr>
          <a:xfrm>
            <a:off x="572425" y="1102375"/>
            <a:ext cx="5330700" cy="3570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Generate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groundHeight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groundHeight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4" name="Google Shape;74;p14"/>
          <p:cNvCxnSpPr>
            <a:stCxn id="73" idx="3"/>
            <a:endCxn id="72" idx="1"/>
          </p:cNvCxnSpPr>
          <p:nvPr/>
        </p:nvCxnSpPr>
        <p:spPr>
          <a:xfrm>
            <a:off x="5903125" y="2887675"/>
            <a:ext cx="1221600" cy="99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Tilemap Update</a:t>
            </a:r>
            <a:endParaRPr/>
          </a:p>
        </p:txBody>
      </p:sp>
      <p:sp>
        <p:nvSpPr>
          <p:cNvPr id="80" name="Google Shape;80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Tilemap up until now have been an array of integer ids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pointing to an index in the Tileset (i.e. TextureRegion)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Now it is an array of Tiles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Why?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Our tilemap is getting smarter!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We need to store more information than just the tile graphic!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Game-specific details (e.g. the grass toppers) go in a second tilemap, drawn on top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34734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readonly struct Tile(int graphicId = -1, bool isSolid = false)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static readonly Tile Empty = new();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int GraphicId { get; init; } = graphicId;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bool IsSolid { get; init; } = isSolid;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bool IsEmpty =&gt; GraphicId &lt; 0;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7" name="Google Shape;87;p16"/>
          <p:cNvSpPr/>
          <p:nvPr/>
        </p:nvSpPr>
        <p:spPr>
          <a:xfrm>
            <a:off x="627425" y="1887850"/>
            <a:ext cx="3459000" cy="560363"/>
          </a:xfrm>
          <a:prstGeom prst="rect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Tilesets</a:t>
            </a:r>
            <a:endParaRPr/>
          </a:p>
        </p:txBody>
      </p:sp>
      <p:pic>
        <p:nvPicPr>
          <p:cNvPr id="93" name="Google Shape;93;p17" title="tile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02525" y="920715"/>
            <a:ext cx="3052789" cy="4070386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7" title="tile_tops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05450" y="920725"/>
            <a:ext cx="1696000" cy="4070376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7"/>
          <p:cNvSpPr/>
          <p:nvPr/>
        </p:nvSpPr>
        <p:spPr>
          <a:xfrm>
            <a:off x="17025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6" name="Google Shape;96;p17"/>
          <p:cNvSpPr/>
          <p:nvPr/>
        </p:nvSpPr>
        <p:spPr>
          <a:xfrm>
            <a:off x="22101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7" name="Google Shape;97;p17"/>
          <p:cNvSpPr/>
          <p:nvPr/>
        </p:nvSpPr>
        <p:spPr>
          <a:xfrm>
            <a:off x="27177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8" name="Google Shape;98;p17"/>
          <p:cNvSpPr/>
          <p:nvPr/>
        </p:nvSpPr>
        <p:spPr>
          <a:xfrm>
            <a:off x="53997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9" name="Google Shape;99;p17"/>
          <p:cNvSpPr/>
          <p:nvPr/>
        </p:nvSpPr>
        <p:spPr>
          <a:xfrm>
            <a:off x="56859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0" name="Google Shape;100;p17"/>
          <p:cNvSpPr/>
          <p:nvPr/>
        </p:nvSpPr>
        <p:spPr>
          <a:xfrm>
            <a:off x="59721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GameLevel</a:t>
            </a:r>
            <a:endParaRPr/>
          </a:p>
        </p:txBody>
      </p:sp>
      <p:pic>
        <p:nvPicPr>
          <p:cNvPr id="106" name="Google Shape;106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41488" y="877465"/>
            <a:ext cx="6861025" cy="40703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LevelMaker</a:t>
            </a:r>
            <a:endParaRPr/>
          </a:p>
        </p:txBody>
      </p:sp>
      <p:sp>
        <p:nvSpPr>
          <p:cNvPr id="112" name="Google Shape;112;p1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LevelMakerBase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SimpleLevelMaker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FlatLevelMaker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PillarLevelMaker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PitlevelMaker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ComplexLevelMaker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(</a:t>
            </a:r>
            <a:r>
              <a:rPr lang="en"/>
              <a:t>This is essentially the strategy design pattern)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113" name="Google Shape;113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88099" y="885950"/>
            <a:ext cx="4718424" cy="2656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LevelMaker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19" name="Google Shape;119;p2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Platformer0 → Platformer1: tilemaps from code and level makers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Character State</a:t>
            </a:r>
            <a:endParaRPr/>
          </a:p>
        </p:txBody>
      </p:sp>
      <p:sp>
        <p:nvSpPr>
          <p:cNvPr id="125" name="Google Shape;125;p21"/>
          <p:cNvSpPr txBox="1"/>
          <p:nvPr>
            <p:ph idx="1" type="body"/>
          </p:nvPr>
        </p:nvSpPr>
        <p:spPr>
          <a:xfrm>
            <a:off x="311700" y="885950"/>
            <a:ext cx="18597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55000" lnSpcReduction="1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Heroine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::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handleInput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// Jump...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IMAGE_DUCK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false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RELEASE_DOWN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// Stand...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126" name="Google Shape;126;p21"/>
          <p:cNvSpPr txBox="1"/>
          <p:nvPr>
            <p:ph idx="1" type="body"/>
          </p:nvPr>
        </p:nvSpPr>
        <p:spPr>
          <a:xfrm>
            <a:off x="2333950" y="885950"/>
            <a:ext cx="64242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problem with this code?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way state is encoded, you can end up in illegal states!</a:t>
            </a:r>
            <a:endParaRPr/>
          </a:p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Can you spot the bug?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We check that you can’t air jump while jumping, but not while diving</a:t>
            </a:r>
            <a:endParaRPr/>
          </a:p>
          <a:p>
            <a:pPr indent="-304800" lvl="2" marL="13716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Yet another field… (isDiving)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Character State - Enum Solution</a:t>
            </a:r>
            <a:endParaRPr/>
          </a:p>
        </p:txBody>
      </p:sp>
      <p:sp>
        <p:nvSpPr>
          <p:cNvPr id="132" name="Google Shape;132;p22"/>
          <p:cNvSpPr txBox="1"/>
          <p:nvPr>
            <p:ph idx="1" type="body"/>
          </p:nvPr>
        </p:nvSpPr>
        <p:spPr>
          <a:xfrm>
            <a:off x="311700" y="885950"/>
            <a:ext cx="18597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47500" lnSpcReduction="1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Heroine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::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handleInput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STATE_STANDING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STATE_JUMPING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yVelocity_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JUMP_VELOCITY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IMAGE_JUMP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STATE_DUCKING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IMAGE_DUCK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STATE_JUMPING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STATE_DIVING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STATE_DUCKING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RELEASE_DOWN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STATE_STANDING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IMAGE_STAND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133" name="Google Shape;133;p22"/>
          <p:cNvSpPr txBox="1"/>
          <p:nvPr>
            <p:ph idx="1" type="body"/>
          </p:nvPr>
        </p:nvSpPr>
        <p:spPr>
          <a:xfrm>
            <a:off x="2333950" y="885950"/>
            <a:ext cx="48549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this better?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 can’t encode invalid state!</a:t>
            </a:r>
            <a:endParaRPr/>
          </a:p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it still (potentially) problematic?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if states have state?</a:t>
            </a:r>
            <a:endParaRPr/>
          </a:p>
          <a:p>
            <a:pPr indent="-304800" lvl="2" marL="13716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E.g. a charge attack while ducking!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Doesn’t scale well…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Allows an object to change its behaviour based on an internal state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State-specific behavior is defined independently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Adding new states does not impact the behavior of existing states</a:t>
            </a:r>
            <a:endParaRPr/>
          </a:p>
        </p:txBody>
      </p:sp>
      <p:sp>
        <p:nvSpPr>
          <p:cNvPr id="139" name="Google Shape;139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Pattern</a:t>
            </a:r>
            <a:endParaRPr/>
          </a:p>
        </p:txBody>
      </p:sp>
      <p:pic>
        <p:nvPicPr>
          <p:cNvPr id="140" name="Google Shape;140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02502" y="1999823"/>
            <a:ext cx="4538999" cy="2911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Player State </a:t>
            </a:r>
            <a:r>
              <a:rPr lang="en">
                <a:solidFill>
                  <a:schemeClr val="accent5"/>
                </a:solidFill>
              </a:rPr>
              <a:t>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46" name="Google Shape;146;p2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Platformer2 → Platformer3: from an enum to the State pattern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Game 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2" name="Google Shape;152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Platformer5: title and play states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Snail States (Aka Basic AI)</a:t>
            </a:r>
            <a:endParaRPr/>
          </a:p>
        </p:txBody>
      </p:sp>
      <p:sp>
        <p:nvSpPr>
          <p:cNvPr id="158" name="Google Shape;158;p2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Base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Handles collision detection and resolution, gravity, ground detection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Idle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Starting state, plays idle animation (duration)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Moves around, reverses at edge or when velocity.x = 0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Chase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Moves towards player on x.axis</a:t>
            </a:r>
            <a:endParaRPr/>
          </a:p>
        </p:txBody>
      </p:sp>
      <p:pic>
        <p:nvPicPr>
          <p:cNvPr id="159" name="Google Shape;159;p26" title="creatures.png"/>
          <p:cNvPicPr preferRelativeResize="0"/>
          <p:nvPr/>
        </p:nvPicPr>
        <p:blipFill rotWithShape="1">
          <a:blip r:embed="rId3">
            <a:alphaModFix/>
          </a:blip>
          <a:srcRect b="0" l="0" r="51305" t="87913"/>
          <a:stretch/>
        </p:blipFill>
        <p:spPr>
          <a:xfrm>
            <a:off x="3908400" y="3990450"/>
            <a:ext cx="1327200" cy="288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Snail 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5" name="Google Shape;165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Platformer7: snail AI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Camera</a:t>
            </a:r>
            <a:endParaRPr/>
          </a:p>
        </p:txBody>
      </p:sp>
      <p:sp>
        <p:nvSpPr>
          <p:cNvPr id="171" name="Google Shape;171;p2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 we need a camera now and not for the previous games?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Performs two matrix translations based on target pos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Shift world + Center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this game we only need tracking on the x-axis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Gets clamped playerX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Based on tilemap dimensions</a:t>
            </a:r>
            <a:endParaRPr/>
          </a:p>
        </p:txBody>
      </p:sp>
      <p:pic>
        <p:nvPicPr>
          <p:cNvPr id="172" name="Google Shape;172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05675" y="3332600"/>
            <a:ext cx="1132651" cy="1132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Camera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8" name="Google Shape;178;p2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Platformer4: camera and a wide level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Input</a:t>
            </a:r>
            <a:endParaRPr/>
          </a:p>
        </p:txBody>
      </p:sp>
      <p:sp>
        <p:nvSpPr>
          <p:cNvPr id="184" name="Google Shape;184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We now have a GameController class that abstracts away hardcoded keys for “actions”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This is NOT the Command Pattern!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why not?</a:t>
            </a:r>
            <a:endParaRPr/>
          </a:p>
        </p:txBody>
      </p:sp>
      <p:pic>
        <p:nvPicPr>
          <p:cNvPr id="185" name="Google Shape;185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02216" y="3223775"/>
            <a:ext cx="1739575" cy="1160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Player Hitbox</a:t>
            </a:r>
            <a:endParaRPr/>
          </a:p>
        </p:txBody>
      </p:sp>
      <p:sp>
        <p:nvSpPr>
          <p:cNvPr id="191" name="Google Shape;191;p3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Player is same width as tiles, this makes it hard to fall down pits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player can run across a pit without falling down!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We shrink the hitbox/collider with 2px on each side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Now you gotta jump those pits!</a:t>
            </a:r>
            <a:endParaRPr/>
          </a:p>
        </p:txBody>
      </p:sp>
      <p:pic>
        <p:nvPicPr>
          <p:cNvPr id="192" name="Google Shape;192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24275" y="2229213"/>
            <a:ext cx="1695450" cy="2066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 Collision (up/down)</a:t>
            </a:r>
            <a:endParaRPr/>
          </a:p>
        </p:txBody>
      </p:sp>
      <p:pic>
        <p:nvPicPr>
          <p:cNvPr id="198" name="Google Shape;198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03650" y="1135137"/>
            <a:ext cx="2114725" cy="2443275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32"/>
          <p:cNvSpPr/>
          <p:nvPr/>
        </p:nvSpPr>
        <p:spPr>
          <a:xfrm>
            <a:off x="4024837" y="2227330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00" name="Google Shape;200;p32"/>
          <p:cNvSpPr/>
          <p:nvPr/>
        </p:nvSpPr>
        <p:spPr>
          <a:xfrm>
            <a:off x="4950405" y="2227330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pic>
        <p:nvPicPr>
          <p:cNvPr id="201" name="Google Shape;201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25613" y="3553338"/>
            <a:ext cx="2114725" cy="1128634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32"/>
          <p:cNvSpPr/>
          <p:nvPr/>
        </p:nvSpPr>
        <p:spPr>
          <a:xfrm>
            <a:off x="4019354" y="3479705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03" name="Google Shape;203;p32"/>
          <p:cNvSpPr/>
          <p:nvPr/>
        </p:nvSpPr>
        <p:spPr>
          <a:xfrm>
            <a:off x="4950405" y="3479705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 Collision (left/right)</a:t>
            </a:r>
            <a:endParaRPr/>
          </a:p>
        </p:txBody>
      </p:sp>
      <p:pic>
        <p:nvPicPr>
          <p:cNvPr id="209" name="Google Shape;209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66588" y="1603300"/>
            <a:ext cx="3410825" cy="2409125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33"/>
          <p:cNvSpPr/>
          <p:nvPr/>
        </p:nvSpPr>
        <p:spPr>
          <a:xfrm>
            <a:off x="3955225" y="2187908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1" name="Google Shape;211;p33"/>
          <p:cNvSpPr/>
          <p:nvPr/>
        </p:nvSpPr>
        <p:spPr>
          <a:xfrm>
            <a:off x="5072700" y="2187908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2" name="Google Shape;212;p33"/>
          <p:cNvSpPr/>
          <p:nvPr/>
        </p:nvSpPr>
        <p:spPr>
          <a:xfrm>
            <a:off x="3955225" y="3413927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3" name="Google Shape;213;p33"/>
          <p:cNvSpPr/>
          <p:nvPr/>
        </p:nvSpPr>
        <p:spPr>
          <a:xfrm>
            <a:off x="5072700" y="3413927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Response</a:t>
            </a:r>
            <a:endParaRPr/>
          </a:p>
        </p:txBody>
      </p:sp>
      <p:sp>
        <p:nvSpPr>
          <p:cNvPr id="219" name="Google Shape;219;p34"/>
          <p:cNvSpPr txBox="1"/>
          <p:nvPr>
            <p:ph idx="1" type="body"/>
          </p:nvPr>
        </p:nvSpPr>
        <p:spPr>
          <a:xfrm>
            <a:off x="1722900" y="885950"/>
            <a:ext cx="56982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77500" lnSpcReduction="2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Width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IsOnGround</a:t>
            </a:r>
            <a:endParaRPr/>
          </a:p>
        </p:txBody>
      </p:sp>
      <p:sp>
        <p:nvSpPr>
          <p:cNvPr id="225" name="Google Shape;225;p35"/>
          <p:cNvSpPr txBox="1"/>
          <p:nvPr>
            <p:ph idx="1" type="body"/>
          </p:nvPr>
        </p:nvSpPr>
        <p:spPr>
          <a:xfrm>
            <a:off x="311700" y="885950"/>
            <a:ext cx="8520600" cy="34845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IsOnGround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Check Tilemap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CollisionInset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||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CollisionInset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Check solid Entities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sensor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ExpandDirectional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Level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Entities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Any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Collidable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sensor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Intersects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Tilemap Additions</a:t>
            </a:r>
            <a:endParaRPr/>
          </a:p>
        </p:txBody>
      </p:sp>
      <p:sp>
        <p:nvSpPr>
          <p:cNvPr id="231" name="Google Shape;231;p36"/>
          <p:cNvSpPr txBox="1"/>
          <p:nvPr>
            <p:ph idx="1" type="body"/>
          </p:nvPr>
        </p:nvSpPr>
        <p:spPr>
          <a:xfrm>
            <a:off x="2751000" y="1862025"/>
            <a:ext cx="3642000" cy="20751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PointToTile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TileToPoint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Coyote Time</a:t>
            </a:r>
            <a:endParaRPr/>
          </a:p>
        </p:txBody>
      </p:sp>
      <p:pic>
        <p:nvPicPr>
          <p:cNvPr id="237" name="Google Shape;237;p37" title="Celeste-Coyote-Tim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1675" y="1679747"/>
            <a:ext cx="4120325" cy="2317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37" title="coyote.gif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45575" y="1971802"/>
            <a:ext cx="3048000" cy="1733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Platformer Physics Performance</a:t>
            </a:r>
            <a:endParaRPr/>
          </a:p>
        </p:txBody>
      </p:sp>
      <p:sp>
        <p:nvSpPr>
          <p:cNvPr id="244" name="Google Shape;244;p38"/>
          <p:cNvSpPr txBox="1"/>
          <p:nvPr>
            <p:ph idx="1" type="body"/>
          </p:nvPr>
        </p:nvSpPr>
        <p:spPr>
          <a:xfrm>
            <a:off x="311700" y="885950"/>
            <a:ext cx="8520600" cy="119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 we need collision checks between the player and every single tile?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No! The grid is static!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is a simple “lookup” - it takes the same time in a level of 10 or 10.000 tiles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O(n) → O(1)</a:t>
            </a:r>
            <a:endParaRPr/>
          </a:p>
        </p:txBody>
      </p:sp>
      <p:sp>
        <p:nvSpPr>
          <p:cNvPr id="245" name="Google Shape;245;p38"/>
          <p:cNvSpPr txBox="1"/>
          <p:nvPr>
            <p:ph idx="1" type="body"/>
          </p:nvPr>
        </p:nvSpPr>
        <p:spPr>
          <a:xfrm>
            <a:off x="481350" y="2179125"/>
            <a:ext cx="3477300" cy="10902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??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false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246" name="Google Shape;246;p38"/>
          <p:cNvSpPr txBox="1"/>
          <p:nvPr>
            <p:ph idx="1" type="body"/>
          </p:nvPr>
        </p:nvSpPr>
        <p:spPr>
          <a:xfrm>
            <a:off x="311700" y="3316200"/>
            <a:ext cx="8520600" cy="123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our game we are only checking collisions between the player and other entities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O(n)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If we naively checked collisions between all entities in our game we risk O(n</a:t>
            </a:r>
            <a:r>
              <a:rPr baseline="30000" lang="en"/>
              <a:t>2</a:t>
            </a:r>
            <a:r>
              <a:rPr lang="en"/>
              <a:t>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 * (n - 1) / 2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3" name="Google Shape;243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Debug Drawing</a:t>
            </a:r>
            <a:endParaRPr/>
          </a:p>
        </p:txBody>
      </p:sp>
      <p:sp>
        <p:nvSpPr>
          <p:cNvPr id="244" name="Google Shape;244;p38"/>
          <p:cNvSpPr txBox="1"/>
          <p:nvPr>
            <p:ph idx="1" type="body"/>
          </p:nvPr>
        </p:nvSpPr>
        <p:spPr>
          <a:xfrm>
            <a:off x="311700" y="885950"/>
            <a:ext cx="8520600" cy="119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bugs are invisible: the hitbox isn’t drawn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Draw what the game can’t show: press F1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Solid tiles in red, the player’s hitbox in green, entities in yellow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DebugDraw in GMDCore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Draws nothing unless DebugDraw.Enabled, so the calls can stay in the code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Debugger vs. debug drawing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debugger shows exact values at one moment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Debug drawing shows what happens over time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Debug Drawing in Action</a:t>
            </a:r>
            <a:endParaRPr/>
          </a:p>
        </p:txBody>
      </p:sp>
      <p:pic>
        <p:nvPicPr>
          <p:cNvPr id="237" name="Picture 236" descr="p8debu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005840"/>
            <a:ext cx="658368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Platformer Physics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2" name="Google Shape;252;p3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Platformer2: gravity, tile collision, coyote time and debug drawing (F1)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Entitites</a:t>
            </a:r>
            <a:endParaRPr/>
          </a:p>
        </p:txBody>
      </p:sp>
      <p:sp>
        <p:nvSpPr>
          <p:cNvPr id="258" name="Google Shape;258;p40"/>
          <p:cNvSpPr txBox="1"/>
          <p:nvPr>
            <p:ph idx="1" type="body"/>
          </p:nvPr>
        </p:nvSpPr>
        <p:spPr>
          <a:xfrm>
            <a:off x="311700" y="885950"/>
            <a:ext cx="5754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Represent any “thing” in our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Player, Snail, Boxes, Powerups, etc.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Separate from the tiles in our map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Entities may not align perfectly with the tilemap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Can contain states just like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States can affect input handling (e.g. player) or decision-making (e.g. snail)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Some engines may adopt an Entity-Component System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Everything is an Entity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Entities are containers of components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Components ultimately drive behavior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Component Design Pattern!</a:t>
            </a:r>
            <a:endParaRPr/>
          </a:p>
        </p:txBody>
      </p:sp>
      <p:pic>
        <p:nvPicPr>
          <p:cNvPr id="259" name="Google Shape;259;p40" title="ladders_and_sign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10000" y="4179475"/>
            <a:ext cx="1066800" cy="762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0" name="Google Shape;260;p40" title="flags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599700" y="1346288"/>
            <a:ext cx="1371600" cy="609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1" name="Google Shape;261;p40" title="crates_and_blocks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366275" y="2343150"/>
            <a:ext cx="6096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2" name="Google Shape;262;p40" title="gems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396200" y="3397600"/>
            <a:ext cx="6096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" name="Google Shape;263;p40" title="fireballs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599700" y="2298275"/>
            <a:ext cx="609600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4" name="Google Shape;264;p40" title="keys_and_locks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681950" y="3603763"/>
            <a:ext cx="6096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5" name="Google Shape;265;p40" title="buttons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8330400" y="411475"/>
            <a:ext cx="609600" cy="609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6" name="Google Shape;266;p40" title="doors_and_windows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752100" y="4299650"/>
            <a:ext cx="1219200" cy="609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7" name="Google Shape;267;p40" title="coins_and_bombs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7599700" y="611563"/>
            <a:ext cx="4572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8" name="Google Shape;268;p40" title="jump_blocks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6462400" y="195625"/>
            <a:ext cx="914400" cy="762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9" name="Google Shape;269;p40" title="creatures.png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6223513" y="2772813"/>
            <a:ext cx="1219200" cy="106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0" name="Google Shape;270;p40" title="mushrooms.png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6614800" y="1225875"/>
            <a:ext cx="762000" cy="137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Entity</a:t>
            </a:r>
            <a:endParaRPr/>
          </a:p>
        </p:txBody>
      </p:sp>
      <p:sp>
        <p:nvSpPr>
          <p:cNvPr id="276" name="Google Shape;276;p41"/>
          <p:cNvSpPr txBox="1"/>
          <p:nvPr>
            <p:ph idx="1" type="body"/>
          </p:nvPr>
        </p:nvSpPr>
        <p:spPr>
          <a:xfrm>
            <a:off x="311700" y="885950"/>
            <a:ext cx="3164700" cy="3042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interface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IEntity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Collidable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Collides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IEntity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other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277" name="Google Shape;277;p41"/>
          <p:cNvSpPr txBox="1"/>
          <p:nvPr>
            <p:ph idx="2" type="body"/>
          </p:nvPr>
        </p:nvSpPr>
        <p:spPr>
          <a:xfrm>
            <a:off x="3662950" y="886075"/>
            <a:ext cx="51693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W</a:t>
            </a:r>
            <a:r>
              <a:rPr lang="en"/>
              <a:t>e iterate over all entities in</a:t>
            </a:r>
            <a:r>
              <a:rPr lang="en"/>
              <a:t> the world </a:t>
            </a:r>
            <a:r>
              <a:rPr lang="en"/>
              <a:t>at the same time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Made possible by the update method pattern!</a:t>
            </a:r>
            <a:endParaRPr/>
          </a:p>
          <a:p>
            <a:pPr indent="-3175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Collisions can be done entity-to-entity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Each entity decides how to handle collisions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Since entities often move, we cannot do an instant lookup check like for tilemap collisions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Add a Custom Level Maker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3" name="Google Shape;283;p4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Varying ground level and pillar/pit width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Platforms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Multiple types of enemies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goal flag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When the player touches the flag at the end of the level, they proceed to the next level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As the levels are </a:t>
            </a:r>
            <a:r>
              <a:rPr lang="en"/>
              <a:t>procedural</a:t>
            </a:r>
            <a:r>
              <a:rPr lang="en"/>
              <a:t>, they can progressively get longer and harder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Create random keys and locks (same color) that spawn in each level; when the player gets the key, they can unlock the lock, which should spawn the goal flag.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Add </a:t>
            </a:r>
            <a:r>
              <a:rPr lang="en">
                <a:solidFill>
                  <a:schemeClr val="accent5"/>
                </a:solidFill>
              </a:rPr>
              <a:t>Powerups</a:t>
            </a:r>
            <a:r>
              <a:rPr lang="en">
                <a:solidFill>
                  <a:schemeClr val="accent5"/>
                </a:solidFill>
              </a:rPr>
              <a:t> to the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9" name="Google Shape;289;p43"/>
          <p:cNvSpPr txBox="1"/>
          <p:nvPr>
            <p:ph idx="1" type="body"/>
          </p:nvPr>
        </p:nvSpPr>
        <p:spPr>
          <a:xfrm>
            <a:off x="311700" y="885950"/>
            <a:ext cx="8520600" cy="154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Effectively an Entity that changes some state or trait of the player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star may flip an “invincible” flag on the player and begin an “invincibleDuration” timer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mushroom may trigger a “huge” flag on the player that alters their </a:t>
            </a:r>
            <a:r>
              <a:rPr lang="en"/>
              <a:t>x, y, width, and height and then scales their sprite</a:t>
            </a:r>
            <a:endParaRPr/>
          </a:p>
        </p:txBody>
      </p:sp>
      <p:pic>
        <p:nvPicPr>
          <p:cNvPr id="290" name="Google Shape;290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67738" y="2571750"/>
            <a:ext cx="3408525" cy="2309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Extra Assets</a:t>
            </a:r>
            <a:endParaRPr/>
          </a:p>
        </p:txBody>
      </p:sp>
      <p:sp>
        <p:nvSpPr>
          <p:cNvPr id="296" name="Google Shape;296;p4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All assets</a:t>
            </a:r>
            <a:r>
              <a:rPr lang="en"/>
              <a:t> (sounds/images) available for the platformer</a:t>
            </a:r>
            <a:endParaRPr/>
          </a:p>
        </p:txBody>
      </p:sp>
      <p:pic>
        <p:nvPicPr>
          <p:cNvPr id="297" name="Google Shape;297;p44" title="full_shee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51348" y="1464575"/>
            <a:ext cx="2041300" cy="34446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