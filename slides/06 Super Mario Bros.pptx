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platformer physics and tile collision.</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platformer physics and tile collision. Around it: level makers, debug drawing, the State pattern for the player, and a camera.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Many tilesets and toppers in one image.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mole’s AI is the same pattern: idle, walk, and chase when the player comes close.</a:t>
            </a:r>
          </a:p>
          <a:p>
            <a:r>
              <a:t>Ask the question: the player and the mole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MoleStates/</a:t>
            </a:r>
          </a:p>
          <a:p>
            <a:r>
              <a:t>- AnimatedSprite.Play swaps animations</a:t>
            </a:r>
          </a:p>
          <a:p>
            <a:r>
              <a:t>- the collision code duplicated between mole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exactly one tile wide, so he can run across a one-tile pit. Shrink the hitbox by 2 pixels each side, and he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star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Gravity, tile collision and moving sideways: every state needs them,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 not the whole game.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38 to 50, 2 pixels into the wall. It snaps back so its right edge is at 48 (left edge 36),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4" Type="http://schemas.openxmlformats.org/officeDocument/2006/relationships/image" Target="../media/image2.pn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2293" y="1688925"/>
            <a:ext cx="5139420"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03</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06</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08</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12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15</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region</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 40 80 80"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808080"/>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images/atlas</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00 01 02 01 03</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04 05 06 05 07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08 09 10 09 11</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04 09 09 09 07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12 13 14 13 15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image.png"/>
          <p:cNvPicPr>
            <a:picLocks noChangeAspect="1"/>
          </p:cNvPicPr>
          <p:nvPr/>
        </p:nvPicPr>
        <p:blipFill>
          <a:blip r:embed="rId4"/>
          <a:stretch>
            <a:fillRect/>
          </a:stretch>
        </p:blipFill>
        <p:spPr>
          <a:xfrm>
            <a:off x="1702525" y="920715"/>
            <a:ext cx="3052788" cy="4070384"/>
          </a:xfrm>
          <a:prstGeom prst="rect">
            <a:avLst/>
          </a:prstGeom>
        </p:spPr>
      </p:pic>
      <p:pic>
        <p:nvPicPr>
          <p:cNvPr id="94" name="Picture 100" descr="tile_tops.png"/>
          <p:cNvPicPr>
            <a:picLocks noChangeAspect="1"/>
          </p:cNvPicPr>
          <p:nvPr/>
        </p:nvPicPr>
        <p:blipFill>
          <a:blip r:embed="rId5"/>
          <a:stretch>
            <a:fillRect/>
          </a:stretch>
        </p:blipFill>
        <p:spPr>
          <a:xfrm>
            <a:off x="5405455" y="920725"/>
            <a:ext cx="1695990" cy="4070376"/>
          </a:xfrm>
          <a:prstGeom prst="rect">
            <a:avLst/>
          </a:prstGeom>
        </p:spPr>
      </p:pic>
      <p:sp>
        <p:nvSpPr>
          <p:cNvPr id="95" name="Google Shape;95;p17"/>
          <p:cNvSpPr/>
          <p:nvPr/>
        </p:nvSpPr>
        <p:spPr>
          <a:xfrm>
            <a:off x="17025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22101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27177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3997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6859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9721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levels.png"/>
          <p:cNvPicPr>
            <a:picLocks noChangeAspect="1"/>
          </p:cNvPicPr>
          <p:nvPr/>
        </p:nvPicPr>
        <p:blipFill>
          <a:blip r:embed="rId3"/>
          <a:stretch>
            <a:fillRect/>
          </a:stretch>
        </p:blipFill>
        <p:spPr>
          <a:xfrm>
            <a:off x="1141489" y="970656"/>
            <a:ext cx="6861021" cy="388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level.png"/>
          <p:cNvPicPr>
            <a:picLocks noChangeAspect="1"/>
          </p:cNvPicPr>
          <p:nvPr/>
        </p:nvPicPr>
        <p:blipFill>
          <a:blip r:embed="rId3"/>
          <a:stretch>
            <a:fillRect/>
          </a:stretch>
        </p:blipFill>
        <p:spPr>
          <a:xfrm>
            <a:off x="3888100" y="887231"/>
            <a:ext cx="4718421" cy="2654112"/>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Player is same width as tiles, this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3"/>
          <a:stretch>
            <a:fillRect/>
          </a:stretch>
        </p:blipFill>
        <p:spPr>
          <a:xfrm>
            <a:off x="3745230" y="2229213"/>
            <a:ext cx="1653540" cy="206692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updown.png"/>
          <p:cNvPicPr>
            <a:picLocks noChangeAspect="1"/>
          </p:cNvPicPr>
          <p:nvPr/>
        </p:nvPicPr>
        <p:blipFill>
          <a:blip r:embed="rId4"/>
          <a:stretch>
            <a:fillRect/>
          </a:stretch>
        </p:blipFill>
        <p:spPr>
          <a:xfrm>
            <a:off x="3503650" y="1211298"/>
            <a:ext cx="2114724" cy="2290951"/>
          </a:xfrm>
          <a:prstGeom prst="rect">
            <a:avLst/>
          </a:prstGeom>
        </p:spPr>
      </p:pic>
      <p:sp>
        <p:nvSpPr>
          <p:cNvPr id="199" name="Google Shape;199;p32"/>
          <p:cNvSpPr/>
          <p:nvPr/>
        </p:nvSpPr>
        <p:spPr>
          <a:xfrm>
            <a:off x="4247321"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76003"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image.png"/>
          <p:cNvPicPr>
            <a:picLocks noChangeAspect="1"/>
          </p:cNvPicPr>
          <p:nvPr/>
        </p:nvPicPr>
        <p:blipFill>
          <a:blip r:embed="rId3"/>
          <a:stretch>
            <a:fillRect/>
          </a:stretch>
        </p:blipFill>
        <p:spPr>
          <a:xfrm>
            <a:off x="3503650" y="3502250"/>
            <a:ext cx="2114724" cy="1057362"/>
          </a:xfrm>
          <a:prstGeom prst="rect">
            <a:avLst/>
          </a:prstGeom>
        </p:spPr>
      </p:pic>
      <p:sp>
        <p:nvSpPr>
          <p:cNvPr id="202" name="Google Shape;202;p32"/>
          <p:cNvSpPr/>
          <p:nvPr/>
        </p:nvSpPr>
        <p:spPr>
          <a:xfrm>
            <a:off x="4247321"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76003"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leftright.png"/>
          <p:cNvPicPr>
            <a:picLocks noChangeAspect="1"/>
          </p:cNvPicPr>
          <p:nvPr/>
        </p:nvPicPr>
        <p:blipFill>
          <a:blip r:embed="rId3"/>
          <a:stretch>
            <a:fillRect/>
          </a:stretch>
        </p:blipFill>
        <p:spPr>
          <a:xfrm>
            <a:off x="3141583" y="1603300"/>
            <a:ext cx="2860834" cy="2409123"/>
          </a:xfrm>
          <a:prstGeom prst="rect">
            <a:avLst/>
          </a:prstGeom>
        </p:spPr>
      </p:pic>
      <p:sp>
        <p:nvSpPr>
          <p:cNvPr id="210" name="Google Shape;210;p33"/>
          <p:cNvSpPr/>
          <p:nvPr/>
        </p:nvSpPr>
        <p:spPr>
          <a:xfrm>
            <a:off x="429679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74850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29679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74850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16-pixel tiles:</a:t>
            </a:r>
            <a:endParaRPr/>
          </a:p>
          <a:p>
            <a:pPr indent="-330200" lvl="0" marL="457200" rtl="0" algn="l">
              <a:spcBef>
                <a:spcPts val="0"/>
              </a:spcBef>
              <a:spcAft>
                <a:spcPts val="0"/>
              </a:spcAft>
              <a:buSzPts val="1600"/>
              <a:buChar char="●"/>
            </a:pPr>
            <a:r>
              <a:rPr lang="en"/>
              <a:t>The hitbox spans x 30 to 42, and moves 8 pixels right</a:t>
            </a:r>
            <a:endParaRPr/>
          </a:p>
          <a:p>
            <a:pPr indent="-330200" lvl="0" marL="457200" rtl="0" algn="l">
              <a:spcBef>
                <a:spcPts val="0"/>
              </a:spcBef>
              <a:spcAft>
                <a:spcPts val="0"/>
              </a:spcAft>
              <a:buSzPts val="1600"/>
              <a:buChar char="●"/>
            </a:pPr>
            <a:r>
              <a:rPr lang="en"/>
              <a:t>A wall starts at x 48</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debug.png"/>
          <p:cNvPicPr>
            <a:picLocks noChangeAspect="1"/>
          </p:cNvPicPr>
          <p:nvPr/>
        </p:nvPicPr>
        <p:blipFill>
          <a:blip r:embed="rId4"/>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the level is exactly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anything that isn’t a tile. They move, and don’t line up with the grid.</a:t>
            </a:r>
            <a:endParaRPr/>
          </a:p>
          <a:p>
            <a:pPr indent="-330200" lvl="0" marL="457200" rtl="0" algn="l">
              <a:spcBef>
                <a:spcPts val="0"/>
              </a:spcBef>
              <a:spcAft>
                <a:spcPts val="0"/>
              </a:spcAft>
              <a:buSzPts val="1600"/>
              <a:buChar char="●"/>
            </a:pPr>
            <a:r>
              <a:rPr lang="en"/>
              <a:t>The player, moles, boxes, coins; each with its own states.</a:t>
            </a:r>
            <a:endParaRPr/>
          </a:p>
        </p:txBody>
      </p:sp>
      <p:pic>
        <p:nvPicPr>
          <p:cNvPr id="259" name="Picture 260" descr="entities.png"/>
          <p:cNvPicPr>
            <a:picLocks noChangeAspect="1"/>
          </p:cNvPicPr>
          <p:nvPr/>
        </p:nvPicPr>
        <p:blipFill>
          <a:blip r:embed="rId4"/>
          <a:stretch>
            <a:fillRect/>
          </a:stretch>
        </p:blipFill>
        <p:spPr>
          <a:xfrm>
            <a:off x="6223513" y="323751"/>
            <a:ext cx="2782285" cy="4489597"/>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Mole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mole’s AI is a state machine too.</a:t>
            </a:r>
            <a:endParaRPr/>
          </a:p>
        </p:txBody>
      </p:sp>
      <p:pic>
        <p:nvPicPr>
          <p:cNvPr id="159" name="Picture 168" descr="mole.png"/>
          <p:cNvPicPr>
            <a:picLocks noChangeAspect="1"/>
          </p:cNvPicPr>
          <p:nvPr/>
        </p:nvPicPr>
        <p:blipFill>
          <a:blip r:embed="rId3"/>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MoleStateBase: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Mole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mole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star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mario_extras.png"/>
          <p:cNvPicPr>
            <a:picLocks noChangeAspect="1"/>
          </p:cNvPicPr>
          <p:nvPr/>
        </p:nvPicPr>
        <p:blipFill>
          <a:blip r:embed="rId3"/>
          <a:stretch>
            <a:fillRect/>
          </a:stretch>
        </p:blipFill>
        <p:spPr>
          <a:xfrm>
            <a:off x="3551348" y="3016803"/>
            <a:ext cx="204130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