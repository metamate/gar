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92" r:id="rId43"/>
    <p:sldId id="293" r:id="rId42"/>
    <p:sldId id="286" r:id="rId36"/>
    <p:sldId id="287" r:id="rId37"/>
    <p:sldId id="288" r:id="rId38"/>
    <p:sldId id="289" r:id="rId39"/>
    <p:sldId id="290" r:id="rId40"/>
    <p:sldId id="291" r:id="rId41"/>
    <p:sldId id="296" r:id="rId55"/>
    <p:sldId id="294" r:id="rId53"/>
    <p:sldId id="295" r:id="rId54"/>
  </p:sldIdLst>
  <p:sldSz cy="5143500" cx="9144000"/>
  <p:notesSz cx="6858000" cy="9144000"/>
  <p:embeddedFontLst>
    <p:embeddedFont>
      <p:font typeface="Roboto"/>
      <p:regular r:id="rId44"/>
      <p:bold r:id="rId45"/>
      <p:italic r:id="rId46"/>
      <p:boldItalic r:id="rId47"/>
    </p:embeddedFont>
    <p:embeddedFont>
      <p:font typeface="VT323"/>
      <p:regular r:id="rId48"/>
    </p:embeddedFont>
    <p:embeddedFont>
      <p:font typeface="Roboto Light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2.xml"/><Relationship Id="rId43" Type="http://schemas.openxmlformats.org/officeDocument/2006/relationships/slide" Target="slides/slide31.xml"/><Relationship Id="rId44" Type="http://schemas.openxmlformats.org/officeDocument/2006/relationships/font" Target="fonts/Roboto-regular.fntdata"/><Relationship Id="rId45" Type="http://schemas.openxmlformats.org/officeDocument/2006/relationships/font" Target="fonts/Roboto-bold.fntdata"/><Relationship Id="rId46" Type="http://schemas.openxmlformats.org/officeDocument/2006/relationships/font" Target="fonts/Roboto-italic.fntdata"/><Relationship Id="rId47" Type="http://schemas.openxmlformats.org/officeDocument/2006/relationships/font" Target="fonts/Roboto-boldItalic.fntdata"/><Relationship Id="rId48" Type="http://schemas.openxmlformats.org/officeDocument/2006/relationships/font" Target="fonts/VT323-regular.fntdata"/><Relationship Id="rId49" Type="http://schemas.openxmlformats.org/officeDocument/2006/relationships/font" Target="fonts/RobotoLight-regular.fntdata"/><Relationship Id="rId50" Type="http://schemas.openxmlformats.org/officeDocument/2006/relationships/font" Target="fonts/RobotoLight-bold.fntdata"/><Relationship Id="rId51" Type="http://schemas.openxmlformats.org/officeDocument/2006/relationships/font" Target="fonts/RobotoLight-italic.fntdata"/><Relationship Id="rId52" Type="http://schemas.openxmlformats.org/officeDocument/2006/relationships/font" Target="fonts/RobotoLight-boldItalic.fntdata"/><Relationship Id="rId53" Type="http://schemas.openxmlformats.org/officeDocument/2006/relationships/slide" Target="slides/slide40.xml"/><Relationship Id="rId54" Type="http://schemas.openxmlformats.org/officeDocument/2006/relationships/slide" Target="slides/slide41.xml"/><Relationship Id="rId55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Super Mario Bros. The main topic: platformer physics and tile collision.</a:t>
            </a:r>
          </a:p>
          <a:p>
            <a:r>
              <a:t>Start by playing the finished game, Platformer8,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Platformer8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platformer physics and tile collision. Around it: debug drawing, a camera, level makers, and the State pattern for the player.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gar-games/06-platformer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da89e0d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da89e0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Snake’s room came from a file of tile numbers. A platformer’s levels will come from code instead.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cde4c02cc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cde4c02cc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simplest level maker: fill the bottom two rows with ground. Everything else builds on this loop.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cfb4281ea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cfb4281e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Snake’s tile was an int: which picture. Now a tile also knows whether it’s solid, so collision can ask the tilemap.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ccfb4281e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ccfb4281e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Tile struct: a graphic ID and IsSolid. Empty means no graphic.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de4c02cc0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de4c02cc0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tilesets and toppers in one image. R in the game picks a random combination.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cde4c02cc0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cde4c02cc0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Nine random levels from the same code. Same rules, different looks.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ccfb4281e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ccfb4281e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family of level makers behind one base class; the game picks one. That’s the Strategy pattern, as in Pac-Man’s targeting.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df1bf870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df1bf870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Platformer0 and Platformer1 side by side (a diff tool, or two editor panes), then run Platformer1.</a:t>
            </a:r>
          </a:p>
          <a:p>
            <a:r>
              <a:t>- LevelMakerBase and the five makers</a:t>
            </a:r>
          </a:p>
          <a:p>
            <a:r>
              <a:t>- keys 1 to 5 switch the maker in Platformer1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cdeac4f9f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cdeac4f9f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Nystrom’s example: booleans for jumping and ducking. Ask: can you spot the bug? You can air-jump while diving. Booleans allow illegal combinations.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cdeac4f9fd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cdeac4f9fd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enum makes illegal states impossible. Ask: why is it still a problem? States with their own data (a charge timer), and a switch everywhere: Pac-Man’s problem again.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cdeac4f9f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cdeac4f9f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class per state; adding a state doesn’t touch the others. Hierarchical and stack-based state machines exist too; Pokemon uses a stack.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cde4c02cc0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cde4c02cc0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Platformer2 and Platformer3 side by side (a diff tool, or two editor panes), then run Platformer3.</a:t>
            </a:r>
          </a:p>
          <a:p>
            <a:r>
              <a:t>- PlayerStates/: idle, walk, jump, fall, duck</a:t>
            </a:r>
          </a:p>
          <a:p>
            <a:r>
              <a:t>- each state decides its own transitions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cde4c02cc0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cde4c02cc0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Platformer5.</a:t>
            </a:r>
          </a:p>
          <a:p>
            <a:r>
              <a:t>- a title state and a play state, as in Flappy Bird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ccfb4281ea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ccfb4281e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snail’s AI is the same pattern: idle, walk, and chase when the player comes close.</a:t>
            </a:r>
          </a:p>
          <a:p>
            <a:r>
              <a:t>Ask the question: the player and the snail do the same collision work. How could they share it? A base state, or something both use.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cde4c02cc0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cde4c02cc0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Platformer6 and Platformer7 side by side (a diff tool, or two editor panes), then run Platformer7.</a:t>
            </a:r>
          </a:p>
          <a:p>
            <a:r>
              <a:t>- SnailStates/</a:t>
            </a:r>
          </a:p>
          <a:p>
            <a:r>
              <a:t>- AnimatedSprite.Play swaps animations</a:t>
            </a:r>
          </a:p>
          <a:p>
            <a:r>
              <a:t>- the collision code duplicated between snail and player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ccfb4281ea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ccfb4281ea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bottom first: why didn’t earlier games need a camera? Their world fit on one screen.</a:t>
            </a:r>
          </a:p>
          <a:p>
            <a:r>
              <a:t>The camera shifts the whole world by one matrix, and stops at the level’s ends. Only x here.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ccfb4281ea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ccfb4281ea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Platformer3 and Platformer4 side by side (a diff tool, or two editor panes), then run Platformer4.</a:t>
            </a:r>
          </a:p>
          <a:p>
            <a:r>
              <a:t>- Graphics/Camera.cs</a:t>
            </a:r>
          </a:p>
          <a:p>
            <a:r>
              <a:t>- the transform passed to SpriteBatch.Begin</a:t>
            </a:r>
          </a:p>
          <a:p>
            <a:r>
              <a:t>- walk to the end of the level: the camera stops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cfb4281ea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cfb4281ea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GameController maps keys to actions, as in Snake. Ask: is this the Command pattern? No: nothing is turned into an object you can store or undo.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cd8a4d586b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cd8a4d586b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player is exactly one tile wide, so he can run across a one-tile pit. Shrink the hitbox by 2 pixels each side, and he falls.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cd8a4d586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cd8a4d586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points per direction, at the hitbox’s corners (the red dots), slightly inset. Ask: why inset? So you can jump up next to a wall without catching it.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cd8a4d586b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cd8a4d586b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for walls: two points on each side, inset so you don’t catch the floor or a tile just above.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deac4f9fd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deac4f9fd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Snap to the tile edge and zero the velocity in that direction. The inset appears again here.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d8a4d586b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cd8a4d586b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 the ground if a solid tile or a solid entity is just below the hitbox. The jump state asks this.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cde4c02cc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cde4c02cc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helpers that make the rest short: point to tile, tile to point, is solid at, tile edges.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d8a4d586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d8a4d586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Let the player jump for a few frames after leaving a ledge, like the coyote running off the cliff. Feels fair; players never notice.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cd8a4d586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cd8a4d586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tiles never move, so checking a point is a lookup: O(1), however big the level.</a:t>
            </a:r>
          </a:p>
          <a:p>
            <a:r>
              <a:t>Entities move, so each needs a check; every pair would be O(n²). Vampire Survivors deals with that.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cdf6a5cc1f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cdf6a5cc1f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Platformer2 and press F1. Jump into a corner, walk off a ledge and jump late (coyote time), and watch the hitbox.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ca46b0a91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ca46b0a91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Entities: anything that isn’t a tile. They move and don’t line up with the grid.</a:t>
            </a:r>
          </a:p>
          <a:p>
            <a:r>
              <a:t>Ask the question: a class for every kind of entity; where does that end? Zelda and Plants vs. Zombies answer it.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cdeac4f9fd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3cdeac4f9fd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IEntity: what every entity has. The level updates and draws them all in one loop: the Update Method pattern from Pong.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cd8a4d586b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cd8a4d586b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a level maker built from hand-made chunks, and a moving platform.</a:t>
            </a:r>
          </a:p>
          <a:p>
            <a:r>
              <a:t>The chunks mix both earlier approaches: designed by hand, combined by code. Spelunky works this way.</a:t>
            </a:r>
          </a:p>
          <a:p>
            <a:r>
              <a:t>Ask about the platform. Answer: there is no single right place; a common one is the player remembering what it stands on, and moving with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cd8a4d586b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cd8a4d586b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power-up is an entity that changes the player: a star sets a flag and a timer, a mushroom scales the player.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cde4c02cc0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cde4c02cc0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art for the power-ups is in the repo, in extras.png. The game doesn’t use it yet.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the player falls through a corner; why? You can’t tell: the hitbox isn’t drawn.</a:t>
            </a:r>
          </a:p>
          <a:p>
            <a:r>
              <a:t>F1 draws what the game can’t show. The debugger shows one moment; debug drawing shows motion over time.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is a switch on an enum still a problematic way to model character state?</a:t>
            </a:r>
          </a:p>
          <a:p>
            <a:r>
              <a:t>A: Every method has to switch over every state, so adding a state means touching many places, and state-specific data has nowhere natural to live.</a:t>
            </a:r>
          </a:p>
          <a:p/>
          <a:p>
            <a:r>
              <a:t>Q: Why can tile collision be O(1) while entity collision can't?</a:t>
            </a:r>
          </a:p>
          <a:p>
            <a:r>
              <a:t>A: Tiles never move and sit in a grid, so a position maps directly to a tile index. Entities move freely, so we have to check them against each other.</a:t>
            </a:r>
          </a:p>
          <a:p/>
          <a:p>
            <a:r>
              <a:t>Q: Why keep debug drawing in the code, behind a switch, instead of deleting it once a bug is fixed?</a:t>
            </a:r>
          </a:p>
          <a:p>
            <a:r>
              <a:t>A: The next bug needs it too. Behind a switch it costs nothing when it is off, and anyone working on the game can turn it on to see what the collision code is doing.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Red: solid tiles. Green: the player’s hitbox. Yellow: entities.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Milestone today: a playable core loop and a class diagram. Next, by session 09: the self-review.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19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6-platformer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5" Type="http://schemas.openxmlformats.org/officeDocument/2006/relationships/image" Target="../media/image28.png"/><Relationship Id="rId6" Type="http://schemas.openxmlformats.org/officeDocument/2006/relationships/image" Target="../media/image3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4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4" Type="http://schemas.openxmlformats.org/officeDocument/2006/relationships/image" Target="../media/image3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4" Type="http://schemas.openxmlformats.org/officeDocument/2006/relationships/image" Target="../media/image3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4" Type="http://schemas.openxmlformats.org/officeDocument/2006/relationships/image" Target="../media/image3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4" Type="http://schemas.openxmlformats.org/officeDocument/2006/relationships/image" Target="../media/image3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7.gif"/><Relationship Id="rId4" Type="http://schemas.openxmlformats.org/officeDocument/2006/relationships/image" Target="../media/image29.gi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15" Type="http://schemas.openxmlformats.org/officeDocument/2006/relationships/image" Target="../media/image4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06: Super Mario Bros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gif-mario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2292" y="1688925"/>
            <a:ext cx="5139422" cy="28909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Platformer Physics &amp; Tile Collision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Debug Drawing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Camera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 Makers (Strategy, again)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Pattern (again, for the player)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Basic AI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06-platformer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(Platformer0 to Platformer8),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 Generation</a:t>
            </a:r>
            <a:endParaRPr/>
          </a:p>
        </p:txBody>
      </p:sp>
      <p:sp>
        <p:nvSpPr>
          <p:cNvPr id="64" name="Google Shape;64;p13"/>
          <p:cNvSpPr txBox="1"/>
          <p:nvPr/>
        </p:nvSpPr>
        <p:spPr>
          <a:xfrm>
            <a:off x="67336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572425" y="1767800"/>
            <a:ext cx="5330700" cy="225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region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"0 40 80 80"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images/atlas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00 01 02 01 03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04 05 06 05 07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08 09 10 09 11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04 09 09 09 07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12 13 14 13 15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6" name="Google Shape;66;p13"/>
          <p:cNvCxnSpPr>
            <a:stCxn id="65" idx="3"/>
            <a:endCxn id="64" idx="1"/>
          </p:cNvCxnSpPr>
          <p:nvPr/>
        </p:nvCxnSpPr>
        <p:spPr>
          <a:xfrm>
            <a:off x="5903125" y="2897600"/>
            <a:ext cx="830700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Procedural Level Generation</a:t>
            </a:r>
            <a:endParaRPr/>
          </a:p>
        </p:txBody>
      </p:sp>
      <p:sp>
        <p:nvSpPr>
          <p:cNvPr id="72" name="Google Shape;72;p14"/>
          <p:cNvSpPr txBox="1"/>
          <p:nvPr/>
        </p:nvSpPr>
        <p:spPr>
          <a:xfrm>
            <a:off x="71247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572425" y="1102375"/>
            <a:ext cx="5330700" cy="3570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Generate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4" name="Google Shape;74;p14"/>
          <p:cNvCxnSpPr>
            <a:stCxn id="73" idx="3"/>
            <a:endCxn id="72" idx="1"/>
          </p:cNvCxnSpPr>
          <p:nvPr/>
        </p:nvCxnSpPr>
        <p:spPr>
          <a:xfrm>
            <a:off x="5903125" y="2887675"/>
            <a:ext cx="1221600" cy="9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Update</a:t>
            </a:r>
            <a:endParaRPr/>
          </a:p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tile now knows more than its picture.</a:t>
            </a:r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731520" y="1463040"/>
            <a:ext cx="31089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Snake: an int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which picture to draw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931920" y="1965960"/>
            <a:ext cx="8229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4846320" y="1463040"/>
            <a:ext cx="35661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Platformer: a Tile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GraphicId · IsSolid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1520" y="2743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Collision asks the tilemap: is there something solid at (x, y)?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The grass toppers are a second tilemap, drawn on top.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3473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readonly struct Tile(int graphicId = -1, bool isSolid = false)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static readonly Tile Empty = new();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int GraphicId { get; init; } = graphicId;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IsSolid { get; init; } = isSolid;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IsEmpty =&gt; GraphicId &lt; 0;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627425" y="1887850"/>
            <a:ext cx="3459000" cy="560363"/>
          </a:xfrm>
          <a:prstGeom prst="rect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Tilesets</a:t>
            </a:r>
            <a:endParaRPr/>
          </a:p>
        </p:txBody>
      </p:sp>
      <p:pic>
        <p:nvPicPr>
          <p:cNvPr id="93" name="Picture 100" descr="mario_ti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2525" y="920715"/>
            <a:ext cx="3052789" cy="4070385"/>
          </a:xfrm>
          <a:prstGeom prst="rect">
            <a:avLst/>
          </a:prstGeom>
        </p:spPr>
      </p:pic>
      <p:pic>
        <p:nvPicPr>
          <p:cNvPr id="94" name="Picture 100" descr="mario_tile_top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5455" y="920725"/>
            <a:ext cx="1695990" cy="4070376"/>
          </a:xfrm>
          <a:prstGeom prst="rect">
            <a:avLst/>
          </a:prstGeom>
        </p:spPr>
      </p:pic>
      <p:sp>
        <p:nvSpPr>
          <p:cNvPr id="95" name="Google Shape;95;p17"/>
          <p:cNvSpPr/>
          <p:nvPr/>
        </p:nvSpPr>
        <p:spPr>
          <a:xfrm>
            <a:off x="17025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6" name="Google Shape;96;p17"/>
          <p:cNvSpPr/>
          <p:nvPr/>
        </p:nvSpPr>
        <p:spPr>
          <a:xfrm>
            <a:off x="22101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7" name="Google Shape;97;p17"/>
          <p:cNvSpPr/>
          <p:nvPr/>
        </p:nvSpPr>
        <p:spPr>
          <a:xfrm>
            <a:off x="27177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53997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9" name="Google Shape;99;p17"/>
          <p:cNvSpPr/>
          <p:nvPr/>
        </p:nvSpPr>
        <p:spPr>
          <a:xfrm>
            <a:off x="56859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0" name="Google Shape;100;p17"/>
          <p:cNvSpPr/>
          <p:nvPr/>
        </p:nvSpPr>
        <p:spPr>
          <a:xfrm>
            <a:off x="59721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GameLevel</a:t>
            </a:r>
            <a:endParaRPr/>
          </a:p>
        </p:txBody>
      </p:sp>
      <p:pic>
        <p:nvPicPr>
          <p:cNvPr id="106" name="Picture 106" descr="mario_lev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1488" y="970656"/>
            <a:ext cx="6861024" cy="388400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</a:t>
            </a:r>
            <a:endParaRPr/>
          </a:p>
        </p:txBody>
      </p:sp>
      <p:sp>
        <p:nvSpPr>
          <p:cNvPr id="112" name="Google Shape;112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LevelMakerBase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SimpleLevelMaker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FlatLevelMaker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PillarLevelMaker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ComplexLevelMaker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</a:t>
            </a:r>
            <a:r>
              <a:rPr lang="en"/>
              <a:t>This is essentially the strategy design pattern)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13" name="Picture 113" descr="mario-r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8099" y="887231"/>
            <a:ext cx="4718424" cy="265411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LevelMaker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9" name="Google Shape;119;p2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Platformer0 → Platformer1: tilemaps from code and level makers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</a:t>
            </a:r>
            <a:endParaRPr/>
          </a:p>
        </p:txBody>
      </p:sp>
      <p:sp>
        <p:nvSpPr>
          <p:cNvPr id="125" name="Google Shape;125;p21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Jump...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Stand...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26" name="Google Shape;126;p21"/>
          <p:cNvSpPr txBox="1"/>
          <p:nvPr>
            <p:ph idx="1" type="body"/>
          </p:nvPr>
        </p:nvSpPr>
        <p:spPr>
          <a:xfrm>
            <a:off x="2333950" y="885950"/>
            <a:ext cx="64242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problem with this code?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way state is encoded, you can end up in illegal states!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you spot the bug?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We check that you can’t air jump while jumping, but not while diving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Yet another field… (isDiving)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 - Enum Solution</a:t>
            </a:r>
            <a:endParaRPr/>
          </a:p>
        </p:txBody>
      </p:sp>
      <p:sp>
        <p:nvSpPr>
          <p:cNvPr id="132" name="Google Shape;132;p22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475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yVelocity_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JUMP_VELOCITY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STATE_DIVING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IMAGE_STAND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33" name="Google Shape;133;p22"/>
          <p:cNvSpPr txBox="1"/>
          <p:nvPr>
            <p:ph idx="1" type="body"/>
          </p:nvPr>
        </p:nvSpPr>
        <p:spPr>
          <a:xfrm>
            <a:off x="2333950" y="885950"/>
            <a:ext cx="48549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this better?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can’t encode invalid state!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it still (potentially) problematic?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if states have state?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E.g. a charge attack while ducking!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Doesn’t scale well…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Allows an object to change its behaviour based on an internal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State-specific behavior is defined independently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Adding new states does not impact the behavior of existing states</a:t>
            </a:r>
            <a:endParaRPr/>
          </a:p>
        </p:txBody>
      </p:sp>
      <p:sp>
        <p:nvSpPr>
          <p:cNvPr id="139" name="Google Shape;139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Pattern</a:t>
            </a:r>
            <a:endParaRPr/>
          </a:p>
        </p:txBody>
      </p:sp>
      <p:pic>
        <p:nvPicPr>
          <p:cNvPr id="140" name="Google Shape;140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02502" y="1999823"/>
            <a:ext cx="4538999" cy="2911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Player State </a:t>
            </a:r>
            <a:r>
              <a:rPr lang="en">
                <a:solidFill>
                  <a:schemeClr val="accent5"/>
                </a:solidFill>
              </a:rPr>
              <a:t>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6" name="Google Shape;146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 → Platformer3: from an enum to the State pattern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2" name="Google Shape;152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Platformer5: title and play states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Snail States (Aka Basic AI)</a:t>
            </a:r>
            <a:endParaRPr/>
          </a:p>
        </p:txBody>
      </p:sp>
      <p:sp>
        <p:nvSpPr>
          <p:cNvPr id="158" name="Google Shape;158;p2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snail’s AI is a state machine too.</a:t>
            </a:r>
            <a:endParaRPr/>
          </a:p>
        </p:txBody>
      </p:sp>
      <p:pic>
        <p:nvPicPr>
          <p:cNvPr id="159" name="Picture 15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63040"/>
            <a:ext cx="1645920" cy="548640"/>
          </a:xfrm>
          <a:prstGeom prst="rect">
            <a:avLst/>
          </a:prstGeom>
        </p:spPr>
      </p:pic>
      <p:sp>
        <p:nvSpPr>
          <p:cNvPr id="160" name="Rounded Rectangle 159"/>
          <p:cNvSpPr/>
          <p:nvPr/>
        </p:nvSpPr>
        <p:spPr>
          <a:xfrm>
            <a:off x="274320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Idle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waits a while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93776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Walk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turns at edges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713232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towards the player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4407408" y="16459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H="1">
            <a:off x="4407408" y="1874519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6601968" y="173736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6419088" y="1444751"/>
            <a:ext cx="877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player near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743200" y="2468880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>SnailStateBase: gravity, ground, collisions, shared by all three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The player’s base state does the same collision work. How could they share it?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Snail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5" name="Google Shape;165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Platformer7: snail AI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Camera</a:t>
            </a:r>
            <a:endParaRPr/>
          </a:p>
        </p:txBody>
      </p:sp>
      <p:sp>
        <p:nvSpPr>
          <p:cNvPr id="171" name="Google Shape;171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level is wider than the screen. Something has to follow the player.</a:t>
            </a:r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365760" y="1508760"/>
            <a:ext cx="8412480" cy="91440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1554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3AB"/>
                </a:solidFill>
              </a:rPr>
              <a:t>the level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3291840" y="1371600"/>
            <a:ext cx="2377440" cy="1188720"/>
          </a:xfrm>
          <a:prstGeom prst="rect">
            <a:avLst/>
          </a:prstGeom>
          <a:solidFill>
            <a:srgbClr val="212529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screen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centred on the player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65760" y="2788920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camera shifts the whole world by one matrix, and stops at the ends of the level.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Only on x: the level is exactly one screen tall.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57200" y="3611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didn’t Pong, Snake or Pac-Man need a camera?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Camera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8" name="Google Shape;178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Platformer4: camera and a wide level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now have a GameController class that abstracts away hardcoded keys for “actions”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is NOT the Command Pattern!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not?</a:t>
            </a:r>
            <a:endParaRPr/>
          </a:p>
        </p:txBody>
      </p:sp>
      <p:pic>
        <p:nvPicPr>
          <p:cNvPr id="185" name="Google Shape;18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02216" y="3223775"/>
            <a:ext cx="1739575" cy="1160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Player Hitbox</a:t>
            </a:r>
            <a:endParaRPr/>
          </a:p>
        </p:txBody>
      </p:sp>
      <p:sp>
        <p:nvSpPr>
          <p:cNvPr id="191" name="Google Shape;191;p3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 is same width as tiles, this makes it hard to fall down pits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player can run across a pit without falling down!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shrink the hitbox/collider with 2px on each side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Now you gotta jump those pits!</a:t>
            </a:r>
            <a:endParaRPr/>
          </a:p>
        </p:txBody>
      </p:sp>
      <p:pic>
        <p:nvPicPr>
          <p:cNvPr id="192" name="Picture 192" descr="mario_hitbo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5230" y="2229213"/>
            <a:ext cx="1653540" cy="20669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(up/down)</a:t>
            </a:r>
            <a:endParaRPr/>
          </a:p>
        </p:txBody>
      </p:sp>
      <p:pic>
        <p:nvPicPr>
          <p:cNvPr id="198" name="Picture 203" descr="mario_updow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3650" y="1211298"/>
            <a:ext cx="2114725" cy="2290952"/>
          </a:xfrm>
          <a:prstGeom prst="rect">
            <a:avLst/>
          </a:prstGeom>
        </p:spPr>
      </p:pic>
      <p:sp>
        <p:nvSpPr>
          <p:cNvPr id="199" name="Google Shape;199;p32"/>
          <p:cNvSpPr/>
          <p:nvPr/>
        </p:nvSpPr>
        <p:spPr>
          <a:xfrm>
            <a:off x="4247321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0" name="Google Shape;200;p32"/>
          <p:cNvSpPr/>
          <p:nvPr/>
        </p:nvSpPr>
        <p:spPr>
          <a:xfrm>
            <a:off x="4776003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201" name="Picture 203" descr="mario_flo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3650" y="3502250"/>
            <a:ext cx="2114725" cy="1057362"/>
          </a:xfrm>
          <a:prstGeom prst="rect">
            <a:avLst/>
          </a:prstGeom>
        </p:spPr>
      </p:pic>
      <p:sp>
        <p:nvSpPr>
          <p:cNvPr id="202" name="Google Shape;202;p32"/>
          <p:cNvSpPr/>
          <p:nvPr/>
        </p:nvSpPr>
        <p:spPr>
          <a:xfrm>
            <a:off x="4247321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3" name="Google Shape;203;p32"/>
          <p:cNvSpPr/>
          <p:nvPr/>
        </p:nvSpPr>
        <p:spPr>
          <a:xfrm>
            <a:off x="4776003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(left/right)</a:t>
            </a:r>
            <a:endParaRPr/>
          </a:p>
        </p:txBody>
      </p:sp>
      <p:pic>
        <p:nvPicPr>
          <p:cNvPr id="209" name="Picture 213" descr="mario_left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1583" y="1603300"/>
            <a:ext cx="2860835" cy="2409125"/>
          </a:xfrm>
          <a:prstGeom prst="rect">
            <a:avLst/>
          </a:prstGeom>
        </p:spPr>
      </p:pic>
      <p:sp>
        <p:nvSpPr>
          <p:cNvPr id="210" name="Google Shape;210;p33"/>
          <p:cNvSpPr/>
          <p:nvPr/>
        </p:nvSpPr>
        <p:spPr>
          <a:xfrm>
            <a:off x="429679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1" name="Google Shape;211;p33"/>
          <p:cNvSpPr/>
          <p:nvPr/>
        </p:nvSpPr>
        <p:spPr>
          <a:xfrm>
            <a:off x="474850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2" name="Google Shape;212;p33"/>
          <p:cNvSpPr/>
          <p:nvPr/>
        </p:nvSpPr>
        <p:spPr>
          <a:xfrm>
            <a:off x="429679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3" name="Google Shape;213;p33"/>
          <p:cNvSpPr/>
          <p:nvPr/>
        </p:nvSpPr>
        <p:spPr>
          <a:xfrm>
            <a:off x="474850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19" name="Google Shape;219;p34"/>
          <p:cNvSpPr txBox="1"/>
          <p:nvPr>
            <p:ph idx="1" type="body"/>
          </p:nvPr>
        </p:nvSpPr>
        <p:spPr>
          <a:xfrm>
            <a:off x="1722900" y="885950"/>
            <a:ext cx="56982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IsOnGround</a:t>
            </a:r>
            <a:endParaRPr/>
          </a:p>
        </p:txBody>
      </p:sp>
      <p:sp>
        <p:nvSpPr>
          <p:cNvPr id="225" name="Google Shape;225;p35"/>
          <p:cNvSpPr txBox="1"/>
          <p:nvPr>
            <p:ph idx="1" type="body"/>
          </p:nvPr>
        </p:nvSpPr>
        <p:spPr>
          <a:xfrm>
            <a:off x="311700" y="885950"/>
            <a:ext cx="8520600" cy="34845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IsOnGround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Tilemap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||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solid Entities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ExpandDirectional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Level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Entities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Intersects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Additions</a:t>
            </a:r>
            <a:endParaRPr/>
          </a:p>
        </p:txBody>
      </p:sp>
      <p:sp>
        <p:nvSpPr>
          <p:cNvPr id="231" name="Google Shape;231;p36"/>
          <p:cNvSpPr txBox="1"/>
          <p:nvPr>
            <p:ph idx="1" type="body"/>
          </p:nvPr>
        </p:nvSpPr>
        <p:spPr>
          <a:xfrm>
            <a:off x="2751000" y="1862025"/>
            <a:ext cx="3642000" cy="20751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PointToTile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TileToPoint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Coyote Time</a:t>
            </a:r>
            <a:endParaRPr/>
          </a:p>
        </p:txBody>
      </p:sp>
      <p:pic>
        <p:nvPicPr>
          <p:cNvPr id="237" name="Google Shape;237;p37" title="Celeste-Coyote-Tim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675" y="1679747"/>
            <a:ext cx="4120325" cy="231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37" title="coyote.g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45575" y="1971802"/>
            <a:ext cx="3048000" cy="173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Platformer Physics Performance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against the tiles: a lookup. Against entities: checks.</a:t>
            </a:r>
            <a:endParaRPr/>
          </a:p>
        </p:txBody>
      </p:sp>
      <p:sp>
        <p:nvSpPr>
          <p:cNvPr id="245" name="Rounded Rectangle 244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Tiles: O(1)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grid never moves: look up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tile at a point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Entities: O(n) per mover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they move, so check each;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every pair would be O(n²)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48640" y="2788920"/>
            <a:ext cx="8046720" cy="7315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public bool IsSolidAt(float x, float y) =&gt; GetTileAt(x, y)?.IsSolid ?? false;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falls through a corner, and you can’t see why: hitboxes are invisible.</a:t>
            </a:r>
            <a:endParaRPr/>
          </a:p>
        </p:txBody>
      </p:sp>
      <p:sp>
        <p:nvSpPr>
          <p:cNvPr id="245" name="Rounded Rectangle 244"/>
          <p:cNvSpPr/>
          <p:nvPr/>
        </p:nvSpPr>
        <p:spPr>
          <a:xfrm>
            <a:off x="5486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Solid tiles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red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32918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player’s hitbox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green</a:t>
            </a:r>
          </a:p>
        </p:txBody>
      </p:sp>
      <p:sp>
        <p:nvSpPr>
          <p:cNvPr id="247" name="Rounded Rectangle 246"/>
          <p:cNvSpPr/>
          <p:nvPr/>
        </p:nvSpPr>
        <p:spPr>
          <a:xfrm>
            <a:off x="60350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yellow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548640" y="22860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Press F1. DebugDraw in GMDCore draws nothing unless enabled, so the calls can stay in the code.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548640" y="2834640"/>
            <a:ext cx="3749039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debugger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exact values, at one moment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4846320" y="2834640"/>
            <a:ext cx="3749039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Debug drawing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what happens, over time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 in Action</a:t>
            </a:r>
            <a:endParaRPr/>
          </a:p>
        </p:txBody>
      </p:sp>
      <p:pic>
        <p:nvPicPr>
          <p:cNvPr id="237" name="Picture 237" descr="mario-debu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005840"/>
            <a:ext cx="658368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Platformer Physics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2" name="Google Shape;252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Platformer2: gravity, tile collision, coyote time and debug drawing (F1)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Entities</a:t>
            </a:r>
            <a:endParaRPr/>
          </a:p>
        </p:txBody>
      </p:sp>
      <p:sp>
        <p:nvSpPr>
          <p:cNvPr id="258" name="Google Shape;258;p40"/>
          <p:cNvSpPr txBox="1"/>
          <p:nvPr>
            <p:ph idx="1" type="body"/>
          </p:nvPr>
        </p:nvSpPr>
        <p:spPr>
          <a:xfrm>
            <a:off x="311700" y="885950"/>
            <a:ext cx="5669280" cy="118872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Entities: anything that isn’t a tile. They move, and don’t line up with the grid.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player, snails, boxes, gems; each with its own states.</a:t>
            </a:r>
            <a:endParaRPr/>
          </a:p>
        </p:txBody>
      </p:sp>
      <p:pic>
        <p:nvPicPr>
          <p:cNvPr id="259" name="Picture 270" descr="mario_entitie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23513" y="323750"/>
            <a:ext cx="2782287" cy="4489599"/>
          </a:xfrm>
          <a:prstGeom prst="rect">
            <a:avLst/>
          </a:prstGeom>
        </p:spPr>
      </p:pic>
      <p:sp>
        <p:nvSpPr>
          <p:cNvPr id="260" name="TextBox 259"/>
          <p:cNvSpPr txBox="1"/>
          <p:nvPr/>
        </p:nvSpPr>
        <p:spPr>
          <a:xfrm>
            <a:off x="457200" y="3017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Many kinds of entity, each a class. Where does that end?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Entity</a:t>
            </a:r>
            <a:endParaRPr/>
          </a:p>
        </p:txBody>
      </p:sp>
      <p:sp>
        <p:nvSpPr>
          <p:cNvPr id="276" name="Google Shape;276;p41"/>
          <p:cNvSpPr txBox="1"/>
          <p:nvPr>
            <p:ph idx="1" type="body"/>
          </p:nvPr>
        </p:nvSpPr>
        <p:spPr>
          <a:xfrm>
            <a:off x="311700" y="885950"/>
            <a:ext cx="3164700" cy="3042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other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77" name="Google Shape;277;p41"/>
          <p:cNvSpPr txBox="1"/>
          <p:nvPr>
            <p:ph idx="2" type="body"/>
          </p:nvPr>
        </p:nvSpPr>
        <p:spPr>
          <a:xfrm>
            <a:off x="3662950" y="886075"/>
            <a:ext cx="51693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W</a:t>
            </a:r>
            <a:r>
              <a:rPr lang="en"/>
              <a:t>e iterate over all entities in</a:t>
            </a:r>
            <a:r>
              <a:rPr lang="en"/>
              <a:t> the world </a:t>
            </a:r>
            <a:r>
              <a:rPr lang="en"/>
              <a:t>at the same time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Made possible by the update method pattern!</a:t>
            </a:r>
            <a:endParaRPr/>
          </a:p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Collisions can be done entity-to-entity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Each entity decides how to handle collisions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Since entities often move, we cannot do an instant lookup check like for tilemap collisions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Chunks and Moving Platforms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3" name="Google Shape;283;p42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Platformer8.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few short chunks by hand, as small tile grids in a data file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maker that strings random chunks together, longer every level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moving platform that carries the player standing on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“carried along” belong?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</a:t>
            </a:r>
            <a:r>
              <a:rPr lang="en">
                <a:solidFill>
                  <a:schemeClr val="accent5"/>
                </a:solidFill>
              </a:rPr>
              <a:t>Powerups</a:t>
            </a:r>
            <a:r>
              <a:rPr lang="en">
                <a:solidFill>
                  <a:schemeClr val="accent5"/>
                </a:solidFill>
              </a:rPr>
              <a:t> to the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9" name="Google Shape;289;p43"/>
          <p:cNvSpPr txBox="1"/>
          <p:nvPr>
            <p:ph idx="1" type="body"/>
          </p:nvPr>
        </p:nvSpPr>
        <p:spPr>
          <a:xfrm>
            <a:off x="311700" y="885950"/>
            <a:ext cx="8520600" cy="154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Effectively an Entity that changes some state or trait of the player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star may flip an “invincible” flag on the player and begin an “invincibleDuration” timer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mushroom may trigger a “huge” flag on the player that alters their </a:t>
            </a:r>
            <a:r>
              <a:rPr lang="en"/>
              <a:t>x, y, width, and height and then scales their sprite</a:t>
            </a:r>
            <a:endParaRPr/>
          </a:p>
        </p:txBody>
      </p:sp>
      <p:pic>
        <p:nvPicPr>
          <p:cNvPr id="290" name="Google Shape;29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7738" y="2571750"/>
            <a:ext cx="3408525" cy="2309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 Assets</a:t>
            </a:r>
            <a:endParaRPr/>
          </a:p>
        </p:txBody>
      </p:sp>
      <p:sp>
        <p:nvSpPr>
          <p:cNvPr id="296" name="Google Shape;296;p4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Power-ups for the exercises, in the repo: Content/Assets/images/extras.png (the game doesn’t use them)</a:t>
            </a:r>
            <a:endParaRPr/>
          </a:p>
        </p:txBody>
      </p:sp>
      <p:pic>
        <p:nvPicPr>
          <p:cNvPr id="297" name="Picture 297" descr="mario_extr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1348" y="3016803"/>
            <a:ext cx="2041300" cy="340216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switch on an enum still a problematic way to model character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can tile collision be O(1) while entity collision can’t?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keep debug drawing in the code, behind a switch, instead of deleting it?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want to see while debugging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debug drawing for hitboxes, triggers or AI targets, behind a key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entities have distinct behaviour modes? Draw a state diagram for one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anything a set of booleans that should be a state machine?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playable core loop, and a first class diagram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09: self-review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Updated class diagram, list of patterns, event map, at least one refactoring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