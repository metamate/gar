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308" r:id="rId41"/>
    <p:sldId id="266" r:id="rId16"/>
    <p:sldId id="267" r:id="rId17"/>
    <p:sldId id="303" r:id="rId62"/>
    <p:sldId id="277" r:id="rId27"/>
    <p:sldId id="278" r:id="rId28"/>
    <p:sldId id="279" r:id="rId29"/>
    <p:sldId id="280" r:id="rId30"/>
    <p:sldId id="307" r:id="rId54"/>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21" Type="http://schemas.openxmlformats.org/officeDocument/2006/relationships/slide" Target="slides/slide33.xml"/><Relationship Id="rId23" Type="http://schemas.openxmlformats.org/officeDocument/2006/relationships/slide" Target="slides/slide40.xml"/><Relationship Id="rId24" Type="http://schemas.openxmlformats.org/officeDocument/2006/relationships/slide" Target="slides/slide41.xml"/><Relationship Id="rId25" Type="http://schemas.openxmlformats.org/officeDocument/2006/relationships/slide" Target="slides/slide35.xml"/><Relationship Id="rId26" Type="http://schemas.openxmlformats.org/officeDocument/2006/relationships/slide" Target="slides/slide3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2.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30.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13.xml"/><Relationship Id="rId42" Type="http://schemas.openxmlformats.org/officeDocument/2006/relationships/slide" Target="slides/slide29.xml"/><Relationship Id="rId43" Type="http://schemas.openxmlformats.org/officeDocument/2006/relationships/slide" Target="slides/slide28.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6.xml"/><Relationship Id="rId54" Type="http://schemas.openxmlformats.org/officeDocument/2006/relationships/slide" Target="slides/slide21.xml"/><Relationship Id="rId55" Type="http://schemas.openxmlformats.org/officeDocument/2006/relationships/slide" Target="slides/slide45.xml"/><Relationship Id="rId56" Type="http://schemas.openxmlformats.org/officeDocument/2006/relationships/slide" Target="slides/slide2.xml"/><Relationship Id="rId57" Type="http://schemas.openxmlformats.org/officeDocument/2006/relationships/slide" Target="slides/slide44.xml"/><Relationship Id="rId58" Type="http://schemas.openxmlformats.org/officeDocument/2006/relationships/slide" Target="slides/slide31.xml"/><Relationship Id="rId59" Type="http://schemas.openxmlformats.org/officeDocument/2006/relationships/slide" Target="slides/slide37.xml"/><Relationship Id="rId60" Type="http://schemas.openxmlformats.org/officeDocument/2006/relationships/slide" Target="slides/slide32.xml"/><Relationship Id="rId61" Type="http://schemas.openxmlformats.org/officeDocument/2006/relationships/slide" Target="slides/slide34.xml"/><Relationship Id="rId62" Type="http://schemas.openxmlformats.org/officeDocument/2006/relationships/slide" Target="slides/slide16.xml"/><Relationship Id="rId63" Type="http://schemas.openxmlformats.org/officeDocument/2006/relationships/slide" Target="slides/slide10.xml"/><Relationship Id="rId64"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a:p>
            <a:r>
              <a:t>centred on the player</a:t>
            </a:r>
          </a:p>
          <a:p>
            <a:r>
              <a:t>The camera shifts the whole world by one matrix, and stops at the ends of the level.</a:t>
            </a:r>
          </a:p>
          <a:p>
            <a:r>
              <a:t>Only on x, since the level is one screen tall.</a:t>
            </a:r>
          </a:p>
          <a:p>
            <a:r>
              <a:t>Why didn’t Pong, Snake or Pac-Man need a camera?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a:p>
            <a:r>
              <a:t>So it runs across a one-tile pit without falling in</a:t>
            </a:r>
          </a:p>
          <a:p>
            <a:r>
              <a:t>We shrink the hitbox by 2 pixels on each side</a:t>
            </a:r>
          </a:p>
          <a:p>
            <a:r>
              <a:t>Now the pits have to be jumped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player moves first and is corrected afterwards: back to the edge of the tile it overlaps, with the velocity on that axis set to zero.</a:t>
            </a:r>
          </a:p>
          <a:p>
            <a:r>
              <a:t>x first, then y. One axis at a time, the snap always knows which edge to use.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two tilemaps and a list of entities. The tilemap holds what is solid; the toppers are only for looks; the entities move.</a:t>
            </a:r>
          </a:p>
          <a:p>
            <a:r>
              <a:t>Ask: why are the toppers not part of Tile? Answer: they are a detail of this game, and Tile is in GARCore.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5"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Level in Layers</a:t>
            </a:r>
            <a:endParaRPr/>
          </a:p>
        </p:txBody>
      </p:sp>
      <p:pic>
        <p:nvPicPr>
          <p:cNvPr id="3" name="Picture 2" descr="layers.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p:txBody>
      </p:sp>
      <p:pic>
        <p:nvPicPr>
          <p:cNvPr id="192" name="Picture 191" descr="hitbox-inset.png"/>
          <p:cNvPicPr>
            <a:picLocks noChangeAspect="1"/>
          </p:cNvPicPr>
          <p:nvPr/>
        </p:nvPicPr>
        <p:blipFill>
          <a:blip r:embed="rId3"/>
          <a:stretch>
            <a:fillRect/>
          </a:stretch>
        </p:blipFill>
        <p:spPr>
          <a:xfrm>
            <a:off x="581890" y="1371600"/>
            <a:ext cx="7980218"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Move, Then Snap</a:t>
            </a:r>
            <a:endParaRPr/>
          </a:p>
        </p:txBody>
      </p:sp>
      <p:pic>
        <p:nvPicPr>
          <p:cNvPr id="3" name="Picture 2" descr="tile-snap.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Picture 236" descr="coyote.png"/>
          <p:cNvPicPr>
            <a:picLocks noChangeAspect="1"/>
          </p:cNvPicPr>
          <p:nvPr/>
        </p:nvPicPr>
        <p:blipFill>
          <a:blip r:embed="rId5"/>
          <a:stretch>
            <a:fillRect/>
          </a:stretch>
        </p:blipFill>
        <p:spPr>
          <a:xfrm>
            <a:off x="320039" y="1051560"/>
            <a:ext cx="8503920" cy="35433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pic>
        <p:nvPicPr>
          <p:cNvPr id="172" name="Picture 171" descr="camera.png"/>
          <p:cNvPicPr>
            <a:picLocks noChangeAspect="1"/>
          </p:cNvPicPr>
          <p:nvPr/>
        </p:nvPicPr>
        <p:blipFill>
          <a:blip r:embed="rId3"/>
          <a:stretch>
            <a:fillRect/>
          </a:stretch>
        </p:blipFill>
        <p:spPr>
          <a:xfrm>
            <a:off x="699247" y="1371600"/>
            <a:ext cx="7745505"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Which chunks may follow which?</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a:p>
            <a:pPr indent="-317500" lvl="1" marL="914400" rtl="0" algn="l">
              <a:spcBef>
                <a:spcPts val="0"/>
              </a:spcBef>
              <a:spcAft>
                <a:spcPts val="0"/>
              </a:spcAft>
              <a:buSzPts val="1400"/>
              <a:buChar char="○"/>
            </a:pPr>
            <a:r>
              <a:rPr lang="en"/>
              <a:t>Is “big” a state, like jumping? The player can be both at once</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