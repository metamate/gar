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4"/>
  </p:sldMasterIdLst>
  <p:notesMasterIdLst>
    <p:notesMasterId r:id="rId5"/>
  </p:notesMasterIdLst>
  <p:sldIdLst>
    <p:sldId id="256" r:id="rId6"/>
    <p:sldId id="297" r:id="rId56"/>
    <p:sldId id="257" r:id="rId7"/>
    <p:sldId id="258" r:id="rId8"/>
    <p:sldId id="259" r:id="rId9"/>
    <p:sldId id="260" r:id="rId10"/>
    <p:sldId id="261" r:id="rId11"/>
    <p:sldId id="262" r:id="rId12"/>
    <p:sldId id="263" r:id="rId13"/>
    <p:sldId id="304" r:id="rId63"/>
    <p:sldId id="264" r:id="rId14"/>
    <p:sldId id="265" r:id="rId15"/>
    <p:sldId id="308" r:id="rId41"/>
    <p:sldId id="266" r:id="rId16"/>
    <p:sldId id="267" r:id="rId17"/>
    <p:sldId id="303" r:id="rId62"/>
    <p:sldId id="277" r:id="rId27"/>
    <p:sldId id="278" r:id="rId28"/>
    <p:sldId id="279" r:id="rId29"/>
    <p:sldId id="280" r:id="rId30"/>
    <p:sldId id="307" r:id="rId54"/>
    <p:sldId id="281" r:id="rId31"/>
    <p:sldId id="305" r:id="rId64"/>
    <p:sldId id="282" r:id="rId32"/>
    <p:sldId id="283" r:id="rId33"/>
    <p:sldId id="284" r:id="rId34"/>
    <p:sldId id="285" r:id="rId35"/>
    <p:sldId id="292" r:id="rId43"/>
    <p:sldId id="293" r:id="rId42"/>
    <p:sldId id="286" r:id="rId36"/>
    <p:sldId id="299" r:id="rId58"/>
    <p:sldId id="306" r:id="rId60"/>
    <p:sldId id="271" r:id="rId21"/>
    <p:sldId id="302" r:id="rId61"/>
    <p:sldId id="275" r:id="rId25"/>
    <p:sldId id="276" r:id="rId26"/>
    <p:sldId id="300" r:id="rId59"/>
    <p:sldId id="287" r:id="rId37"/>
    <p:sldId id="288" r:id="rId38"/>
    <p:sldId id="273" r:id="rId23"/>
    <p:sldId id="274" r:id="rId24"/>
    <p:sldId id="289" r:id="rId39"/>
    <p:sldId id="290" r:id="rId40"/>
    <p:sldId id="298" r:id="rId57"/>
    <p:sldId id="296" r:id="rId55"/>
    <p:sldId id="294" r:id="rId53"/>
  </p:sldIdLst>
  <p:sldSz cy="5143500" cx="9144000"/>
  <p:notesSz cx="6858000" cy="9144000"/>
  <p:embeddedFontLst>
    <p:embeddedFont>
      <p:font typeface="Roboto"/>
      <p:regular r:id="rId44"/>
      <p:bold r:id="rId45"/>
      <p:italic r:id="rId46"/>
      <p:boldItalic r:id="rId47"/>
    </p:embeddedFont>
    <p:embeddedFont>
      <p:font typeface="VT323"/>
      <p:regular r:id="rId48"/>
    </p:embeddedFont>
    <p:embeddedFont>
      <p:font typeface="Roboto Light"/>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4.xml"/><Relationship Id="rId17" Type="http://schemas.openxmlformats.org/officeDocument/2006/relationships/slide" Target="slides/slide15.xml"/><Relationship Id="rId21" Type="http://schemas.openxmlformats.org/officeDocument/2006/relationships/slide" Target="slides/slide33.xml"/><Relationship Id="rId23" Type="http://schemas.openxmlformats.org/officeDocument/2006/relationships/slide" Target="slides/slide40.xml"/><Relationship Id="rId24" Type="http://schemas.openxmlformats.org/officeDocument/2006/relationships/slide" Target="slides/slide41.xml"/><Relationship Id="rId25" Type="http://schemas.openxmlformats.org/officeDocument/2006/relationships/slide" Target="slides/slide35.xml"/><Relationship Id="rId26" Type="http://schemas.openxmlformats.org/officeDocument/2006/relationships/slide" Target="slides/slide3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2.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30.xml"/><Relationship Id="rId37" Type="http://schemas.openxmlformats.org/officeDocument/2006/relationships/slide" Target="slides/slide38.xml"/><Relationship Id="rId38" Type="http://schemas.openxmlformats.org/officeDocument/2006/relationships/slide" Target="slides/slide39.xml"/><Relationship Id="rId39" Type="http://schemas.openxmlformats.org/officeDocument/2006/relationships/slide" Target="slides/slide42.xml"/><Relationship Id="rId40" Type="http://schemas.openxmlformats.org/officeDocument/2006/relationships/slide" Target="slides/slide43.xml"/><Relationship Id="rId41" Type="http://schemas.openxmlformats.org/officeDocument/2006/relationships/slide" Target="slides/slide13.xml"/><Relationship Id="rId42" Type="http://schemas.openxmlformats.org/officeDocument/2006/relationships/slide" Target="slides/slide29.xml"/><Relationship Id="rId43" Type="http://schemas.openxmlformats.org/officeDocument/2006/relationships/slide" Target="slides/slide28.xml"/><Relationship Id="rId44" Type="http://schemas.openxmlformats.org/officeDocument/2006/relationships/font" Target="fonts/Roboto-regular.fntdata"/><Relationship Id="rId45" Type="http://schemas.openxmlformats.org/officeDocument/2006/relationships/font" Target="fonts/Roboto-bold.fntdata"/><Relationship Id="rId46" Type="http://schemas.openxmlformats.org/officeDocument/2006/relationships/font" Target="fonts/Roboto-italic.fntdata"/><Relationship Id="rId47" Type="http://schemas.openxmlformats.org/officeDocument/2006/relationships/font" Target="fonts/Roboto-boldItalic.fntdata"/><Relationship Id="rId48" Type="http://schemas.openxmlformats.org/officeDocument/2006/relationships/font" Target="fonts/VT323-regular.fntdata"/><Relationship Id="rId49" Type="http://schemas.openxmlformats.org/officeDocument/2006/relationships/font" Target="fonts/RobotoLight-regular.fntdata"/><Relationship Id="rId50" Type="http://schemas.openxmlformats.org/officeDocument/2006/relationships/font" Target="fonts/RobotoLight-bold.fntdata"/><Relationship Id="rId51" Type="http://schemas.openxmlformats.org/officeDocument/2006/relationships/font" Target="fonts/RobotoLight-italic.fntdata"/><Relationship Id="rId52" Type="http://schemas.openxmlformats.org/officeDocument/2006/relationships/font" Target="fonts/RobotoLight-boldItalic.fntdata"/><Relationship Id="rId53" Type="http://schemas.openxmlformats.org/officeDocument/2006/relationships/slide" Target="slides/slide46.xml"/><Relationship Id="rId54" Type="http://schemas.openxmlformats.org/officeDocument/2006/relationships/slide" Target="slides/slide21.xml"/><Relationship Id="rId55" Type="http://schemas.openxmlformats.org/officeDocument/2006/relationships/slide" Target="slides/slide45.xml"/><Relationship Id="rId56" Type="http://schemas.openxmlformats.org/officeDocument/2006/relationships/slide" Target="slides/slide2.xml"/><Relationship Id="rId57" Type="http://schemas.openxmlformats.org/officeDocument/2006/relationships/slide" Target="slides/slide44.xml"/><Relationship Id="rId58" Type="http://schemas.openxmlformats.org/officeDocument/2006/relationships/slide" Target="slides/slide31.xml"/><Relationship Id="rId59" Type="http://schemas.openxmlformats.org/officeDocument/2006/relationships/slide" Target="slides/slide37.xml"/><Relationship Id="rId60" Type="http://schemas.openxmlformats.org/officeDocument/2006/relationships/slide" Target="slides/slide32.xml"/><Relationship Id="rId61" Type="http://schemas.openxmlformats.org/officeDocument/2006/relationships/slide" Target="slides/slide34.xml"/><Relationship Id="rId62" Type="http://schemas.openxmlformats.org/officeDocument/2006/relationships/slide" Target="slides/slide16.xml"/><Relationship Id="rId63" Type="http://schemas.openxmlformats.org/officeDocument/2006/relationships/slide" Target="slides/slide10.xml"/><Relationship Id="rId64"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7" name="Google Shape;3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Welcome. Today we build Super Mario Bros. The main topic: the game world.</a:t>
            </a:r>
          </a:p>
          <a:p>
            <a:r>
              <a:t>Start by playing the finished game, Mario8, before any code.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g3c8f6ac40ed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 name="Google Shape;43;g3c8f6ac40ed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Run Mario8 and play it for a minute.</a:t>
            </a:r>
          </a:p>
          <a:p>
            <a:r>
              <a:t>Ask: what would you need to build this? Collect answers on the board, and come back to them at the end.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3c8f6ac40ed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c8f6ac40ed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Today’s main topic is the game world, which means a tilemap, entities and a camera. We also cover platformer physics and tile collision, level makers (Strategy), player states and debug drawing.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cce57fd84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g3cce57fd84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Open gar-games/06-super-mario-bros live. Show the README: the step table, the code map, how to run a step.</a:t>
            </a:r>
          </a:p>
          <a:p>
            <a:r>
              <a:t>Say: the site explains the ideas, the README helps you find them in the code, the slides are for today.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ccda89e0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ccda89e0d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Snake’s room came from a file of tile numbers. A platformer’s levels will come from code instead.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cde4c02cc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cde4c02cc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simplest level maker: fill the bottom two rows with ground. Everything else builds on this loop.</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ccfb4281e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ccfb4281e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Snake’s tile was an int: which picture. Now a tile also knows whether it’s solid, so collision can ask the tilemap.</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ccfb4281e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ccfb4281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Tile struct: a graphic ID and IsSolid. Empty means no graphic.</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cde4c02cc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cde4c02cc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Four tilesets and three topper sets, each in one image, a row per set. R in the game picks a random combination.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cde4c02cc0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cde4c02cc0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Nine random levels from the same code. Same rules, different looks.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ccfb4281e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ccfb4281e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 family of level makers behind one base class; the game picks one. That’s the Strategy pattern, as in Pac-Man’s targeting.</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cdf1bf87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cdf1bf87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Demo: open Mario0 and Mario1 side by side (a diff tool, or two editor panes), then run Mario1.</a:t>
            </a:r>
          </a:p>
          <a:p>
            <a:r>
              <a:t>- LevelMakerBase and the five makers</a:t>
            </a:r>
          </a:p>
          <a:p>
            <a:r>
              <a:t>- keys 1 to 5 switch the maker in Mario1</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cde4c02cc0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cde4c02cc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Demo: open Mario2 and Mario3 side by side (a diff tool, or two editor panes), then run Mario3.</a:t>
            </a:r>
          </a:p>
          <a:p>
            <a:r>
              <a:t>- PlayerStates/: idle, walk, jump, fall, duck</a:t>
            </a:r>
          </a:p>
          <a:p>
            <a:r>
              <a:t>- each state decides its own transitions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ccfb4281ea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ccfb4281e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slime’s AI is the same pattern: idle, walk, and chase when the player comes close.</a:t>
            </a:r>
          </a:p>
          <a:p>
            <a:r>
              <a:t>Ask the question: the player and the slime do the same collision work. How could they share it? A base state, or something both use.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cde4c02cc0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cde4c02cc0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Demo: open Mario6 and Mario7 side by side (a diff tool, or two editor panes), then run Mario7.</a:t>
            </a:r>
          </a:p>
          <a:p>
            <a:r>
              <a:t>- SlimeStates/</a:t>
            </a:r>
          </a:p>
          <a:p>
            <a:r>
              <a:t>- AnimatedSprite.Play swaps animations</a:t>
            </a:r>
          </a:p>
          <a:p>
            <a:r>
              <a:t>- the collision code duplicated between slime and player: Zelda picks this up</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ccfb4281e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ccfb4281e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Ask the question at the bottom first: why didn’t earlier games need a camera? Their world fit on one screen.</a:t>
            </a:r>
          </a:p>
          <a:p>
            <a:r>
              <a:t>The camera shifts the whole world by one matrix, and stops at the level’s ends. Only x here.</a:t>
            </a:r>
          </a:p>
          <a:p>
            <a:r>
              <a:t>centred on the player</a:t>
            </a:r>
          </a:p>
          <a:p>
            <a:r>
              <a:t>The camera shifts the whole world by one matrix, and stops at the ends of the level.</a:t>
            </a:r>
          </a:p>
          <a:p>
            <a:r>
              <a:t>Only on x, since the level is one screen tall.</a:t>
            </a:r>
          </a:p>
          <a:p>
            <a:r>
              <a:t>Why didn’t Pong, Snake or Pac-Man need a camera?</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ccfb4281ea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ccfb4281ea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Demo: open Mario3 and Mario4 side by side (a diff tool, or two editor panes), then run Mario4.</a:t>
            </a:r>
          </a:p>
          <a:p>
            <a:r>
              <a:t>- Graphics/Camera.cs</a:t>
            </a:r>
          </a:p>
          <a:p>
            <a:r>
              <a:t>- the transform passed to SpriteBatch.Begin</a:t>
            </a:r>
          </a:p>
          <a:p>
            <a:r>
              <a:t>- walk to the end of the level: the camera stops</a:t>
            </a:r>
          </a:p>
          <a:p>
            <a:r>
              <a:t>- then run Mario5: a title state and a play state, as in Flappy Bird; no need to open the code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ccfb4281e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ccfb4281e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GameController maps keys to actions, as in Snake. Ask: is this the Command pattern? No: nothing is turned into an object you can store or undo.</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cd8a4d586b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cd8a4d586b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player is a little wider than a tile, so it can run across a one-tile pit. Shrink the hitbox by 2 pixels each side, and it falls.</a:t>
            </a:r>
          </a:p>
          <a:p>
            <a:r>
              <a:t>So it runs across a one-tile pit without falling in</a:t>
            </a:r>
          </a:p>
          <a:p>
            <a:r>
              <a:t>We shrink the hitbox by 2 pixels on each side</a:t>
            </a:r>
          </a:p>
          <a:p>
            <a:r>
              <a:t>Now the pits have to be jumped</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cd8a4d586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cd8a4d586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Two points per direction, at the hitbox’s corners (the red dots), slightly inset. Ask: why inset? So you can jump up next to a wall without catching it.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cd8a4d586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cd8a4d586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same for walls: two points on each side, inset so you don’t catch the floor or a tile just above.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cdeac4f9fd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cdeac4f9fd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Snap to the tile edge and zero the velocity in that direction. The inset appears again here.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cd8a4d586b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cd8a4d586b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On the ground if a solid tile or a solid entity is just below the hitbox. The jump state asks this.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cde4c02cc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cde4c02cc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helpers that make the rest short: tile to point, is solid at, tile edges.</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cd8a4d586b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cd8a4d586b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Let the player jump for a few frames after leaving a ledge, like the coyote running off the cliff. Feels fair; players never notice.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cd8a4d586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cd8a4d58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tiles never move, so checking a point is a lookup: O(1), however big the level.</a:t>
            </a:r>
          </a:p>
          <a:p>
            <a:r>
              <a:t>Entities move, so each needs a check; every pair would be O(n²). Vampire Survivors deals with that.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cdf6a5cc1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cdf6a5cc1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Demo: run Mario2 and press F1. Jump into a corner, walk off a ledge and jump late (coyote time), and watch the hitbox.</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ca46b0a91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ca46b0a9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Entities: anything that isn’t a tile. They move and don’t line up with the grid.</a:t>
            </a:r>
          </a:p>
          <a:p>
            <a:r>
              <a:t>Ask the question: a class for every kind of entity; where does that end? Zelda and Plants vs. Zombies answer it.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cdeac4f9fd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cdeac4f9fd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IEntity: what every entity has. The level updates and draws them all in one loop: the Update Method pattern from Pong.</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cd8a4d586b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cd8a4d586b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Exercise: a level maker built from hand-made chunks, and a moving platform.</a:t>
            </a:r>
          </a:p>
          <a:p>
            <a:r>
              <a:t>The chunks mix both earlier approaches: designed by hand, combined by code. Spelunky works this way.</a:t>
            </a:r>
          </a:p>
          <a:p>
            <a:r>
              <a:t>Ask about the platform. Answer: there is no single right place; a common one is the player remembering what it stands on, and moving with it.</a:t>
            </a:r>
          </a:p>
          <a:p>
            <a:r>
              <a:t>Full instructions are on the course site; students work from there. Walk round while they work.</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cd8a4d586b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cd8a4d586b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 power-up is an entity that changes the player. The obvious way is a flag and a timer on Player for each one. Ask: what does Player look like after five power-ups? The exercise asks for a way without piling flags onto it.</a:t>
            </a:r>
          </a:p>
          <a:p>
            <a:r>
              <a:t>The art for the power-ups is in the repo, in extras.png. The game doesn’t use it yet.</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player moves first and is corrected afterwards: back to the edge of the tile it overlaps, with the velocity on that axis set to zero.</a:t>
            </a:r>
          </a:p>
          <a:p>
            <a:r>
              <a:t>x first, then y. One axis at a time, the snap always knows which edge to use.</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Ask the question: the player falls through a corner; why? You can’t tell: the hitbox isn’t drawn.</a:t>
            </a:r>
          </a:p>
          <a:p>
            <a:r>
              <a:t>F1 draws what the game can’t show. The debugger shows one moment; debug drawing shows motion over time.</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Ask one question at a time. Pairs discuss for a minute, then take two or three answers.</a:t>
            </a:r>
          </a:p>
          <a:p>
            <a:r>
              <a:t>Expected answers (from the course site):</a:t>
            </a:r>
          </a:p>
          <a:p/>
          <a:p>
            <a:r>
              <a:t>Q: What do the player’s states share, and where does that code live?</a:t>
            </a:r>
          </a:p>
          <a:p>
            <a:r>
              <a:t>A: Every state needs gravity, tile collision and moving sideways, so they live once in PlayerStateBase. Each state overrides only what is different about it. Without the base class, every state would carry its own copy of the physics, and a fix to one would miss the others.</a:t>
            </a:r>
          </a:p>
          <a:p/>
          <a:p>
            <a:r>
              <a:t>Q: Why can tile collision be O(1) while entity collision can't?</a:t>
            </a:r>
          </a:p>
          <a:p>
            <a:r>
              <a:t>A: Tiles never move and sit in a grid, so a position maps directly to a tile index. Entities move freely, so we have to check them against each other.</a:t>
            </a:r>
          </a:p>
          <a:p/>
          <a:p>
            <a:r>
              <a:t>Q: Why keep debug drawing in the code, behind a switch, instead of deleting it once a bug is fixed?</a:t>
            </a:r>
          </a:p>
          <a:p>
            <a:r>
              <a:t>A: The next bug needs it too. Behind a switch it costs nothing when it is off, and anyone working on the game can turn it on to see what the collision code is doing.</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Red: solid tiles. Green: the player’s hitbox. Yellow: entities.</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Pac-Man already taught the State pattern; this is what the player adds.</a:t>
            </a:r>
          </a:p>
          <a:p>
            <a:r>
              <a:t>Shared physics: gravity, tile collision and moving sideways live once in PlayerStateBase; the duck state only overrides the sideways movement.</a:t>
            </a:r>
          </a:p>
          <a:p>
            <a:r>
              <a:t>Transitions from the level: IsOnGround, velocity at the top of the jump, landing. Ask: which transitions in the diagram come from input, and which from the world?</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Give the project groups five minutes with these questions.</a:t>
            </a:r>
          </a:p>
          <a:p>
            <a:r>
              <a:t>Ask two groups to share one answer each, and push them to name actual classes and files.</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original: Super Mario Bros. Ask who has played it, and what they remember of how it plays.</a:t>
            </a:r>
          </a:p>
          <a:p>
            <a:r>
              <a:t>Today we build the parts that matter for the architecture.</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Exercise: extend the debug drawing. The probe is IsOnGround in PlayerStateBase.</a:t>
            </a:r>
          </a:p>
          <a:p>
            <a:r>
              <a:t>Ask afterwards: how long does coyote time last on screen? About six frames (0.1 s).</a:t>
            </a:r>
          </a:p>
          <a:p>
            <a:r>
              <a:t>Full instructions are on the course site; students work from there. Walk round while they work.</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Pairs, about 5 minutes. Both constants are in Player. Without the inset, the player is as wide as a tile and walks over one-tile pits. Half a second of coyote time feels like jumping in mid-air.</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Pairs, about 5 minutes. parallaxFactor in DrawBackground. 0: the background never moves, like a painted sky. 1: it moves with the level, and the depth is gone.</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level is two tilemaps and a list of entities. The tilemap holds what is solid; the toppers are only for looks; the entities move.</a:t>
            </a:r>
          </a:p>
          <a:p>
            <a:r>
              <a:t>Ask: why are the toppers not part of Tile? Answer: they are a detail of this game, and Tile is in GARCore.</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Pairs, about 5 minutes. JumpImpulse in PlayerJumpState, MoveSpeed in PlayerStateBase.</a:t>
            </a:r>
          </a:p>
          <a:p>
            <a:r>
              <a:t>For the double jump, take a few answers: a count in the jump and fall states is enough; a flag on Player is what the State pattern tries to avoid.</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Pairs, about 5 minutes. pitChance in PitLevelMaker. Only that maker changes; the game still just asks a maker for a level.</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Pairs, about 5 minutes, in Mario0. GenerateLevel fills the bottom rows with solid tiles.</a:t>
            </a:r>
          </a:p>
          <a:p>
            <a:r>
              <a:t>A gap: skip two columns in the loop. Higher ground: a larger GroundHeight for some columns.</a:t>
            </a:r>
          </a:p>
          <a:p>
            <a:r>
              <a:t>Ask about R. Answer: only the graphics change; the shape is code, so the gap stays.</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Pairs, about 3 minutes, on paper.</a:t>
            </a:r>
          </a:p>
          <a:p>
            <a:r>
              <a:t>Answer: after the move the hitbox spans 42 to 58, 4 pixels into the wall. It snaps back so its right edge is at 54 (left edge 38), and the horizontal velocity becomes 0. Then the same for y, separately.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SzPts val="1600"/>
              <a:buChar char="●"/>
              <a:defRPr/>
            </a:lvl1pPr>
            <a:lvl2pPr indent="-317500" lvl="1" marL="914400">
              <a:spcBef>
                <a:spcPts val="0"/>
              </a:spcBef>
              <a:spcAft>
                <a:spcPts val="0"/>
              </a:spcAft>
              <a:buSzPts val="14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9" name="Google Shape;19;p4"/>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885950"/>
            <a:ext cx="3999900" cy="40233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886075"/>
            <a:ext cx="3999900" cy="40233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code)">
  <p:cSld name="TITLE_AND_TWO_COLUMNS_1">
    <p:spTree>
      <p:nvGrpSpPr>
        <p:cNvPr id="25" name="Shape 25"/>
        <p:cNvGrpSpPr/>
        <p:nvPr/>
      </p:nvGrpSpPr>
      <p:grpSpPr>
        <a:xfrm>
          <a:off x="0" y="0"/>
          <a:ext cx="0" cy="0"/>
          <a:chOff x="0" y="0"/>
          <a:chExt cx="0" cy="0"/>
        </a:xfrm>
      </p:grpSpPr>
      <p:sp>
        <p:nvSpPr>
          <p:cNvPr id="26" name="Google Shape;26;p6"/>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 type="body"/>
          </p:nvPr>
        </p:nvSpPr>
        <p:spPr>
          <a:xfrm>
            <a:off x="311700" y="885950"/>
            <a:ext cx="3999900" cy="40233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6"/>
          <p:cNvSpPr txBox="1"/>
          <p:nvPr>
            <p:ph idx="2" type="body"/>
          </p:nvPr>
        </p:nvSpPr>
        <p:spPr>
          <a:xfrm>
            <a:off x="4832400" y="886075"/>
            <a:ext cx="3999900" cy="4023300"/>
          </a:xfrm>
          <a:prstGeom prst="rect">
            <a:avLst/>
          </a:prstGeom>
          <a:solidFill>
            <a:schemeClr val="dk2"/>
          </a:solidFill>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6"/>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7"/>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7"/>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
        <p:nvSpPr>
          <p:cNvPr id="34" name="Google Shape;34;p8"/>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12529"/>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19561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300"/>
              <a:buFont typeface="VT323"/>
              <a:buNone/>
              <a:defRPr sz="3300">
                <a:solidFill>
                  <a:schemeClr val="accent1"/>
                </a:solidFill>
                <a:latin typeface="VT323"/>
                <a:ea typeface="VT323"/>
                <a:cs typeface="VT323"/>
                <a:sym typeface="VT323"/>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885950"/>
            <a:ext cx="8520600" cy="4023300"/>
          </a:xfrm>
          <a:prstGeom prst="rect">
            <a:avLst/>
          </a:prstGeom>
          <a:noFill/>
          <a:ln>
            <a:noFill/>
          </a:ln>
        </p:spPr>
        <p:txBody>
          <a:bodyPr anchorCtr="0" anchor="t" bIns="91425" lIns="91425" spcFirstLastPara="1" rIns="91425" wrap="square" tIns="91425">
            <a:normAutofit/>
          </a:bodyPr>
          <a:lstStyle>
            <a:lvl1pPr indent="-330200" lvl="0" marL="457200">
              <a:lnSpc>
                <a:spcPct val="115000"/>
              </a:lnSpc>
              <a:spcBef>
                <a:spcPts val="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1pPr>
            <a:lvl2pPr indent="-317500" lvl="1" marL="914400">
              <a:lnSpc>
                <a:spcPct val="115000"/>
              </a:lnSpc>
              <a:spcBef>
                <a:spcPts val="0"/>
              </a:spcBef>
              <a:spcAft>
                <a:spcPts val="0"/>
              </a:spcAft>
              <a:buClr>
                <a:srgbClr val="6C757D"/>
              </a:buClr>
              <a:buSzPts val="1400"/>
              <a:buFont typeface="Roboto Light"/>
              <a:buChar char="○"/>
              <a:defRPr>
                <a:solidFill>
                  <a:srgbClr val="6C757D"/>
                </a:solidFill>
                <a:latin typeface="Roboto Light"/>
                <a:ea typeface="Roboto Light"/>
                <a:cs typeface="Roboto Light"/>
                <a:sym typeface="Roboto Light"/>
              </a:defRPr>
            </a:lvl2pPr>
            <a:lvl3pPr indent="-304800" lvl="2" marL="13716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3pPr>
            <a:lvl4pPr indent="-304800" lvl="3" marL="18288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4pPr>
            <a:lvl5pPr indent="-304800" lvl="4" marL="22860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5pPr>
            <a:lvl6pPr indent="-304800" lvl="5" marL="27432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6pPr>
            <a:lvl7pPr indent="-304800" lvl="6" marL="32004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7pPr>
            <a:lvl8pPr indent="-304800" lvl="7" marL="36576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8pPr>
            <a:lvl9pPr indent="-304800" lvl="8" marL="41148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9pPr>
          </a:lstStyle>
          <a:p/>
        </p:txBody>
      </p:sp>
      <p:sp>
        <p:nvSpPr>
          <p:cNvPr id="8" name="Google Shape;8;p1"/>
          <p:cNvSpPr txBox="1"/>
          <p:nvPr>
            <p:ph idx="12" type="sldNum"/>
          </p:nvPr>
        </p:nvSpPr>
        <p:spPr>
          <a:xfrm>
            <a:off x="8865675" y="4835575"/>
            <a:ext cx="249900" cy="277800"/>
          </a:xfrm>
          <a:prstGeom prst="rect">
            <a:avLst/>
          </a:prstGeom>
          <a:noFill/>
          <a:ln>
            <a:noFill/>
          </a:ln>
        </p:spPr>
        <p:txBody>
          <a:bodyPr anchorCtr="0" anchor="ctr" bIns="91425" lIns="91425" spcFirstLastPara="1" rIns="91425" wrap="square" tIns="91425">
            <a:normAutofit fontScale="77500" lnSpcReduction="20000"/>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latin typeface="Roboto"/>
              <a:ea typeface="Roboto"/>
              <a:cs typeface="Roboto"/>
              <a:sym typeface="Roboto"/>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4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26.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github.com/Metamate/gar-games/tree/main/06-platformer"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4.png"/><Relationship Id="rId6"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notesSlide" Target="../notesSlides/notesSlide4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5" Type="http://schemas.openxmlformats.org/officeDocument/2006/relationships/image" Target="../media/image18.png"/><Relationship Id="rId6"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png"/><Relationship Id="rId3" Type="http://schemas.openxmlformats.org/officeDocument/2006/relationships/notesSlide" Target="../notesSlides/notesSlide3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5"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4" Type="http://schemas.openxmlformats.org/officeDocument/2006/relationships/image" Target="../media/image2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GAR</a:t>
            </a:r>
            <a:endParaRPr/>
          </a:p>
        </p:txBody>
      </p:sp>
      <p:sp>
        <p:nvSpPr>
          <p:cNvPr id="40" name="Google Shape;40;p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Session 06: Super Mario Bros</a:t>
            </a:r>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1700" y="195615"/>
            <a:ext cx="8520600" cy="572700"/>
          </a:xfrm>
        </p:spPr>
        <p:txBody>
          <a:bodyPr/>
          <a:lstStyle/>
          <a:p>
            <a:pPr indent="0" lvl="0" marL="0" rtl="0" algn="l">
              <a:spcBef>
                <a:spcPts val="0"/>
              </a:spcBef>
              <a:spcAft>
                <a:spcPts val="0"/>
              </a:spcAft>
              <a:buNone/>
            </a:pPr>
            <a:r>
              <a:rPr lang="en"/>
              <a:t>Super Mario Bros.</a:t>
            </a:r>
            <a:endParaRPr/>
          </a:p>
        </p:txBody>
      </p:sp>
      <p:pic>
        <p:nvPicPr>
          <p:cNvPr id="3" name="Picture 2" descr="super-mario-bros.png"/>
          <p:cNvPicPr>
            <a:picLocks noChangeAspect="1"/>
          </p:cNvPicPr>
          <p:nvPr/>
        </p:nvPicPr>
        <p:blipFill>
          <a:blip r:embed="rId2"/>
          <a:stretch>
            <a:fillRect/>
          </a:stretch>
        </p:blipFill>
        <p:spPr>
          <a:xfrm>
            <a:off x="2621280" y="960120"/>
            <a:ext cx="3901440" cy="3657600"/>
          </a:xfrm>
          <a:prstGeom prst="rect">
            <a:avLst/>
          </a:prstGeom>
        </p:spPr>
      </p:pic>
      <p:sp>
        <p:nvSpPr>
          <p:cNvPr id="4" name="TextBox 3"/>
          <p:cNvSpPr txBox="1"/>
          <p:nvPr/>
        </p:nvSpPr>
        <p:spPr>
          <a:xfrm>
            <a:off x="457200" y="4736592"/>
            <a:ext cx="8229600" cy="274320"/>
          </a:xfrm>
          <a:prstGeom prst="rect">
            <a:avLst/>
          </a:prstGeom>
          <a:noFill/>
        </p:spPr>
        <p:txBody>
          <a:bodyPr wrap="square">
            <a:spAutoFit/>
          </a:bodyPr>
          <a:lstStyle/>
          <a:p>
            <a:pPr algn="ctr"/>
            <a:r>
              <a:rPr sz="900" b="0" i="0">
                <a:solidFill>
                  <a:srgbClr val="9AA3AB"/>
                </a:solidFill>
              </a:rPr>
              <a:t>Super Mario Bros. (Nintendo, 1985). Screenshot © Nintendo.</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10"/>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Today’s Goal</a:t>
            </a:r>
            <a:endParaRPr/>
          </a:p>
        </p:txBody>
      </p:sp>
      <p:pic>
        <p:nvPicPr>
          <p:cNvPr id="46" name="Picture 46" descr="super-mario-bros.gif"/>
          <p:cNvPicPr>
            <a:picLocks noChangeAspect="1"/>
          </p:cNvPicPr>
          <p:nvPr/>
        </p:nvPicPr>
        <p:blipFill>
          <a:blip r:embed="rId3"/>
          <a:stretch>
            <a:fillRect/>
          </a:stretch>
        </p:blipFill>
        <p:spPr>
          <a:xfrm>
            <a:off x="2006309" y="1688925"/>
            <a:ext cx="5131388" cy="289092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Today’s Topics</a:t>
            </a:r>
            <a:endParaRPr/>
          </a:p>
        </p:txBody>
      </p:sp>
      <p:sp>
        <p:nvSpPr>
          <p:cNvPr id="52" name="Google Shape;52;p11"/>
          <p:cNvSpPr txBox="1"/>
          <p:nvPr>
            <p:ph idx="1" type="body"/>
          </p:nvPr>
        </p:nvSpPr>
        <p:spPr>
          <a:xfrm>
            <a:off x="311700" y="885950"/>
            <a:ext cx="8520600" cy="2825496"/>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b="1"/>
              <a:t>Main topic: The game world</a:t>
            </a:r>
            <a:endParaRPr/>
          </a:p>
          <a:p>
            <a:pPr indent="-330200" lvl="0" marL="457200" rtl="0" algn="l">
              <a:spcBef>
                <a:spcPts val="0"/>
              </a:spcBef>
              <a:spcAft>
                <a:spcPts val="0"/>
              </a:spcAft>
              <a:buSzPts val="1600"/>
              <a:buChar char="●"/>
            </a:pPr>
            <a:r>
              <a:rPr lang="en"/>
              <a:t>Level Makers (Strategy, again)</a:t>
            </a:r>
            <a:endParaRPr/>
          </a:p>
          <a:p>
            <a:pPr indent="-330200" lvl="0" marL="457200" rtl="0" algn="l">
              <a:spcBef>
                <a:spcPts val="0"/>
              </a:spcBef>
              <a:spcAft>
                <a:spcPts val="0"/>
              </a:spcAft>
              <a:buSzPts val="1600"/>
              <a:buChar char="●"/>
            </a:pPr>
            <a:r>
              <a:rPr lang="en"/>
              <a:t>Platformer Physics &amp; Tile Collision</a:t>
            </a:r>
            <a:endParaRPr/>
          </a:p>
          <a:p>
            <a:pPr indent="-330200" lvl="0" marL="457200" rtl="0" algn="l">
              <a:spcBef>
                <a:spcPts val="0"/>
              </a:spcBef>
              <a:spcAft>
                <a:spcPts val="0"/>
              </a:spcAft>
              <a:buSzPts val="1600"/>
              <a:buChar char="●"/>
            </a:pPr>
            <a:r>
              <a:rPr lang="en"/>
              <a:t>Debug Drawing</a:t>
            </a:r>
            <a:endParaRPr/>
          </a:p>
          <a:p>
            <a:pPr indent="-330200" lvl="0" marL="457200" rtl="0" algn="l">
              <a:spcBef>
                <a:spcPts val="0"/>
              </a:spcBef>
              <a:spcAft>
                <a:spcPts val="0"/>
              </a:spcAft>
              <a:buSzPts val="1600"/>
              <a:buChar char="●"/>
            </a:pPr>
            <a:r>
              <a:rPr lang="en"/>
              <a:t>Player States (shared physics)</a:t>
            </a:r>
            <a:endParaRPr/>
          </a:p>
          <a:p>
            <a:pPr indent="-330200" lvl="0" marL="457200" rtl="0" algn="l">
              <a:spcBef>
                <a:spcPts val="0"/>
              </a:spcBef>
              <a:spcAft>
                <a:spcPts val="0"/>
              </a:spcAft>
              <a:buSzPts val="1600"/>
              <a:buChar char="●"/>
            </a:pPr>
            <a:r>
              <a:rPr lang="en"/>
              <a:t>Camera</a:t>
            </a:r>
            <a:endParaRPr/>
          </a:p>
          <a:p>
            <a:pPr indent="-330200" lvl="0" marL="457200" rtl="0" algn="l">
              <a:spcBef>
                <a:spcPts val="0"/>
              </a:spcBef>
              <a:spcAft>
                <a:spcPts val="0"/>
              </a:spcAft>
              <a:buSzPts val="1600"/>
              <a:buChar char="●"/>
            </a:pPr>
            <a:r>
              <a:rPr lang="en"/>
              <a:t>Basic AI</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2"/>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Source Code</a:t>
            </a:r>
            <a:endParaRPr/>
          </a:p>
        </p:txBody>
      </p:sp>
      <p:sp>
        <p:nvSpPr>
          <p:cNvPr id="58" name="Google Shape;58;p12"/>
          <p:cNvSpPr txBox="1"/>
          <p:nvPr>
            <p:ph idx="1" type="body"/>
          </p:nvPr>
        </p:nvSpPr>
        <p:spPr>
          <a:xfrm>
            <a:off x="311700" y="885950"/>
            <a:ext cx="8520600" cy="1289304"/>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github.com/Metamate/gar-games, folder 06-super-mario-bros</a:t>
            </a:r>
            <a:endParaRPr/>
          </a:p>
          <a:p>
            <a:pPr indent="-330200" lvl="0" marL="457200" rtl="0" algn="l">
              <a:spcBef>
                <a:spcPts val="0"/>
              </a:spcBef>
              <a:spcAft>
                <a:spcPts val="0"/>
              </a:spcAft>
              <a:buSzPts val="1600"/>
              <a:buChar char="●"/>
            </a:pPr>
            <a:r>
              <a:rPr lang="en"/>
              <a:t>Its README: the steps (Mario0 to Mario8), where things are in the code, how to run it</a:t>
            </a:r>
            <a:endParaRPr/>
          </a:p>
          <a:p>
            <a:pPr indent="-330200" lvl="0" marL="457200" rtl="0" algn="l">
              <a:spcBef>
                <a:spcPts val="0"/>
              </a:spcBef>
              <a:spcAft>
                <a:spcPts val="0"/>
              </a:spcAft>
              <a:buSzPts val="1600"/>
              <a:buChar char="●"/>
            </a:pPr>
            <a:r>
              <a:rPr lang="en"/>
              <a:t>The course site: today’s concepts in full, the exercises, and questions to check yourself</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Level Generation</a:t>
            </a:r>
            <a:endParaRPr/>
          </a:p>
        </p:txBody>
      </p:sp>
      <p:sp>
        <p:nvSpPr>
          <p:cNvPr id="64" name="Google Shape;64;p13"/>
          <p:cNvSpPr txBox="1"/>
          <p:nvPr/>
        </p:nvSpPr>
        <p:spPr>
          <a:xfrm>
            <a:off x="6733688" y="2246150"/>
            <a:ext cx="1183800" cy="1302900"/>
          </a:xfrm>
          <a:prstGeom prst="rect">
            <a:avLst/>
          </a:prstGeom>
          <a:solidFill>
            <a:srgbClr val="1F1F1F"/>
          </a:solidFill>
          <a:ln>
            <a:noFill/>
          </a:ln>
        </p:spPr>
        <p:txBody>
          <a:bodyPr anchorCtr="0" anchor="t" bIns="91425" lIns="91425" spcFirstLastPara="1" rIns="91425" wrap="square" tIns="91425">
            <a:normAutofit/>
          </a:bodyPr>
          <a:lstStyle/>
          <a:p>
            <a:pPr indent="0" lvl="0" marL="0" rtl="0" algn="l">
              <a:lnSpc>
                <a:spcPct val="157500"/>
              </a:lnSpc>
              <a:spcBef>
                <a:spcPts val="0"/>
              </a:spcBef>
              <a:spcAft>
                <a:spcPts val="0"/>
              </a:spcAft>
              <a:buNone/>
            </a:pPr>
            <a:r>
              <a:rPr lang="en" sz="1000">
                <a:solidFill>
                  <a:srgbClr val="B5CEA8"/>
                </a:solidFill>
                <a:highlight>
                  <a:srgbClr val="1F1F1F"/>
                </a:highlight>
                <a:latin typeface="Consolas"/>
                <a:ea typeface="Consolas"/>
                <a:cs typeface="Consolas"/>
                <a:sym typeface="Consolas"/>
              </a:rPr>
              <a:t>00 01 01 01 02</a:t>
            </a:r>
            <a:endParaRPr sz="1000">
              <a:solidFill>
                <a:srgbClr val="B5CEA8"/>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B5CEA8"/>
                </a:solidFill>
                <a:highlight>
                  <a:srgbClr val="1F1F1F"/>
                </a:highlight>
                <a:latin typeface="Consolas"/>
                <a:ea typeface="Consolas"/>
                <a:cs typeface="Consolas"/>
                <a:sym typeface="Consolas"/>
              </a:rPr>
              <a:t>03 04 04 04 05</a:t>
            </a:r>
            <a:endParaRPr sz="1000">
              <a:solidFill>
                <a:srgbClr val="B5CEA8"/>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B5CEA8"/>
                </a:solidFill>
                <a:highlight>
                  <a:srgbClr val="1F1F1F"/>
                </a:highlight>
                <a:latin typeface="Consolas"/>
                <a:ea typeface="Consolas"/>
                <a:cs typeface="Consolas"/>
                <a:sym typeface="Consolas"/>
              </a:rPr>
              <a:t>03 04 04 04 05</a:t>
            </a:r>
            <a:endParaRPr sz="1000">
              <a:solidFill>
                <a:srgbClr val="B5CEA8"/>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B5CEA8"/>
                </a:solidFill>
                <a:highlight>
                  <a:srgbClr val="1F1F1F"/>
                </a:highlight>
                <a:latin typeface="Consolas"/>
                <a:ea typeface="Consolas"/>
                <a:cs typeface="Consolas"/>
                <a:sym typeface="Consolas"/>
              </a:rPr>
              <a:t>03 04 04 04 05</a:t>
            </a:r>
            <a:endParaRPr sz="1000">
              <a:solidFill>
                <a:srgbClr val="B5CEA8"/>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B5CEA8"/>
                </a:solidFill>
                <a:highlight>
                  <a:srgbClr val="1F1F1F"/>
                </a:highlight>
                <a:latin typeface="Consolas"/>
                <a:ea typeface="Consolas"/>
                <a:cs typeface="Consolas"/>
                <a:sym typeface="Consolas"/>
              </a:rPr>
              <a:t>06 07 07 07 08</a:t>
            </a:r>
            <a:endParaRPr sz="1600">
              <a:solidFill>
                <a:srgbClr val="DEE2E6"/>
              </a:solidFill>
              <a:latin typeface="Roboto Light"/>
              <a:ea typeface="Roboto Light"/>
              <a:cs typeface="Roboto Light"/>
              <a:sym typeface="Roboto Light"/>
            </a:endParaRPr>
          </a:p>
        </p:txBody>
      </p:sp>
      <p:sp>
        <p:nvSpPr>
          <p:cNvPr id="65" name="Google Shape;65;p13"/>
          <p:cNvSpPr txBox="1"/>
          <p:nvPr/>
        </p:nvSpPr>
        <p:spPr>
          <a:xfrm>
            <a:off x="572425" y="1767800"/>
            <a:ext cx="5330700" cy="2259600"/>
          </a:xfrm>
          <a:prstGeom prst="rect">
            <a:avLst/>
          </a:prstGeom>
          <a:solidFill>
            <a:srgbClr val="1F1F1F"/>
          </a:solidFill>
          <a:ln>
            <a:noFill/>
          </a:ln>
        </p:spPr>
        <p:txBody>
          <a:bodyPr anchorCtr="0" anchor="t" bIns="91425" lIns="91425" spcFirstLastPara="1" rIns="91425" wrap="square" tIns="91425">
            <a:normAutofit fontScale="85000"/>
          </a:bodyPr>
          <a:lstStyle/>
          <a:p>
            <a:pPr indent="0" lvl="0" marL="0" rtl="0" algn="l">
              <a:lnSpc>
                <a:spcPct val="157500"/>
              </a:lnSpc>
              <a:spcBef>
                <a:spcPts val="0"/>
              </a:spcBef>
              <a:spcAft>
                <a:spcPts val="0"/>
              </a:spcAft>
              <a:buNone/>
            </a:pPr>
            <a:r>
              <a:rPr lang="en" sz="900">
                <a:solidFill>
                  <a:srgbClr val="808080"/>
                </a:solidFill>
                <a:highlight>
                  <a:srgbClr val="1F1F1F"/>
                </a:highlight>
                <a:latin typeface="Consolas"/>
                <a:ea typeface="Consolas"/>
                <a:cs typeface="Consolas"/>
                <a:sym typeface="Consolas"/>
              </a:rPr>
              <a:t>&lt;</a:t>
            </a:r>
            <a:r>
              <a:rPr lang="en" sz="900">
                <a:solidFill>
                  <a:srgbClr val="569CD6"/>
                </a:solidFill>
                <a:highlight>
                  <a:srgbClr val="1F1F1F"/>
                </a:highlight>
                <a:latin typeface="Consolas"/>
                <a:ea typeface="Consolas"/>
                <a:cs typeface="Consolas"/>
                <a:sym typeface="Consolas"/>
              </a:rPr>
              <a:t>Tilemap</a:t>
            </a:r>
            <a:r>
              <a:rPr lang="en" sz="900">
                <a:solidFill>
                  <a:srgbClr val="808080"/>
                </a:solidFill>
                <a:highlight>
                  <a:srgbClr val="1F1F1F"/>
                </a:highlight>
                <a:latin typeface="Consolas"/>
                <a:ea typeface="Consolas"/>
                <a:cs typeface="Consolas"/>
                <a:sym typeface="Consolas"/>
              </a:rPr>
              <a:t>&gt;</a:t>
            </a:r>
            <a:endParaRPr sz="1000">
              <a:solidFill>
                <a:srgbClr val="808080"/>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900">
                <a:solidFill>
                  <a:srgbClr val="CCCCCC"/>
                </a:solidFill>
                <a:highlight>
                  <a:srgbClr val="1F1F1F"/>
                </a:highlight>
                <a:latin typeface="Consolas"/>
                <a:ea typeface="Consolas"/>
                <a:cs typeface="Consolas"/>
                <a:sym typeface="Consolas"/>
              </a:rPr>
              <a:t>    &lt;Tileset region="0 16 24 24" tileWidth="8" tileHeight="8"&gt;images/atlas&lt;/Tileset&gt;</a:t>
            </a:r>
            <a:endParaRPr sz="1000">
              <a:solidFill>
                <a:srgbClr val="808080"/>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900">
                <a:solidFill>
                  <a:srgbClr val="CCCCCC"/>
                </a:solidFill>
                <a:highlight>
                  <a:srgbClr val="1F1F1F"/>
                </a:highlight>
                <a:latin typeface="Consolas"/>
                <a:ea typeface="Consolas"/>
                <a:cs typeface="Consolas"/>
                <a:sym typeface="Consolas"/>
              </a:rPr>
              <a:t>    </a:t>
            </a:r>
            <a:r>
              <a:rPr lang="en" sz="900">
                <a:solidFill>
                  <a:srgbClr val="808080"/>
                </a:solidFill>
                <a:highlight>
                  <a:srgbClr val="1F1F1F"/>
                </a:highlight>
                <a:latin typeface="Consolas"/>
                <a:ea typeface="Consolas"/>
                <a:cs typeface="Consolas"/>
                <a:sym typeface="Consolas"/>
              </a:rPr>
              <a:t>&lt;</a:t>
            </a:r>
            <a:r>
              <a:rPr lang="en" sz="900">
                <a:solidFill>
                  <a:srgbClr val="569CD6"/>
                </a:solidFill>
                <a:highlight>
                  <a:srgbClr val="1F1F1F"/>
                </a:highlight>
                <a:latin typeface="Consolas"/>
                <a:ea typeface="Consolas"/>
                <a:cs typeface="Consolas"/>
                <a:sym typeface="Consolas"/>
              </a:rPr>
              <a:t>Tiles</a:t>
            </a:r>
            <a:r>
              <a:rPr lang="en" sz="900">
                <a:solidFill>
                  <a:srgbClr val="808080"/>
                </a:solidFill>
                <a:highlight>
                  <a:srgbClr val="1F1F1F"/>
                </a:highlight>
                <a:latin typeface="Consolas"/>
                <a:ea typeface="Consolas"/>
                <a:cs typeface="Consolas"/>
                <a:sym typeface="Consolas"/>
              </a:rPr>
              <a:t>&gt;</a:t>
            </a:r>
            <a:endParaRPr sz="1000">
              <a:solidFill>
                <a:srgbClr val="808080"/>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900">
                <a:solidFill>
                  <a:srgbClr val="CCCCCC"/>
                </a:solidFill>
                <a:highlight>
                  <a:srgbClr val="1F1F1F"/>
                </a:highlight>
                <a:latin typeface="Consolas"/>
                <a:ea typeface="Consolas"/>
                <a:cs typeface="Consolas"/>
                <a:sym typeface="Consolas"/>
              </a:rPr>
              <a:t>        00 01 01 01 02</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900">
                <a:solidFill>
                  <a:srgbClr val="CCCCCC"/>
                </a:solidFill>
                <a:highlight>
                  <a:srgbClr val="1F1F1F"/>
                </a:highlight>
                <a:latin typeface="Consolas"/>
                <a:ea typeface="Consolas"/>
                <a:cs typeface="Consolas"/>
                <a:sym typeface="Consolas"/>
              </a:rPr>
              <a:t>        03 04 04 04 05</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900">
                <a:solidFill>
                  <a:srgbClr val="CCCCCC"/>
                </a:solidFill>
                <a:highlight>
                  <a:srgbClr val="1F1F1F"/>
                </a:highlight>
                <a:latin typeface="Consolas"/>
                <a:ea typeface="Consolas"/>
                <a:cs typeface="Consolas"/>
                <a:sym typeface="Consolas"/>
              </a:rPr>
              <a:t>        03 04 04 04 05</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900">
                <a:solidFill>
                  <a:srgbClr val="CCCCCC"/>
                </a:solidFill>
                <a:highlight>
                  <a:srgbClr val="1F1F1F"/>
                </a:highlight>
                <a:latin typeface="Consolas"/>
                <a:ea typeface="Consolas"/>
                <a:cs typeface="Consolas"/>
                <a:sym typeface="Consolas"/>
              </a:rPr>
              <a:t>        03 04 04 04 05</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900">
                <a:solidFill>
                  <a:srgbClr val="CCCCCC"/>
                </a:solidFill>
                <a:highlight>
                  <a:srgbClr val="1F1F1F"/>
                </a:highlight>
                <a:latin typeface="Consolas"/>
                <a:ea typeface="Consolas"/>
                <a:cs typeface="Consolas"/>
                <a:sym typeface="Consolas"/>
              </a:rPr>
              <a:t>        06 07 07 07 08</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900">
                <a:solidFill>
                  <a:srgbClr val="CCCCCC"/>
                </a:solidFill>
                <a:highlight>
                  <a:srgbClr val="1F1F1F"/>
                </a:highlight>
                <a:latin typeface="Consolas"/>
                <a:ea typeface="Consolas"/>
                <a:cs typeface="Consolas"/>
                <a:sym typeface="Consolas"/>
              </a:rPr>
              <a:t>    </a:t>
            </a:r>
            <a:r>
              <a:rPr lang="en" sz="900">
                <a:solidFill>
                  <a:srgbClr val="808080"/>
                </a:solidFill>
                <a:highlight>
                  <a:srgbClr val="1F1F1F"/>
                </a:highlight>
                <a:latin typeface="Consolas"/>
                <a:ea typeface="Consolas"/>
                <a:cs typeface="Consolas"/>
                <a:sym typeface="Consolas"/>
              </a:rPr>
              <a:t>&lt;/</a:t>
            </a:r>
            <a:r>
              <a:rPr lang="en" sz="900">
                <a:solidFill>
                  <a:srgbClr val="569CD6"/>
                </a:solidFill>
                <a:highlight>
                  <a:srgbClr val="1F1F1F"/>
                </a:highlight>
                <a:latin typeface="Consolas"/>
                <a:ea typeface="Consolas"/>
                <a:cs typeface="Consolas"/>
                <a:sym typeface="Consolas"/>
              </a:rPr>
              <a:t>Tiles</a:t>
            </a:r>
            <a:r>
              <a:rPr lang="en" sz="900">
                <a:solidFill>
                  <a:srgbClr val="808080"/>
                </a:solidFill>
                <a:highlight>
                  <a:srgbClr val="1F1F1F"/>
                </a:highlight>
                <a:latin typeface="Consolas"/>
                <a:ea typeface="Consolas"/>
                <a:cs typeface="Consolas"/>
                <a:sym typeface="Consolas"/>
              </a:rPr>
              <a:t>&gt;</a:t>
            </a:r>
            <a:endParaRPr sz="1000">
              <a:solidFill>
                <a:srgbClr val="808080"/>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900">
                <a:solidFill>
                  <a:srgbClr val="808080"/>
                </a:solidFill>
                <a:highlight>
                  <a:srgbClr val="1F1F1F"/>
                </a:highlight>
                <a:latin typeface="Consolas"/>
                <a:ea typeface="Consolas"/>
                <a:cs typeface="Consolas"/>
                <a:sym typeface="Consolas"/>
              </a:rPr>
              <a:t>&lt;/</a:t>
            </a:r>
            <a:r>
              <a:rPr lang="en" sz="900">
                <a:solidFill>
                  <a:srgbClr val="569CD6"/>
                </a:solidFill>
                <a:highlight>
                  <a:srgbClr val="1F1F1F"/>
                </a:highlight>
                <a:latin typeface="Consolas"/>
                <a:ea typeface="Consolas"/>
                <a:cs typeface="Consolas"/>
                <a:sym typeface="Consolas"/>
              </a:rPr>
              <a:t>Tilemap</a:t>
            </a:r>
            <a:r>
              <a:rPr lang="en" sz="900">
                <a:solidFill>
                  <a:srgbClr val="808080"/>
                </a:solidFill>
                <a:highlight>
                  <a:srgbClr val="1F1F1F"/>
                </a:highlight>
                <a:latin typeface="Consolas"/>
                <a:ea typeface="Consolas"/>
                <a:cs typeface="Consolas"/>
                <a:sym typeface="Consolas"/>
              </a:rPr>
              <a:t>&gt;</a:t>
            </a:r>
            <a:endParaRPr sz="1000">
              <a:solidFill>
                <a:srgbClr val="B5CEA8"/>
              </a:solidFill>
              <a:highlight>
                <a:srgbClr val="1F1F1F"/>
              </a:highlight>
              <a:latin typeface="Consolas"/>
              <a:ea typeface="Consolas"/>
              <a:cs typeface="Consolas"/>
              <a:sym typeface="Consolas"/>
            </a:endParaRPr>
          </a:p>
        </p:txBody>
      </p:sp>
      <p:cxnSp>
        <p:nvCxnSpPr>
          <p:cNvPr id="66" name="Google Shape;66;p13"/>
          <p:cNvCxnSpPr>
            <a:stCxn id="65" idx="3"/>
            <a:endCxn id="64" idx="1"/>
          </p:cNvCxnSpPr>
          <p:nvPr/>
        </p:nvCxnSpPr>
        <p:spPr>
          <a:xfrm>
            <a:off x="5903125" y="2897600"/>
            <a:ext cx="830700" cy="0"/>
          </a:xfrm>
          <a:prstGeom prst="straightConnector1">
            <a:avLst/>
          </a:prstGeom>
          <a:noFill/>
          <a:ln cap="flat" cmpd="sng" w="9525">
            <a:solidFill>
              <a:schemeClr val="accent6"/>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4"/>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Procedural Level Generation</a:t>
            </a:r>
            <a:endParaRPr/>
          </a:p>
        </p:txBody>
      </p:sp>
      <p:sp>
        <p:nvSpPr>
          <p:cNvPr id="72" name="Google Shape;72;p14"/>
          <p:cNvSpPr txBox="1"/>
          <p:nvPr/>
        </p:nvSpPr>
        <p:spPr>
          <a:xfrm>
            <a:off x="7124788" y="2246150"/>
            <a:ext cx="1183800" cy="1302900"/>
          </a:xfrm>
          <a:prstGeom prst="rect">
            <a:avLst/>
          </a:prstGeom>
          <a:solidFill>
            <a:srgbClr val="1F1F1F"/>
          </a:solidFill>
          <a:ln>
            <a:noFill/>
          </a:ln>
        </p:spPr>
        <p:txBody>
          <a:bodyPr anchorCtr="0" anchor="t" bIns="91425" lIns="91425" spcFirstLastPara="1" rIns="91425" wrap="square" tIns="91425">
            <a:normAutofit/>
          </a:bodyPr>
          <a:lstStyle/>
          <a:p>
            <a:pPr indent="0" lvl="0" marL="0" rtl="0" algn="l">
              <a:lnSpc>
                <a:spcPct val="157500"/>
              </a:lnSpc>
              <a:spcBef>
                <a:spcPts val="0"/>
              </a:spcBef>
              <a:spcAft>
                <a:spcPts val="0"/>
              </a:spcAft>
              <a:buNone/>
            </a:pPr>
            <a:r>
              <a:rPr lang="en" sz="1000">
                <a:solidFill>
                  <a:srgbClr val="B5CEA8"/>
                </a:solidFill>
                <a:highlight>
                  <a:srgbClr val="1F1F1F"/>
                </a:highlight>
                <a:latin typeface="Consolas"/>
                <a:ea typeface="Consolas"/>
                <a:cs typeface="Consolas"/>
                <a:sym typeface="Consolas"/>
              </a:rPr>
              <a:t>00</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00</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00</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00</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00</a:t>
            </a:r>
            <a:endParaRPr sz="1000">
              <a:solidFill>
                <a:srgbClr val="B5CEA8"/>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B5CEA8"/>
                </a:solidFill>
                <a:highlight>
                  <a:srgbClr val="1F1F1F"/>
                </a:highlight>
                <a:latin typeface="Consolas"/>
                <a:ea typeface="Consolas"/>
                <a:cs typeface="Consolas"/>
                <a:sym typeface="Consolas"/>
              </a:rPr>
              <a:t>00</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00</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00</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00</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00</a:t>
            </a:r>
            <a:endParaRPr sz="1000">
              <a:solidFill>
                <a:srgbClr val="B5CEA8"/>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B5CEA8"/>
                </a:solidFill>
                <a:highlight>
                  <a:srgbClr val="1F1F1F"/>
                </a:highlight>
                <a:latin typeface="Consolas"/>
                <a:ea typeface="Consolas"/>
                <a:cs typeface="Consolas"/>
                <a:sym typeface="Consolas"/>
              </a:rPr>
              <a:t>00</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00</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00</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00</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00</a:t>
            </a:r>
            <a:endParaRPr sz="1000">
              <a:solidFill>
                <a:srgbClr val="B5CEA8"/>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B5CEA8"/>
                </a:solidFill>
                <a:highlight>
                  <a:srgbClr val="1F1F1F"/>
                </a:highlight>
                <a:latin typeface="Consolas"/>
                <a:ea typeface="Consolas"/>
                <a:cs typeface="Consolas"/>
                <a:sym typeface="Consolas"/>
              </a:rPr>
              <a:t>01</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01</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01</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01</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01</a:t>
            </a:r>
            <a:endParaRPr sz="1000">
              <a:solidFill>
                <a:srgbClr val="B5CEA8"/>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B5CEA8"/>
                </a:solidFill>
                <a:highlight>
                  <a:srgbClr val="1F1F1F"/>
                </a:highlight>
                <a:latin typeface="Consolas"/>
                <a:ea typeface="Consolas"/>
                <a:cs typeface="Consolas"/>
                <a:sym typeface="Consolas"/>
              </a:rPr>
              <a:t>01</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01</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01</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01</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01</a:t>
            </a:r>
            <a:endParaRPr sz="1600">
              <a:solidFill>
                <a:srgbClr val="DEE2E6"/>
              </a:solidFill>
              <a:latin typeface="Roboto Light"/>
              <a:ea typeface="Roboto Light"/>
              <a:cs typeface="Roboto Light"/>
              <a:sym typeface="Roboto Light"/>
            </a:endParaRPr>
          </a:p>
        </p:txBody>
      </p:sp>
      <p:sp>
        <p:nvSpPr>
          <p:cNvPr id="73" name="Google Shape;73;p14"/>
          <p:cNvSpPr txBox="1"/>
          <p:nvPr/>
        </p:nvSpPr>
        <p:spPr>
          <a:xfrm>
            <a:off x="572425" y="1102375"/>
            <a:ext cx="5330700" cy="3570600"/>
          </a:xfrm>
          <a:prstGeom prst="rect">
            <a:avLst/>
          </a:prstGeom>
          <a:solidFill>
            <a:srgbClr val="1F1F1F"/>
          </a:solidFill>
          <a:ln>
            <a:noFill/>
          </a:ln>
        </p:spPr>
        <p:txBody>
          <a:bodyPr anchorCtr="0" anchor="t" bIns="91425" lIns="91425" spcFirstLastPara="1" rIns="91425" wrap="square" tIns="91425">
            <a:normAutofit fontScale="92500" lnSpcReduction="20000"/>
          </a:bodyPr>
          <a:lstStyle/>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public</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Tilemap</a:t>
            </a:r>
            <a:r>
              <a:rPr lang="en" sz="1000">
                <a:solidFill>
                  <a:srgbClr val="CCCCCC"/>
                </a:solidFill>
                <a:highlight>
                  <a:srgbClr val="1F1F1F"/>
                </a:highlight>
                <a:latin typeface="Consolas"/>
                <a:ea typeface="Consolas"/>
                <a:cs typeface="Consolas"/>
                <a:sym typeface="Consolas"/>
              </a:rPr>
              <a:t> </a:t>
            </a:r>
            <a:r>
              <a:rPr lang="en" sz="1000">
                <a:solidFill>
                  <a:srgbClr val="DCDCAA"/>
                </a:solidFill>
                <a:highlight>
                  <a:srgbClr val="1F1F1F"/>
                </a:highlight>
                <a:latin typeface="Consolas"/>
                <a:ea typeface="Consolas"/>
                <a:cs typeface="Consolas"/>
                <a:sym typeface="Consolas"/>
              </a:rPr>
              <a:t>Generate</a:t>
            </a:r>
            <a:r>
              <a:rPr lang="en" sz="1000">
                <a:solidFill>
                  <a:srgbClr val="CCCCCC"/>
                </a:solidFill>
                <a:highlight>
                  <a:srgbClr val="1F1F1F"/>
                </a:highlight>
                <a:latin typeface="Consolas"/>
                <a:ea typeface="Consolas"/>
                <a:cs typeface="Consolas"/>
                <a:sym typeface="Consolas"/>
              </a:rPr>
              <a:t>(</a:t>
            </a:r>
            <a:r>
              <a:rPr lang="en" sz="1000">
                <a:solidFill>
                  <a:srgbClr val="569CD6"/>
                </a:solidFill>
                <a:highlight>
                  <a:srgbClr val="1F1F1F"/>
                </a:highlight>
                <a:latin typeface="Consolas"/>
                <a:ea typeface="Consolas"/>
                <a:cs typeface="Consolas"/>
                <a:sym typeface="Consolas"/>
              </a:rPr>
              <a:t>int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columns</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int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rows</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tilemap</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new</a:t>
            </a:r>
            <a:r>
              <a:rPr lang="en" sz="1000">
                <a:solidFill>
                  <a:srgbClr val="CCCCCC"/>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Tileset</a:t>
            </a:r>
            <a:r>
              <a:rPr lang="en" sz="1000">
                <a:solidFill>
                  <a:srgbClr val="CCCCCC"/>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columns</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rows</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int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groundHeight</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2</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C586C0"/>
                </a:solidFill>
                <a:highlight>
                  <a:srgbClr val="1F1F1F"/>
                </a:highlight>
                <a:latin typeface="Consolas"/>
                <a:ea typeface="Consolas"/>
                <a:cs typeface="Consolas"/>
                <a:sym typeface="Consolas"/>
              </a:rPr>
              <a:t>for</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int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x</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x</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&lt;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columns</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x</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C586C0"/>
                </a:solidFill>
                <a:highlight>
                  <a:srgbClr val="1F1F1F"/>
                </a:highlight>
                <a:latin typeface="Consolas"/>
                <a:ea typeface="Consolas"/>
                <a:cs typeface="Consolas"/>
                <a:sym typeface="Consolas"/>
              </a:rPr>
              <a:t>for</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int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y</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y</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&lt;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Tilemap</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Rows</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y</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C586C0"/>
                </a:solidFill>
                <a:highlight>
                  <a:srgbClr val="1F1F1F"/>
                </a:highlight>
                <a:latin typeface="Consolas"/>
                <a:ea typeface="Consolas"/>
                <a:cs typeface="Consolas"/>
                <a:sym typeface="Consolas"/>
              </a:rPr>
              <a:t>if</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y</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&gt;=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Tilemap</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Rows</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groundHeight</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Tilemap</a:t>
            </a:r>
            <a:r>
              <a:rPr lang="en" sz="1000">
                <a:solidFill>
                  <a:srgbClr val="D4D4D4"/>
                </a:solidFill>
                <a:highlight>
                  <a:srgbClr val="1F1F1F"/>
                </a:highlight>
                <a:latin typeface="Consolas"/>
                <a:ea typeface="Consolas"/>
                <a:cs typeface="Consolas"/>
                <a:sym typeface="Consolas"/>
              </a:rPr>
              <a:t>.</a:t>
            </a:r>
            <a:r>
              <a:rPr lang="en" sz="1000">
                <a:solidFill>
                  <a:srgbClr val="DCDCAA"/>
                </a:solidFill>
                <a:highlight>
                  <a:srgbClr val="1F1F1F"/>
                </a:highlight>
                <a:latin typeface="Consolas"/>
                <a:ea typeface="Consolas"/>
                <a:cs typeface="Consolas"/>
                <a:sym typeface="Consolas"/>
              </a:rPr>
              <a:t>SetTile</a:t>
            </a:r>
            <a:r>
              <a:rPr lang="en" sz="1000">
                <a:solidFill>
                  <a:srgbClr val="CCCCCC"/>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x</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y</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1</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C586C0"/>
                </a:solidFill>
                <a:highlight>
                  <a:srgbClr val="1F1F1F"/>
                </a:highlight>
                <a:latin typeface="Consolas"/>
                <a:ea typeface="Consolas"/>
                <a:cs typeface="Consolas"/>
                <a:sym typeface="Consolas"/>
              </a:rPr>
              <a:t>return</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tilemap</a:t>
            </a:r>
            <a:r>
              <a:rPr lang="en" sz="1000">
                <a:solidFill>
                  <a:srgbClr val="CCCCCC"/>
                </a:solidFill>
                <a:highlight>
                  <a:srgbClr val="1F1F1F"/>
                </a:highlight>
                <a:latin typeface="Consolas"/>
                <a:ea typeface="Consolas"/>
                <a:cs typeface="Consolas"/>
                <a:sym typeface="Consolas"/>
              </a:rPr>
              <a:t>;</a:t>
            </a:r>
            <a:endParaRPr sz="1000">
              <a:solidFill>
                <a:srgbClr val="C586C0"/>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a:t>
            </a:r>
            <a:endParaRPr sz="1000">
              <a:solidFill>
                <a:srgbClr val="B5CEA8"/>
              </a:solidFill>
              <a:highlight>
                <a:srgbClr val="1F1F1F"/>
              </a:highlight>
              <a:latin typeface="Consolas"/>
              <a:ea typeface="Consolas"/>
              <a:cs typeface="Consolas"/>
              <a:sym typeface="Consolas"/>
            </a:endParaRPr>
          </a:p>
        </p:txBody>
      </p:sp>
      <p:cxnSp>
        <p:nvCxnSpPr>
          <p:cNvPr id="74" name="Google Shape;74;p14"/>
          <p:cNvCxnSpPr>
            <a:stCxn id="73" idx="3"/>
            <a:endCxn id="72" idx="1"/>
          </p:cNvCxnSpPr>
          <p:nvPr/>
        </p:nvCxnSpPr>
        <p:spPr>
          <a:xfrm>
            <a:off x="5903125" y="2887675"/>
            <a:ext cx="1221600" cy="9900"/>
          </a:xfrm>
          <a:prstGeom prst="straightConnector1">
            <a:avLst/>
          </a:prstGeom>
          <a:noFill/>
          <a:ln cap="flat" cmpd="sng" w="9525">
            <a:solidFill>
              <a:schemeClr val="accent6"/>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Tilemap Update</a:t>
            </a:r>
            <a:endParaRPr/>
          </a:p>
        </p:txBody>
      </p:sp>
      <p:sp>
        <p:nvSpPr>
          <p:cNvPr id="80" name="Google Shape;80;p15"/>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A tile now knows more than its picture.</a:t>
            </a:r>
            <a:endParaRPr/>
          </a:p>
        </p:txBody>
      </p:sp>
      <p:sp>
        <p:nvSpPr>
          <p:cNvPr id="81" name="Rounded Rectangle 80"/>
          <p:cNvSpPr/>
          <p:nvPr/>
        </p:nvSpPr>
        <p:spPr>
          <a:xfrm>
            <a:off x="731520" y="1463040"/>
            <a:ext cx="3108960" cy="100584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700" b="1">
                <a:solidFill>
                  <a:srgbClr val="DEE2E6"/>
                </a:solidFill>
              </a:rPr>
              <a:t>Snake: an int</a:t>
            </a:r>
          </a:p>
          <a:p>
            <a:pPr algn="ctr"/>
            <a:r>
              <a:rPr sz="1500" b="0">
                <a:solidFill>
                  <a:srgbClr val="9AA3AB"/>
                </a:solidFill>
              </a:rPr>
              <a:t>which picture to draw</a:t>
            </a:r>
          </a:p>
        </p:txBody>
      </p:sp>
      <p:cxnSp>
        <p:nvCxnSpPr>
          <p:cNvPr id="82" name="Connector 81"/>
          <p:cNvCxnSpPr/>
          <p:nvPr/>
        </p:nvCxnSpPr>
        <p:spPr>
          <a:xfrm>
            <a:off x="3931920" y="1965960"/>
            <a:ext cx="822960" cy="0"/>
          </a:xfrm>
          <a:prstGeom prst="line">
            <a:avLst/>
          </a:prstGeom>
          <a:ln w="25400">
            <a:solidFill>
              <a:srgbClr val="D45D35"/>
            </a:solidFill>
            <a:tailEnd type="triangle"/>
          </a:ln>
        </p:spPr>
        <p:style>
          <a:lnRef idx="2">
            <a:schemeClr val="accent1"/>
          </a:lnRef>
          <a:fillRef idx="0">
            <a:schemeClr val="accent1"/>
          </a:fillRef>
          <a:effectRef idx="1">
            <a:schemeClr val="accent1"/>
          </a:effectRef>
          <a:fontRef idx="minor">
            <a:schemeClr val="tx1"/>
          </a:fontRef>
        </p:style>
      </p:cxnSp>
      <p:sp>
        <p:nvSpPr>
          <p:cNvPr id="83" name="Rounded Rectangle 82"/>
          <p:cNvSpPr/>
          <p:nvPr/>
        </p:nvSpPr>
        <p:spPr>
          <a:xfrm>
            <a:off x="4846320" y="1463040"/>
            <a:ext cx="3566160" cy="1005840"/>
          </a:xfrm>
          <a:prstGeom prst="roundRect">
            <a:avLst>
              <a:gd name="adj" fmla="val 12000"/>
            </a:avLst>
          </a:prstGeom>
          <a:solidFill>
            <a:srgbClr val="2E3338"/>
          </a:solidFill>
          <a:ln w="25400">
            <a:solidFill>
              <a:srgbClr val="D45D3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700" b="1">
                <a:solidFill>
                  <a:srgbClr val="DEE2E6"/>
                </a:solidFill>
              </a:rPr>
              <a:t>Platformer: a Tile</a:t>
            </a:r>
          </a:p>
          <a:p>
            <a:pPr algn="ctr"/>
            <a:r>
              <a:rPr sz="1500" b="0">
                <a:solidFill>
                  <a:srgbClr val="9AA3AB"/>
                </a:solidFill>
              </a:rPr>
              <a:t>GraphicId · IsSolid</a:t>
            </a:r>
          </a:p>
        </p:txBody>
      </p:sp>
      <p:sp>
        <p:nvSpPr>
          <p:cNvPr id="84" name="TextBox 83"/>
          <p:cNvSpPr txBox="1"/>
          <p:nvPr/>
        </p:nvSpPr>
        <p:spPr>
          <a:xfrm>
            <a:off x="731520" y="2743200"/>
            <a:ext cx="7680960" cy="822960"/>
          </a:xfrm>
          <a:prstGeom prst="rect">
            <a:avLst/>
          </a:prstGeom>
          <a:noFill/>
        </p:spPr>
        <p:txBody>
          <a:bodyPr wrap="square">
            <a:spAutoFit/>
          </a:bodyPr>
          <a:lstStyle/>
          <a:p>
            <a:pPr algn="ctr"/>
            <a:r>
              <a:rPr sz="1500" b="0" i="0">
                <a:solidFill>
                  <a:srgbClr val="9AA3AB"/>
                </a:solidFill>
              </a:rPr>
              <a:t>Collision asks the tilemap: is there something solid at (x, y)?</a:t>
            </a:r>
          </a:p>
          <a:p>
            <a:pPr algn="ctr"/>
            <a:r>
              <a:rPr sz="1500" b="0" i="0">
                <a:solidFill>
                  <a:srgbClr val="9AA3AB"/>
                </a:solidFill>
              </a:rPr>
              <a:t>The grass toppers are a second tilemap, drawn on top.</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Tile</a:t>
            </a:r>
            <a:endParaRPr/>
          </a:p>
        </p:txBody>
      </p:sp>
      <p:sp>
        <p:nvSpPr>
          <p:cNvPr id="86" name="Google Shape;86;p16"/>
          <p:cNvSpPr txBox="1"/>
          <p:nvPr>
            <p:ph idx="1" type="body"/>
          </p:nvPr>
        </p:nvSpPr>
        <p:spPr>
          <a:xfrm>
            <a:off x="311700" y="885950"/>
            <a:ext cx="8520600" cy="3473400"/>
          </a:xfrm>
          <a:prstGeom prst="rect">
            <a:avLst/>
          </a:prstGeom>
          <a:solidFill>
            <a:schemeClr val="dk2"/>
          </a:solidFill>
        </p:spPr>
        <p:txBody>
          <a:bodyPr anchorCtr="0" anchor="t" bIns="91425" lIns="91425" spcFirstLastPara="1" rIns="91425" wrap="square" tIns="91425">
            <a:normAutofit/>
          </a:bodyPr>
          <a:lstStyle/>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public readonly struct Tile(int graphicId = -1, bool isSolid = false)</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    public static readonly Tile Empty = new();</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    public int GraphicId { get; init; } = graphicId;</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    public bool IsSolid { get; init; } = isSolid;</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    public bool IsEmpty =&gt; GraphicId &lt; 0;</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p:txBody>
      </p:sp>
      <p:sp>
        <p:nvSpPr>
          <p:cNvPr id="87" name="Google Shape;87;p16"/>
          <p:cNvSpPr/>
          <p:nvPr/>
        </p:nvSpPr>
        <p:spPr>
          <a:xfrm>
            <a:off x="627425" y="1887850"/>
            <a:ext cx="3459000" cy="560363"/>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a:t/>
            </a:r>
            <a:endParaRPr>
              <a:latin typeface="Roboto Light"/>
              <a:ea typeface="Roboto Light"/>
              <a:cs typeface="Roboto Light"/>
              <a:sym typeface="Robo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Try It: A Level in Code</a:t>
            </a:r>
            <a:endParaRPr/>
          </a:p>
        </p:txBody>
      </p:sp>
      <p:sp>
        <p:nvSpPr>
          <p:cNvPr id="3" name="Text Placeholder 2"/>
          <p:cNvSpPr>
            <a:spLocks noGrp="1"/>
          </p:cNvSpPr>
          <p:nvPr>
            <p:ph type="body" idx="1"/>
          </p:nvPr>
        </p:nvSpPr>
        <p:spPr>
          <a:xfrm>
            <a:off x="311700" y="885950"/>
            <a:ext cx="8520600" cy="1673352"/>
          </a:xfrm>
        </p:spPr>
        <p:txBody>
          <a:bodyPr/>
          <a:lstStyle/>
          <a:p>
            <a:pPr indent="-330200" lvl="0" marL="457200" rtl="0" algn="l">
              <a:spcBef>
                <a:spcPts val="0"/>
              </a:spcBef>
              <a:spcAft>
                <a:spcPts val="0"/>
              </a:spcAft>
              <a:buSzPts val="1600"/>
              <a:buChar char="●"/>
            </a:pPr>
            <a:r>
              <a:rPr lang="en"/>
              <a:t>In Mario0’s GenerateLevel:</a:t>
            </a:r>
            <a:endParaRPr/>
          </a:p>
          <a:p>
            <a:pPr indent="-330200" lvl="0" marL="457200" rtl="0" algn="l">
              <a:spcBef>
                <a:spcPts val="0"/>
              </a:spcBef>
              <a:spcAft>
                <a:spcPts val="0"/>
              </a:spcAft>
              <a:buSzPts val="1600"/>
              <a:buChar char="●"/>
            </a:pPr>
            <a:r>
              <a:rPr lang="en"/>
              <a:t>Leave a gap two tiles wide in the ground</a:t>
            </a:r>
            <a:endParaRPr/>
          </a:p>
          <a:p>
            <a:pPr indent="-330200" lvl="0" marL="457200" rtl="0" algn="l">
              <a:spcBef>
                <a:spcPts val="0"/>
              </a:spcBef>
              <a:spcAft>
                <a:spcPts val="0"/>
              </a:spcAft>
              <a:buSzPts val="1600"/>
              <a:buChar char="●"/>
            </a:pPr>
            <a:r>
              <a:rPr lang="en"/>
              <a:t>Raise the ground by two tiles in the middle</a:t>
            </a:r>
            <a:endParaRPr/>
          </a:p>
          <a:p>
            <a:pPr indent="-330200" lvl="0" marL="457200" rtl="0" algn="l">
              <a:spcBef>
                <a:spcPts val="0"/>
              </a:spcBef>
              <a:spcAft>
                <a:spcPts val="0"/>
              </a:spcAft>
              <a:buSzPts val="1600"/>
              <a:buChar char="●"/>
            </a:pPr>
            <a:r>
              <a:rPr lang="en"/>
              <a:t>Press R: what changes, and what doesn’t?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Tilesets</a:t>
            </a:r>
            <a:endParaRPr/>
          </a:p>
        </p:txBody>
      </p:sp>
      <p:pic>
        <p:nvPicPr>
          <p:cNvPr id="93" name="Picture 100" descr="tiles.png"/>
          <p:cNvPicPr>
            <a:picLocks noChangeAspect="1"/>
          </p:cNvPicPr>
          <p:nvPr/>
        </p:nvPicPr>
        <p:blipFill>
          <a:blip r:embed="rId3"/>
          <a:stretch>
            <a:fillRect/>
          </a:stretch>
        </p:blipFill>
        <p:spPr>
          <a:xfrm>
            <a:off x="1280160" y="1005840"/>
            <a:ext cx="2926080" cy="2926080"/>
          </a:xfrm>
          <a:prstGeom prst="rect">
            <a:avLst/>
          </a:prstGeom>
        </p:spPr>
      </p:pic>
      <p:pic>
        <p:nvPicPr>
          <p:cNvPr id="94" name="Picture 100" descr="tile_tops.png"/>
          <p:cNvPicPr>
            <a:picLocks noChangeAspect="1"/>
          </p:cNvPicPr>
          <p:nvPr/>
        </p:nvPicPr>
        <p:blipFill>
          <a:blip r:embed="rId6"/>
          <a:stretch>
            <a:fillRect/>
          </a:stretch>
        </p:blipFill>
        <p:spPr>
          <a:xfrm>
            <a:off x="5120640" y="1005840"/>
            <a:ext cx="2926080" cy="2194560"/>
          </a:xfrm>
          <a:prstGeom prst="rect">
            <a:avLst/>
          </a:prstGeom>
        </p:spPr>
      </p:pic>
      <p:sp>
        <p:nvSpPr>
          <p:cNvPr id="95" name="Google Shape;95;p17"/>
          <p:cNvSpPr/>
          <p:nvPr/>
        </p:nvSpPr>
        <p:spPr>
          <a:xfrm>
            <a:off x="1280160" y="1005840"/>
            <a:ext cx="2926080" cy="73152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a:t/>
            </a:r>
            <a:endParaRPr>
              <a:latin typeface="Roboto Light"/>
              <a:ea typeface="Roboto Light"/>
              <a:cs typeface="Roboto Light"/>
              <a:sym typeface="Roboto Light"/>
            </a:endParaRPr>
          </a:p>
        </p:txBody>
      </p:sp>
      <p:sp>
        <p:nvSpPr>
          <p:cNvPr id="96" name="Google Shape;96;p17"/>
          <p:cNvSpPr/>
          <p:nvPr/>
        </p:nvSpPr>
        <p:spPr>
          <a:xfrm>
            <a:off x="1280160" y="1737360"/>
            <a:ext cx="2926080" cy="73152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a:t/>
            </a:r>
            <a:endParaRPr>
              <a:latin typeface="Roboto Light"/>
              <a:ea typeface="Roboto Light"/>
              <a:cs typeface="Roboto Light"/>
              <a:sym typeface="Roboto Light"/>
            </a:endParaRPr>
          </a:p>
        </p:txBody>
      </p:sp>
      <p:sp>
        <p:nvSpPr>
          <p:cNvPr id="97" name="Google Shape;97;p17"/>
          <p:cNvSpPr/>
          <p:nvPr/>
        </p:nvSpPr>
        <p:spPr>
          <a:xfrm>
            <a:off x="1280160" y="2468880"/>
            <a:ext cx="2926080" cy="73152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a:t/>
            </a:r>
            <a:endParaRPr>
              <a:latin typeface="Roboto Light"/>
              <a:ea typeface="Roboto Light"/>
              <a:cs typeface="Roboto Light"/>
              <a:sym typeface="Roboto Light"/>
            </a:endParaRPr>
          </a:p>
        </p:txBody>
      </p:sp>
      <p:sp>
        <p:nvSpPr>
          <p:cNvPr id="98" name="Google Shape;98;p17"/>
          <p:cNvSpPr/>
          <p:nvPr/>
        </p:nvSpPr>
        <p:spPr>
          <a:xfrm>
            <a:off x="5120640" y="1005840"/>
            <a:ext cx="2926080" cy="73152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a:t/>
            </a:r>
            <a:endParaRPr>
              <a:latin typeface="Roboto Light"/>
              <a:ea typeface="Roboto Light"/>
              <a:cs typeface="Roboto Light"/>
              <a:sym typeface="Roboto Light"/>
            </a:endParaRPr>
          </a:p>
        </p:txBody>
      </p:sp>
      <p:sp>
        <p:nvSpPr>
          <p:cNvPr id="99" name="Google Shape;99;p17"/>
          <p:cNvSpPr/>
          <p:nvPr/>
        </p:nvSpPr>
        <p:spPr>
          <a:xfrm>
            <a:off x="5120640" y="1737360"/>
            <a:ext cx="2926080" cy="73152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a:t/>
            </a:r>
            <a:endParaRPr>
              <a:latin typeface="Roboto Light"/>
              <a:ea typeface="Roboto Light"/>
              <a:cs typeface="Roboto Light"/>
              <a:sym typeface="Roboto Light"/>
            </a:endParaRPr>
          </a:p>
        </p:txBody>
      </p:sp>
      <p:sp>
        <p:nvSpPr>
          <p:cNvPr id="100" name="Google Shape;100;p17"/>
          <p:cNvSpPr/>
          <p:nvPr/>
        </p:nvSpPr>
        <p:spPr>
          <a:xfrm>
            <a:off x="5120640" y="2468880"/>
            <a:ext cx="2926080" cy="73152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a:t/>
            </a:r>
            <a:endParaRPr>
              <a:latin typeface="Roboto Light"/>
              <a:ea typeface="Roboto Light"/>
              <a:cs typeface="Roboto Light"/>
              <a:sym typeface="Robo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8"/>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GameLevel</a:t>
            </a:r>
            <a:endParaRPr/>
          </a:p>
        </p:txBody>
      </p:sp>
      <p:pic>
        <p:nvPicPr>
          <p:cNvPr id="106" name="Picture 106" descr="mario_grid.png"/>
          <p:cNvPicPr>
            <a:picLocks noChangeAspect="1"/>
          </p:cNvPicPr>
          <p:nvPr/>
        </p:nvPicPr>
        <p:blipFill>
          <a:blip r:embed="rId4"/>
          <a:stretch>
            <a:fillRect/>
          </a:stretch>
        </p:blipFill>
        <p:spPr>
          <a:xfrm>
            <a:off x="1141489" y="975301"/>
            <a:ext cx="6861021" cy="387471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A Level in Layers</a:t>
            </a:r>
            <a:endParaRPr/>
          </a:p>
        </p:txBody>
      </p:sp>
      <p:pic>
        <p:nvPicPr>
          <p:cNvPr id="3" name="Picture 2" descr="layers.png"/>
          <p:cNvPicPr>
            <a:picLocks noChangeAspect="1"/>
          </p:cNvPicPr>
          <p:nvPr/>
        </p:nvPicPr>
        <p:blipFill>
          <a:blip r:embed="rId2"/>
          <a:stretch>
            <a:fillRect/>
          </a:stretch>
        </p:blipFill>
        <p:spPr>
          <a:xfrm>
            <a:off x="320039" y="1051560"/>
            <a:ext cx="8503920" cy="38976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LevelMaker</a:t>
            </a:r>
            <a:endParaRPr/>
          </a:p>
        </p:txBody>
      </p:sp>
      <p:sp>
        <p:nvSpPr>
          <p:cNvPr id="112" name="Google Shape;112;p19"/>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LevelMakerBase</a:t>
            </a:r>
            <a:endParaRPr/>
          </a:p>
          <a:p>
            <a:pPr indent="-330200" lvl="0" marL="457200" rtl="0" algn="l">
              <a:spcBef>
                <a:spcPts val="1200"/>
              </a:spcBef>
              <a:spcAft>
                <a:spcPts val="0"/>
              </a:spcAft>
              <a:buSzPts val="1600"/>
              <a:buChar char="●"/>
            </a:pPr>
            <a:r>
              <a:rPr lang="en"/>
              <a:t>SimpleLevelMaker</a:t>
            </a:r>
            <a:endParaRPr/>
          </a:p>
          <a:p>
            <a:pPr indent="-330200" lvl="0" marL="457200" rtl="0" algn="l">
              <a:spcBef>
                <a:spcPts val="0"/>
              </a:spcBef>
              <a:spcAft>
                <a:spcPts val="0"/>
              </a:spcAft>
              <a:buSzPts val="1600"/>
              <a:buChar char="●"/>
            </a:pPr>
            <a:r>
              <a:rPr lang="en"/>
              <a:t>FlatLevelMaker</a:t>
            </a:r>
            <a:endParaRPr/>
          </a:p>
          <a:p>
            <a:pPr indent="-330200" lvl="0" marL="457200" rtl="0" algn="l">
              <a:spcBef>
                <a:spcPts val="0"/>
              </a:spcBef>
              <a:spcAft>
                <a:spcPts val="0"/>
              </a:spcAft>
              <a:buSzPts val="1600"/>
              <a:buChar char="●"/>
            </a:pPr>
            <a:r>
              <a:rPr lang="en"/>
              <a:t>PillarLevelMaker</a:t>
            </a:r>
            <a:endParaRPr/>
          </a:p>
          <a:p>
            <a:pPr indent="-330200" lvl="0" marL="457200" rtl="0" algn="l">
              <a:spcBef>
                <a:spcPts val="0"/>
              </a:spcBef>
              <a:spcAft>
                <a:spcPts val="0"/>
              </a:spcAft>
              <a:buSzPts val="1600"/>
              <a:buChar char="●"/>
            </a:pPr>
            <a:r>
              <a:rPr lang="en"/>
              <a:t>PitLevelMaker</a:t>
            </a:r>
            <a:endParaRPr/>
          </a:p>
          <a:p>
            <a:pPr indent="-330200" lvl="0" marL="457200" rtl="0" algn="l">
              <a:spcBef>
                <a:spcPts val="0"/>
              </a:spcBef>
              <a:spcAft>
                <a:spcPts val="0"/>
              </a:spcAft>
              <a:buSzPts val="1600"/>
              <a:buChar char="●"/>
            </a:pPr>
            <a:r>
              <a:rPr lang="en"/>
              <a:t>ComplexLevelMaker</a:t>
            </a:r>
            <a:endParaRPr/>
          </a:p>
          <a:p>
            <a:pPr indent="0" lvl="0" marL="0" rtl="0" algn="l">
              <a:spcBef>
                <a:spcPts val="1200"/>
              </a:spcBef>
              <a:spcAft>
                <a:spcPts val="0"/>
              </a:spcAft>
              <a:buNone/>
            </a:pPr>
            <a:r>
              <a:rPr/>
              <a:t/>
            </a:r>
            <a:endParaRPr/>
          </a:p>
          <a:p>
            <a:pPr indent="0" lvl="0" marL="0" rtl="0" algn="l">
              <a:spcBef>
                <a:spcPts val="1200"/>
              </a:spcBef>
              <a:spcAft>
                <a:spcPts val="0"/>
              </a:spcAft>
              <a:buNone/>
            </a:pPr>
            <a:r>
              <a:rPr/>
              <a:t/>
            </a:r>
            <a:endParaRPr/>
          </a:p>
          <a:p>
            <a:pPr indent="0" lvl="0" marL="0" rtl="0" algn="l">
              <a:spcBef>
                <a:spcPts val="1200"/>
              </a:spcBef>
              <a:spcAft>
                <a:spcPts val="0"/>
              </a:spcAft>
              <a:buNone/>
            </a:pPr>
            <a:r>
              <a:rPr lang="en"/>
              <a:t>(This is the Strategy pattern)</a:t>
            </a:r>
            <a:endParaRPr/>
          </a:p>
          <a:p>
            <a:pPr indent="0" lvl="0" marL="0" rtl="0" algn="l">
              <a:spcBef>
                <a:spcPts val="1200"/>
              </a:spcBef>
              <a:spcAft>
                <a:spcPts val="1200"/>
              </a:spcAft>
              <a:buNone/>
            </a:pPr>
            <a:r>
              <a:rPr/>
              <a:t/>
            </a:r>
            <a:endParaRPr/>
          </a:p>
        </p:txBody>
      </p:sp>
      <p:pic>
        <p:nvPicPr>
          <p:cNvPr id="113" name="Picture 113" descr="mario_level.png"/>
          <p:cNvPicPr>
            <a:picLocks noChangeAspect="1"/>
          </p:cNvPicPr>
          <p:nvPr/>
        </p:nvPicPr>
        <p:blipFill>
          <a:blip r:embed="rId4"/>
          <a:stretch>
            <a:fillRect/>
          </a:stretch>
        </p:blipFill>
        <p:spPr>
          <a:xfrm>
            <a:off x="3888100" y="887231"/>
            <a:ext cx="4718421" cy="2654111"/>
          </a:xfrm>
          <a:prstGeom prst="rect">
            <a:avLst/>
          </a:prstGeom>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LevelMaker Implementation</a:t>
            </a:r>
            <a:endParaRPr>
              <a:solidFill>
                <a:schemeClr val="accent5"/>
              </a:solidFill>
            </a:endParaRPr>
          </a:p>
        </p:txBody>
      </p:sp>
      <p:sp>
        <p:nvSpPr>
          <p:cNvPr id="119" name="Google Shape;119;p20"/>
          <p:cNvSpPr txBox="1"/>
          <p:nvPr>
            <p:ph idx="1" type="body"/>
          </p:nvPr>
        </p:nvSpPr>
        <p:spPr>
          <a:xfrm>
            <a:off x="311700" y="885950"/>
            <a:ext cx="8520600" cy="4023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sz="2900">
                <a:latin typeface="VT323"/>
                <a:ea typeface="VT323"/>
                <a:cs typeface="VT323"/>
                <a:sym typeface="VT323"/>
              </a:rPr>
              <a:t>DEMO!</a:t>
            </a:r>
            <a:endParaRPr/>
          </a:p>
          <a:p>
            <a:pPr indent="0" lvl="0" marL="0" rtl="0" algn="ctr">
              <a:spcBef>
                <a:spcPts val="0"/>
              </a:spcBef>
              <a:spcAft>
                <a:spcPts val="1200"/>
              </a:spcAft>
              <a:buNone/>
            </a:pPr>
            <a:r>
              <a:rPr lang="en" sz="1800"/>
              <a:t>Mario0 → Mario1: tilemaps from code and level makers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Try It: A Level Maker</a:t>
            </a:r>
            <a:endParaRPr/>
          </a:p>
        </p:txBody>
      </p:sp>
      <p:sp>
        <p:nvSpPr>
          <p:cNvPr id="3" name="Text Placeholder 2"/>
          <p:cNvSpPr>
            <a:spLocks noGrp="1"/>
          </p:cNvSpPr>
          <p:nvPr>
            <p:ph type="body" idx="1"/>
          </p:nvPr>
        </p:nvSpPr>
        <p:spPr>
          <a:xfrm>
            <a:off x="311700" y="885950"/>
            <a:ext cx="8520600" cy="1289304"/>
          </a:xfrm>
        </p:spPr>
        <p:txBody>
          <a:bodyPr/>
          <a:lstStyle/>
          <a:p>
            <a:pPr indent="-330200" lvl="0" marL="457200" rtl="0" algn="l">
              <a:spcBef>
                <a:spcPts val="0"/>
              </a:spcBef>
              <a:spcAft>
                <a:spcPts val="0"/>
              </a:spcAft>
              <a:buSzPts val="1600"/>
              <a:buChar char="●"/>
            </a:pPr>
            <a:r>
              <a:rPr lang="en"/>
              <a:t>In Mario1’s PitLevelMaker:</a:t>
            </a:r>
            <a:endParaRPr/>
          </a:p>
          <a:p>
            <a:pPr indent="-330200" lvl="0" marL="457200" rtl="0" algn="l">
              <a:spcBef>
                <a:spcPts val="0"/>
              </a:spcBef>
              <a:spcAft>
                <a:spcPts val="0"/>
              </a:spcAft>
              <a:buSzPts val="1600"/>
              <a:buChar char="●"/>
            </a:pPr>
            <a:r>
              <a:rPr lang="en"/>
              <a:t>Make pits twice as common</a:t>
            </a:r>
            <a:endParaRPr/>
          </a:p>
          <a:p>
            <a:pPr indent="-330200" lvl="0" marL="457200" rtl="0" algn="l">
              <a:spcBef>
                <a:spcPts val="0"/>
              </a:spcBef>
              <a:spcAft>
                <a:spcPts val="0"/>
              </a:spcAft>
              <a:buSzPts val="1600"/>
              <a:buChar char="●"/>
            </a:pPr>
            <a:r>
              <a:rPr lang="en"/>
              <a:t>Press 4 to see it, and R for new graphics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0"/>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Input</a:t>
            </a:r>
            <a:endParaRPr/>
          </a:p>
        </p:txBody>
      </p:sp>
      <p:sp>
        <p:nvSpPr>
          <p:cNvPr id="184" name="Google Shape;184;p30"/>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We now have a GameController class that abstracts away hardcoded keys for “actions”</a:t>
            </a:r>
            <a:endParaRPr/>
          </a:p>
          <a:p>
            <a:pPr indent="-330200" lvl="0" marL="457200" rtl="0" algn="l">
              <a:spcBef>
                <a:spcPts val="0"/>
              </a:spcBef>
              <a:spcAft>
                <a:spcPts val="0"/>
              </a:spcAft>
              <a:buSzPts val="1600"/>
              <a:buChar char="●"/>
            </a:pPr>
            <a:r>
              <a:rPr lang="en"/>
              <a:t>Is this the Command pattern from Sokoban?</a:t>
            </a:r>
            <a:endParaRPr/>
          </a:p>
          <a:p>
            <a:pPr indent="-317500" lvl="1" marL="914400" rtl="0" algn="l">
              <a:spcBef>
                <a:spcPts val="0"/>
              </a:spcBef>
              <a:spcAft>
                <a:spcPts val="0"/>
              </a:spcAft>
              <a:buSzPts val="1400"/>
              <a:buChar char="○"/>
            </a:pPr>
            <a:r>
              <a:rPr lang="en"/>
              <a:t>Why not?</a:t>
            </a:r>
            <a:endParaRPr/>
          </a:p>
        </p:txBody>
      </p:sp>
      <p:pic>
        <p:nvPicPr>
          <p:cNvPr id="185" name="Google Shape;185;p30"/>
          <p:cNvPicPr preferRelativeResize="0"/>
          <p:nvPr/>
        </p:nvPicPr>
        <p:blipFill>
          <a:blip r:embed="rId3">
            <a:alphaModFix/>
          </a:blip>
          <a:stretch>
            <a:fillRect/>
          </a:stretch>
        </p:blipFill>
        <p:spPr>
          <a:xfrm>
            <a:off x="3702216" y="3223775"/>
            <a:ext cx="1739575" cy="1160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Player Hitbox</a:t>
            </a:r>
            <a:endParaRPr/>
          </a:p>
        </p:txBody>
      </p:sp>
      <p:sp>
        <p:nvSpPr>
          <p:cNvPr id="191" name="Google Shape;191;p31"/>
          <p:cNvSpPr txBox="1"/>
          <p:nvPr>
            <p:ph idx="1" type="body"/>
          </p:nvPr>
        </p:nvSpPr>
        <p:spPr>
          <a:xfrm>
            <a:off x="311700" y="886968"/>
            <a:ext cx="8520600" cy="4572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The player is a little wider than a tile</a:t>
            </a:r>
            <a:endParaRPr/>
          </a:p>
        </p:txBody>
      </p:sp>
      <p:pic>
        <p:nvPicPr>
          <p:cNvPr id="192" name="Picture 191" descr="hitbox-inset.png"/>
          <p:cNvPicPr>
            <a:picLocks noChangeAspect="1"/>
          </p:cNvPicPr>
          <p:nvPr/>
        </p:nvPicPr>
        <p:blipFill>
          <a:blip r:embed="rId3"/>
          <a:stretch>
            <a:fillRect/>
          </a:stretch>
        </p:blipFill>
        <p:spPr>
          <a:xfrm>
            <a:off x="581890" y="1371600"/>
            <a:ext cx="7980218" cy="3657600"/>
          </a:xfrm>
          <a:prstGeom prst="rect">
            <a:avLst/>
          </a:prstGeom>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2"/>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Tile Collision (up/down)</a:t>
            </a:r>
            <a:endParaRPr/>
          </a:p>
        </p:txBody>
      </p:sp>
      <p:pic>
        <p:nvPicPr>
          <p:cNvPr id="198" name="Picture 203" descr="ceiling.png"/>
          <p:cNvPicPr>
            <a:picLocks noChangeAspect="1"/>
          </p:cNvPicPr>
          <p:nvPr/>
        </p:nvPicPr>
        <p:blipFill>
          <a:blip r:embed="rId5"/>
          <a:stretch>
            <a:fillRect/>
          </a:stretch>
        </p:blipFill>
        <p:spPr>
          <a:xfrm>
            <a:off x="3502152" y="1207008"/>
            <a:ext cx="2112264" cy="2346960"/>
          </a:xfrm>
          <a:prstGeom prst="rect">
            <a:avLst/>
          </a:prstGeom>
        </p:spPr>
      </p:pic>
      <p:sp>
        <p:nvSpPr>
          <p:cNvPr id="199" name="Google Shape;199;p32"/>
          <p:cNvSpPr/>
          <p:nvPr/>
        </p:nvSpPr>
        <p:spPr>
          <a:xfrm>
            <a:off x="4235122" y="2565834"/>
            <a:ext cx="98700" cy="987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a:t/>
            </a:r>
            <a:endParaRPr>
              <a:latin typeface="Roboto Light"/>
              <a:ea typeface="Roboto Light"/>
              <a:cs typeface="Roboto Light"/>
              <a:sym typeface="Roboto Light"/>
            </a:endParaRPr>
          </a:p>
        </p:txBody>
      </p:sp>
      <p:sp>
        <p:nvSpPr>
          <p:cNvPr id="200" name="Google Shape;200;p32"/>
          <p:cNvSpPr/>
          <p:nvPr/>
        </p:nvSpPr>
        <p:spPr>
          <a:xfrm>
            <a:off x="4782746" y="2565834"/>
            <a:ext cx="98700" cy="987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a:t/>
            </a:r>
            <a:endParaRPr>
              <a:latin typeface="Roboto Light"/>
              <a:ea typeface="Roboto Light"/>
              <a:cs typeface="Roboto Light"/>
              <a:sym typeface="Roboto Light"/>
            </a:endParaRPr>
          </a:p>
        </p:txBody>
      </p:sp>
      <p:pic>
        <p:nvPicPr>
          <p:cNvPr id="201" name="Picture 203" descr="ground.png"/>
          <p:cNvPicPr>
            <a:picLocks noChangeAspect="1"/>
          </p:cNvPicPr>
          <p:nvPr/>
        </p:nvPicPr>
        <p:blipFill>
          <a:blip r:embed="rId6"/>
          <a:stretch>
            <a:fillRect/>
          </a:stretch>
        </p:blipFill>
        <p:spPr>
          <a:xfrm>
            <a:off x="3502152" y="3553968"/>
            <a:ext cx="2112264" cy="1408176"/>
          </a:xfrm>
          <a:prstGeom prst="rect">
            <a:avLst/>
          </a:prstGeom>
        </p:spPr>
      </p:pic>
      <p:sp>
        <p:nvSpPr>
          <p:cNvPr id="202" name="Google Shape;202;p32"/>
          <p:cNvSpPr/>
          <p:nvPr/>
        </p:nvSpPr>
        <p:spPr>
          <a:xfrm>
            <a:off x="4235122" y="3504618"/>
            <a:ext cx="98700" cy="987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a:t/>
            </a:r>
            <a:endParaRPr>
              <a:latin typeface="Roboto Light"/>
              <a:ea typeface="Roboto Light"/>
              <a:cs typeface="Roboto Light"/>
              <a:sym typeface="Roboto Light"/>
            </a:endParaRPr>
          </a:p>
        </p:txBody>
      </p:sp>
      <p:sp>
        <p:nvSpPr>
          <p:cNvPr id="203" name="Google Shape;203;p32"/>
          <p:cNvSpPr/>
          <p:nvPr/>
        </p:nvSpPr>
        <p:spPr>
          <a:xfrm>
            <a:off x="4782746" y="3504618"/>
            <a:ext cx="98700" cy="987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a:t/>
            </a:r>
            <a:endParaRPr>
              <a:latin typeface="Roboto Light"/>
              <a:ea typeface="Roboto Light"/>
              <a:cs typeface="Roboto Light"/>
              <a:sym typeface="Robo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Tile Collision (left/right)</a:t>
            </a:r>
            <a:endParaRPr/>
          </a:p>
        </p:txBody>
      </p:sp>
      <p:pic>
        <p:nvPicPr>
          <p:cNvPr id="209" name="Picture 213" descr="walls.png"/>
          <p:cNvPicPr>
            <a:picLocks noChangeAspect="1"/>
          </p:cNvPicPr>
          <p:nvPr/>
        </p:nvPicPr>
        <p:blipFill>
          <a:blip r:embed="rId4"/>
          <a:stretch>
            <a:fillRect/>
          </a:stretch>
        </p:blipFill>
        <p:spPr>
          <a:xfrm>
            <a:off x="3145536" y="1600200"/>
            <a:ext cx="2862072" cy="2385060"/>
          </a:xfrm>
          <a:prstGeom prst="rect">
            <a:avLst/>
          </a:prstGeom>
        </p:spPr>
      </p:pic>
      <p:sp>
        <p:nvSpPr>
          <p:cNvPr id="210" name="Google Shape;210;p33"/>
          <p:cNvSpPr/>
          <p:nvPr/>
        </p:nvSpPr>
        <p:spPr>
          <a:xfrm>
            <a:off x="4103211" y="2902384"/>
            <a:ext cx="98700" cy="987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a:t/>
            </a:r>
            <a:endParaRPr>
              <a:latin typeface="Roboto Light"/>
              <a:ea typeface="Roboto Light"/>
              <a:cs typeface="Roboto Light"/>
              <a:sym typeface="Roboto Light"/>
            </a:endParaRPr>
          </a:p>
        </p:txBody>
      </p:sp>
      <p:sp>
        <p:nvSpPr>
          <p:cNvPr id="211" name="Google Shape;211;p33"/>
          <p:cNvSpPr/>
          <p:nvPr/>
        </p:nvSpPr>
        <p:spPr>
          <a:xfrm>
            <a:off x="4527222" y="2902384"/>
            <a:ext cx="98700" cy="987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a:t/>
            </a:r>
            <a:endParaRPr>
              <a:latin typeface="Roboto Light"/>
              <a:ea typeface="Roboto Light"/>
              <a:cs typeface="Roboto Light"/>
              <a:sym typeface="Roboto Light"/>
            </a:endParaRPr>
          </a:p>
        </p:txBody>
      </p:sp>
      <p:sp>
        <p:nvSpPr>
          <p:cNvPr id="212" name="Google Shape;212;p33"/>
          <p:cNvSpPr/>
          <p:nvPr/>
        </p:nvSpPr>
        <p:spPr>
          <a:xfrm>
            <a:off x="4103211" y="3379396"/>
            <a:ext cx="98700" cy="987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a:t/>
            </a:r>
            <a:endParaRPr>
              <a:latin typeface="Roboto Light"/>
              <a:ea typeface="Roboto Light"/>
              <a:cs typeface="Roboto Light"/>
              <a:sym typeface="Roboto Light"/>
            </a:endParaRPr>
          </a:p>
        </p:txBody>
      </p:sp>
      <p:sp>
        <p:nvSpPr>
          <p:cNvPr id="213" name="Google Shape;213;p33"/>
          <p:cNvSpPr/>
          <p:nvPr/>
        </p:nvSpPr>
        <p:spPr>
          <a:xfrm>
            <a:off x="4527222" y="3379396"/>
            <a:ext cx="98700" cy="987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a:t/>
            </a:r>
            <a:endParaRPr>
              <a:latin typeface="Roboto Light"/>
              <a:ea typeface="Roboto Light"/>
              <a:cs typeface="Roboto Light"/>
              <a:sym typeface="Robo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Move, Then Snap</a:t>
            </a:r>
            <a:endParaRPr/>
          </a:p>
        </p:txBody>
      </p:sp>
      <p:pic>
        <p:nvPicPr>
          <p:cNvPr id="3" name="Picture 2" descr="tile-snap.png"/>
          <p:cNvPicPr>
            <a:picLocks noChangeAspect="1"/>
          </p:cNvPicPr>
          <p:nvPr/>
        </p:nvPicPr>
        <p:blipFill>
          <a:blip r:embed="rId2"/>
          <a:stretch>
            <a:fillRect/>
          </a:stretch>
        </p:blipFill>
        <p:spPr>
          <a:xfrm>
            <a:off x="320039" y="1051560"/>
            <a:ext cx="8503920" cy="389763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4"/>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Collision Response</a:t>
            </a:r>
            <a:endParaRPr/>
          </a:p>
        </p:txBody>
      </p:sp>
      <p:sp>
        <p:nvSpPr>
          <p:cNvPr id="219" name="Google Shape;219;p34"/>
          <p:cNvSpPr txBox="1"/>
          <p:nvPr>
            <p:ph idx="1" type="body"/>
          </p:nvPr>
        </p:nvSpPr>
        <p:spPr>
          <a:xfrm>
            <a:off x="1722900" y="885950"/>
            <a:ext cx="5698200" cy="4023300"/>
          </a:xfrm>
          <a:prstGeom prst="rect">
            <a:avLst/>
          </a:prstGeom>
          <a:solidFill>
            <a:schemeClr val="dk2"/>
          </a:solidFill>
        </p:spPr>
        <p:txBody>
          <a:bodyPr anchorCtr="0" anchor="t" bIns="91425" lIns="91425" spcFirstLastPara="1" rIns="91425" wrap="square" tIns="91425">
            <a:normAutofit fontScale="77500" lnSpcReduction="20000"/>
          </a:bodyPr>
          <a:lstStyle/>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private</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void</a:t>
            </a:r>
            <a:r>
              <a:rPr lang="en" sz="1000">
                <a:solidFill>
                  <a:srgbClr val="CCCCCC"/>
                </a:solidFill>
                <a:highlight>
                  <a:srgbClr val="1F1F1F"/>
                </a:highlight>
                <a:latin typeface="Consolas"/>
                <a:ea typeface="Consolas"/>
                <a:cs typeface="Consolas"/>
                <a:sym typeface="Consolas"/>
              </a:rPr>
              <a:t> </a:t>
            </a:r>
            <a:r>
              <a:rPr lang="en" sz="1000">
                <a:solidFill>
                  <a:srgbClr val="DCDCAA"/>
                </a:solidFill>
                <a:highlight>
                  <a:srgbClr val="1F1F1F"/>
                </a:highlight>
                <a:latin typeface="Consolas"/>
                <a:ea typeface="Consolas"/>
                <a:cs typeface="Consolas"/>
                <a:sym typeface="Consolas"/>
              </a:rPr>
              <a:t>SnapToRight</a:t>
            </a:r>
            <a:r>
              <a:rPr lang="en" sz="1000">
                <a:solidFill>
                  <a:srgbClr val="CCCCCC"/>
                </a:solidFill>
                <a:highlight>
                  <a:srgbClr val="1F1F1F"/>
                </a:highlight>
                <a:latin typeface="Consolas"/>
                <a:ea typeface="Consolas"/>
                <a:cs typeface="Consolas"/>
                <a:sym typeface="Consolas"/>
              </a:rPr>
              <a:t>(</a:t>
            </a:r>
            <a:r>
              <a:rPr lang="en" sz="1000">
                <a:solidFill>
                  <a:srgbClr val="569CD6"/>
                </a:solidFill>
                <a:highlight>
                  <a:srgbClr val="1F1F1F"/>
                </a:highlight>
                <a:latin typeface="Consolas"/>
                <a:ea typeface="Consolas"/>
                <a:cs typeface="Consolas"/>
                <a:sym typeface="Consolas"/>
              </a:rPr>
              <a:t>float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x</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Player</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Position</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new</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Vector2</a:t>
            </a:r>
            <a:r>
              <a:rPr lang="en" sz="1000">
                <a:solidFill>
                  <a:srgbClr val="CCCCCC"/>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x</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Player</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Sprite</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Width</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Player</a:t>
            </a:r>
            <a:r>
              <a:rPr lang="en" sz="1000">
                <a:solidFill>
                  <a:srgbClr val="D4D4D4"/>
                </a:solidFill>
                <a:highlight>
                  <a:srgbClr val="1F1F1F"/>
                </a:highlight>
                <a:latin typeface="Consolas"/>
                <a:ea typeface="Consolas"/>
                <a:cs typeface="Consolas"/>
                <a:sym typeface="Consolas"/>
              </a:rPr>
              <a:t>.</a:t>
            </a:r>
            <a:r>
              <a:rPr lang="en" sz="1000">
                <a:solidFill>
                  <a:srgbClr val="4FC1FF"/>
                </a:solidFill>
                <a:highlight>
                  <a:srgbClr val="1F1F1F"/>
                </a:highlight>
                <a:latin typeface="Consolas"/>
                <a:ea typeface="Consolas"/>
                <a:cs typeface="Consolas"/>
                <a:sym typeface="Consolas"/>
              </a:rPr>
              <a:t>HitboxInset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Player</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Position</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Y</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Player</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Velocity</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new</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Vector2</a:t>
            </a:r>
            <a:r>
              <a:rPr lang="en" sz="1000">
                <a:solidFill>
                  <a:srgbClr val="CCCCCC"/>
                </a:solidFill>
                <a:highlight>
                  <a:srgbClr val="1F1F1F"/>
                </a:highlight>
                <a:latin typeface="Consolas"/>
                <a:ea typeface="Consolas"/>
                <a:cs typeface="Consolas"/>
                <a:sym typeface="Consolas"/>
              </a:rPr>
              <a:t>(</a:t>
            </a:r>
            <a:r>
              <a:rPr lang="en" sz="1000">
                <a:solidFill>
                  <a:srgbClr val="B5CEA8"/>
                </a:solidFill>
                <a:highlight>
                  <a:srgbClr val="1F1F1F"/>
                </a:highlight>
                <a:latin typeface="Consolas"/>
                <a:ea typeface="Consolas"/>
                <a:cs typeface="Consolas"/>
                <a:sym typeface="Consolas"/>
              </a:rPr>
              <a:t>0</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Player</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Velocity</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Y</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private</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void</a:t>
            </a:r>
            <a:r>
              <a:rPr lang="en" sz="1000">
                <a:solidFill>
                  <a:srgbClr val="CCCCCC"/>
                </a:solidFill>
                <a:highlight>
                  <a:srgbClr val="1F1F1F"/>
                </a:highlight>
                <a:latin typeface="Consolas"/>
                <a:ea typeface="Consolas"/>
                <a:cs typeface="Consolas"/>
                <a:sym typeface="Consolas"/>
              </a:rPr>
              <a:t> </a:t>
            </a:r>
            <a:r>
              <a:rPr lang="en" sz="1000">
                <a:solidFill>
                  <a:srgbClr val="DCDCAA"/>
                </a:solidFill>
                <a:highlight>
                  <a:srgbClr val="1F1F1F"/>
                </a:highlight>
                <a:latin typeface="Consolas"/>
                <a:ea typeface="Consolas"/>
                <a:cs typeface="Consolas"/>
                <a:sym typeface="Consolas"/>
              </a:rPr>
              <a:t>SnapToLeft</a:t>
            </a:r>
            <a:r>
              <a:rPr lang="en" sz="1000">
                <a:solidFill>
                  <a:srgbClr val="CCCCCC"/>
                </a:solidFill>
                <a:highlight>
                  <a:srgbClr val="1F1F1F"/>
                </a:highlight>
                <a:latin typeface="Consolas"/>
                <a:ea typeface="Consolas"/>
                <a:cs typeface="Consolas"/>
                <a:sym typeface="Consolas"/>
              </a:rPr>
              <a:t>(</a:t>
            </a:r>
            <a:r>
              <a:rPr lang="en" sz="1000">
                <a:solidFill>
                  <a:srgbClr val="569CD6"/>
                </a:solidFill>
                <a:highlight>
                  <a:srgbClr val="1F1F1F"/>
                </a:highlight>
                <a:latin typeface="Consolas"/>
                <a:ea typeface="Consolas"/>
                <a:cs typeface="Consolas"/>
                <a:sym typeface="Consolas"/>
              </a:rPr>
              <a:t>float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x</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Player</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Position</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new</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Vector2</a:t>
            </a:r>
            <a:r>
              <a:rPr lang="en" sz="1000">
                <a:solidFill>
                  <a:srgbClr val="CCCCCC"/>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x</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Player</a:t>
            </a:r>
            <a:r>
              <a:rPr lang="en" sz="1000">
                <a:solidFill>
                  <a:srgbClr val="D4D4D4"/>
                </a:solidFill>
                <a:highlight>
                  <a:srgbClr val="1F1F1F"/>
                </a:highlight>
                <a:latin typeface="Consolas"/>
                <a:ea typeface="Consolas"/>
                <a:cs typeface="Consolas"/>
                <a:sym typeface="Consolas"/>
              </a:rPr>
              <a:t>.</a:t>
            </a:r>
            <a:r>
              <a:rPr lang="en" sz="1000">
                <a:solidFill>
                  <a:srgbClr val="4FC1FF"/>
                </a:solidFill>
                <a:highlight>
                  <a:srgbClr val="1F1F1F"/>
                </a:highlight>
                <a:latin typeface="Consolas"/>
                <a:ea typeface="Consolas"/>
                <a:cs typeface="Consolas"/>
                <a:sym typeface="Consolas"/>
              </a:rPr>
              <a:t>HitboxInset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Player</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Position</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Y</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Player</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Velocity</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new</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Vector2</a:t>
            </a:r>
            <a:r>
              <a:rPr lang="en" sz="1000">
                <a:solidFill>
                  <a:srgbClr val="CCCCCC"/>
                </a:solidFill>
                <a:highlight>
                  <a:srgbClr val="1F1F1F"/>
                </a:highlight>
                <a:latin typeface="Consolas"/>
                <a:ea typeface="Consolas"/>
                <a:cs typeface="Consolas"/>
                <a:sym typeface="Consolas"/>
              </a:rPr>
              <a:t>(</a:t>
            </a:r>
            <a:r>
              <a:rPr lang="en" sz="1000">
                <a:solidFill>
                  <a:srgbClr val="B5CEA8"/>
                </a:solidFill>
                <a:highlight>
                  <a:srgbClr val="1F1F1F"/>
                </a:highlight>
                <a:latin typeface="Consolas"/>
                <a:ea typeface="Consolas"/>
                <a:cs typeface="Consolas"/>
                <a:sym typeface="Consolas"/>
              </a:rPr>
              <a:t>0</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Player</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Velocity</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Y</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private</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void</a:t>
            </a:r>
            <a:r>
              <a:rPr lang="en" sz="1000">
                <a:solidFill>
                  <a:srgbClr val="CCCCCC"/>
                </a:solidFill>
                <a:highlight>
                  <a:srgbClr val="1F1F1F"/>
                </a:highlight>
                <a:latin typeface="Consolas"/>
                <a:ea typeface="Consolas"/>
                <a:cs typeface="Consolas"/>
                <a:sym typeface="Consolas"/>
              </a:rPr>
              <a:t> </a:t>
            </a:r>
            <a:r>
              <a:rPr lang="en" sz="1000">
                <a:solidFill>
                  <a:srgbClr val="DCDCAA"/>
                </a:solidFill>
                <a:highlight>
                  <a:srgbClr val="1F1F1F"/>
                </a:highlight>
                <a:latin typeface="Consolas"/>
                <a:ea typeface="Consolas"/>
                <a:cs typeface="Consolas"/>
                <a:sym typeface="Consolas"/>
              </a:rPr>
              <a:t>SnapToBottom</a:t>
            </a:r>
            <a:r>
              <a:rPr lang="en" sz="1000">
                <a:solidFill>
                  <a:srgbClr val="CCCCCC"/>
                </a:solidFill>
                <a:highlight>
                  <a:srgbClr val="1F1F1F"/>
                </a:highlight>
                <a:latin typeface="Consolas"/>
                <a:ea typeface="Consolas"/>
                <a:cs typeface="Consolas"/>
                <a:sym typeface="Consolas"/>
              </a:rPr>
              <a:t>(</a:t>
            </a:r>
            <a:r>
              <a:rPr lang="en" sz="1000">
                <a:solidFill>
                  <a:srgbClr val="569CD6"/>
                </a:solidFill>
                <a:highlight>
                  <a:srgbClr val="1F1F1F"/>
                </a:highlight>
                <a:latin typeface="Consolas"/>
                <a:ea typeface="Consolas"/>
                <a:cs typeface="Consolas"/>
                <a:sym typeface="Consolas"/>
              </a:rPr>
              <a:t>float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y</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Player</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Position</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new</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Vector2</a:t>
            </a:r>
            <a:r>
              <a:rPr lang="en" sz="1000">
                <a:solidFill>
                  <a:srgbClr val="CCCCCC"/>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Player</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Position</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X</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y</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Player</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Sprite</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Height</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Player</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Velocity</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new</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Vector2</a:t>
            </a:r>
            <a:r>
              <a:rPr lang="en" sz="1000">
                <a:solidFill>
                  <a:srgbClr val="CCCCCC"/>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Player</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Velocity</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X</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private</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void</a:t>
            </a:r>
            <a:r>
              <a:rPr lang="en" sz="1000">
                <a:solidFill>
                  <a:srgbClr val="CCCCCC"/>
                </a:solidFill>
                <a:highlight>
                  <a:srgbClr val="1F1F1F"/>
                </a:highlight>
                <a:latin typeface="Consolas"/>
                <a:ea typeface="Consolas"/>
                <a:cs typeface="Consolas"/>
                <a:sym typeface="Consolas"/>
              </a:rPr>
              <a:t> </a:t>
            </a:r>
            <a:r>
              <a:rPr lang="en" sz="1000">
                <a:solidFill>
                  <a:srgbClr val="DCDCAA"/>
                </a:solidFill>
                <a:highlight>
                  <a:srgbClr val="1F1F1F"/>
                </a:highlight>
                <a:latin typeface="Consolas"/>
                <a:ea typeface="Consolas"/>
                <a:cs typeface="Consolas"/>
                <a:sym typeface="Consolas"/>
              </a:rPr>
              <a:t>SnapToTop</a:t>
            </a:r>
            <a:r>
              <a:rPr lang="en" sz="1000">
                <a:solidFill>
                  <a:srgbClr val="CCCCCC"/>
                </a:solidFill>
                <a:highlight>
                  <a:srgbClr val="1F1F1F"/>
                </a:highlight>
                <a:latin typeface="Consolas"/>
                <a:ea typeface="Consolas"/>
                <a:cs typeface="Consolas"/>
                <a:sym typeface="Consolas"/>
              </a:rPr>
              <a:t>(</a:t>
            </a:r>
            <a:r>
              <a:rPr lang="en" sz="1000">
                <a:solidFill>
                  <a:srgbClr val="569CD6"/>
                </a:solidFill>
                <a:highlight>
                  <a:srgbClr val="1F1F1F"/>
                </a:highlight>
                <a:latin typeface="Consolas"/>
                <a:ea typeface="Consolas"/>
                <a:cs typeface="Consolas"/>
                <a:sym typeface="Consolas"/>
              </a:rPr>
              <a:t>float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y</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Player</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Position</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new</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Vector2</a:t>
            </a:r>
            <a:r>
              <a:rPr lang="en" sz="1000">
                <a:solidFill>
                  <a:srgbClr val="CCCCCC"/>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Player</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Position</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X</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y</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Player</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Velocity</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new</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Vector2</a:t>
            </a:r>
            <a:r>
              <a:rPr lang="en" sz="1000">
                <a:solidFill>
                  <a:srgbClr val="CCCCCC"/>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Player</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Velocity</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X</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Try It: One Collision, by Hand</a:t>
            </a:r>
            <a:endParaRPr/>
          </a:p>
        </p:txBody>
      </p:sp>
      <p:sp>
        <p:nvSpPr>
          <p:cNvPr id="3" name="Text Placeholder 2"/>
          <p:cNvSpPr>
            <a:spLocks noGrp="1"/>
          </p:cNvSpPr>
          <p:nvPr>
            <p:ph type="body" idx="1"/>
          </p:nvPr>
        </p:nvSpPr>
        <p:spPr>
          <a:xfrm>
            <a:off x="311700" y="885950"/>
            <a:ext cx="8520600" cy="1673352"/>
          </a:xfrm>
        </p:spPr>
        <p:txBody>
          <a:bodyPr/>
          <a:lstStyle/>
          <a:p>
            <a:pPr indent="-330200" lvl="0" marL="457200" rtl="0" algn="l">
              <a:spcBef>
                <a:spcPts val="0"/>
              </a:spcBef>
              <a:spcAft>
                <a:spcPts val="0"/>
              </a:spcAft>
              <a:buSzPts val="1600"/>
              <a:buChar char="●"/>
            </a:pPr>
            <a:r>
              <a:rPr lang="en"/>
              <a:t>On paper, 18-pixel tiles:</a:t>
            </a:r>
            <a:endParaRPr/>
          </a:p>
          <a:p>
            <a:pPr indent="-330200" lvl="0" marL="457200" rtl="0" algn="l">
              <a:spcBef>
                <a:spcPts val="0"/>
              </a:spcBef>
              <a:spcAft>
                <a:spcPts val="0"/>
              </a:spcAft>
              <a:buSzPts val="1600"/>
              <a:buChar char="●"/>
            </a:pPr>
            <a:r>
              <a:rPr lang="en"/>
              <a:t>The hitbox spans x 34 to 50, and moves 8 pixels right</a:t>
            </a:r>
            <a:endParaRPr/>
          </a:p>
          <a:p>
            <a:pPr indent="-330200" lvl="0" marL="457200" rtl="0" algn="l">
              <a:spcBef>
                <a:spcPts val="0"/>
              </a:spcBef>
              <a:spcAft>
                <a:spcPts val="0"/>
              </a:spcAft>
              <a:buSzPts val="1600"/>
              <a:buChar char="●"/>
            </a:pPr>
            <a:r>
              <a:rPr lang="en"/>
              <a:t>A wall starts at x 54</a:t>
            </a:r>
            <a:endParaRPr/>
          </a:p>
          <a:p>
            <a:pPr indent="-330200" lvl="0" marL="457200" rtl="0" algn="l">
              <a:spcBef>
                <a:spcPts val="0"/>
              </a:spcBef>
              <a:spcAft>
                <a:spcPts val="0"/>
              </a:spcAft>
              <a:buSzPts val="1600"/>
              <a:buChar char="●"/>
            </a:pPr>
            <a:r>
              <a:rPr lang="en"/>
              <a:t>Where is it after the move, and after the snap? What happens to its velocity?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IsOnGround</a:t>
            </a:r>
            <a:endParaRPr/>
          </a:p>
        </p:txBody>
      </p:sp>
      <p:sp>
        <p:nvSpPr>
          <p:cNvPr id="225" name="Google Shape;225;p35"/>
          <p:cNvSpPr txBox="1"/>
          <p:nvPr>
            <p:ph idx="1" type="body"/>
          </p:nvPr>
        </p:nvSpPr>
        <p:spPr>
          <a:xfrm>
            <a:off x="311700" y="885950"/>
            <a:ext cx="8520600" cy="3484500"/>
          </a:xfrm>
          <a:prstGeom prst="rect">
            <a:avLst/>
          </a:prstGeom>
          <a:solidFill>
            <a:schemeClr val="dk2"/>
          </a:solidFill>
        </p:spPr>
        <p:txBody>
          <a:bodyPr anchorCtr="0" anchor="t" bIns="91425" lIns="91425" spcFirstLastPara="1" rIns="91425" wrap="square" tIns="91425">
            <a:normAutofit/>
          </a:bodyPr>
          <a:lstStyle/>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protected</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bool</a:t>
            </a:r>
            <a:r>
              <a:rPr lang="en" sz="1000">
                <a:solidFill>
                  <a:srgbClr val="CCCCCC"/>
                </a:solidFill>
                <a:highlight>
                  <a:srgbClr val="1F1F1F"/>
                </a:highlight>
                <a:latin typeface="Consolas"/>
                <a:ea typeface="Consolas"/>
                <a:cs typeface="Consolas"/>
                <a:sym typeface="Consolas"/>
              </a:rPr>
              <a:t> </a:t>
            </a:r>
            <a:r>
              <a:rPr lang="en" sz="1000">
                <a:solidFill>
                  <a:srgbClr val="DCDCAA"/>
                </a:solidFill>
                <a:highlight>
                  <a:srgbClr val="1F1F1F"/>
                </a:highlight>
                <a:latin typeface="Consolas"/>
                <a:ea typeface="Consolas"/>
                <a:cs typeface="Consolas"/>
                <a:sym typeface="Consolas"/>
              </a:rPr>
              <a:t>IsOnGround</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Rectangle</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hitbox</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Player</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Bounds</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6A9955"/>
                </a:solidFill>
                <a:highlight>
                  <a:srgbClr val="1F1F1F"/>
                </a:highlight>
                <a:latin typeface="Consolas"/>
                <a:ea typeface="Consolas"/>
                <a:cs typeface="Consolas"/>
                <a:sym typeface="Consolas"/>
              </a:rPr>
              <a:t>    // Check Tilemap</a:t>
            </a:r>
            <a:endParaRPr sz="1000">
              <a:solidFill>
                <a:srgbClr val="6A9955"/>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bool</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onTile</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Player</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Tilemap</a:t>
            </a:r>
            <a:r>
              <a:rPr lang="en" sz="1000">
                <a:solidFill>
                  <a:srgbClr val="D4D4D4"/>
                </a:solidFill>
                <a:highlight>
                  <a:srgbClr val="1F1F1F"/>
                </a:highlight>
                <a:latin typeface="Consolas"/>
                <a:ea typeface="Consolas"/>
                <a:cs typeface="Consolas"/>
                <a:sym typeface="Consolas"/>
              </a:rPr>
              <a:t>.</a:t>
            </a:r>
            <a:r>
              <a:rPr lang="en" sz="1000">
                <a:solidFill>
                  <a:srgbClr val="DCDCAA"/>
                </a:solidFill>
                <a:highlight>
                  <a:srgbClr val="1F1F1F"/>
                </a:highlight>
                <a:latin typeface="Consolas"/>
                <a:ea typeface="Consolas"/>
                <a:cs typeface="Consolas"/>
                <a:sym typeface="Consolas"/>
              </a:rPr>
              <a:t>IsSolidAt</a:t>
            </a:r>
            <a:r>
              <a:rPr lang="en" sz="1000">
                <a:solidFill>
                  <a:srgbClr val="CCCCCC"/>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hitbox</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Left</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4FC1FF"/>
                </a:solidFill>
                <a:highlight>
                  <a:srgbClr val="1F1F1F"/>
                </a:highlight>
                <a:latin typeface="Consolas"/>
                <a:ea typeface="Consolas"/>
                <a:cs typeface="Consolas"/>
                <a:sym typeface="Consolas"/>
              </a:rPr>
              <a:t>CollisionInset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hitbox</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Bottom</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1</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endParaRPr sz="1000">
              <a:solidFill>
                <a:srgbClr val="D4D4D4"/>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Player</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Tilemap</a:t>
            </a:r>
            <a:r>
              <a:rPr lang="en" sz="1000">
                <a:solidFill>
                  <a:srgbClr val="D4D4D4"/>
                </a:solidFill>
                <a:highlight>
                  <a:srgbClr val="1F1F1F"/>
                </a:highlight>
                <a:latin typeface="Consolas"/>
                <a:ea typeface="Consolas"/>
                <a:cs typeface="Consolas"/>
                <a:sym typeface="Consolas"/>
              </a:rPr>
              <a:t>.</a:t>
            </a:r>
            <a:r>
              <a:rPr lang="en" sz="1000">
                <a:solidFill>
                  <a:srgbClr val="DCDCAA"/>
                </a:solidFill>
                <a:highlight>
                  <a:srgbClr val="1F1F1F"/>
                </a:highlight>
                <a:latin typeface="Consolas"/>
                <a:ea typeface="Consolas"/>
                <a:cs typeface="Consolas"/>
                <a:sym typeface="Consolas"/>
              </a:rPr>
              <a:t>IsSolidAt</a:t>
            </a:r>
            <a:r>
              <a:rPr lang="en" sz="1000">
                <a:solidFill>
                  <a:srgbClr val="CCCCCC"/>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hitbox</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Right</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4FC1FF"/>
                </a:solidFill>
                <a:highlight>
                  <a:srgbClr val="1F1F1F"/>
                </a:highlight>
                <a:latin typeface="Consolas"/>
                <a:ea typeface="Consolas"/>
                <a:cs typeface="Consolas"/>
                <a:sym typeface="Consolas"/>
              </a:rPr>
              <a:t>CollisionInset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hitbox</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Bottom</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1</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C586C0"/>
                </a:solidFill>
                <a:highlight>
                  <a:srgbClr val="1F1F1F"/>
                </a:highlight>
                <a:latin typeface="Consolas"/>
                <a:ea typeface="Consolas"/>
                <a:cs typeface="Consolas"/>
                <a:sym typeface="Consolas"/>
              </a:rPr>
              <a:t>if</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onTile</a:t>
            </a:r>
            <a:r>
              <a:rPr lang="en" sz="1000">
                <a:solidFill>
                  <a:srgbClr val="CCCCCC"/>
                </a:solidFill>
                <a:highlight>
                  <a:srgbClr val="1F1F1F"/>
                </a:highlight>
                <a:latin typeface="Consolas"/>
                <a:ea typeface="Consolas"/>
                <a:cs typeface="Consolas"/>
                <a:sym typeface="Consolas"/>
              </a:rPr>
              <a:t>) </a:t>
            </a:r>
            <a:r>
              <a:rPr lang="en" sz="1000">
                <a:solidFill>
                  <a:srgbClr val="C586C0"/>
                </a:solidFill>
                <a:highlight>
                  <a:srgbClr val="1F1F1F"/>
                </a:highlight>
                <a:latin typeface="Consolas"/>
                <a:ea typeface="Consolas"/>
                <a:cs typeface="Consolas"/>
                <a:sym typeface="Consolas"/>
              </a:rPr>
              <a:t>return</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true</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6A9955"/>
                </a:solidFill>
                <a:highlight>
                  <a:srgbClr val="1F1F1F"/>
                </a:highlight>
                <a:latin typeface="Consolas"/>
                <a:ea typeface="Consolas"/>
                <a:cs typeface="Consolas"/>
                <a:sym typeface="Consolas"/>
              </a:rPr>
              <a:t>    // Check solid Entities</a:t>
            </a:r>
            <a:endParaRPr sz="1000">
              <a:solidFill>
                <a:srgbClr val="6A9955"/>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Rectangle</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sensor</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DCDCAA"/>
                </a:solidFill>
                <a:highlight>
                  <a:srgbClr val="1F1F1F"/>
                </a:highlight>
                <a:latin typeface="Consolas"/>
                <a:ea typeface="Consolas"/>
                <a:cs typeface="Consolas"/>
                <a:sym typeface="Consolas"/>
              </a:rPr>
              <a:t>ExpandDirectional</a:t>
            </a:r>
            <a:r>
              <a:rPr lang="en" sz="1000">
                <a:solidFill>
                  <a:srgbClr val="CCCCCC"/>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hitbox</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1</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C586C0"/>
                </a:solidFill>
                <a:highlight>
                  <a:srgbClr val="1F1F1F"/>
                </a:highlight>
                <a:latin typeface="Consolas"/>
                <a:ea typeface="Consolas"/>
                <a:cs typeface="Consolas"/>
                <a:sym typeface="Consolas"/>
              </a:rPr>
              <a:t>return</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Player</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Level</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Entities</a:t>
            </a:r>
            <a:r>
              <a:rPr lang="en" sz="1000">
                <a:solidFill>
                  <a:srgbClr val="D4D4D4"/>
                </a:solidFill>
                <a:highlight>
                  <a:srgbClr val="1F1F1F"/>
                </a:highlight>
                <a:latin typeface="Consolas"/>
                <a:ea typeface="Consolas"/>
                <a:cs typeface="Consolas"/>
                <a:sym typeface="Consolas"/>
              </a:rPr>
              <a:t>.</a:t>
            </a:r>
            <a:r>
              <a:rPr lang="en" sz="1000">
                <a:solidFill>
                  <a:srgbClr val="DCDCAA"/>
                </a:solidFill>
                <a:highlight>
                  <a:srgbClr val="1F1F1F"/>
                </a:highlight>
                <a:latin typeface="Consolas"/>
                <a:ea typeface="Consolas"/>
                <a:cs typeface="Consolas"/>
                <a:sym typeface="Consolas"/>
              </a:rPr>
              <a:t>Any</a:t>
            </a:r>
            <a:r>
              <a:rPr lang="en" sz="1000">
                <a:solidFill>
                  <a:srgbClr val="CCCCCC"/>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e</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=&gt;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e</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Active</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&amp;&amp;</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e</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IsSolid</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&amp;&amp;</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e</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Collidable</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&amp;&amp;</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sensor</a:t>
            </a:r>
            <a:r>
              <a:rPr lang="en" sz="1000">
                <a:solidFill>
                  <a:srgbClr val="D4D4D4"/>
                </a:solidFill>
                <a:highlight>
                  <a:srgbClr val="1F1F1F"/>
                </a:highlight>
                <a:latin typeface="Consolas"/>
                <a:ea typeface="Consolas"/>
                <a:cs typeface="Consolas"/>
                <a:sym typeface="Consolas"/>
              </a:rPr>
              <a:t>.</a:t>
            </a:r>
            <a:r>
              <a:rPr lang="en" sz="1000">
                <a:solidFill>
                  <a:srgbClr val="DCDCAA"/>
                </a:solidFill>
                <a:highlight>
                  <a:srgbClr val="1F1F1F"/>
                </a:highlight>
                <a:latin typeface="Consolas"/>
                <a:ea typeface="Consolas"/>
                <a:cs typeface="Consolas"/>
                <a:sym typeface="Consolas"/>
              </a:rPr>
              <a:t>Intersects</a:t>
            </a:r>
            <a:r>
              <a:rPr lang="en" sz="1000">
                <a:solidFill>
                  <a:srgbClr val="CCCCCC"/>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e</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Bounds</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6"/>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Tilemap Additions</a:t>
            </a:r>
            <a:endParaRPr/>
          </a:p>
        </p:txBody>
      </p:sp>
      <p:sp>
        <p:nvSpPr>
          <p:cNvPr id="231" name="Google Shape;231;p36"/>
          <p:cNvSpPr txBox="1"/>
          <p:nvPr>
            <p:ph idx="1" type="body"/>
          </p:nvPr>
        </p:nvSpPr>
        <p:spPr>
          <a:xfrm>
            <a:off x="2751000" y="1862025"/>
            <a:ext cx="3642000" cy="2075100"/>
          </a:xfrm>
          <a:prstGeom prst="rect">
            <a:avLst/>
          </a:prstGeom>
          <a:solidFill>
            <a:schemeClr val="dk2"/>
          </a:solidFill>
        </p:spPr>
        <p:txBody>
          <a:bodyPr anchorCtr="0" anchor="t" bIns="91425" lIns="91425" spcFirstLastPara="1" rIns="91425" wrap="square" tIns="91425">
            <a:normAutofit/>
          </a:bodyPr>
          <a:lstStyle/>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public</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Vector2</a:t>
            </a:r>
            <a:r>
              <a:rPr lang="en" sz="1000">
                <a:solidFill>
                  <a:srgbClr val="CCCCCC"/>
                </a:solidFill>
                <a:highlight>
                  <a:srgbClr val="1F1F1F"/>
                </a:highlight>
                <a:latin typeface="Consolas"/>
                <a:ea typeface="Consolas"/>
                <a:cs typeface="Consolas"/>
                <a:sym typeface="Consolas"/>
              </a:rPr>
              <a:t> </a:t>
            </a:r>
            <a:r>
              <a:rPr lang="en" sz="1000">
                <a:solidFill>
                  <a:srgbClr val="DCDCAA"/>
                </a:solidFill>
                <a:highlight>
                  <a:srgbClr val="1F1F1F"/>
                </a:highlight>
                <a:latin typeface="Consolas"/>
                <a:ea typeface="Consolas"/>
                <a:cs typeface="Consolas"/>
                <a:sym typeface="Consolas"/>
              </a:rPr>
              <a:t>TileToPoint</a:t>
            </a:r>
            <a:r>
              <a:rPr lang="en" sz="1000">
                <a:solidFill>
                  <a:srgbClr val="CCCCCC"/>
                </a:solidFill>
                <a:highlight>
                  <a:srgbClr val="1F1F1F"/>
                </a:highlight>
                <a:latin typeface="Consolas"/>
                <a:ea typeface="Consolas"/>
                <a:cs typeface="Consolas"/>
                <a:sym typeface="Consolas"/>
              </a:rPr>
              <a:t>(</a:t>
            </a:r>
            <a:r>
              <a:rPr lang="en" sz="1000">
                <a:solidFill>
                  <a:srgbClr val="569CD6"/>
                </a:solidFill>
                <a:highlight>
                  <a:srgbClr val="1F1F1F"/>
                </a:highlight>
                <a:latin typeface="Consolas"/>
                <a:ea typeface="Consolas"/>
                <a:cs typeface="Consolas"/>
                <a:sym typeface="Consolas"/>
              </a:rPr>
              <a:t>int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column</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int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row</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public</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bool</a:t>
            </a:r>
            <a:r>
              <a:rPr lang="en" sz="1000">
                <a:solidFill>
                  <a:srgbClr val="CCCCCC"/>
                </a:solidFill>
                <a:highlight>
                  <a:srgbClr val="1F1F1F"/>
                </a:highlight>
                <a:latin typeface="Consolas"/>
                <a:ea typeface="Consolas"/>
                <a:cs typeface="Consolas"/>
                <a:sym typeface="Consolas"/>
              </a:rPr>
              <a:t> </a:t>
            </a:r>
            <a:r>
              <a:rPr lang="en" sz="1000">
                <a:solidFill>
                  <a:srgbClr val="DCDCAA"/>
                </a:solidFill>
                <a:highlight>
                  <a:srgbClr val="1F1F1F"/>
                </a:highlight>
                <a:latin typeface="Consolas"/>
                <a:ea typeface="Consolas"/>
                <a:cs typeface="Consolas"/>
                <a:sym typeface="Consolas"/>
              </a:rPr>
              <a:t>IsSolidAt</a:t>
            </a:r>
            <a:r>
              <a:rPr lang="en" sz="1000">
                <a:solidFill>
                  <a:srgbClr val="CCCCCC"/>
                </a:solidFill>
                <a:highlight>
                  <a:srgbClr val="1F1F1F"/>
                </a:highlight>
                <a:latin typeface="Consolas"/>
                <a:ea typeface="Consolas"/>
                <a:cs typeface="Consolas"/>
                <a:sym typeface="Consolas"/>
              </a:rPr>
              <a:t>(</a:t>
            </a:r>
            <a:r>
              <a:rPr lang="en" sz="1000">
                <a:solidFill>
                  <a:srgbClr val="569CD6"/>
                </a:solidFill>
                <a:highlight>
                  <a:srgbClr val="1F1F1F"/>
                </a:highlight>
                <a:latin typeface="Consolas"/>
                <a:ea typeface="Consolas"/>
                <a:cs typeface="Consolas"/>
                <a:sym typeface="Consolas"/>
              </a:rPr>
              <a:t>float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x</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float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y</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public</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float</a:t>
            </a:r>
            <a:r>
              <a:rPr lang="en" sz="1000">
                <a:solidFill>
                  <a:srgbClr val="CCCCCC"/>
                </a:solidFill>
                <a:highlight>
                  <a:srgbClr val="1F1F1F"/>
                </a:highlight>
                <a:latin typeface="Consolas"/>
                <a:ea typeface="Consolas"/>
                <a:cs typeface="Consolas"/>
                <a:sym typeface="Consolas"/>
              </a:rPr>
              <a:t> </a:t>
            </a:r>
            <a:r>
              <a:rPr lang="en" sz="1000">
                <a:solidFill>
                  <a:srgbClr val="DCDCAA"/>
                </a:solidFill>
                <a:highlight>
                  <a:srgbClr val="1F1F1F"/>
                </a:highlight>
                <a:latin typeface="Consolas"/>
                <a:ea typeface="Consolas"/>
                <a:cs typeface="Consolas"/>
                <a:sym typeface="Consolas"/>
              </a:rPr>
              <a:t>GetTileLeft</a:t>
            </a:r>
            <a:r>
              <a:rPr lang="en" sz="1000">
                <a:solidFill>
                  <a:srgbClr val="CCCCCC"/>
                </a:solidFill>
                <a:highlight>
                  <a:srgbClr val="1F1F1F"/>
                </a:highlight>
                <a:latin typeface="Consolas"/>
                <a:ea typeface="Consolas"/>
                <a:cs typeface="Consolas"/>
                <a:sym typeface="Consolas"/>
              </a:rPr>
              <a:t>(</a:t>
            </a:r>
            <a:r>
              <a:rPr lang="en" sz="1000">
                <a:solidFill>
                  <a:srgbClr val="569CD6"/>
                </a:solidFill>
                <a:highlight>
                  <a:srgbClr val="1F1F1F"/>
                </a:highlight>
                <a:latin typeface="Consolas"/>
                <a:ea typeface="Consolas"/>
                <a:cs typeface="Consolas"/>
                <a:sym typeface="Consolas"/>
              </a:rPr>
              <a:t>float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x</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public</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float</a:t>
            </a:r>
            <a:r>
              <a:rPr lang="en" sz="1000">
                <a:solidFill>
                  <a:srgbClr val="CCCCCC"/>
                </a:solidFill>
                <a:highlight>
                  <a:srgbClr val="1F1F1F"/>
                </a:highlight>
                <a:latin typeface="Consolas"/>
                <a:ea typeface="Consolas"/>
                <a:cs typeface="Consolas"/>
                <a:sym typeface="Consolas"/>
              </a:rPr>
              <a:t> </a:t>
            </a:r>
            <a:r>
              <a:rPr lang="en" sz="1000">
                <a:solidFill>
                  <a:srgbClr val="DCDCAA"/>
                </a:solidFill>
                <a:highlight>
                  <a:srgbClr val="1F1F1F"/>
                </a:highlight>
                <a:latin typeface="Consolas"/>
                <a:ea typeface="Consolas"/>
                <a:cs typeface="Consolas"/>
                <a:sym typeface="Consolas"/>
              </a:rPr>
              <a:t>GetTileRight</a:t>
            </a:r>
            <a:r>
              <a:rPr lang="en" sz="1000">
                <a:solidFill>
                  <a:srgbClr val="CCCCCC"/>
                </a:solidFill>
                <a:highlight>
                  <a:srgbClr val="1F1F1F"/>
                </a:highlight>
                <a:latin typeface="Consolas"/>
                <a:ea typeface="Consolas"/>
                <a:cs typeface="Consolas"/>
                <a:sym typeface="Consolas"/>
              </a:rPr>
              <a:t>(</a:t>
            </a:r>
            <a:r>
              <a:rPr lang="en" sz="1000">
                <a:solidFill>
                  <a:srgbClr val="569CD6"/>
                </a:solidFill>
                <a:highlight>
                  <a:srgbClr val="1F1F1F"/>
                </a:highlight>
                <a:latin typeface="Consolas"/>
                <a:ea typeface="Consolas"/>
                <a:cs typeface="Consolas"/>
                <a:sym typeface="Consolas"/>
              </a:rPr>
              <a:t>float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x</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public</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float</a:t>
            </a:r>
            <a:r>
              <a:rPr lang="en" sz="1000">
                <a:solidFill>
                  <a:srgbClr val="CCCCCC"/>
                </a:solidFill>
                <a:highlight>
                  <a:srgbClr val="1F1F1F"/>
                </a:highlight>
                <a:latin typeface="Consolas"/>
                <a:ea typeface="Consolas"/>
                <a:cs typeface="Consolas"/>
                <a:sym typeface="Consolas"/>
              </a:rPr>
              <a:t> </a:t>
            </a:r>
            <a:r>
              <a:rPr lang="en" sz="1000">
                <a:solidFill>
                  <a:srgbClr val="DCDCAA"/>
                </a:solidFill>
                <a:highlight>
                  <a:srgbClr val="1F1F1F"/>
                </a:highlight>
                <a:latin typeface="Consolas"/>
                <a:ea typeface="Consolas"/>
                <a:cs typeface="Consolas"/>
                <a:sym typeface="Consolas"/>
              </a:rPr>
              <a:t>GetTileTop</a:t>
            </a:r>
            <a:r>
              <a:rPr lang="en" sz="1000">
                <a:solidFill>
                  <a:srgbClr val="CCCCCC"/>
                </a:solidFill>
                <a:highlight>
                  <a:srgbClr val="1F1F1F"/>
                </a:highlight>
                <a:latin typeface="Consolas"/>
                <a:ea typeface="Consolas"/>
                <a:cs typeface="Consolas"/>
                <a:sym typeface="Consolas"/>
              </a:rPr>
              <a:t>(</a:t>
            </a:r>
            <a:r>
              <a:rPr lang="en" sz="1000">
                <a:solidFill>
                  <a:srgbClr val="569CD6"/>
                </a:solidFill>
                <a:highlight>
                  <a:srgbClr val="1F1F1F"/>
                </a:highlight>
                <a:latin typeface="Consolas"/>
                <a:ea typeface="Consolas"/>
                <a:cs typeface="Consolas"/>
                <a:sym typeface="Consolas"/>
              </a:rPr>
              <a:t>float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y</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public</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float</a:t>
            </a:r>
            <a:r>
              <a:rPr lang="en" sz="1000">
                <a:solidFill>
                  <a:srgbClr val="CCCCCC"/>
                </a:solidFill>
                <a:highlight>
                  <a:srgbClr val="1F1F1F"/>
                </a:highlight>
                <a:latin typeface="Consolas"/>
                <a:ea typeface="Consolas"/>
                <a:cs typeface="Consolas"/>
                <a:sym typeface="Consolas"/>
              </a:rPr>
              <a:t> </a:t>
            </a:r>
            <a:r>
              <a:rPr lang="en" sz="1000">
                <a:solidFill>
                  <a:srgbClr val="DCDCAA"/>
                </a:solidFill>
                <a:highlight>
                  <a:srgbClr val="1F1F1F"/>
                </a:highlight>
                <a:latin typeface="Consolas"/>
                <a:ea typeface="Consolas"/>
                <a:cs typeface="Consolas"/>
                <a:sym typeface="Consolas"/>
              </a:rPr>
              <a:t>GetTileBottom</a:t>
            </a:r>
            <a:r>
              <a:rPr lang="en" sz="1000">
                <a:solidFill>
                  <a:srgbClr val="CCCCCC"/>
                </a:solidFill>
                <a:highlight>
                  <a:srgbClr val="1F1F1F"/>
                </a:highlight>
                <a:latin typeface="Consolas"/>
                <a:ea typeface="Consolas"/>
                <a:cs typeface="Consolas"/>
                <a:sym typeface="Consolas"/>
              </a:rPr>
              <a:t>(</a:t>
            </a:r>
            <a:r>
              <a:rPr lang="en" sz="1000">
                <a:solidFill>
                  <a:srgbClr val="569CD6"/>
                </a:solidFill>
                <a:highlight>
                  <a:srgbClr val="1F1F1F"/>
                </a:highlight>
                <a:latin typeface="Consolas"/>
                <a:ea typeface="Consolas"/>
                <a:cs typeface="Consolas"/>
                <a:sym typeface="Consolas"/>
              </a:rPr>
              <a:t>float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y</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private</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Tile</a:t>
            </a:r>
            <a:r>
              <a:rPr lang="en" sz="1000">
                <a:solidFill>
                  <a:srgbClr val="CCCCCC"/>
                </a:solidFill>
                <a:highlight>
                  <a:srgbClr val="1F1F1F"/>
                </a:highlight>
                <a:latin typeface="Consolas"/>
                <a:ea typeface="Consolas"/>
                <a:cs typeface="Consolas"/>
                <a:sym typeface="Consolas"/>
              </a:rPr>
              <a:t>? </a:t>
            </a:r>
            <a:r>
              <a:rPr lang="en" sz="1000">
                <a:solidFill>
                  <a:srgbClr val="DCDCAA"/>
                </a:solidFill>
                <a:highlight>
                  <a:srgbClr val="1F1F1F"/>
                </a:highlight>
                <a:latin typeface="Consolas"/>
                <a:ea typeface="Consolas"/>
                <a:cs typeface="Consolas"/>
                <a:sym typeface="Consolas"/>
              </a:rPr>
              <a:t>GetTileAt</a:t>
            </a:r>
            <a:r>
              <a:rPr lang="en" sz="1000">
                <a:solidFill>
                  <a:srgbClr val="CCCCCC"/>
                </a:solidFill>
                <a:highlight>
                  <a:srgbClr val="1F1F1F"/>
                </a:highlight>
                <a:latin typeface="Consolas"/>
                <a:ea typeface="Consolas"/>
                <a:cs typeface="Consolas"/>
                <a:sym typeface="Consolas"/>
              </a:rPr>
              <a:t>(</a:t>
            </a:r>
            <a:r>
              <a:rPr lang="en" sz="1000">
                <a:solidFill>
                  <a:srgbClr val="569CD6"/>
                </a:solidFill>
                <a:highlight>
                  <a:srgbClr val="1F1F1F"/>
                </a:highlight>
                <a:latin typeface="Consolas"/>
                <a:ea typeface="Consolas"/>
                <a:cs typeface="Consolas"/>
                <a:sym typeface="Consolas"/>
              </a:rPr>
              <a:t>float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x</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float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y</a:t>
            </a:r>
            <a:r>
              <a:rPr lang="en" sz="1000">
                <a:solidFill>
                  <a:srgbClr val="CCCCCC"/>
                </a:solidFill>
                <a:highlight>
                  <a:srgbClr val="1F1F1F"/>
                </a:highlight>
                <a:latin typeface="Consolas"/>
                <a:ea typeface="Consolas"/>
                <a:cs typeface="Consolas"/>
                <a:sym typeface="Consolas"/>
              </a:rPr>
              <a: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7"/>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Coyote Time</a:t>
            </a:r>
            <a:endParaRPr/>
          </a:p>
        </p:txBody>
      </p:sp>
      <p:pic>
        <p:nvPicPr>
          <p:cNvPr id="237" name="Picture 236" descr="coyote.png"/>
          <p:cNvPicPr>
            <a:picLocks noChangeAspect="1"/>
          </p:cNvPicPr>
          <p:nvPr/>
        </p:nvPicPr>
        <p:blipFill>
          <a:blip r:embed="rId5"/>
          <a:stretch>
            <a:fillRect/>
          </a:stretch>
        </p:blipFill>
        <p:spPr>
          <a:xfrm>
            <a:off x="320039" y="1051560"/>
            <a:ext cx="8503920" cy="35433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8"/>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Platformer Physics Performance</a:t>
            </a:r>
            <a:endParaRPr/>
          </a:p>
        </p:txBody>
      </p:sp>
      <p:sp>
        <p:nvSpPr>
          <p:cNvPr id="244" name="Google Shape;244;p38"/>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The player against the tiles: a lookup. Against entities: checks.</a:t>
            </a:r>
            <a:endParaRPr/>
          </a:p>
        </p:txBody>
      </p:sp>
      <p:sp>
        <p:nvSpPr>
          <p:cNvPr id="245" name="Rounded Rectangle 244"/>
          <p:cNvSpPr/>
          <p:nvPr/>
        </p:nvSpPr>
        <p:spPr>
          <a:xfrm>
            <a:off x="548640" y="1417320"/>
            <a:ext cx="3749039" cy="1097280"/>
          </a:xfrm>
          <a:prstGeom prst="roundRect">
            <a:avLst>
              <a:gd name="adj" fmla="val 12000"/>
            </a:avLst>
          </a:prstGeom>
          <a:solidFill>
            <a:srgbClr val="2E3338"/>
          </a:solidFill>
          <a:ln w="25400">
            <a:solidFill>
              <a:srgbClr val="D45D3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DEE2E6"/>
                </a:solidFill>
              </a:rPr>
              <a:t>Tiles: O(1)</a:t>
            </a:r>
          </a:p>
          <a:p>
            <a:pPr algn="ctr"/>
            <a:r>
              <a:rPr sz="1400" b="0">
                <a:solidFill>
                  <a:srgbClr val="9AA3AB"/>
                </a:solidFill>
              </a:rPr>
              <a:t>the grid never moves: look up</a:t>
            </a:r>
          </a:p>
          <a:p>
            <a:pPr algn="ctr"/>
            <a:r>
              <a:rPr sz="1400" b="0">
                <a:solidFill>
                  <a:srgbClr val="9AA3AB"/>
                </a:solidFill>
              </a:rPr>
              <a:t>the tile at a point</a:t>
            </a:r>
          </a:p>
        </p:txBody>
      </p:sp>
      <p:sp>
        <p:nvSpPr>
          <p:cNvPr id="246" name="Rounded Rectangle 245"/>
          <p:cNvSpPr/>
          <p:nvPr/>
        </p:nvSpPr>
        <p:spPr>
          <a:xfrm>
            <a:off x="4846320" y="1417320"/>
            <a:ext cx="3749039" cy="109728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DEE2E6"/>
                </a:solidFill>
              </a:rPr>
              <a:t>Entities: O(n) per mover</a:t>
            </a:r>
          </a:p>
          <a:p>
            <a:pPr algn="ctr"/>
            <a:r>
              <a:rPr sz="1400" b="0">
                <a:solidFill>
                  <a:srgbClr val="9AA3AB"/>
                </a:solidFill>
              </a:rPr>
              <a:t>they move, so check each;</a:t>
            </a:r>
          </a:p>
          <a:p>
            <a:pPr algn="ctr"/>
            <a:r>
              <a:rPr sz="1400" b="0">
                <a:solidFill>
                  <a:srgbClr val="9AA3AB"/>
                </a:solidFill>
              </a:rPr>
              <a:t>every pair would be O(n²)</a:t>
            </a:r>
          </a:p>
        </p:txBody>
      </p:sp>
      <p:sp>
        <p:nvSpPr>
          <p:cNvPr id="247" name="Rectangle 246"/>
          <p:cNvSpPr/>
          <p:nvPr/>
        </p:nvSpPr>
        <p:spPr>
          <a:xfrm>
            <a:off x="548640" y="2788920"/>
            <a:ext cx="8046720" cy="731520"/>
          </a:xfrm>
          <a:prstGeom prst="rect">
            <a:avLst/>
          </a:prstGeom>
          <a:solidFill>
            <a:srgbClr val="171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73152"/>
          <a:lstStyle/>
          <a:p>
            <a:pPr algn="l"/>
            <a:r>
              <a:rPr sz="1400" b="0">
                <a:solidFill>
                  <a:srgbClr val="DEE2E6"/>
                </a:solidFill>
              </a:rPr>
              <a:t/>
            </a:r>
            <a:r>
              <a:rPr sz="1300">
                <a:solidFill>
                  <a:srgbClr val="DEE2E6"/>
                </a:solidFill>
                <a:latin typeface="Consolas"/>
              </a:rPr>
              <a:t>public bool IsSolidAt(float x, float y) =&gt; GetTileAt(x, y)?.IsSolid ?? false;</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43" name="Google Shape;243;p38"/>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Debug Drawing</a:t>
            </a:r>
            <a:endParaRPr/>
          </a:p>
        </p:txBody>
      </p:sp>
      <p:sp>
        <p:nvSpPr>
          <p:cNvPr id="244" name="Google Shape;244;p38"/>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The player falls through a corner, and you can’t see why, because hitboxes are invisible.</a:t>
            </a:r>
            <a:endParaRPr/>
          </a:p>
        </p:txBody>
      </p:sp>
      <p:sp>
        <p:nvSpPr>
          <p:cNvPr id="245" name="Rounded Rectangle 244"/>
          <p:cNvSpPr/>
          <p:nvPr/>
        </p:nvSpPr>
        <p:spPr>
          <a:xfrm>
            <a:off x="548640" y="1417320"/>
            <a:ext cx="2468880" cy="64008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Solid tiles</a:t>
            </a:r>
          </a:p>
          <a:p>
            <a:pPr algn="ctr"/>
            <a:r>
              <a:rPr sz="1300" b="0">
                <a:solidFill>
                  <a:srgbClr val="9AA3AB"/>
                </a:solidFill>
              </a:rPr>
              <a:t>drawn in red</a:t>
            </a:r>
          </a:p>
        </p:txBody>
      </p:sp>
      <p:sp>
        <p:nvSpPr>
          <p:cNvPr id="246" name="Rounded Rectangle 245"/>
          <p:cNvSpPr/>
          <p:nvPr/>
        </p:nvSpPr>
        <p:spPr>
          <a:xfrm>
            <a:off x="3291840" y="1417320"/>
            <a:ext cx="2468880" cy="64008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The player’s hitbox</a:t>
            </a:r>
          </a:p>
          <a:p>
            <a:pPr algn="ctr"/>
            <a:r>
              <a:rPr sz="1300" b="0">
                <a:solidFill>
                  <a:srgbClr val="9AA3AB"/>
                </a:solidFill>
              </a:rPr>
              <a:t>drawn in green</a:t>
            </a:r>
          </a:p>
        </p:txBody>
      </p:sp>
      <p:sp>
        <p:nvSpPr>
          <p:cNvPr id="247" name="Rounded Rectangle 246"/>
          <p:cNvSpPr/>
          <p:nvPr/>
        </p:nvSpPr>
        <p:spPr>
          <a:xfrm>
            <a:off x="6035040" y="1417320"/>
            <a:ext cx="2468880" cy="64008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Entities</a:t>
            </a:r>
          </a:p>
          <a:p>
            <a:pPr algn="ctr"/>
            <a:r>
              <a:rPr sz="1300" b="0">
                <a:solidFill>
                  <a:srgbClr val="9AA3AB"/>
                </a:solidFill>
              </a:rPr>
              <a:t>drawn in yellow</a:t>
            </a:r>
          </a:p>
        </p:txBody>
      </p:sp>
      <p:sp>
        <p:nvSpPr>
          <p:cNvPr id="248" name="TextBox 247"/>
          <p:cNvSpPr txBox="1"/>
          <p:nvPr/>
        </p:nvSpPr>
        <p:spPr>
          <a:xfrm>
            <a:off x="548640" y="2286000"/>
            <a:ext cx="8046720" cy="365760"/>
          </a:xfrm>
          <a:prstGeom prst="rect">
            <a:avLst/>
          </a:prstGeom>
          <a:noFill/>
        </p:spPr>
        <p:txBody>
          <a:bodyPr wrap="square">
            <a:spAutoFit/>
          </a:bodyPr>
          <a:lstStyle/>
          <a:p>
            <a:pPr algn="ctr"/>
            <a:r>
              <a:rPr sz="1300" b="0" i="0">
                <a:solidFill>
                  <a:srgbClr val="9AA3AB"/>
                </a:solidFill>
              </a:rPr>
              <a:t>Press F1. DebugDraw in GARCore draws nothing unless enabled, so the calls can stay in the code.</a:t>
            </a:r>
          </a:p>
        </p:txBody>
      </p:sp>
      <p:sp>
        <p:nvSpPr>
          <p:cNvPr id="249" name="Rounded Rectangle 248"/>
          <p:cNvSpPr/>
          <p:nvPr/>
        </p:nvSpPr>
        <p:spPr>
          <a:xfrm>
            <a:off x="548640" y="2834640"/>
            <a:ext cx="3749039" cy="82296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The debugger</a:t>
            </a:r>
          </a:p>
          <a:p>
            <a:pPr algn="ctr"/>
            <a:r>
              <a:rPr sz="1300" b="0">
                <a:solidFill>
                  <a:srgbClr val="9AA3AB"/>
                </a:solidFill>
              </a:rPr>
              <a:t>exact values, at one moment</a:t>
            </a:r>
          </a:p>
        </p:txBody>
      </p:sp>
      <p:sp>
        <p:nvSpPr>
          <p:cNvPr id="250" name="Rounded Rectangle 249"/>
          <p:cNvSpPr/>
          <p:nvPr/>
        </p:nvSpPr>
        <p:spPr>
          <a:xfrm>
            <a:off x="4846320" y="2834640"/>
            <a:ext cx="3749039" cy="822960"/>
          </a:xfrm>
          <a:prstGeom prst="roundRect">
            <a:avLst>
              <a:gd name="adj" fmla="val 12000"/>
            </a:avLst>
          </a:prstGeom>
          <a:solidFill>
            <a:srgbClr val="2E3338"/>
          </a:solidFill>
          <a:ln w="25400">
            <a:solidFill>
              <a:srgbClr val="D45D3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Debug drawing</a:t>
            </a:r>
          </a:p>
          <a:p>
            <a:pPr algn="ctr"/>
            <a:r>
              <a:rPr sz="1300" b="0">
                <a:solidFill>
                  <a:srgbClr val="9AA3AB"/>
                </a:solidFill>
              </a:rPr>
              <a:t>what happens, over time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6" name="Google Shape;236;p37"/>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Debug Drawing in Action</a:t>
            </a:r>
            <a:endParaRPr/>
          </a:p>
        </p:txBody>
      </p:sp>
      <p:pic>
        <p:nvPicPr>
          <p:cNvPr id="237" name="Picture 237" descr="mario_debug.png"/>
          <p:cNvPicPr>
            <a:picLocks noChangeAspect="1"/>
          </p:cNvPicPr>
          <p:nvPr/>
        </p:nvPicPr>
        <p:blipFill>
          <a:blip r:embed="rId3"/>
          <a:stretch>
            <a:fillRect/>
          </a:stretch>
        </p:blipFill>
        <p:spPr>
          <a:xfrm>
            <a:off x="1280160" y="1005840"/>
            <a:ext cx="6583680" cy="370332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9"/>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Platformer Physics Implementation</a:t>
            </a:r>
            <a:endParaRPr>
              <a:solidFill>
                <a:schemeClr val="accent5"/>
              </a:solidFill>
            </a:endParaRPr>
          </a:p>
        </p:txBody>
      </p:sp>
      <p:sp>
        <p:nvSpPr>
          <p:cNvPr id="252" name="Google Shape;252;p39"/>
          <p:cNvSpPr txBox="1"/>
          <p:nvPr>
            <p:ph idx="1" type="body"/>
          </p:nvPr>
        </p:nvSpPr>
        <p:spPr>
          <a:xfrm>
            <a:off x="311700" y="885950"/>
            <a:ext cx="8520600" cy="4023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sz="2900">
                <a:latin typeface="VT323"/>
                <a:ea typeface="VT323"/>
                <a:cs typeface="VT323"/>
                <a:sym typeface="VT323"/>
              </a:rPr>
              <a:t>DEMO!</a:t>
            </a:r>
            <a:endParaRPr/>
          </a:p>
          <a:p>
            <a:pPr indent="0" lvl="0" marL="0" rtl="0" algn="ctr">
              <a:spcBef>
                <a:spcPts val="0"/>
              </a:spcBef>
              <a:spcAft>
                <a:spcPts val="1200"/>
              </a:spcAft>
              <a:buNone/>
            </a:pPr>
            <a:r>
              <a:rPr lang="en" sz="1800"/>
              <a:t>Mario2: gravity, tile collision, coyote time and debug drawing (F1)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Try It: Hitbox and Coyote Time</a:t>
            </a:r>
            <a:endParaRPr/>
          </a:p>
        </p:txBody>
      </p:sp>
      <p:sp>
        <p:nvSpPr>
          <p:cNvPr id="3" name="Text Placeholder 2"/>
          <p:cNvSpPr>
            <a:spLocks noGrp="1"/>
          </p:cNvSpPr>
          <p:nvPr>
            <p:ph type="body" idx="1"/>
          </p:nvPr>
        </p:nvSpPr>
        <p:spPr>
          <a:xfrm>
            <a:off x="311700" y="885950"/>
            <a:ext cx="8520600" cy="1289304"/>
          </a:xfrm>
        </p:spPr>
        <p:txBody>
          <a:bodyPr/>
          <a:lstStyle/>
          <a:p>
            <a:pPr indent="-330200" lvl="0" marL="457200" rtl="0" algn="l">
              <a:spcBef>
                <a:spcPts val="0"/>
              </a:spcBef>
              <a:spcAft>
                <a:spcPts val="0"/>
              </a:spcAft>
              <a:buSzPts val="1600"/>
              <a:buChar char="●"/>
            </a:pPr>
            <a:r>
              <a:rPr lang="en"/>
              <a:t>In Mario2, press F1:</a:t>
            </a:r>
            <a:endParaRPr/>
          </a:p>
          <a:p>
            <a:pPr indent="-330200" lvl="0" marL="457200" rtl="0" algn="l">
              <a:spcBef>
                <a:spcPts val="0"/>
              </a:spcBef>
              <a:spcAft>
                <a:spcPts val="0"/>
              </a:spcAft>
              <a:buSzPts val="1600"/>
              <a:buChar char="●"/>
            </a:pPr>
            <a:r>
              <a:rPr lang="en"/>
              <a:t>Set HitboxInset to 0. Can you still fall into a one-tile pit?</a:t>
            </a:r>
            <a:endParaRPr/>
          </a:p>
          <a:p>
            <a:pPr indent="-330200" lvl="0" marL="457200" rtl="0" algn="l">
              <a:spcBef>
                <a:spcPts val="0"/>
              </a:spcBef>
              <a:spcAft>
                <a:spcPts val="0"/>
              </a:spcAft>
              <a:buSzPts val="1600"/>
              <a:buChar char="●"/>
            </a:pPr>
            <a:r>
              <a:rPr lang="en"/>
              <a:t>Set CoyoteTime to 0.5. How does jumping off ledges feel?</a:t>
            </a:r>
            <a:endParaR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Player States</a:t>
            </a:r>
            <a:endParaRPr/>
          </a:p>
        </p:txBody>
      </p:sp>
      <p:sp>
        <p:nvSpPr>
          <p:cNvPr id="3" name="Text Placeholder 2"/>
          <p:cNvSpPr>
            <a:spLocks noGrp="1"/>
          </p:cNvSpPr>
          <p:nvPr>
            <p:ph type="body" idx="1"/>
          </p:nvPr>
        </p:nvSpPr>
        <p:spPr>
          <a:xfrm>
            <a:off x="311700" y="885950"/>
            <a:ext cx="8520600" cy="1673352"/>
          </a:xfrm>
        </p:spPr>
        <p:txBody>
          <a:bodyPr/>
          <a:lstStyle/>
          <a:p>
            <a:pPr indent="-330200" lvl="0" marL="457200" rtl="0" algn="l">
              <a:spcBef>
                <a:spcPts val="0"/>
              </a:spcBef>
              <a:spcAft>
                <a:spcPts val="0"/>
              </a:spcAft>
              <a:buSzPts val="1600"/>
              <a:buChar char="●"/>
            </a:pPr>
            <a:r>
              <a:rPr lang="en"/>
              <a:t>Mario2: an enum and switches, where Pac-Man’s ghosts started</a:t>
            </a:r>
            <a:endParaRPr/>
          </a:p>
          <a:p>
            <a:pPr indent="-330200" lvl="0" marL="457200" rtl="0" algn="l">
              <a:spcBef>
                <a:spcPts val="0"/>
              </a:spcBef>
              <a:spcAft>
                <a:spcPts val="0"/>
              </a:spcAft>
              <a:buSzPts val="1600"/>
              <a:buChar char="●"/>
            </a:pPr>
            <a:r>
              <a:rPr lang="en"/>
              <a:t>Mario3: one class per state, as in Pac-Man</a:t>
            </a:r>
            <a:endParaRPr/>
          </a:p>
          <a:p>
            <a:pPr indent="-330200" lvl="0" marL="457200" rtl="0" algn="l">
              <a:spcBef>
                <a:spcPts val="0"/>
              </a:spcBef>
              <a:spcAft>
                <a:spcPts val="0"/>
              </a:spcAft>
              <a:buSzPts val="1600"/>
              <a:buChar char="●"/>
            </a:pPr>
            <a:r>
              <a:rPr lang="en"/>
              <a:t>New: shared physics, once, in PlayerStateBase</a:t>
            </a:r>
            <a:endParaRPr/>
          </a:p>
          <a:p>
            <a:pPr indent="-330200" lvl="0" marL="457200" rtl="0" algn="l">
              <a:spcBef>
                <a:spcPts val="0"/>
              </a:spcBef>
              <a:spcAft>
                <a:spcPts val="0"/>
              </a:spcAft>
              <a:buSzPts val="1600"/>
              <a:buChar char="●"/>
            </a:pPr>
            <a:r>
              <a:rPr lang="en"/>
              <a:t>New: the level triggers transitions (no ground, top of the jump, landing)</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4"/>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Player State </a:t>
            </a:r>
            <a:r>
              <a:rPr lang="en">
                <a:solidFill>
                  <a:schemeClr val="accent5"/>
                </a:solidFill>
              </a:rPr>
              <a:t>Implementation</a:t>
            </a:r>
            <a:endParaRPr>
              <a:solidFill>
                <a:schemeClr val="accent5"/>
              </a:solidFill>
            </a:endParaRPr>
          </a:p>
        </p:txBody>
      </p:sp>
      <p:sp>
        <p:nvSpPr>
          <p:cNvPr id="146" name="Google Shape;146;p24"/>
          <p:cNvSpPr txBox="1"/>
          <p:nvPr>
            <p:ph idx="1" type="body"/>
          </p:nvPr>
        </p:nvSpPr>
        <p:spPr>
          <a:xfrm>
            <a:off x="311700" y="885950"/>
            <a:ext cx="8520600" cy="4023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sz="2900">
                <a:latin typeface="VT323"/>
                <a:ea typeface="VT323"/>
                <a:cs typeface="VT323"/>
                <a:sym typeface="VT323"/>
              </a:rPr>
              <a:t>DEMO!</a:t>
            </a:r>
            <a:endParaRPr/>
          </a:p>
          <a:p>
            <a:pPr indent="0" lvl="0" marL="0" rtl="0" algn="ctr">
              <a:spcBef>
                <a:spcPts val="0"/>
              </a:spcBef>
              <a:spcAft>
                <a:spcPts val="1200"/>
              </a:spcAft>
              <a:buNone/>
            </a:pPr>
            <a:r>
              <a:rPr lang="en" sz="1800"/>
              <a:t>Mario2 → Mario3: from an enum to the State pattern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Try It: Tune the Player</a:t>
            </a:r>
            <a:endParaRPr/>
          </a:p>
        </p:txBody>
      </p:sp>
      <p:sp>
        <p:nvSpPr>
          <p:cNvPr id="3" name="Text Placeholder 2"/>
          <p:cNvSpPr>
            <a:spLocks noGrp="1"/>
          </p:cNvSpPr>
          <p:nvPr>
            <p:ph type="body" idx="1"/>
          </p:nvPr>
        </p:nvSpPr>
        <p:spPr>
          <a:xfrm>
            <a:off x="311700" y="885950"/>
            <a:ext cx="8520600" cy="1673352"/>
          </a:xfrm>
        </p:spPr>
        <p:txBody>
          <a:bodyPr/>
          <a:lstStyle/>
          <a:p>
            <a:pPr indent="-330200" lvl="0" marL="457200" rtl="0" algn="l">
              <a:spcBef>
                <a:spcPts val="0"/>
              </a:spcBef>
              <a:spcAft>
                <a:spcPts val="0"/>
              </a:spcAft>
              <a:buSzPts val="1600"/>
              <a:buChar char="●"/>
            </a:pPr>
            <a:r>
              <a:rPr lang="en"/>
              <a:t>In Mario3:</a:t>
            </a:r>
            <a:endParaRPr/>
          </a:p>
          <a:p>
            <a:pPr indent="-330200" lvl="0" marL="457200" rtl="0" algn="l">
              <a:spcBef>
                <a:spcPts val="0"/>
              </a:spcBef>
              <a:spcAft>
                <a:spcPts val="0"/>
              </a:spcAft>
              <a:buSzPts val="1600"/>
              <a:buChar char="●"/>
            </a:pPr>
            <a:r>
              <a:rPr lang="en"/>
              <a:t>Make the player jump higher, and walk faster</a:t>
            </a:r>
            <a:endParaRPr/>
          </a:p>
          <a:p>
            <a:pPr indent="-330200" lvl="0" marL="457200" rtl="0" algn="l">
              <a:spcBef>
                <a:spcPts val="0"/>
              </a:spcBef>
              <a:spcAft>
                <a:spcPts val="0"/>
              </a:spcAft>
              <a:buSzPts val="1600"/>
              <a:buChar char="●"/>
            </a:pPr>
            <a:r>
              <a:rPr lang="en"/>
              <a:t>Which class holds each value?</a:t>
            </a:r>
            <a:endParaRPr/>
          </a:p>
          <a:p>
            <a:pPr indent="-330200" lvl="0" marL="457200" rtl="0" algn="l">
              <a:spcBef>
                <a:spcPts val="0"/>
              </a:spcBef>
              <a:spcAft>
                <a:spcPts val="0"/>
              </a:spcAft>
              <a:buSzPts val="1600"/>
              <a:buChar char="●"/>
            </a:pPr>
            <a:r>
              <a:rPr lang="en"/>
              <a:t>A double jump: a new state, or a flag?</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8"/>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Camera</a:t>
            </a:r>
            <a:endParaRPr/>
          </a:p>
        </p:txBody>
      </p:sp>
      <p:sp>
        <p:nvSpPr>
          <p:cNvPr id="171" name="Google Shape;171;p28"/>
          <p:cNvSpPr txBox="1"/>
          <p:nvPr>
            <p:ph idx="1" type="body"/>
          </p:nvPr>
        </p:nvSpPr>
        <p:spPr>
          <a:xfrm>
            <a:off x="311700" y="886968"/>
            <a:ext cx="8520600" cy="4572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The level is wider than the screen. Something has to follow the player.</a:t>
            </a:r>
            <a:endParaRPr/>
          </a:p>
        </p:txBody>
      </p:sp>
      <p:pic>
        <p:nvPicPr>
          <p:cNvPr id="172" name="Picture 171" descr="camera.png"/>
          <p:cNvPicPr>
            <a:picLocks noChangeAspect="1"/>
          </p:cNvPicPr>
          <p:nvPr/>
        </p:nvPicPr>
        <p:blipFill>
          <a:blip r:embed="rId3"/>
          <a:stretch>
            <a:fillRect/>
          </a:stretch>
        </p:blipFill>
        <p:spPr>
          <a:xfrm>
            <a:off x="699247" y="1371600"/>
            <a:ext cx="7745505" cy="3657600"/>
          </a:xfrm>
          <a:prstGeom prst="rect">
            <a:avLst/>
          </a:prstGeom>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9"/>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Camera Implementation</a:t>
            </a:r>
            <a:endParaRPr>
              <a:solidFill>
                <a:schemeClr val="accent5"/>
              </a:solidFill>
            </a:endParaRPr>
          </a:p>
        </p:txBody>
      </p:sp>
      <p:sp>
        <p:nvSpPr>
          <p:cNvPr id="178" name="Google Shape;178;p29"/>
          <p:cNvSpPr txBox="1"/>
          <p:nvPr>
            <p:ph idx="1" type="body"/>
          </p:nvPr>
        </p:nvSpPr>
        <p:spPr>
          <a:xfrm>
            <a:off x="311700" y="885950"/>
            <a:ext cx="8520600" cy="4023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sz="2900">
                <a:latin typeface="VT323"/>
                <a:ea typeface="VT323"/>
                <a:cs typeface="VT323"/>
                <a:sym typeface="VT323"/>
              </a:rPr>
              <a:t>DEMO!</a:t>
            </a:r>
            <a:endParaRPr/>
          </a:p>
          <a:p>
            <a:pPr indent="0" lvl="0" marL="0" rtl="0" algn="ctr">
              <a:spcBef>
                <a:spcPts val="0"/>
              </a:spcBef>
              <a:spcAft>
                <a:spcPts val="1200"/>
              </a:spcAft>
              <a:buNone/>
            </a:pPr>
            <a:r>
              <a:rPr lang="en" sz="1800"/>
              <a:t>Mario4: camera and a wide level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Try It: The Background</a:t>
            </a:r>
            <a:endParaRPr/>
          </a:p>
        </p:txBody>
      </p:sp>
      <p:sp>
        <p:nvSpPr>
          <p:cNvPr id="3" name="Text Placeholder 2"/>
          <p:cNvSpPr>
            <a:spLocks noGrp="1"/>
          </p:cNvSpPr>
          <p:nvPr>
            <p:ph type="body" idx="1"/>
          </p:nvPr>
        </p:nvSpPr>
        <p:spPr>
          <a:xfrm>
            <a:off x="311700" y="885950"/>
            <a:ext cx="8520600" cy="1289304"/>
          </a:xfrm>
        </p:spPr>
        <p:txBody>
          <a:bodyPr/>
          <a:lstStyle/>
          <a:p>
            <a:pPr indent="-330200" lvl="0" marL="457200" rtl="0" algn="l">
              <a:spcBef>
                <a:spcPts val="0"/>
              </a:spcBef>
              <a:spcAft>
                <a:spcPts val="0"/>
              </a:spcAft>
              <a:buSzPts val="1600"/>
              <a:buChar char="●"/>
            </a:pPr>
            <a:r>
              <a:rPr lang="en"/>
              <a:t>In Mario4’s GameLevel:</a:t>
            </a:r>
            <a:endParaRPr/>
          </a:p>
          <a:p>
            <a:pPr indent="-330200" lvl="0" marL="457200" rtl="0" algn="l">
              <a:spcBef>
                <a:spcPts val="0"/>
              </a:spcBef>
              <a:spcAft>
                <a:spcPts val="0"/>
              </a:spcAft>
              <a:buSzPts val="1600"/>
              <a:buChar char="●"/>
            </a:pPr>
            <a:r>
              <a:rPr lang="en"/>
              <a:t>Make the background scroll at a quarter of the camera’s speed</a:t>
            </a:r>
            <a:endParaRPr/>
          </a:p>
          <a:p>
            <a:pPr indent="-330200" lvl="0" marL="457200" rtl="0" algn="l">
              <a:spcBef>
                <a:spcPts val="0"/>
              </a:spcBef>
              <a:spcAft>
                <a:spcPts val="0"/>
              </a:spcAft>
              <a:buSzPts val="1600"/>
              <a:buChar char="●"/>
            </a:pPr>
            <a:r>
              <a:rPr lang="en"/>
              <a:t>What do 0 and 1 look like?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0"/>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Entities</a:t>
            </a:r>
            <a:endParaRPr/>
          </a:p>
        </p:txBody>
      </p:sp>
      <p:sp>
        <p:nvSpPr>
          <p:cNvPr id="258" name="Google Shape;258;p40"/>
          <p:cNvSpPr txBox="1"/>
          <p:nvPr>
            <p:ph idx="1" type="body"/>
          </p:nvPr>
        </p:nvSpPr>
        <p:spPr>
          <a:xfrm>
            <a:off x="311700" y="885950"/>
            <a:ext cx="5669280" cy="118872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Entities are the things that aren’t tiles. They move, and don’t line up with the grid.</a:t>
            </a:r>
            <a:endParaRPr/>
          </a:p>
          <a:p>
            <a:pPr indent="-330200" lvl="0" marL="457200" rtl="0" algn="l">
              <a:spcBef>
                <a:spcPts val="0"/>
              </a:spcBef>
              <a:spcAft>
                <a:spcPts val="0"/>
              </a:spcAft>
              <a:buSzPts val="1600"/>
              <a:buChar char="●"/>
            </a:pPr>
            <a:r>
              <a:rPr lang="en"/>
              <a:t>The player, slimes, boxes, coins; each with its own states.</a:t>
            </a:r>
            <a:endParaRPr/>
          </a:p>
        </p:txBody>
      </p:sp>
      <p:pic>
        <p:nvPicPr>
          <p:cNvPr id="259" name="Picture 260" descr="entities.png"/>
          <p:cNvPicPr>
            <a:picLocks noChangeAspect="1"/>
          </p:cNvPicPr>
          <p:nvPr/>
        </p:nvPicPr>
        <p:blipFill>
          <a:blip r:embed="rId3"/>
          <a:stretch>
            <a:fillRect/>
          </a:stretch>
        </p:blipFill>
        <p:spPr>
          <a:xfrm>
            <a:off x="6223513" y="978672"/>
            <a:ext cx="2782285" cy="3179754"/>
          </a:xfrm>
          <a:prstGeom prst="rect">
            <a:avLst/>
          </a:prstGeom>
        </p:spPr>
      </p:pic>
      <p:sp>
        <p:nvSpPr>
          <p:cNvPr id="260" name="TextBox 259"/>
          <p:cNvSpPr txBox="1"/>
          <p:nvPr/>
        </p:nvSpPr>
        <p:spPr>
          <a:xfrm>
            <a:off x="457200" y="3017520"/>
            <a:ext cx="5486400" cy="731520"/>
          </a:xfrm>
          <a:prstGeom prst="rect">
            <a:avLst/>
          </a:prstGeom>
          <a:noFill/>
        </p:spPr>
        <p:txBody>
          <a:bodyPr wrap="square">
            <a:spAutoFit/>
          </a:bodyPr>
          <a:lstStyle/>
          <a:p>
            <a:pPr algn="ctr"/>
            <a:r>
              <a:rPr sz="1600" b="1" i="0">
                <a:solidFill>
                  <a:srgbClr val="DEE2E6"/>
                </a:solidFill>
              </a:rPr>
              <a:t>Many kinds of entity, each a class. Where does that end?</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Entity</a:t>
            </a:r>
            <a:endParaRPr/>
          </a:p>
        </p:txBody>
      </p:sp>
      <p:sp>
        <p:nvSpPr>
          <p:cNvPr id="276" name="Google Shape;276;p41"/>
          <p:cNvSpPr txBox="1"/>
          <p:nvPr>
            <p:ph idx="1" type="body"/>
          </p:nvPr>
        </p:nvSpPr>
        <p:spPr>
          <a:xfrm>
            <a:off x="311700" y="885950"/>
            <a:ext cx="3164700" cy="3042300"/>
          </a:xfrm>
          <a:prstGeom prst="rect">
            <a:avLst/>
          </a:prstGeom>
          <a:solidFill>
            <a:schemeClr val="dk2"/>
          </a:solidFill>
        </p:spPr>
        <p:txBody>
          <a:bodyPr anchorCtr="0" anchor="t" bIns="91425" lIns="91425" spcFirstLastPara="1" rIns="91425" wrap="square" tIns="91425">
            <a:normAutofit/>
          </a:bodyPr>
          <a:lstStyle/>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public</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interface</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IEntity</a:t>
            </a:r>
            <a:endParaRPr sz="1000">
              <a:solidFill>
                <a:srgbClr val="4EC9B0"/>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public</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Vector2</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Position</a:t>
            </a:r>
            <a:r>
              <a:rPr lang="en" sz="1000">
                <a:solidFill>
                  <a:srgbClr val="CCCCCC"/>
                </a:solidFill>
                <a:highlight>
                  <a:srgbClr val="1F1F1F"/>
                </a:highlight>
                <a:latin typeface="Consolas"/>
                <a:ea typeface="Consolas"/>
                <a:cs typeface="Consolas"/>
                <a:sym typeface="Consolas"/>
              </a:rPr>
              <a:t> { </a:t>
            </a:r>
            <a:r>
              <a:rPr lang="en" sz="1000">
                <a:solidFill>
                  <a:srgbClr val="569CD6"/>
                </a:solidFill>
                <a:highlight>
                  <a:srgbClr val="1F1F1F"/>
                </a:highlight>
                <a:latin typeface="Consolas"/>
                <a:ea typeface="Consolas"/>
                <a:cs typeface="Consolas"/>
                <a:sym typeface="Consolas"/>
              </a:rPr>
              <a:t>get</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set</a:t>
            </a:r>
            <a:r>
              <a:rPr lang="en" sz="1000">
                <a:solidFill>
                  <a:srgbClr val="CCCCCC"/>
                </a:solidFill>
                <a:highlight>
                  <a:srgbClr val="1F1F1F"/>
                </a:highlight>
                <a:latin typeface="Consolas"/>
                <a:ea typeface="Consolas"/>
                <a:cs typeface="Consolas"/>
                <a:sym typeface="Consolas"/>
              </a:rPr>
              <a:t>;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public</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Rectangle</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Bounds</a:t>
            </a:r>
            <a:r>
              <a:rPr lang="en" sz="1000">
                <a:solidFill>
                  <a:srgbClr val="CCCCCC"/>
                </a:solidFill>
                <a:highlight>
                  <a:srgbClr val="1F1F1F"/>
                </a:highlight>
                <a:latin typeface="Consolas"/>
                <a:ea typeface="Consolas"/>
                <a:cs typeface="Consolas"/>
                <a:sym typeface="Consolas"/>
              </a:rPr>
              <a:t> { </a:t>
            </a:r>
            <a:r>
              <a:rPr lang="en" sz="1000">
                <a:solidFill>
                  <a:srgbClr val="569CD6"/>
                </a:solidFill>
                <a:highlight>
                  <a:srgbClr val="1F1F1F"/>
                </a:highlight>
                <a:latin typeface="Consolas"/>
                <a:ea typeface="Consolas"/>
                <a:cs typeface="Consolas"/>
                <a:sym typeface="Consolas"/>
              </a:rPr>
              <a:t>get</a:t>
            </a:r>
            <a:r>
              <a:rPr lang="en" sz="1000">
                <a:solidFill>
                  <a:srgbClr val="CCCCCC"/>
                </a:solidFill>
                <a:highlight>
                  <a:srgbClr val="1F1F1F"/>
                </a:highlight>
                <a:latin typeface="Consolas"/>
                <a:ea typeface="Consolas"/>
                <a:cs typeface="Consolas"/>
                <a:sym typeface="Consolas"/>
              </a:rPr>
              <a:t>;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public</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bool</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Collidable</a:t>
            </a:r>
            <a:r>
              <a:rPr lang="en" sz="1000">
                <a:solidFill>
                  <a:srgbClr val="CCCCCC"/>
                </a:solidFill>
                <a:highlight>
                  <a:srgbClr val="1F1F1F"/>
                </a:highlight>
                <a:latin typeface="Consolas"/>
                <a:ea typeface="Consolas"/>
                <a:cs typeface="Consolas"/>
                <a:sym typeface="Consolas"/>
              </a:rPr>
              <a:t> { </a:t>
            </a:r>
            <a:r>
              <a:rPr lang="en" sz="1000">
                <a:solidFill>
                  <a:srgbClr val="569CD6"/>
                </a:solidFill>
                <a:highlight>
                  <a:srgbClr val="1F1F1F"/>
                </a:highlight>
                <a:latin typeface="Consolas"/>
                <a:ea typeface="Consolas"/>
                <a:cs typeface="Consolas"/>
                <a:sym typeface="Consolas"/>
              </a:rPr>
              <a:t>get</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set</a:t>
            </a:r>
            <a:r>
              <a:rPr lang="en" sz="1000">
                <a:solidFill>
                  <a:srgbClr val="CCCCCC"/>
                </a:solidFill>
                <a:highlight>
                  <a:srgbClr val="1F1F1F"/>
                </a:highlight>
                <a:latin typeface="Consolas"/>
                <a:ea typeface="Consolas"/>
                <a:cs typeface="Consolas"/>
                <a:sym typeface="Consolas"/>
              </a:rPr>
              <a:t>;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public</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bool</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IsSolid</a:t>
            </a:r>
            <a:r>
              <a:rPr lang="en" sz="1000">
                <a:solidFill>
                  <a:srgbClr val="CCCCCC"/>
                </a:solidFill>
                <a:highlight>
                  <a:srgbClr val="1F1F1F"/>
                </a:highlight>
                <a:latin typeface="Consolas"/>
                <a:ea typeface="Consolas"/>
                <a:cs typeface="Consolas"/>
                <a:sym typeface="Consolas"/>
              </a:rPr>
              <a:t> { </a:t>
            </a:r>
            <a:r>
              <a:rPr lang="en" sz="1000">
                <a:solidFill>
                  <a:srgbClr val="569CD6"/>
                </a:solidFill>
                <a:highlight>
                  <a:srgbClr val="1F1F1F"/>
                </a:highlight>
                <a:latin typeface="Consolas"/>
                <a:ea typeface="Consolas"/>
                <a:cs typeface="Consolas"/>
                <a:sym typeface="Consolas"/>
              </a:rPr>
              <a:t>get</a:t>
            </a:r>
            <a:r>
              <a:rPr lang="en" sz="1000">
                <a:solidFill>
                  <a:srgbClr val="CCCCCC"/>
                </a:solidFill>
                <a:highlight>
                  <a:srgbClr val="1F1F1F"/>
                </a:highlight>
                <a:latin typeface="Consolas"/>
                <a:ea typeface="Consolas"/>
                <a:cs typeface="Consolas"/>
                <a:sym typeface="Consolas"/>
              </a:rPr>
              <a:t>;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public</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bool</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Active</a:t>
            </a:r>
            <a:r>
              <a:rPr lang="en" sz="1000">
                <a:solidFill>
                  <a:srgbClr val="CCCCCC"/>
                </a:solidFill>
                <a:highlight>
                  <a:srgbClr val="1F1F1F"/>
                </a:highlight>
                <a:latin typeface="Consolas"/>
                <a:ea typeface="Consolas"/>
                <a:cs typeface="Consolas"/>
                <a:sym typeface="Consolas"/>
              </a:rPr>
              <a:t> { </a:t>
            </a:r>
            <a:r>
              <a:rPr lang="en" sz="1000">
                <a:solidFill>
                  <a:srgbClr val="569CD6"/>
                </a:solidFill>
                <a:highlight>
                  <a:srgbClr val="1F1F1F"/>
                </a:highlight>
                <a:latin typeface="Consolas"/>
                <a:ea typeface="Consolas"/>
                <a:cs typeface="Consolas"/>
                <a:sym typeface="Consolas"/>
              </a:rPr>
              <a:t>get</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set</a:t>
            </a:r>
            <a:r>
              <a:rPr lang="en" sz="1000">
                <a:solidFill>
                  <a:srgbClr val="CCCCCC"/>
                </a:solidFill>
                <a:highlight>
                  <a:srgbClr val="1F1F1F"/>
                </a:highlight>
                <a:latin typeface="Consolas"/>
                <a:ea typeface="Consolas"/>
                <a:cs typeface="Consolas"/>
                <a:sym typeface="Consolas"/>
              </a:rPr>
              <a:t>;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void</a:t>
            </a:r>
            <a:r>
              <a:rPr lang="en" sz="1000">
                <a:solidFill>
                  <a:srgbClr val="CCCCCC"/>
                </a:solidFill>
                <a:highlight>
                  <a:srgbClr val="1F1F1F"/>
                </a:highlight>
                <a:latin typeface="Consolas"/>
                <a:ea typeface="Consolas"/>
                <a:cs typeface="Consolas"/>
                <a:sym typeface="Consolas"/>
              </a:rPr>
              <a:t> </a:t>
            </a:r>
            <a:r>
              <a:rPr lang="en" sz="1000">
                <a:solidFill>
                  <a:srgbClr val="DCDCAA"/>
                </a:solidFill>
                <a:highlight>
                  <a:srgbClr val="1F1F1F"/>
                </a:highlight>
                <a:latin typeface="Consolas"/>
                <a:ea typeface="Consolas"/>
                <a:cs typeface="Consolas"/>
                <a:sym typeface="Consolas"/>
              </a:rPr>
              <a:t>Update</a:t>
            </a:r>
            <a:r>
              <a:rPr lang="en" sz="1000">
                <a:solidFill>
                  <a:srgbClr val="CCCCCC"/>
                </a:solidFill>
                <a:highlight>
                  <a:srgbClr val="1F1F1F"/>
                </a:highlight>
                <a:latin typeface="Consolas"/>
                <a:ea typeface="Consolas"/>
                <a:cs typeface="Consolas"/>
                <a:sym typeface="Consolas"/>
              </a:rPr>
              <a:t>(</a:t>
            </a:r>
            <a:r>
              <a:rPr lang="en" sz="1000">
                <a:solidFill>
                  <a:srgbClr val="4EC9B0"/>
                </a:solidFill>
                <a:highlight>
                  <a:srgbClr val="1F1F1F"/>
                </a:highlight>
                <a:latin typeface="Consolas"/>
                <a:ea typeface="Consolas"/>
                <a:cs typeface="Consolas"/>
                <a:sym typeface="Consolas"/>
              </a:rPr>
              <a:t>GameTime</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gameTime</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void</a:t>
            </a:r>
            <a:r>
              <a:rPr lang="en" sz="1000">
                <a:solidFill>
                  <a:srgbClr val="CCCCCC"/>
                </a:solidFill>
                <a:highlight>
                  <a:srgbClr val="1F1F1F"/>
                </a:highlight>
                <a:latin typeface="Consolas"/>
                <a:ea typeface="Consolas"/>
                <a:cs typeface="Consolas"/>
                <a:sym typeface="Consolas"/>
              </a:rPr>
              <a:t> </a:t>
            </a:r>
            <a:r>
              <a:rPr lang="en" sz="1000">
                <a:solidFill>
                  <a:srgbClr val="DCDCAA"/>
                </a:solidFill>
                <a:highlight>
                  <a:srgbClr val="1F1F1F"/>
                </a:highlight>
                <a:latin typeface="Consolas"/>
                <a:ea typeface="Consolas"/>
                <a:cs typeface="Consolas"/>
                <a:sym typeface="Consolas"/>
              </a:rPr>
              <a:t>Draw</a:t>
            </a:r>
            <a:r>
              <a:rPr lang="en" sz="1000">
                <a:solidFill>
                  <a:srgbClr val="CCCCCC"/>
                </a:solidFill>
                <a:highlight>
                  <a:srgbClr val="1F1F1F"/>
                </a:highlight>
                <a:latin typeface="Consolas"/>
                <a:ea typeface="Consolas"/>
                <a:cs typeface="Consolas"/>
                <a:sym typeface="Consolas"/>
              </a:rPr>
              <a:t>(</a:t>
            </a:r>
            <a:r>
              <a:rPr lang="en" sz="1000">
                <a:solidFill>
                  <a:srgbClr val="4EC9B0"/>
                </a:solidFill>
                <a:highlight>
                  <a:srgbClr val="1F1F1F"/>
                </a:highlight>
                <a:latin typeface="Consolas"/>
                <a:ea typeface="Consolas"/>
                <a:cs typeface="Consolas"/>
                <a:sym typeface="Consolas"/>
              </a:rPr>
              <a:t>SpriteBatch</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spriteBatch</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bool</a:t>
            </a:r>
            <a:r>
              <a:rPr lang="en" sz="1000">
                <a:solidFill>
                  <a:srgbClr val="CCCCCC"/>
                </a:solidFill>
                <a:highlight>
                  <a:srgbClr val="1F1F1F"/>
                </a:highlight>
                <a:latin typeface="Consolas"/>
                <a:ea typeface="Consolas"/>
                <a:cs typeface="Consolas"/>
                <a:sym typeface="Consolas"/>
              </a:rPr>
              <a:t> </a:t>
            </a:r>
            <a:r>
              <a:rPr lang="en" sz="1000">
                <a:solidFill>
                  <a:srgbClr val="DCDCAA"/>
                </a:solidFill>
                <a:highlight>
                  <a:srgbClr val="1F1F1F"/>
                </a:highlight>
                <a:latin typeface="Consolas"/>
                <a:ea typeface="Consolas"/>
                <a:cs typeface="Consolas"/>
                <a:sym typeface="Consolas"/>
              </a:rPr>
              <a:t>Collides</a:t>
            </a:r>
            <a:r>
              <a:rPr lang="en" sz="1000">
                <a:solidFill>
                  <a:srgbClr val="CCCCCC"/>
                </a:solidFill>
                <a:highlight>
                  <a:srgbClr val="1F1F1F"/>
                </a:highlight>
                <a:latin typeface="Consolas"/>
                <a:ea typeface="Consolas"/>
                <a:cs typeface="Consolas"/>
                <a:sym typeface="Consolas"/>
              </a:rPr>
              <a:t>(</a:t>
            </a:r>
            <a:r>
              <a:rPr lang="en" sz="1000">
                <a:solidFill>
                  <a:srgbClr val="4EC9B0"/>
                </a:solidFill>
                <a:highlight>
                  <a:srgbClr val="1F1F1F"/>
                </a:highlight>
                <a:latin typeface="Consolas"/>
                <a:ea typeface="Consolas"/>
                <a:cs typeface="Consolas"/>
                <a:sym typeface="Consolas"/>
              </a:rPr>
              <a:t>IEntity</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other</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a:t>
            </a:r>
            <a:endParaRPr/>
          </a:p>
        </p:txBody>
      </p:sp>
      <p:sp>
        <p:nvSpPr>
          <p:cNvPr id="277" name="Google Shape;277;p41"/>
          <p:cNvSpPr txBox="1"/>
          <p:nvPr>
            <p:ph idx="2" type="body"/>
          </p:nvPr>
        </p:nvSpPr>
        <p:spPr>
          <a:xfrm>
            <a:off x="3662950" y="886075"/>
            <a:ext cx="5169300" cy="4023300"/>
          </a:xfrm>
          <a:prstGeom prst="rect">
            <a:avLst/>
          </a:prstGeom>
          <a:noFill/>
        </p:spPr>
        <p:txBody>
          <a:bodyPr anchorCtr="0" anchor="t" bIns="91425" lIns="91425" spcFirstLastPara="1" rIns="91425" wrap="square" tIns="91425">
            <a:noAutofit/>
          </a:bodyPr>
          <a:lstStyle/>
          <a:p>
            <a:pPr indent="-317500" lvl="0" marL="457200" rtl="0" algn="l">
              <a:lnSpc>
                <a:spcPct val="157500"/>
              </a:lnSpc>
              <a:spcBef>
                <a:spcPts val="0"/>
              </a:spcBef>
              <a:spcAft>
                <a:spcPts val="0"/>
              </a:spcAft>
              <a:buSzPts val="1400"/>
              <a:buChar char="●"/>
            </a:pPr>
            <a:r>
              <a:rPr lang="en"/>
              <a:t>The level updates and draws every entity in one loop</a:t>
            </a:r>
            <a:endParaRPr/>
          </a:p>
          <a:p>
            <a:pPr indent="-304800" lvl="1" marL="914400" rtl="0" algn="l">
              <a:lnSpc>
                <a:spcPct val="157500"/>
              </a:lnSpc>
              <a:spcBef>
                <a:spcPts val="0"/>
              </a:spcBef>
              <a:spcAft>
                <a:spcPts val="0"/>
              </a:spcAft>
              <a:buSzPts val="1200"/>
              <a:buChar char="○"/>
            </a:pPr>
            <a:r>
              <a:rPr lang="en"/>
              <a:t>The Update Method pattern, from Pong</a:t>
            </a:r>
            <a:endParaRPr/>
          </a:p>
          <a:p>
            <a:pPr indent="-317500" lvl="0" marL="457200" rtl="0" algn="l">
              <a:lnSpc>
                <a:spcPct val="157500"/>
              </a:lnSpc>
              <a:spcBef>
                <a:spcPts val="0"/>
              </a:spcBef>
              <a:spcAft>
                <a:spcPts val="0"/>
              </a:spcAft>
              <a:buSzPts val="1400"/>
              <a:buChar char="●"/>
            </a:pPr>
            <a:r>
              <a:rPr lang="en"/>
              <a:t>Entities collide with each other</a:t>
            </a:r>
            <a:endParaRPr/>
          </a:p>
          <a:p>
            <a:pPr indent="-304800" lvl="1" marL="914400" rtl="0" algn="l">
              <a:lnSpc>
                <a:spcPct val="157500"/>
              </a:lnSpc>
              <a:spcBef>
                <a:spcPts val="0"/>
              </a:spcBef>
              <a:spcAft>
                <a:spcPts val="0"/>
              </a:spcAft>
              <a:buSzPts val="1200"/>
              <a:buChar char="○"/>
            </a:pPr>
            <a:r>
              <a:rPr lang="en"/>
              <a:t>Each entity decides how to handle collisions</a:t>
            </a:r>
            <a:endParaRPr/>
          </a:p>
          <a:p>
            <a:pPr indent="-304800" lvl="1" marL="914400" rtl="0" algn="l">
              <a:lnSpc>
                <a:spcPct val="157500"/>
              </a:lnSpc>
              <a:spcBef>
                <a:spcPts val="0"/>
              </a:spcBef>
              <a:spcAft>
                <a:spcPts val="0"/>
              </a:spcAft>
              <a:buSzPts val="1200"/>
              <a:buChar char="○"/>
            </a:pPr>
            <a:r>
              <a:rPr lang="en"/>
              <a:t>They move, so there is no grid to look them up in: each one is checked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Slime States (Aka Basic AI)</a:t>
            </a:r>
            <a:endParaRPr/>
          </a:p>
        </p:txBody>
      </p:sp>
      <p:sp>
        <p:nvSpPr>
          <p:cNvPr id="158" name="Google Shape;158;p26"/>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The slime’s AI is a state machine too.</a:t>
            </a:r>
            <a:endParaRPr/>
          </a:p>
        </p:txBody>
      </p:sp>
      <p:pic>
        <p:nvPicPr>
          <p:cNvPr id="159" name="Picture 168" descr="slimes.png"/>
          <p:cNvPicPr>
            <a:picLocks noChangeAspect="1"/>
          </p:cNvPicPr>
          <p:nvPr/>
        </p:nvPicPr>
        <p:blipFill>
          <a:blip r:embed="rId4"/>
          <a:stretch>
            <a:fillRect/>
          </a:stretch>
        </p:blipFill>
        <p:spPr>
          <a:xfrm>
            <a:off x="548640" y="1463040"/>
            <a:ext cx="1645920" cy="548640"/>
          </a:xfrm>
          <a:prstGeom prst="rect">
            <a:avLst/>
          </a:prstGeom>
        </p:spPr>
      </p:pic>
      <p:sp>
        <p:nvSpPr>
          <p:cNvPr id="160" name="Rounded Rectangle 159"/>
          <p:cNvSpPr/>
          <p:nvPr/>
        </p:nvSpPr>
        <p:spPr>
          <a:xfrm>
            <a:off x="2743200" y="1417320"/>
            <a:ext cx="1645920" cy="64008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Idle</a:t>
            </a:r>
          </a:p>
          <a:p>
            <a:pPr algn="ctr"/>
            <a:r>
              <a:rPr sz="1300" b="0">
                <a:solidFill>
                  <a:srgbClr val="9AA3AB"/>
                </a:solidFill>
              </a:rPr>
              <a:t>waits a while</a:t>
            </a:r>
          </a:p>
        </p:txBody>
      </p:sp>
      <p:sp>
        <p:nvSpPr>
          <p:cNvPr id="161" name="Rounded Rectangle 160"/>
          <p:cNvSpPr/>
          <p:nvPr/>
        </p:nvSpPr>
        <p:spPr>
          <a:xfrm>
            <a:off x="4937760" y="1417320"/>
            <a:ext cx="1645920" cy="64008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Walk</a:t>
            </a:r>
          </a:p>
          <a:p>
            <a:pPr algn="ctr"/>
            <a:r>
              <a:rPr sz="1300" b="0">
                <a:solidFill>
                  <a:srgbClr val="9AA3AB"/>
                </a:solidFill>
              </a:rPr>
              <a:t>turns at edges</a:t>
            </a:r>
          </a:p>
        </p:txBody>
      </p:sp>
      <p:sp>
        <p:nvSpPr>
          <p:cNvPr id="162" name="Rounded Rectangle 161"/>
          <p:cNvSpPr/>
          <p:nvPr/>
        </p:nvSpPr>
        <p:spPr>
          <a:xfrm>
            <a:off x="7132320" y="1417320"/>
            <a:ext cx="1645920" cy="640080"/>
          </a:xfrm>
          <a:prstGeom prst="roundRect">
            <a:avLst>
              <a:gd name="adj" fmla="val 12000"/>
            </a:avLst>
          </a:prstGeom>
          <a:solidFill>
            <a:srgbClr val="2E3338"/>
          </a:solidFill>
          <a:ln w="25400">
            <a:solidFill>
              <a:srgbClr val="D45D3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Chase</a:t>
            </a:r>
          </a:p>
          <a:p>
            <a:pPr algn="ctr"/>
            <a:r>
              <a:rPr sz="1300" b="0">
                <a:solidFill>
                  <a:srgbClr val="9AA3AB"/>
                </a:solidFill>
              </a:rPr>
              <a:t>towards the player</a:t>
            </a:r>
          </a:p>
        </p:txBody>
      </p:sp>
      <p:cxnSp>
        <p:nvCxnSpPr>
          <p:cNvPr id="163" name="Connector 162"/>
          <p:cNvCxnSpPr/>
          <p:nvPr/>
        </p:nvCxnSpPr>
        <p:spPr>
          <a:xfrm>
            <a:off x="4407408" y="1645920"/>
            <a:ext cx="512064" cy="0"/>
          </a:xfrm>
          <a:prstGeom prst="line">
            <a:avLst/>
          </a:prstGeom>
          <a:ln w="25400">
            <a:solidFill>
              <a:srgbClr val="9AA3AB"/>
            </a:solidFill>
            <a:tailEnd type="triangle"/>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H="1">
            <a:off x="4407408" y="1874519"/>
            <a:ext cx="512064" cy="0"/>
          </a:xfrm>
          <a:prstGeom prst="line">
            <a:avLst/>
          </a:prstGeom>
          <a:ln w="25400">
            <a:solidFill>
              <a:srgbClr val="9AA3AB"/>
            </a:solidFill>
            <a:tailEnd type="triangle"/>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a:off x="6601968" y="1737360"/>
            <a:ext cx="512064" cy="0"/>
          </a:xfrm>
          <a:prstGeom prst="line">
            <a:avLst/>
          </a:prstGeom>
          <a:ln w="25400">
            <a:solidFill>
              <a:srgbClr val="9AA3AB"/>
            </a:solidFill>
            <a:tailEnd type="triangle"/>
          </a:ln>
        </p:spPr>
        <p:style>
          <a:lnRef idx="2">
            <a:schemeClr val="accent1"/>
          </a:lnRef>
          <a:fillRef idx="0">
            <a:schemeClr val="accent1"/>
          </a:fillRef>
          <a:effectRef idx="1">
            <a:schemeClr val="accent1"/>
          </a:effectRef>
          <a:fontRef idx="minor">
            <a:schemeClr val="tx1"/>
          </a:fontRef>
        </p:style>
      </p:cxnSp>
      <p:sp>
        <p:nvSpPr>
          <p:cNvPr id="166" name="TextBox 165"/>
          <p:cNvSpPr txBox="1"/>
          <p:nvPr/>
        </p:nvSpPr>
        <p:spPr>
          <a:xfrm>
            <a:off x="6419088" y="1444751"/>
            <a:ext cx="877824" cy="274320"/>
          </a:xfrm>
          <a:prstGeom prst="rect">
            <a:avLst/>
          </a:prstGeom>
          <a:noFill/>
        </p:spPr>
        <p:txBody>
          <a:bodyPr wrap="square">
            <a:spAutoFit/>
          </a:bodyPr>
          <a:lstStyle/>
          <a:p>
            <a:pPr algn="ctr"/>
            <a:r>
              <a:rPr sz="1100" b="0" i="0">
                <a:solidFill>
                  <a:srgbClr val="9AA3AB"/>
                </a:solidFill>
              </a:rPr>
              <a:t>player near</a:t>
            </a:r>
          </a:p>
        </p:txBody>
      </p:sp>
      <p:sp>
        <p:nvSpPr>
          <p:cNvPr id="167" name="Rounded Rectangle 166"/>
          <p:cNvSpPr/>
          <p:nvPr/>
        </p:nvSpPr>
        <p:spPr>
          <a:xfrm>
            <a:off x="2743200" y="2468880"/>
            <a:ext cx="6035040" cy="54864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SlimeStateBase: gravity, ground, collisions, shared by all three</a:t>
            </a:r>
          </a:p>
        </p:txBody>
      </p:sp>
      <p:sp>
        <p:nvSpPr>
          <p:cNvPr id="168" name="TextBox 167"/>
          <p:cNvSpPr txBox="1"/>
          <p:nvPr/>
        </p:nvSpPr>
        <p:spPr>
          <a:xfrm>
            <a:off x="457200" y="3383280"/>
            <a:ext cx="8229600" cy="731520"/>
          </a:xfrm>
          <a:prstGeom prst="rect">
            <a:avLst/>
          </a:prstGeom>
          <a:noFill/>
        </p:spPr>
        <p:txBody>
          <a:bodyPr wrap="square">
            <a:spAutoFit/>
          </a:bodyPr>
          <a:lstStyle/>
          <a:p>
            <a:pPr algn="ctr"/>
            <a:r>
              <a:rPr sz="1500" b="1" i="0">
                <a:solidFill>
                  <a:srgbClr val="DEE2E6"/>
                </a:solidFill>
              </a:rPr>
              <a:t>The player’s base state does the same collision work. How could they share it?</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Slime State Implementation</a:t>
            </a:r>
            <a:endParaRPr>
              <a:solidFill>
                <a:schemeClr val="accent5"/>
              </a:solidFill>
            </a:endParaRPr>
          </a:p>
        </p:txBody>
      </p:sp>
      <p:sp>
        <p:nvSpPr>
          <p:cNvPr id="165" name="Google Shape;165;p27"/>
          <p:cNvSpPr txBox="1"/>
          <p:nvPr>
            <p:ph idx="1" type="body"/>
          </p:nvPr>
        </p:nvSpPr>
        <p:spPr>
          <a:xfrm>
            <a:off x="311700" y="885950"/>
            <a:ext cx="8520600" cy="4023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sz="2900">
                <a:latin typeface="VT323"/>
                <a:ea typeface="VT323"/>
                <a:cs typeface="VT323"/>
                <a:sym typeface="VT323"/>
              </a:rPr>
              <a:t>DEMO!</a:t>
            </a:r>
            <a:endParaRPr/>
          </a:p>
          <a:p>
            <a:pPr indent="0" lvl="0" marL="0" rtl="0" algn="ctr">
              <a:spcBef>
                <a:spcPts val="0"/>
              </a:spcBef>
              <a:spcAft>
                <a:spcPts val="1200"/>
              </a:spcAft>
              <a:buNone/>
            </a:pPr>
            <a:r>
              <a:rPr lang="en" sz="1800"/>
              <a:t>Mario7: slime AI</a:t>
            </a: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2"/>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Chunks and Moving Platforms</a:t>
            </a:r>
            <a:endParaRPr>
              <a:solidFill>
                <a:schemeClr val="accent5"/>
              </a:solidFill>
            </a:endParaRPr>
          </a:p>
        </p:txBody>
      </p:sp>
      <p:sp>
        <p:nvSpPr>
          <p:cNvPr id="283" name="Google Shape;283;p42"/>
          <p:cNvSpPr txBox="1"/>
          <p:nvPr>
            <p:ph idx="1" type="body"/>
          </p:nvPr>
        </p:nvSpPr>
        <p:spPr>
          <a:xfrm>
            <a:off x="311700" y="885950"/>
            <a:ext cx="8520600" cy="2057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Start from Mario8. Full instructions are on the course site.</a:t>
            </a:r>
            <a:endParaRPr/>
          </a:p>
          <a:p>
            <a:pPr indent="-330200" lvl="0" marL="457200" rtl="0" algn="l">
              <a:spcBef>
                <a:spcPts val="0"/>
              </a:spcBef>
              <a:spcAft>
                <a:spcPts val="0"/>
              </a:spcAft>
              <a:buSzPts val="1600"/>
              <a:buChar char="●"/>
            </a:pPr>
            <a:r>
              <a:rPr lang="en"/>
              <a:t>Design a few short chunks by hand, as small tile grids in a data file</a:t>
            </a:r>
            <a:endParaRPr/>
          </a:p>
          <a:p>
            <a:pPr indent="-330200" lvl="0" marL="457200" rtl="0" algn="l">
              <a:spcBef>
                <a:spcPts val="0"/>
              </a:spcBef>
              <a:spcAft>
                <a:spcPts val="0"/>
              </a:spcAft>
              <a:buSzPts val="1600"/>
              <a:buChar char="●"/>
            </a:pPr>
            <a:r>
              <a:rPr lang="en"/>
              <a:t>A level maker that strings random chunks together, longer every level</a:t>
            </a:r>
            <a:endParaRPr/>
          </a:p>
          <a:p>
            <a:pPr indent="-330200" lvl="0" marL="457200" rtl="0" algn="l">
              <a:spcBef>
                <a:spcPts val="0"/>
              </a:spcBef>
              <a:spcAft>
                <a:spcPts val="0"/>
              </a:spcAft>
              <a:buSzPts val="1600"/>
              <a:buChar char="●"/>
            </a:pPr>
            <a:r>
              <a:rPr lang="en"/>
              <a:t>A moving platform that carries the player standing on it</a:t>
            </a:r>
            <a:endParaRPr/>
          </a:p>
          <a:p>
            <a:pPr indent="-330200" lvl="0" marL="457200" rtl="0" algn="l">
              <a:spcBef>
                <a:spcPts val="0"/>
              </a:spcBef>
              <a:spcAft>
                <a:spcPts val="0"/>
              </a:spcAft>
              <a:buSzPts val="1600"/>
              <a:buChar char="●"/>
            </a:pPr>
            <a:r>
              <a:rPr lang="en"/>
              <a:t>Where does “carried along” belong?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Add </a:t>
            </a:r>
            <a:r>
              <a:rPr lang="en">
                <a:solidFill>
                  <a:schemeClr val="accent5"/>
                </a:solidFill>
              </a:rPr>
              <a:t>Powerups</a:t>
            </a:r>
            <a:r>
              <a:rPr lang="en">
                <a:solidFill>
                  <a:schemeClr val="accent5"/>
                </a:solidFill>
              </a:rPr>
              <a:t> to the Game</a:t>
            </a:r>
            <a:endParaRPr>
              <a:solidFill>
                <a:schemeClr val="accent5"/>
              </a:solidFill>
            </a:endParaRPr>
          </a:p>
        </p:txBody>
      </p:sp>
      <p:sp>
        <p:nvSpPr>
          <p:cNvPr id="289" name="Google Shape;289;p43"/>
          <p:cNvSpPr txBox="1"/>
          <p:nvPr>
            <p:ph idx="1" type="body"/>
          </p:nvPr>
        </p:nvSpPr>
        <p:spPr>
          <a:xfrm>
            <a:off x="311700" y="885950"/>
            <a:ext cx="8520600" cy="15486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A power-up is an entity that changes the player</a:t>
            </a:r>
            <a:endParaRPr/>
          </a:p>
          <a:p>
            <a:pPr indent="-317500" lvl="1" marL="914400" rtl="0" algn="l">
              <a:spcBef>
                <a:spcPts val="0"/>
              </a:spcBef>
              <a:spcAft>
                <a:spcPts val="0"/>
              </a:spcAft>
              <a:buSzPts val="1400"/>
              <a:buChar char="○"/>
            </a:pPr>
            <a:r>
              <a:rPr lang="en"/>
              <a:t>A diamond: invincible for a few seconds</a:t>
            </a:r>
            <a:endParaRPr/>
          </a:p>
          <a:p>
            <a:pPr indent="-317500" lvl="1" marL="914400" rtl="0" algn="l">
              <a:spcBef>
                <a:spcPts val="0"/>
              </a:spcBef>
              <a:spcAft>
                <a:spcPts val="0"/>
              </a:spcAft>
              <a:buSzPts val="1400"/>
              <a:buChar char="○"/>
            </a:pPr>
            <a:r>
              <a:rPr lang="en"/>
              <a:t>A mushroom: the player grows</a:t>
            </a:r>
            <a:endParaRPr/>
          </a:p>
        </p:txBody>
      </p:sp>
      <p:pic>
        <p:nvPicPr>
          <p:cNvPr id="291" name="Picture 290" descr="image.png"/>
          <p:cNvPicPr>
            <a:picLocks noChangeAspect="1"/>
          </p:cNvPicPr>
          <p:nvPr/>
        </p:nvPicPr>
        <p:blipFill>
          <a:blip r:embed="rId4"/>
          <a:stretch>
            <a:fillRect/>
          </a:stretch>
        </p:blipFill>
        <p:spPr>
          <a:xfrm>
            <a:off x="2834640" y="3017520"/>
            <a:ext cx="3474720" cy="694944"/>
          </a:xfrm>
          <a:prstGeom prst="rect">
            <a:avLst/>
          </a:prstGeom>
        </p:spPr>
      </p:pic>
      <p:sp>
        <p:nvSpPr>
          <p:cNvPr id="292" name="TextBox 291"/>
          <p:cNvSpPr txBox="1"/>
          <p:nvPr/>
        </p:nvSpPr>
        <p:spPr>
          <a:xfrm>
            <a:off x="457200" y="3931920"/>
            <a:ext cx="8229600" cy="365760"/>
          </a:xfrm>
          <a:prstGeom prst="rect">
            <a:avLst/>
          </a:prstGeom>
          <a:noFill/>
        </p:spPr>
        <p:txBody>
          <a:bodyPr wrap="square">
            <a:spAutoFit/>
          </a:bodyPr>
          <a:lstStyle/>
          <a:p>
            <a:pPr algn="ctr"/>
            <a:r>
              <a:rPr sz="1400" b="0" i="0">
                <a:solidFill>
                  <a:srgbClr val="9AA3AB"/>
                </a:solidFill>
              </a:rPr>
              <a:t>The art is in the repo: Content/Assets/images/extras.png (the game doesn’t use it yet)</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Exercise: Debug Drawing</a:t>
            </a:r>
            <a:endParaRPr/>
          </a:p>
        </p:txBody>
      </p:sp>
      <p:sp>
        <p:nvSpPr>
          <p:cNvPr id="3" name="Text Placeholder 2"/>
          <p:cNvSpPr>
            <a:spLocks noGrp="1"/>
          </p:cNvSpPr>
          <p:nvPr>
            <p:ph type="body" idx="1"/>
          </p:nvPr>
        </p:nvSpPr>
        <p:spPr>
          <a:xfrm>
            <a:off x="311700" y="885950"/>
            <a:ext cx="8520600" cy="1673352"/>
          </a:xfrm>
        </p:spPr>
        <p:txBody>
          <a:bodyPr/>
          <a:lstStyle/>
          <a:p>
            <a:pPr indent="-330200" lvl="0" marL="457200" rtl="0" algn="l">
              <a:spcBef>
                <a:spcPts val="0"/>
              </a:spcBef>
              <a:spcAft>
                <a:spcPts val="0"/>
              </a:spcAft>
              <a:buSzPts val="1600"/>
              <a:buChar char="●"/>
            </a:pPr>
            <a:r>
              <a:rPr lang="en"/>
              <a:t>Also draw the probe below the player that checks for ground</a:t>
            </a:r>
            <a:endParaRPr/>
          </a:p>
          <a:p>
            <a:pPr indent="-330200" lvl="0" marL="457200" rtl="0" algn="l">
              <a:spcBef>
                <a:spcPts val="0"/>
              </a:spcBef>
              <a:spcAft>
                <a:spcPts val="0"/>
              </a:spcAft>
              <a:buSzPts val="1600"/>
              <a:buChar char="●"/>
            </a:pPr>
            <a:r>
              <a:rPr lang="en"/>
              <a:t>IsOnGround, in PlayerStateBase</a:t>
            </a:r>
            <a:endParaRPr/>
          </a:p>
          <a:p>
            <a:pPr indent="-330200" lvl="0" marL="457200" rtl="0" algn="l">
              <a:spcBef>
                <a:spcPts val="0"/>
              </a:spcBef>
              <a:spcAft>
                <a:spcPts val="0"/>
              </a:spcAft>
              <a:buSzPts val="1600"/>
              <a:buChar char="●"/>
            </a:pPr>
            <a:r>
              <a:rPr lang="en"/>
              <a:t>Show the player’s state and velocity on screen</a:t>
            </a:r>
            <a:endParaRPr/>
          </a:p>
          <a:p>
            <a:pPr indent="-330200" lvl="0" marL="457200" rtl="0" algn="l">
              <a:spcBef>
                <a:spcPts val="0"/>
              </a:spcBef>
              <a:spcAft>
                <a:spcPts val="0"/>
              </a:spcAft>
              <a:buSzPts val="1600"/>
              <a:buChar char="●"/>
            </a:pPr>
            <a:r>
              <a:rPr lang="en"/>
              <a:t>Use it to find where coyote time starts and ends</a:t>
            </a:r>
            <a:endParaR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Check Yourself</a:t>
            </a:r>
            <a:endParaRPr/>
          </a:p>
        </p:txBody>
      </p:sp>
      <p:sp>
        <p:nvSpPr>
          <p:cNvPr id="3" name="Text Placeholder 2"/>
          <p:cNvSpPr>
            <a:spLocks noGrp="1"/>
          </p:cNvSpPr>
          <p:nvPr>
            <p:ph type="body" idx="1"/>
          </p:nvPr>
        </p:nvSpPr>
        <p:spPr>
          <a:xfrm>
            <a:off x="311700" y="885950"/>
            <a:ext cx="8520600" cy="1335024"/>
          </a:xfrm>
        </p:spPr>
        <p:txBody>
          <a:bodyPr/>
          <a:lstStyle/>
          <a:p>
            <a:pPr indent="-330200" lvl="0" marL="457200" rtl="0" algn="l">
              <a:spcBef>
                <a:spcPts val="0"/>
              </a:spcBef>
              <a:spcAft>
                <a:spcPts val="0"/>
              </a:spcAft>
              <a:buSzPts val="1600"/>
              <a:buChar char="●"/>
            </a:pPr>
            <a:r>
              <a:rPr lang="en"/>
              <a:t>What do the player’s states share, and where does that code live?</a:t>
            </a:r>
            <a:endParaRPr/>
          </a:p>
          <a:p>
            <a:pPr indent="-330200" lvl="0" marL="457200" rtl="0" algn="l">
              <a:spcBef>
                <a:spcPts val="0"/>
              </a:spcBef>
              <a:spcAft>
                <a:spcPts val="0"/>
              </a:spcAft>
              <a:buSzPts val="1600"/>
              <a:buChar char="●"/>
            </a:pPr>
            <a:r>
              <a:rPr lang="en"/>
              <a:t>Why can tile collision be O(1) while entity collision can’t?</a:t>
            </a:r>
            <a:endParaRPr/>
          </a:p>
          <a:p>
            <a:pPr indent="-330200" lvl="0" marL="457200" rtl="0" algn="l">
              <a:spcBef>
                <a:spcPts val="0"/>
              </a:spcBef>
              <a:spcAft>
                <a:spcPts val="0"/>
              </a:spcAft>
              <a:buSzPts val="1600"/>
              <a:buChar char="●"/>
            </a:pPr>
            <a:r>
              <a:rPr lang="en"/>
              <a:t>Why keep debug drawing in the code, behind a switch, instead of deleting it?</a:t>
            </a:r>
            <a:endParaRPr/>
          </a:p>
        </p:txBody>
      </p:sp>
      <p:sp>
        <p:nvSpPr>
          <p:cNvPr id="4" name="TextBox 3"/>
          <p:cNvSpPr txBox="1"/>
          <p:nvPr/>
        </p:nvSpPr>
        <p:spPr>
          <a:xfrm>
            <a:off x="457200" y="2798064"/>
            <a:ext cx="8229600" cy="457200"/>
          </a:xfrm>
          <a:prstGeom prst="rect">
            <a:avLst/>
          </a:prstGeom>
          <a:noFill/>
        </p:spPr>
        <p:txBody>
          <a:bodyPr wrap="square">
            <a:spAutoFit/>
          </a:bodyPr>
          <a:lstStyle/>
          <a:p>
            <a:pPr algn="ctr"/>
            <a:r>
              <a:rPr sz="1400" b="0" i="0">
                <a:solidFill>
                  <a:srgbClr val="9AA3AB"/>
                </a:solidFill>
              </a:rPr>
              <a:t>The answers, and more questions, are on the course site.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7" name="Google Shape;57;p12"/>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Apply It to Your Project</a:t>
            </a:r>
            <a:endParaRPr/>
          </a:p>
        </p:txBody>
      </p:sp>
      <p:sp>
        <p:nvSpPr>
          <p:cNvPr id="58" name="Google Shape;58;p12"/>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What would you want to see while debugging your game?</a:t>
            </a:r>
            <a:endParaRPr/>
          </a:p>
          <a:p>
            <a:pPr indent="-317500" lvl="1" marL="914400" rtl="0" algn="l">
              <a:spcBef>
                <a:spcPts val="0"/>
              </a:spcBef>
              <a:spcAft>
                <a:spcPts val="0"/>
              </a:spcAft>
              <a:buSzPts val="1400"/>
              <a:buChar char="○"/>
            </a:pPr>
            <a:r>
              <a:rPr lang="en"/>
              <a:t>Add debug drawing for hitboxes, triggers or AI targets, behind a key</a:t>
            </a:r>
            <a:endParaRPr/>
          </a:p>
          <a:p>
            <a:pPr indent="-330200" lvl="0" marL="457200" rtl="0" algn="l">
              <a:spcBef>
                <a:spcPts val="0"/>
              </a:spcBef>
              <a:spcAft>
                <a:spcPts val="0"/>
              </a:spcAft>
              <a:buSzPts val="1600"/>
              <a:buChar char="●"/>
            </a:pPr>
            <a:r>
              <a:rPr lang="en"/>
              <a:t>Which entities have distinct behaviour modes? Draw a state diagram for one</a:t>
            </a:r>
            <a:endParaRPr/>
          </a:p>
          <a:p>
            <a:pPr indent="-330200" lvl="0" marL="457200" rtl="0" algn="l">
              <a:spcBef>
                <a:spcPts val="0"/>
              </a:spcBef>
              <a:spcAft>
                <a:spcPts val="0"/>
              </a:spcAft>
              <a:buSzPts val="1600"/>
              <a:buChar char="●"/>
            </a:pPr>
            <a:r>
              <a:rPr lang="en"/>
              <a:t>Is anything a set of booleans that should be a state machine?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MD">
  <a:themeElements>
    <a:clrScheme name="Simple Light">
      <a:dk1>
        <a:srgbClr val="DEE2E6"/>
      </a:dk1>
      <a:lt1>
        <a:srgbClr val="818387"/>
      </a:lt1>
      <a:dk2>
        <a:srgbClr val="1F1F1F"/>
      </a:dk2>
      <a:lt2>
        <a:srgbClr val="DEE2E6"/>
      </a:lt2>
      <a:accent1>
        <a:srgbClr val="D45D35"/>
      </a:accent1>
      <a:accent2>
        <a:srgbClr val="212121"/>
      </a:accent2>
      <a:accent3>
        <a:srgbClr val="78909C"/>
      </a:accent3>
      <a:accent4>
        <a:srgbClr val="FFAB40"/>
      </a:accent4>
      <a:accent5>
        <a:srgbClr val="0097A7"/>
      </a:accent5>
      <a:accent6>
        <a:srgbClr val="EEFF41"/>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