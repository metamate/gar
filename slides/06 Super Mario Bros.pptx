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92" r:id="rId43"/>
    <p:sldId id="293" r:id="rId42"/>
    <p:sldId id="286" r:id="rId36"/>
    <p:sldId id="287" r:id="rId37"/>
    <p:sldId id="288" r:id="rId38"/>
    <p:sldId id="289" r:id="rId39"/>
    <p:sldId id="290" r:id="rId40"/>
    <p:sldId id="291" r:id="rId41"/>
    <p:sldId id="296" r:id="rId55"/>
    <p:sldId id="294" r:id="rId53"/>
    <p:sldId id="295" r:id="rId54"/>
  </p:sldIdLst>
  <p:sldSz cy="5143500" cx="9144000"/>
  <p:notesSz cx="6858000" cy="9144000"/>
  <p:embeddedFontLst>
    <p:embeddedFont>
      <p:font typeface="Roboto"/>
      <p:regular r:id="rId44"/>
      <p:bold r:id="rId45"/>
      <p:italic r:id="rId46"/>
      <p:boldItalic r:id="rId47"/>
    </p:embeddedFont>
    <p:embeddedFont>
      <p:font typeface="VT323"/>
      <p:regular r:id="rId48"/>
    </p:embeddedFont>
    <p:embeddedFont>
      <p:font typeface="Roboto Light"/>
      <p:regular r:id="rId49"/>
      <p:bold r:id="rId50"/>
      <p:italic r:id="rId51"/>
      <p:boldItalic r:id="rId5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2.xml"/><Relationship Id="rId43" Type="http://schemas.openxmlformats.org/officeDocument/2006/relationships/slide" Target="slides/slide31.xml"/><Relationship Id="rId44" Type="http://schemas.openxmlformats.org/officeDocument/2006/relationships/font" Target="fonts/Roboto-regular.fntdata"/><Relationship Id="rId45" Type="http://schemas.openxmlformats.org/officeDocument/2006/relationships/font" Target="fonts/Roboto-bold.fntdata"/><Relationship Id="rId46" Type="http://schemas.openxmlformats.org/officeDocument/2006/relationships/font" Target="fonts/Roboto-italic.fntdata"/><Relationship Id="rId47" Type="http://schemas.openxmlformats.org/officeDocument/2006/relationships/font" Target="fonts/Roboto-boldItalic.fntdata"/><Relationship Id="rId48" Type="http://schemas.openxmlformats.org/officeDocument/2006/relationships/font" Target="fonts/VT323-regular.fntdata"/><Relationship Id="rId49" Type="http://schemas.openxmlformats.org/officeDocument/2006/relationships/font" Target="fonts/RobotoLight-regular.fntdata"/><Relationship Id="rId50" Type="http://schemas.openxmlformats.org/officeDocument/2006/relationships/font" Target="fonts/RobotoLight-bold.fntdata"/><Relationship Id="rId51" Type="http://schemas.openxmlformats.org/officeDocument/2006/relationships/font" Target="fonts/RobotoLight-italic.fntdata"/><Relationship Id="rId52" Type="http://schemas.openxmlformats.org/officeDocument/2006/relationships/font" Target="fonts/RobotoLight-boldItalic.fntdata"/><Relationship Id="rId53" Type="http://schemas.openxmlformats.org/officeDocument/2006/relationships/slide" Target="slides/slide39.xml"/><Relationship Id="rId54" Type="http://schemas.openxmlformats.org/officeDocument/2006/relationships/slide" Target="slides/slide40.xml"/><Relationship Id="rId55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ce57fd848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ce57fd84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Talking points:</a:t>
            </a:r>
          </a:p>
          <a:p>
            <a:r>
              <a:t>- All Source code for today’s game can be found here:</a:t>
            </a:r>
          </a:p>
          <a:p>
            <a:r>
              <a:t>  - github.com/Metamate/gar-games (folder 06-platformer)</a:t>
            </a:r>
          </a:p>
          <a:p>
            <a:r>
              <a:t>- The game is built up in steps: Platformer0 → Platformer8</a:t>
            </a:r>
          </a:p>
          <a:p>
            <a:r>
              <a:t>  - Each step is a separate project that adds one concept</a:t>
            </a:r>
          </a:p>
          <a:p>
            <a:r>
              <a:t>  - Compare neighbouring steps to see exactly what changed</a:t>
            </a:r>
          </a:p>
          <a:p>
            <a:r>
              <a:t>- Platformer8 is the finished game, and the starting point for the exercises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ccda89e0d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ccda89e0d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cde4c02cc0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cde4c02cc0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ccfb4281ea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ccfb4281ea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Talking points:</a:t>
            </a:r>
          </a:p>
          <a:p>
            <a:r>
              <a:t>- Tilemap up until now have been an array of integer ids</a:t>
            </a:r>
          </a:p>
          <a:p>
            <a:r>
              <a:t>  - Each pointing to an index in the Tileset (i.e. TextureRegion)</a:t>
            </a:r>
          </a:p>
          <a:p>
            <a:r>
              <a:t>- Now it is an array of Tiles</a:t>
            </a:r>
          </a:p>
          <a:p>
            <a:r>
              <a:t>  - Why?</a:t>
            </a:r>
          </a:p>
          <a:p>
            <a:r>
              <a:t>  - Our tilemap is getting smarter!</a:t>
            </a:r>
          </a:p>
          <a:p>
            <a:r>
              <a:t>  - We need to store more information than just the tile graphic!</a:t>
            </a:r>
          </a:p>
          <a:p>
            <a:r>
              <a:t>- Game-specific details (e.g. the grass toppers) go in a second tilemap, drawn on top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ccfb4281e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ccfb4281e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cde4c02cc0_0_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cde4c02cc0_0_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3cde4c02cc0_0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3cde4c02cc0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ccfb4281ea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3ccfb4281ea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cdf1bf870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cdf1bf870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cdeac4f9fd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cdeac4f9fd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cdeac4f9fd_0_1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3cdeac4f9fd_0_1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cdeac4f9fd_0_10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3cdeac4f9fd_0_1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Hierarchical state machines, stack-based state machines, pushdown automata</a:t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cde4c02cc0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3cde4c02cc0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cde4c02cc0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3cde4c02cc0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ccfb4281ea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" name="Google Shape;155;g3ccfb4281ea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Talking points:</a:t>
            </a:r>
          </a:p>
          <a:p>
            <a:r>
              <a:t>- Base</a:t>
            </a:r>
          </a:p>
          <a:p>
            <a:r>
              <a:t>  - Handles collision detection and resolution, gravity, ground detection</a:t>
            </a:r>
          </a:p>
          <a:p>
            <a:r>
              <a:t>- Idle</a:t>
            </a:r>
          </a:p>
          <a:p>
            <a:r>
              <a:t>  - Starting state, plays idle animation (duration)</a:t>
            </a:r>
          </a:p>
          <a:p>
            <a:r>
              <a:t>- Move</a:t>
            </a:r>
          </a:p>
          <a:p>
            <a:r>
              <a:t>  - Moves around, reverses at edge or when velocity.x = 0</a:t>
            </a:r>
          </a:p>
          <a:p>
            <a:r>
              <a:t>- Chase</a:t>
            </a:r>
          </a:p>
          <a:p>
            <a:r>
              <a:t>  - Moves towards player on x.axis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cde4c02cc0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cde4c02cc0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Notice new Play() method of AnimatedSprite for swapping animation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Duplicate collision detection logic between snail and player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lang="en"/>
              <a:t>Any ideas on how we could fix this? 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lang="en"/>
              <a:t>The component design pattern!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ccfb4281ea_0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3ccfb4281ea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Talking points:</a:t>
            </a:r>
          </a:p>
          <a:p>
            <a:r>
              <a:t>- Why do we need a camera now and not for the previous games?</a:t>
            </a:r>
          </a:p>
          <a:p>
            <a:r>
              <a:t>- Performs two matrix translations based on target pos</a:t>
            </a:r>
          </a:p>
          <a:p>
            <a:r>
              <a:t>  - Shift world + Center</a:t>
            </a:r>
          </a:p>
          <a:p>
            <a:r>
              <a:t>- In this game we only need tracking on the x-axis</a:t>
            </a:r>
          </a:p>
          <a:p>
            <a:r>
              <a:t>- Gets clamped playerX</a:t>
            </a:r>
          </a:p>
          <a:p>
            <a:r>
              <a:t>  - Based on tilemap dimensions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ccfb4281ea_0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3ccfb4281ea_0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ccfb4281ea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" name="Google Shape;181;g3ccfb4281ea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cd8a4d586b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cd8a4d586b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cd8a4d586b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cd8a4d586b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Two checks (per direction)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Small inset to allow jumping/falling next to solid tiles (otherwise could be problematic due to floating point precision)</a:t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cd8a4d586b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6" name="Google Shape;206;g3cd8a4d586b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</a:t>
            </a:r>
            <a:r>
              <a:rPr lang="en"/>
              <a:t>nset to avoid getting stuck in the ground and tiles right above the player</a:t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cdeac4f9fd_0_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cdeac4f9fd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cd8a4d586b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2" name="Google Shape;222;g3cd8a4d586b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3cde4c02cc0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3cde4c02cc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cd8a4d586b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3cd8a4d586b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3cd8a4d586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1" name="Google Shape;241;g3cd8a4d586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Talking points:</a:t>
            </a:r>
          </a:p>
          <a:p>
            <a:r>
              <a:t>- Do we need collision checks between the player and every single tile?</a:t>
            </a:r>
          </a:p>
          <a:p>
            <a:r>
              <a:t>  - No! The grid is static!</a:t>
            </a:r>
          </a:p>
          <a:p>
            <a:r>
              <a:t>  - It is a simple “lookup” - it takes the same time in a level of 10 or 10.000 tiles</a:t>
            </a:r>
          </a:p>
          <a:p>
            <a:r>
              <a:t>  - O(n) → O(1)</a:t>
            </a:r>
          </a:p>
          <a:p>
            <a:r>
              <a:t>public bool IsSolidAt(float x, float y)</a:t>
            </a:r>
          </a:p>
          <a:p>
            <a:r>
              <a:t>{</a:t>
            </a:r>
          </a:p>
          <a:p>
            <a:r>
              <a:t>    return GetTileAt(x, y)?.IsSolid ?? false;</a:t>
            </a:r>
          </a:p>
          <a:p>
            <a:r>
              <a:t>}</a:t>
            </a:r>
          </a:p>
          <a:p>
            <a:r>
              <a:t>In our game we are only checking collisions between the player and other entities</a:t>
            </a:r>
          </a:p>
          <a:p>
            <a:r>
              <a:t>O(n)</a:t>
            </a:r>
          </a:p>
          <a:p>
            <a:r>
              <a:t>If we naively checked collisions between all entities in our game we risk O(n2)</a:t>
            </a:r>
          </a:p>
          <a:p>
            <a:r>
              <a:t>n * (n - 1) / 2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3cdf6a5cc1f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9" name="Google Shape;249;g3cdf6a5cc1f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3ca46b0a91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g3ca46b0a91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Entities may have different widths/heights or their positions are offset by a different amount than TileSize</a:t>
            </a:r>
          </a:p>
          <a:p/>
          <a:p>
            <a:r>
              <a:t>Talking points:</a:t>
            </a:r>
          </a:p>
          <a:p>
            <a:r>
              <a:t>- Represent any “thing” in our game</a:t>
            </a:r>
          </a:p>
          <a:p>
            <a:r>
              <a:t>  - Player, Snail, Boxes, Powerups, etc.</a:t>
            </a:r>
          </a:p>
          <a:p>
            <a:r>
              <a:t>- Separate from the tiles in our map</a:t>
            </a:r>
          </a:p>
          <a:p>
            <a:r>
              <a:t>  - Entities may not align perfectly with the tilemap</a:t>
            </a:r>
          </a:p>
          <a:p>
            <a:r>
              <a:t>- Can contain states just like the game</a:t>
            </a:r>
          </a:p>
          <a:p>
            <a:r>
              <a:t>  - States can affect input handling (e.g. player) or decision-making (e.g. snail)</a:t>
            </a:r>
          </a:p>
          <a:p>
            <a:r>
              <a:t>- Some engines may adopt an Entity-Component System</a:t>
            </a:r>
          </a:p>
          <a:p>
            <a:r>
              <a:t>  - Everything is an Entity</a:t>
            </a:r>
          </a:p>
          <a:p>
            <a:r>
              <a:t>  - Entities are containers of components</a:t>
            </a:r>
          </a:p>
          <a:p>
            <a:r>
              <a:t>  - Components ultimately drive behavior</a:t>
            </a:r>
          </a:p>
          <a:p>
            <a:r>
              <a:t>  - Component Design Pattern!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g3cdeac4f9fd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3" name="Google Shape;273;g3cdeac4f9fd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3cd8a4d586b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0" name="Google Shape;280;g3cd8a4d586b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Full ideas (also on the course site):</a:t>
            </a:r>
          </a:p>
          <a:p>
            <a:r>
              <a:t>- Varying ground level and pillar/pit width</a:t>
            </a:r>
          </a:p>
          <a:p>
            <a:r>
              <a:t>- Platforms</a:t>
            </a:r>
          </a:p>
          <a:p>
            <a:r>
              <a:t>- Multiple types of enemies</a:t>
            </a:r>
          </a:p>
          <a:p>
            <a:r>
              <a:t>- A goal flag</a:t>
            </a:r>
          </a:p>
          <a:p>
            <a:r>
              <a:t>  - When the player touches the flag at the end of the level, they proceed to the next level</a:t>
            </a:r>
          </a:p>
          <a:p>
            <a:r>
              <a:t>  - As the levels are procedural, they can progressively get longer and harder</a:t>
            </a:r>
          </a:p>
          <a:p>
            <a:r>
              <a:t>  - Create random keys and locks (same color) that spawn in each level; when the player gets the key, they can unlock the lock, which should spawn the goal flag.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3cd8a4d586b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6" name="Google Shape;286;g3cd8a4d586b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3cde4c02cc0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3" name="Google Shape;293;g3cde4c02cc0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Collision bugs are invisible: the hitbox isn’t drawn</a:t>
            </a:r>
          </a:p>
          <a:p>
            <a:r>
              <a:t>- Draw what the game can’t show: press F1</a:t>
            </a:r>
          </a:p>
          <a:p>
            <a:r>
              <a:t>  - Solid tiles in red, the player’s hitbox in green, entities in yellow</a:t>
            </a:r>
          </a:p>
          <a:p>
            <a:r>
              <a:t>- DebugDraw in GMDCore</a:t>
            </a:r>
          </a:p>
          <a:p>
            <a:r>
              <a:t>  - Draws nothing unless DebugDraw.Enabled, so the calls can stay in the code</a:t>
            </a:r>
          </a:p>
          <a:p>
            <a:r>
              <a:t>- Debugger vs. debug drawing</a:t>
            </a:r>
          </a:p>
          <a:p>
            <a:r>
              <a:t>  - The debugger shows exact values at one moment</a:t>
            </a:r>
          </a:p>
          <a:p>
            <a:r>
              <a:t>  - Debug drawing shows what happens over time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Ask, let them answer in pairs for a minute, then take a few answers. These are the site’s Check yourself questions.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4" Type="http://schemas.openxmlformats.org/officeDocument/2006/relationships/image" Target="../media/image19.gi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6-platformer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5" Type="http://schemas.openxmlformats.org/officeDocument/2006/relationships/image" Target="../media/image28.png"/><Relationship Id="rId6" Type="http://schemas.openxmlformats.org/officeDocument/2006/relationships/image" Target="../media/image3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4" Type="http://schemas.openxmlformats.org/officeDocument/2006/relationships/image" Target="../media/image3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4" Type="http://schemas.openxmlformats.org/officeDocument/2006/relationships/image" Target="../media/image3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4" Type="http://schemas.openxmlformats.org/officeDocument/2006/relationships/image" Target="../media/image3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4" Type="http://schemas.openxmlformats.org/officeDocument/2006/relationships/image" Target="../media/image3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5" Type="http://schemas.openxmlformats.org/officeDocument/2006/relationships/image" Target="../media/image37.png"/><Relationship Id="rId6" Type="http://schemas.openxmlformats.org/officeDocument/2006/relationships/image" Target="../media/image3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Relationship Id="rId4" Type="http://schemas.openxmlformats.org/officeDocument/2006/relationships/image" Target="../media/image3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7.gif"/><Relationship Id="rId4" Type="http://schemas.openxmlformats.org/officeDocument/2006/relationships/image" Target="../media/image29.gif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40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15" Type="http://schemas.openxmlformats.org/officeDocument/2006/relationships/image" Target="../media/image4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24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4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06: Super Mario Bros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gif-mario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02292" y="1688925"/>
            <a:ext cx="5139422" cy="289092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Platformer Physics &amp; Tile Collision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Debug Drawing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Camera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Level Makers (Strategy, again)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Pattern (again, for the player)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Basic AI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06-platformer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(Platformer0 to Platformer8), a map of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Level Generation</a:t>
            </a:r>
            <a:endParaRPr/>
          </a:p>
        </p:txBody>
      </p:sp>
      <p:sp>
        <p:nvSpPr>
          <p:cNvPr id="64" name="Google Shape;64;p13"/>
          <p:cNvSpPr txBox="1"/>
          <p:nvPr/>
        </p:nvSpPr>
        <p:spPr>
          <a:xfrm>
            <a:off x="6733688" y="2246150"/>
            <a:ext cx="1183800" cy="13029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03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06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08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11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15</a:t>
            </a:r>
            <a:endParaRPr sz="1600">
              <a:solidFill>
                <a:srgbClr val="DEE2E6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65" name="Google Shape;65;p13"/>
          <p:cNvSpPr txBox="1"/>
          <p:nvPr/>
        </p:nvSpPr>
        <p:spPr>
          <a:xfrm>
            <a:off x="572425" y="1767800"/>
            <a:ext cx="5330700" cy="22596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 fontScale="85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80808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region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"0 40 80 80"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tileWidth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"20"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tileHeight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"20"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images/atlas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&lt;/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Tileset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80808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80808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00 01 02 01 03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04 05 06 05 07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08 09 10 09 11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04 09 09 09 07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12 13 14 13 15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&lt;/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80808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&lt;/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66" name="Google Shape;66;p13"/>
          <p:cNvCxnSpPr>
            <a:stCxn id="65" idx="3"/>
            <a:endCxn id="64" idx="1"/>
          </p:cNvCxnSpPr>
          <p:nvPr/>
        </p:nvCxnSpPr>
        <p:spPr>
          <a:xfrm>
            <a:off x="5903125" y="2897600"/>
            <a:ext cx="830700" cy="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Procedural Level Generation</a:t>
            </a:r>
            <a:endParaRPr/>
          </a:p>
        </p:txBody>
      </p:sp>
      <p:sp>
        <p:nvSpPr>
          <p:cNvPr id="72" name="Google Shape;72;p14"/>
          <p:cNvSpPr txBox="1"/>
          <p:nvPr/>
        </p:nvSpPr>
        <p:spPr>
          <a:xfrm>
            <a:off x="7124788" y="2246150"/>
            <a:ext cx="1183800" cy="13029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endParaRPr sz="1600">
              <a:solidFill>
                <a:srgbClr val="DEE2E6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73" name="Google Shape;73;p14"/>
          <p:cNvSpPr txBox="1"/>
          <p:nvPr/>
        </p:nvSpPr>
        <p:spPr>
          <a:xfrm>
            <a:off x="572425" y="1102375"/>
            <a:ext cx="5330700" cy="35706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Generate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columns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columns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groundHeight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columns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groundHeight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74" name="Google Shape;74;p14"/>
          <p:cNvCxnSpPr>
            <a:stCxn id="73" idx="3"/>
            <a:endCxn id="72" idx="1"/>
          </p:cNvCxnSpPr>
          <p:nvPr/>
        </p:nvCxnSpPr>
        <p:spPr>
          <a:xfrm>
            <a:off x="5903125" y="2887675"/>
            <a:ext cx="1221600" cy="990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Tilemap Update</a:t>
            </a:r>
            <a:endParaRPr/>
          </a:p>
        </p:txBody>
      </p:sp>
      <p:sp>
        <p:nvSpPr>
          <p:cNvPr id="80" name="Google Shape;80;p1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tile now knows more than its picture.</a:t>
            </a:r>
            <a:endParaRPr/>
          </a:p>
        </p:txBody>
      </p:sp>
      <p:sp>
        <p:nvSpPr>
          <p:cNvPr id="81" name="Rounded Rectangle 80"/>
          <p:cNvSpPr/>
          <p:nvPr/>
        </p:nvSpPr>
        <p:spPr>
          <a:xfrm>
            <a:off x="731520" y="1463040"/>
            <a:ext cx="3108960" cy="10058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DEE2E6"/>
                </a:solidFill>
              </a:rPr>
              <a:t>Snake: an int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which picture to draw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3931920" y="1965960"/>
            <a:ext cx="82296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Rounded Rectangle 82"/>
          <p:cNvSpPr/>
          <p:nvPr/>
        </p:nvSpPr>
        <p:spPr>
          <a:xfrm>
            <a:off x="4846320" y="1463040"/>
            <a:ext cx="3566160" cy="10058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DEE2E6"/>
                </a:solidFill>
              </a:rPr>
              <a:t>Platformer: a Tile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GraphicId · IsSolid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31520" y="274320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9AA3AB"/>
                </a:solidFill>
              </a:rPr>
              <a:t>Collision asks the tilemap: is there something solid at (x, y)?</a:t>
            </a:r>
          </a:p>
          <a:p>
            <a:pPr algn="ctr"/>
            <a:r>
              <a:rPr sz="1500" b="0" i="0">
                <a:solidFill>
                  <a:srgbClr val="9AA3AB"/>
                </a:solidFill>
              </a:rPr>
              <a:t>The grass toppers are a second tilemap, drawn on top.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5950"/>
            <a:ext cx="8520600" cy="34734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readonly struct Tile(int graphicId = -1, bool isSolid = false)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static readonly Tile Empty = new();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int GraphicId { get; init; } = graphicId;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bool IsSolid { get; init; } = isSolid;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bool IsEmpty =&gt; GraphicId &lt; 0;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7" name="Google Shape;87;p16"/>
          <p:cNvSpPr/>
          <p:nvPr/>
        </p:nvSpPr>
        <p:spPr>
          <a:xfrm>
            <a:off x="627425" y="1887850"/>
            <a:ext cx="3459000" cy="560363"/>
          </a:xfrm>
          <a:prstGeom prst="rect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Tilesets</a:t>
            </a:r>
            <a:endParaRPr/>
          </a:p>
        </p:txBody>
      </p:sp>
      <p:pic>
        <p:nvPicPr>
          <p:cNvPr id="93" name="Picture 100" descr="mario_til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02525" y="920715"/>
            <a:ext cx="3052789" cy="4070385"/>
          </a:xfrm>
          <a:prstGeom prst="rect">
            <a:avLst/>
          </a:prstGeom>
        </p:spPr>
      </p:pic>
      <p:pic>
        <p:nvPicPr>
          <p:cNvPr id="94" name="Picture 100" descr="mario_tile_top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05455" y="920725"/>
            <a:ext cx="1695990" cy="4070376"/>
          </a:xfrm>
          <a:prstGeom prst="rect">
            <a:avLst/>
          </a:prstGeom>
        </p:spPr>
      </p:pic>
      <p:sp>
        <p:nvSpPr>
          <p:cNvPr id="95" name="Google Shape;95;p17"/>
          <p:cNvSpPr/>
          <p:nvPr/>
        </p:nvSpPr>
        <p:spPr>
          <a:xfrm>
            <a:off x="1702525" y="920725"/>
            <a:ext cx="507600" cy="4131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6" name="Google Shape;96;p17"/>
          <p:cNvSpPr/>
          <p:nvPr/>
        </p:nvSpPr>
        <p:spPr>
          <a:xfrm>
            <a:off x="2210125" y="920725"/>
            <a:ext cx="507600" cy="4131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7" name="Google Shape;97;p17"/>
          <p:cNvSpPr/>
          <p:nvPr/>
        </p:nvSpPr>
        <p:spPr>
          <a:xfrm>
            <a:off x="2717725" y="920725"/>
            <a:ext cx="507600" cy="4131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8" name="Google Shape;98;p17"/>
          <p:cNvSpPr/>
          <p:nvPr/>
        </p:nvSpPr>
        <p:spPr>
          <a:xfrm>
            <a:off x="5399798" y="920725"/>
            <a:ext cx="286200" cy="226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9" name="Google Shape;99;p17"/>
          <p:cNvSpPr/>
          <p:nvPr/>
        </p:nvSpPr>
        <p:spPr>
          <a:xfrm>
            <a:off x="5685998" y="920725"/>
            <a:ext cx="286200" cy="226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00" name="Google Shape;100;p17"/>
          <p:cNvSpPr/>
          <p:nvPr/>
        </p:nvSpPr>
        <p:spPr>
          <a:xfrm>
            <a:off x="5972198" y="920725"/>
            <a:ext cx="286200" cy="226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GameLevel</a:t>
            </a:r>
            <a:endParaRPr/>
          </a:p>
        </p:txBody>
      </p:sp>
      <p:pic>
        <p:nvPicPr>
          <p:cNvPr id="106" name="Picture 106" descr="mario_leve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1488" y="970656"/>
            <a:ext cx="6861024" cy="388400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LevelMaker</a:t>
            </a:r>
            <a:endParaRPr/>
          </a:p>
        </p:txBody>
      </p:sp>
      <p:sp>
        <p:nvSpPr>
          <p:cNvPr id="112" name="Google Shape;112;p1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LevelMakerBase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SimpleLevelMaker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FlatLevelMaker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PillarLevelMaker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PitlevelMaker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ComplexLevelMaker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(</a:t>
            </a:r>
            <a:r>
              <a:rPr lang="en"/>
              <a:t>This is essentially the strategy design pattern)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id="113" name="Picture 113" descr="mario-r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8099" y="887231"/>
            <a:ext cx="4718424" cy="265411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LevelMaker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19" name="Google Shape;119;p2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Platformer0 → Platformer1: tilemaps from code and level makers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Character State</a:t>
            </a:r>
            <a:endParaRPr/>
          </a:p>
        </p:txBody>
      </p:sp>
      <p:sp>
        <p:nvSpPr>
          <p:cNvPr id="125" name="Google Shape;125;p21"/>
          <p:cNvSpPr txBox="1"/>
          <p:nvPr>
            <p:ph idx="1" type="body"/>
          </p:nvPr>
        </p:nvSpPr>
        <p:spPr>
          <a:xfrm>
            <a:off x="311700" y="885950"/>
            <a:ext cx="18597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 fontScale="55000" lnSpcReduction="10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Heroine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::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handleInput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isJumping_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isDucking_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// Jump...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isJumping_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isDucking_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IMAGE_DUCK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else</a:t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isJumping_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false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IMAGE_DIVE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RELEASE_DOWN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isDucking_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// Stand...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126" name="Google Shape;126;p21"/>
          <p:cNvSpPr txBox="1"/>
          <p:nvPr>
            <p:ph idx="1" type="body"/>
          </p:nvPr>
        </p:nvSpPr>
        <p:spPr>
          <a:xfrm>
            <a:off x="2333950" y="885950"/>
            <a:ext cx="6424200" cy="40233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problem with this code?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way state is encoded, you can end up in illegal states!</a:t>
            </a:r>
            <a:endParaRPr/>
          </a:p>
          <a:p>
            <a:pPr indent="-3302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Can you spot the bug?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We check that you can’t air jump while jumping, but not while diving</a:t>
            </a:r>
            <a:endParaRPr/>
          </a:p>
          <a:p>
            <a:pPr indent="-304800" lvl="2" marL="13716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Yet another field… (isDiving)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2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Character State - Enum Solution</a:t>
            </a:r>
            <a:endParaRPr/>
          </a:p>
        </p:txBody>
      </p:sp>
      <p:sp>
        <p:nvSpPr>
          <p:cNvPr id="132" name="Google Shape;132;p22"/>
          <p:cNvSpPr txBox="1"/>
          <p:nvPr>
            <p:ph idx="1" type="body"/>
          </p:nvPr>
        </p:nvSpPr>
        <p:spPr>
          <a:xfrm>
            <a:off x="311700" y="885950"/>
            <a:ext cx="18597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 fontScale="47500" lnSpcReduction="10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Heroine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::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handleInput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switch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case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STATE_STANDING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STATE_JUMPING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yVelocity_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JUMP_VELOCITY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IMAGE_JUMP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STATE_DUCKING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IMAGE_DUCK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break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case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STATE_JUMPING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STATE_DIVING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IMAGE_DIVE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break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case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STATE_DUCKING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RELEASE_DOWN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STATE_STANDING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IMAGE_STAND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break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133" name="Google Shape;133;p22"/>
          <p:cNvSpPr txBox="1"/>
          <p:nvPr>
            <p:ph idx="1" type="body"/>
          </p:nvPr>
        </p:nvSpPr>
        <p:spPr>
          <a:xfrm>
            <a:off x="2333950" y="885950"/>
            <a:ext cx="4854900" cy="40233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is this better?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You can’t encode invalid state!</a:t>
            </a:r>
            <a:endParaRPr/>
          </a:p>
          <a:p>
            <a:pPr indent="-3302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is it still (potentially) problematic?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if states have state?</a:t>
            </a:r>
            <a:endParaRPr/>
          </a:p>
          <a:p>
            <a:pPr indent="-304800" lvl="2" marL="13716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E.g. a charge attack while ducking!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Doesn’t scale well…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Allows an object to change its behaviour based on an internal state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State-specific behavior is defined independently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Adding new states does not impact the behavior of existing states</a:t>
            </a:r>
            <a:endParaRPr/>
          </a:p>
        </p:txBody>
      </p:sp>
      <p:sp>
        <p:nvSpPr>
          <p:cNvPr id="139" name="Google Shape;139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State Pattern</a:t>
            </a:r>
            <a:endParaRPr/>
          </a:p>
        </p:txBody>
      </p:sp>
      <p:pic>
        <p:nvPicPr>
          <p:cNvPr id="140" name="Google Shape;140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02502" y="1999823"/>
            <a:ext cx="4538999" cy="2911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Player State </a:t>
            </a:r>
            <a:r>
              <a:rPr lang="en">
                <a:solidFill>
                  <a:schemeClr val="accent5"/>
                </a:solidFill>
              </a:rPr>
              <a:t>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46" name="Google Shape;146;p2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Platformer2 → Platformer3: from an enum to the State pattern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Game State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2" name="Google Shape;152;p2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Platformer5: title and play states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Snail States (Aka Basic AI)</a:t>
            </a:r>
            <a:endParaRPr/>
          </a:p>
        </p:txBody>
      </p:sp>
      <p:sp>
        <p:nvSpPr>
          <p:cNvPr id="158" name="Google Shape;158;p2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snail’s AI is a state machine too.</a:t>
            </a:r>
            <a:endParaRPr/>
          </a:p>
        </p:txBody>
      </p:sp>
      <p:pic>
        <p:nvPicPr>
          <p:cNvPr id="159" name="Picture 15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63040"/>
            <a:ext cx="1645920" cy="548640"/>
          </a:xfrm>
          <a:prstGeom prst="rect">
            <a:avLst/>
          </a:prstGeom>
        </p:spPr>
      </p:pic>
      <p:sp>
        <p:nvSpPr>
          <p:cNvPr id="160" name="Rounded Rectangle 159"/>
          <p:cNvSpPr/>
          <p:nvPr/>
        </p:nvSpPr>
        <p:spPr>
          <a:xfrm>
            <a:off x="2743200" y="1417320"/>
            <a:ext cx="164592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Idle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waits a while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4937760" y="1417320"/>
            <a:ext cx="164592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Walk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turns at edges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7132320" y="1417320"/>
            <a:ext cx="164592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Chase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towards the player</a:t>
            </a:r>
          </a:p>
        </p:txBody>
      </p:sp>
      <p:cxnSp>
        <p:nvCxnSpPr>
          <p:cNvPr id="163" name="Connector 162"/>
          <p:cNvCxnSpPr/>
          <p:nvPr/>
        </p:nvCxnSpPr>
        <p:spPr>
          <a:xfrm>
            <a:off x="4407408" y="1645920"/>
            <a:ext cx="51206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 flipH="1">
            <a:off x="4407408" y="1874519"/>
            <a:ext cx="51206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6601968" y="1737360"/>
            <a:ext cx="51206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TextBox 165"/>
          <p:cNvSpPr txBox="1"/>
          <p:nvPr/>
        </p:nvSpPr>
        <p:spPr>
          <a:xfrm>
            <a:off x="6419088" y="1444751"/>
            <a:ext cx="8778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player near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2743200" y="2468880"/>
            <a:ext cx="603504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>SnailStateBase: gravity, ground, collisions, shared by all three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457200" y="33832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DEE2E6"/>
                </a:solidFill>
              </a:rPr>
              <a:t>The player’s base state does the same collision work. How could they share it?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Snail State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5" name="Google Shape;165;p2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Platformer7: snail AI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Camera</a:t>
            </a:r>
            <a:endParaRPr/>
          </a:p>
        </p:txBody>
      </p:sp>
      <p:sp>
        <p:nvSpPr>
          <p:cNvPr id="171" name="Google Shape;171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level is wider than the screen. Something has to follow the player.</a:t>
            </a:r>
            <a:endParaRPr/>
          </a:p>
        </p:txBody>
      </p:sp>
      <p:sp>
        <p:nvSpPr>
          <p:cNvPr id="172" name="Rectangle 171"/>
          <p:cNvSpPr/>
          <p:nvPr/>
        </p:nvSpPr>
        <p:spPr>
          <a:xfrm>
            <a:off x="365760" y="1508760"/>
            <a:ext cx="8412480" cy="914400"/>
          </a:xfrm>
          <a:prstGeom prst="rect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15544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AA3AB"/>
                </a:solidFill>
              </a:rPr>
              <a:t>the level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3291840" y="1371600"/>
            <a:ext cx="2377440" cy="1188720"/>
          </a:xfrm>
          <a:prstGeom prst="rect">
            <a:avLst/>
          </a:prstGeom>
          <a:solidFill>
            <a:srgbClr val="212529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the screen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centred on the player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365760" y="2788920"/>
            <a:ext cx="8412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camera shifts the whole world by one matrix, and stops at the ends of the level.</a:t>
            </a:r>
          </a:p>
          <a:p>
            <a:pPr algn="ctr"/>
            <a:r>
              <a:rPr sz="1400" b="0" i="0">
                <a:solidFill>
                  <a:srgbClr val="9AA3AB"/>
                </a:solidFill>
              </a:rPr>
              <a:t>Only on x: the level is exactly one screen tall.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457200" y="36118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Why didn’t Pong, Snake or Pac-Man need a camera?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Camera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78" name="Google Shape;178;p2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Platformer4: camera and a wide level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Input</a:t>
            </a:r>
            <a:endParaRPr/>
          </a:p>
        </p:txBody>
      </p:sp>
      <p:sp>
        <p:nvSpPr>
          <p:cNvPr id="184" name="Google Shape;184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We now have a GameController class that abstracts away hardcoded keys for “actions”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This is NOT the Command Pattern!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why not?</a:t>
            </a:r>
            <a:endParaRPr/>
          </a:p>
        </p:txBody>
      </p:sp>
      <p:pic>
        <p:nvPicPr>
          <p:cNvPr id="185" name="Google Shape;185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02216" y="3223775"/>
            <a:ext cx="1739575" cy="1160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Player Hitbox</a:t>
            </a:r>
            <a:endParaRPr/>
          </a:p>
        </p:txBody>
      </p:sp>
      <p:sp>
        <p:nvSpPr>
          <p:cNvPr id="191" name="Google Shape;191;p3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Player is same width as tiles, this makes it hard to fall down pits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player can run across a pit without falling down!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We shrink the hitbox/collider with 2px on each side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Now you gotta jump those pits!</a:t>
            </a:r>
            <a:endParaRPr/>
          </a:p>
        </p:txBody>
      </p:sp>
      <p:pic>
        <p:nvPicPr>
          <p:cNvPr id="192" name="Picture 192" descr="mario_hitbo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5230" y="2229213"/>
            <a:ext cx="1653540" cy="206692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 Collision (up/down)</a:t>
            </a:r>
            <a:endParaRPr/>
          </a:p>
        </p:txBody>
      </p:sp>
      <p:pic>
        <p:nvPicPr>
          <p:cNvPr id="198" name="Picture 203" descr="mario_updow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03650" y="1211298"/>
            <a:ext cx="2114725" cy="2290952"/>
          </a:xfrm>
          <a:prstGeom prst="rect">
            <a:avLst/>
          </a:prstGeom>
        </p:spPr>
      </p:pic>
      <p:sp>
        <p:nvSpPr>
          <p:cNvPr id="199" name="Google Shape;199;p32"/>
          <p:cNvSpPr/>
          <p:nvPr/>
        </p:nvSpPr>
        <p:spPr>
          <a:xfrm>
            <a:off x="4247321" y="2571764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00" name="Google Shape;200;p32"/>
          <p:cNvSpPr/>
          <p:nvPr/>
        </p:nvSpPr>
        <p:spPr>
          <a:xfrm>
            <a:off x="4776003" y="2571764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pic>
        <p:nvPicPr>
          <p:cNvPr id="201" name="Picture 203" descr="mario_flo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3650" y="3502250"/>
            <a:ext cx="2114725" cy="1057362"/>
          </a:xfrm>
          <a:prstGeom prst="rect">
            <a:avLst/>
          </a:prstGeom>
        </p:spPr>
      </p:pic>
      <p:sp>
        <p:nvSpPr>
          <p:cNvPr id="202" name="Google Shape;202;p32"/>
          <p:cNvSpPr/>
          <p:nvPr/>
        </p:nvSpPr>
        <p:spPr>
          <a:xfrm>
            <a:off x="4247321" y="3452900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03" name="Google Shape;203;p32"/>
          <p:cNvSpPr/>
          <p:nvPr/>
        </p:nvSpPr>
        <p:spPr>
          <a:xfrm>
            <a:off x="4776003" y="3452900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 Collision (left/right)</a:t>
            </a:r>
            <a:endParaRPr/>
          </a:p>
        </p:txBody>
      </p:sp>
      <p:pic>
        <p:nvPicPr>
          <p:cNvPr id="209" name="Picture 213" descr="mario_leftr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41583" y="1603300"/>
            <a:ext cx="2860835" cy="2409125"/>
          </a:xfrm>
          <a:prstGeom prst="rect">
            <a:avLst/>
          </a:prstGeom>
        </p:spPr>
      </p:pic>
      <p:sp>
        <p:nvSpPr>
          <p:cNvPr id="210" name="Google Shape;210;p33"/>
          <p:cNvSpPr/>
          <p:nvPr/>
        </p:nvSpPr>
        <p:spPr>
          <a:xfrm>
            <a:off x="4296795" y="2382086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11" name="Google Shape;211;p33"/>
          <p:cNvSpPr/>
          <p:nvPr/>
        </p:nvSpPr>
        <p:spPr>
          <a:xfrm>
            <a:off x="4748505" y="2382086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12" name="Google Shape;212;p33"/>
          <p:cNvSpPr/>
          <p:nvPr/>
        </p:nvSpPr>
        <p:spPr>
          <a:xfrm>
            <a:off x="4296795" y="3134937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13" name="Google Shape;213;p33"/>
          <p:cNvSpPr/>
          <p:nvPr/>
        </p:nvSpPr>
        <p:spPr>
          <a:xfrm>
            <a:off x="4748505" y="3134937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Response</a:t>
            </a:r>
            <a:endParaRPr/>
          </a:p>
        </p:txBody>
      </p:sp>
      <p:sp>
        <p:nvSpPr>
          <p:cNvPr id="219" name="Google Shape;219;p34"/>
          <p:cNvSpPr txBox="1"/>
          <p:nvPr>
            <p:ph idx="1" type="body"/>
          </p:nvPr>
        </p:nvSpPr>
        <p:spPr>
          <a:xfrm>
            <a:off x="1722900" y="885950"/>
            <a:ext cx="56982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 fontScale="77500" lnSpcReduction="20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SnapToRight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Width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HitboxInset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SnapToLeft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HitboxInset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SnapToBottom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Height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SnapToTop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IsOnGround</a:t>
            </a:r>
            <a:endParaRPr/>
          </a:p>
        </p:txBody>
      </p:sp>
      <p:sp>
        <p:nvSpPr>
          <p:cNvPr id="225" name="Google Shape;225;p35"/>
          <p:cNvSpPr txBox="1"/>
          <p:nvPr>
            <p:ph idx="1" type="body"/>
          </p:nvPr>
        </p:nvSpPr>
        <p:spPr>
          <a:xfrm>
            <a:off x="311700" y="885950"/>
            <a:ext cx="8520600" cy="34845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protected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IsOnGround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Bounds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// Check Tilemap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CollisionInset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||</a:t>
            </a:r>
            <a:endParaRPr sz="1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CollisionInset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// Check solid Entities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sensor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ExpandDirectional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Level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Entities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Any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Collidable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sensor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Intersects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Bounds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Tilemap Additions</a:t>
            </a:r>
            <a:endParaRPr/>
          </a:p>
        </p:txBody>
      </p:sp>
      <p:sp>
        <p:nvSpPr>
          <p:cNvPr id="231" name="Google Shape;231;p36"/>
          <p:cNvSpPr txBox="1"/>
          <p:nvPr>
            <p:ph idx="1" type="body"/>
          </p:nvPr>
        </p:nvSpPr>
        <p:spPr>
          <a:xfrm>
            <a:off x="2751000" y="1862025"/>
            <a:ext cx="3642000" cy="20751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PointToTile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TileToPoint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column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GetTileTop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?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Coyote Time</a:t>
            </a:r>
            <a:endParaRPr/>
          </a:p>
        </p:txBody>
      </p:sp>
      <p:pic>
        <p:nvPicPr>
          <p:cNvPr id="237" name="Google Shape;237;p37" title="Celeste-Coyote-Time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1675" y="1679747"/>
            <a:ext cx="4120325" cy="2317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8" name="Google Shape;238;p37" title="coyote.gif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45575" y="1971802"/>
            <a:ext cx="3048000" cy="1733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Platformer Physics Performance</a:t>
            </a:r>
            <a:endParaRPr/>
          </a:p>
        </p:txBody>
      </p:sp>
      <p:sp>
        <p:nvSpPr>
          <p:cNvPr id="244" name="Google Shape;244;p3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against the tiles: a lookup. Against entities: checks.</a:t>
            </a:r>
            <a:endParaRPr/>
          </a:p>
        </p:txBody>
      </p:sp>
      <p:sp>
        <p:nvSpPr>
          <p:cNvPr id="245" name="Rounded Rectangle 244"/>
          <p:cNvSpPr/>
          <p:nvPr/>
        </p:nvSpPr>
        <p:spPr>
          <a:xfrm>
            <a:off x="548640" y="1417320"/>
            <a:ext cx="3749039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Tiles: O(1)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grid never moves: look up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tile at a point</a:t>
            </a:r>
          </a:p>
        </p:txBody>
      </p:sp>
      <p:sp>
        <p:nvSpPr>
          <p:cNvPr id="246" name="Rounded Rectangle 245"/>
          <p:cNvSpPr/>
          <p:nvPr/>
        </p:nvSpPr>
        <p:spPr>
          <a:xfrm>
            <a:off x="4846320" y="1417320"/>
            <a:ext cx="3749039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Entities: O(n) per mover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they move, so check each;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every pair would be O(n²)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548640" y="2788920"/>
            <a:ext cx="8046720" cy="73152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300">
                <a:solidFill>
                  <a:srgbClr val="DEE2E6"/>
                </a:solidFill>
                <a:latin typeface="Consolas"/>
              </a:rPr>
              <a:t>public bool IsSolidAt(float x, float y) =&gt; GetTileAt(x, y)?.IsSolid ?? false;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3" name="Google Shape;243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Debug Drawing</a:t>
            </a:r>
            <a:endParaRPr/>
          </a:p>
        </p:txBody>
      </p:sp>
      <p:sp>
        <p:nvSpPr>
          <p:cNvPr id="244" name="Google Shape;244;p3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falls through a corner. Why? You can’t see a hitbox.</a:t>
            </a:r>
            <a:endParaRPr/>
          </a:p>
        </p:txBody>
      </p:sp>
      <p:sp>
        <p:nvSpPr>
          <p:cNvPr id="245" name="Rounded Rectangle 244"/>
          <p:cNvSpPr/>
          <p:nvPr/>
        </p:nvSpPr>
        <p:spPr>
          <a:xfrm>
            <a:off x="548640" y="1417320"/>
            <a:ext cx="246888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Solid tiles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drawn in red</a:t>
            </a:r>
          </a:p>
        </p:txBody>
      </p:sp>
      <p:sp>
        <p:nvSpPr>
          <p:cNvPr id="246" name="Rounded Rectangle 245"/>
          <p:cNvSpPr/>
          <p:nvPr/>
        </p:nvSpPr>
        <p:spPr>
          <a:xfrm>
            <a:off x="3291840" y="1417320"/>
            <a:ext cx="246888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The player’s hitbox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drawn in green</a:t>
            </a:r>
          </a:p>
        </p:txBody>
      </p:sp>
      <p:sp>
        <p:nvSpPr>
          <p:cNvPr id="247" name="Rounded Rectangle 246"/>
          <p:cNvSpPr/>
          <p:nvPr/>
        </p:nvSpPr>
        <p:spPr>
          <a:xfrm>
            <a:off x="6035040" y="1417320"/>
            <a:ext cx="246888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Entities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drawn in yellow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548640" y="228600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Press F1. DebugDraw in GMDCore draws nothing unless enabled, so the calls can stay in the code.</a:t>
            </a:r>
          </a:p>
        </p:txBody>
      </p:sp>
      <p:sp>
        <p:nvSpPr>
          <p:cNvPr id="249" name="Rounded Rectangle 248"/>
          <p:cNvSpPr/>
          <p:nvPr/>
        </p:nvSpPr>
        <p:spPr>
          <a:xfrm>
            <a:off x="548640" y="2834640"/>
            <a:ext cx="3749039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The debugger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exact values, at one moment</a:t>
            </a:r>
          </a:p>
        </p:txBody>
      </p:sp>
      <p:sp>
        <p:nvSpPr>
          <p:cNvPr id="250" name="Rounded Rectangle 249"/>
          <p:cNvSpPr/>
          <p:nvPr/>
        </p:nvSpPr>
        <p:spPr>
          <a:xfrm>
            <a:off x="4846320" y="2834640"/>
            <a:ext cx="3749039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Debug drawing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what happens, over time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36" name="Google Shape;236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Debug Drawing in Action</a:t>
            </a:r>
            <a:endParaRPr/>
          </a:p>
        </p:txBody>
      </p:sp>
      <p:pic>
        <p:nvPicPr>
          <p:cNvPr id="237" name="Picture 237" descr="mario-debu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005840"/>
            <a:ext cx="6583680" cy="370332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3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Platformer Physics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2" name="Google Shape;252;p3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Platformer2: gravity, tile collision, coyote time and debug drawing (F1)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Entities</a:t>
            </a:r>
            <a:endParaRPr/>
          </a:p>
        </p:txBody>
      </p:sp>
      <p:sp>
        <p:nvSpPr>
          <p:cNvPr id="258" name="Google Shape;258;p40"/>
          <p:cNvSpPr txBox="1"/>
          <p:nvPr>
            <p:ph idx="1" type="body"/>
          </p:nvPr>
        </p:nvSpPr>
        <p:spPr>
          <a:xfrm>
            <a:off x="311700" y="885950"/>
            <a:ext cx="5669280" cy="118872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Entities: anything that isn’t a tile. They move, and don’t line up with the grid.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player, snails, boxes, gems; each with its own states.</a:t>
            </a:r>
            <a:endParaRPr/>
          </a:p>
        </p:txBody>
      </p:sp>
      <p:pic>
        <p:nvPicPr>
          <p:cNvPr id="259" name="Picture 270" descr="mario_entities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23513" y="323750"/>
            <a:ext cx="2782287" cy="4489599"/>
          </a:xfrm>
          <a:prstGeom prst="rect">
            <a:avLst/>
          </a:prstGeom>
        </p:spPr>
      </p:pic>
      <p:sp>
        <p:nvSpPr>
          <p:cNvPr id="260" name="TextBox 259"/>
          <p:cNvSpPr txBox="1"/>
          <p:nvPr/>
        </p:nvSpPr>
        <p:spPr>
          <a:xfrm>
            <a:off x="457200" y="301752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Many kinds of entity, each a class. Where does that end?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4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Entity</a:t>
            </a:r>
            <a:endParaRPr/>
          </a:p>
        </p:txBody>
      </p:sp>
      <p:sp>
        <p:nvSpPr>
          <p:cNvPr id="276" name="Google Shape;276;p41"/>
          <p:cNvSpPr txBox="1"/>
          <p:nvPr>
            <p:ph idx="1" type="body"/>
          </p:nvPr>
        </p:nvSpPr>
        <p:spPr>
          <a:xfrm>
            <a:off x="311700" y="885950"/>
            <a:ext cx="3164700" cy="3042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interface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IEntity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Bounds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Collidable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Update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Draw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Collides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IEntity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other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277" name="Google Shape;277;p41"/>
          <p:cNvSpPr txBox="1"/>
          <p:nvPr>
            <p:ph idx="2" type="body"/>
          </p:nvPr>
        </p:nvSpPr>
        <p:spPr>
          <a:xfrm>
            <a:off x="3662950" y="886075"/>
            <a:ext cx="5169300" cy="40233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W</a:t>
            </a:r>
            <a:r>
              <a:rPr lang="en"/>
              <a:t>e iterate over all entities in</a:t>
            </a:r>
            <a:r>
              <a:rPr lang="en"/>
              <a:t> the world </a:t>
            </a:r>
            <a:r>
              <a:rPr lang="en"/>
              <a:t>at the same time</a:t>
            </a:r>
            <a:endParaRPr/>
          </a:p>
          <a:p>
            <a:pPr indent="-3048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/>
              <a:t>Made possible by the update method pattern!</a:t>
            </a:r>
            <a:endParaRPr/>
          </a:p>
          <a:p>
            <a:pPr indent="-3175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Collisions can be done entity-to-entity</a:t>
            </a:r>
            <a:endParaRPr/>
          </a:p>
          <a:p>
            <a:pPr indent="-3048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/>
              <a:t>Each entity decides how to handle collisions</a:t>
            </a:r>
            <a:endParaRPr/>
          </a:p>
          <a:p>
            <a:pPr indent="-3048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/>
              <a:t>Since entities often move, we cannot do an instant lookup check like for tilemap collisions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4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Add a Custom Level Maker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3" name="Google Shape;283;p42"/>
          <p:cNvSpPr txBox="1"/>
          <p:nvPr>
            <p:ph idx="1" type="body"/>
          </p:nvPr>
        </p:nvSpPr>
        <p:spPr>
          <a:xfrm>
            <a:off x="311700" y="885950"/>
            <a:ext cx="8520600" cy="205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Platformer8. Full instructions are on the course site.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Varied ground heights, pillars and pits; platforms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More enemy types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goal flag at the end, behind a key and a lock of the same colour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Longer and harder levels, one after another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4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Add </a:t>
            </a:r>
            <a:r>
              <a:rPr lang="en">
                <a:solidFill>
                  <a:schemeClr val="accent5"/>
                </a:solidFill>
              </a:rPr>
              <a:t>Powerups</a:t>
            </a:r>
            <a:r>
              <a:rPr lang="en">
                <a:solidFill>
                  <a:schemeClr val="accent5"/>
                </a:solidFill>
              </a:rPr>
              <a:t> to the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9" name="Google Shape;289;p43"/>
          <p:cNvSpPr txBox="1"/>
          <p:nvPr>
            <p:ph idx="1" type="body"/>
          </p:nvPr>
        </p:nvSpPr>
        <p:spPr>
          <a:xfrm>
            <a:off x="311700" y="885950"/>
            <a:ext cx="8520600" cy="154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Effectively an Entity that changes some state or trait of the player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star may flip an “invincible” flag on the player and begin an “invincibleDuration” timer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mushroom may trigger a “huge” flag on the player that alters their </a:t>
            </a:r>
            <a:r>
              <a:rPr lang="en"/>
              <a:t>x, y, width, and height and then scales their sprite</a:t>
            </a:r>
            <a:endParaRPr/>
          </a:p>
        </p:txBody>
      </p:sp>
      <p:pic>
        <p:nvPicPr>
          <p:cNvPr id="290" name="Google Shape;290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67738" y="2571750"/>
            <a:ext cx="3408525" cy="23092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Extra Assets</a:t>
            </a:r>
            <a:endParaRPr/>
          </a:p>
        </p:txBody>
      </p:sp>
      <p:sp>
        <p:nvSpPr>
          <p:cNvPr id="296" name="Google Shape;296;p4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Power-ups for the exercises, in the repo: Content/Assets/images/extras.png (the game doesn’t use them)</a:t>
            </a:r>
            <a:endParaRPr/>
          </a:p>
        </p:txBody>
      </p:sp>
      <p:pic>
        <p:nvPicPr>
          <p:cNvPr id="297" name="Picture 297" descr="mario_extr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1348" y="3016803"/>
            <a:ext cx="2041300" cy="340216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would you want to see while debugging your game?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Add debug drawing for hitboxes, triggers or AI targets, behind a key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entities have distinct behaviour modes? Draw a state diagram for one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Is anything a set of booleans that should be a state machine?</a:t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Course Project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Milestone by today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playable core loop, and a first class diagram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Next milestone, by session 09: self-review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Updated class diagram, list of patterns, event map, at least one refactoring</a:t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33502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is a switch on an enum still a problematic way to model character state?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can tile collision be O(1) while entity collision can’t?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keep debug drawing in the code, behind a switch, instead of deleting it?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98064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