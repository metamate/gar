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83" r:id="rId4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VT323"/>
      <p:regular r:id="rId37"/>
    </p:embeddedFont>
    <p:embeddedFont>
      <p:font typeface="Roboto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font" Target="fonts/Roboto-regular.fntdata"/><Relationship Id="rId34" Type="http://schemas.openxmlformats.org/officeDocument/2006/relationships/font" Target="fonts/Roboto-bold.fntdata"/><Relationship Id="rId35" Type="http://schemas.openxmlformats.org/officeDocument/2006/relationships/font" Target="fonts/Roboto-italic.fntdata"/><Relationship Id="rId36" Type="http://schemas.openxmlformats.org/officeDocument/2006/relationships/font" Target="fonts/Roboto-boldItalic.fntdata"/><Relationship Id="rId37" Type="http://schemas.openxmlformats.org/officeDocument/2006/relationships/font" Target="fonts/VT323-regular.fntdata"/><Relationship Id="rId38" Type="http://schemas.openxmlformats.org/officeDocument/2006/relationships/font" Target="fonts/RobotoLight-regular.fntdata"/><Relationship Id="rId39" Type="http://schemas.openxmlformats.org/officeDocument/2006/relationships/font" Target="fonts/RobotoLight-bold.fntdata"/><Relationship Id="rId40" Type="http://schemas.openxmlformats.org/officeDocument/2006/relationships/font" Target="fonts/RobotoLight-italic.fntdata"/><Relationship Id="rId41" Type="http://schemas.openxmlformats.org/officeDocument/2006/relationships/font" Target="fonts/RobotoLight-boldItalic.fntdata"/><Relationship Id="rId4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20930e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20930e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930eb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930eb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0930eb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0930eb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eb46504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eb4650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0930eb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0930eb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b18a32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b18a32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eb465041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6eb465041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6eb46504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6eb46504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6eb46504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6eb46504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eb46504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6eb46504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eb46504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6eb46504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6eb46504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6eb46504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the same as Data-Driven Design!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6eb46504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6eb46504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6eb46504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6eb46504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ight loop, linear memory access, branch predictor is happy.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6eb465041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6eb465041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eb46504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6eb46504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eb46504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6eb46504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re-allocate MAX particles once, at load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Never `new` a Particle again for the rest of the game.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Release is just: p.Active = false;   Zero GC pressure.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6eb46504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6eb46504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6eb4650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6eb4650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eb46504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6eb46504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SpriteBatch itself is a flyweight: one GPU state change per texture, hundreds of sprites drawn in a single call.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eb465041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eb465041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eb4650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6eb4650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6eb465041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6eb465041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6eb4650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6eb4650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Input Data: The process begins with input data that is sent to the GPU to render: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Vertex Data: The vertex data (positions, colors, etc.) that define the geometry of what is being drawn.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Texture: The image data that will be applied to the geometry.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Vertex Shader: Processes each vertex, calculating its final position on the screen and passing the data to the next stage.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Sampler: Controls how texture data is accessed, applying filtering (how pixels blend when scaled) and addressing (what happens at texture edges).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Pixel Shader: Takes the transformed vertices and sampled texture data to calculate the final color of each pixel.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Output: The final rendered image that appears on your screen.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6eb465041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6eb465041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eb46504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6eb46504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etamate/gmd2-geometrywars" TargetMode="External"/><Relationship Id="rId4" Type="http://schemas.openxmlformats.org/officeDocument/2006/relationships/hyperlink" Target="http://readm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hyperlink" Target="https://github.com/Metamate/gmd2-geometrywars" TargetMode="External"/><Relationship Id="rId4" Type="http://schemas.openxmlformats.org/officeDocument/2006/relationships/hyperlink" Target="http://readme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09: Geometry Wars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Geometry Wars</a:t>
            </a:r>
            <a:endParaRPr/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775" y="935302"/>
            <a:ext cx="3642401" cy="204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200" y="935322"/>
            <a:ext cx="3642398" cy="204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875" y="3221165"/>
            <a:ext cx="30099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3925" y="3151128"/>
            <a:ext cx="2378576" cy="1854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302" y="1536400"/>
            <a:ext cx="5377400" cy="311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 Oriented Design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Object Pool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Flyweight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Shaders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Geometry Wars?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</a:t>
            </a:r>
            <a:r>
              <a:rPr lang="en"/>
              <a:t>housands of entities on screen at 60 FPS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Naive OOP collapses: deep inheritance, GC churn, cache misses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Forces real architectural decisions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pattern today fixes a real bottleneck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iconic neon glow and grid warp are pure shader work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 Source code for today’s game can be found 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https://github.com/Metamate/gmd2-geometrywars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Walkthrough in </a:t>
            </a:r>
            <a:r>
              <a:rPr lang="en" u="sng">
                <a:solidFill>
                  <a:schemeClr val="hlink"/>
                </a:solidFill>
                <a:hlinkClick r:id="rId4"/>
              </a:rPr>
              <a:t>README.md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goal is not to understand all the systems, but the overall architecture employed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game is built up in steps: GeometryWars0 → GeometryWars6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step adds components to the entity recipes, and the systems they need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neighbouring steps to see exactly what changed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GeometryWars6 is the finished game: explore it, and start the exercises from 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GeometryWars0: entities &amp; components, the player ship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GeometryWars1: shooting &amp; Object Pool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GeometryWars2: enemies, collisions, score and lives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GeometryWars3: particles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GeometryWars4: the spring grid and black holes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GeometryWars5: bloom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GeometryWars6: audio (the finished game)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Explore the Codebase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~10 minutes to browse the finished game, GeometryWars6. Use the README as a guide if you need it.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Clone the repository and build and play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</a:t>
            </a:r>
            <a:r>
              <a:rPr lang="en"/>
              <a:t>high</a:t>
            </a:r>
            <a:r>
              <a:rPr lang="en"/>
              <a:t> a score can you get? ;)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is the codebase split between the core library and the geometry wars-specific project?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Architecture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Game1 owns the application shell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PlayState owns one active gameplay state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PlaySession owns one run of the game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EntityWorld updates entities and collisions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EntityFactory builds entities by composing components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Components implement the actual behavior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Systems handle some cross-component concerns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Game1 → PlayState → PlaySession → EntityWorld / EntityFactory → Components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Pattern - The Problem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Inheritance seems natural: Enemy → ShootingEnemy → HomingShootingEnemy…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But every new behavior combination doubles the hierarchy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Want a homing enemy that also explodes? Copy-paste the homing code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diamond problem, fragile base classes, and dead code everywhere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Behavior should be composed, not inherited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Pattern - The Solution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 Entity is just an ID plus a bag of components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Components hold data and a small slice of behavior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Transform, Sprite, Collider, Health, AIController, Weapon…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Mix and match: a HomingExplodingEnemy is just Homing + Explode components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Systems iterate over entities that have the components they care about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Favor composition over inheritance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classic OOP maxim, made concrete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Components are reusable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keep the “Single Responsibility Principle” in mind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Pattern - Simple Example</a:t>
            </a:r>
            <a:endParaRPr/>
          </a:p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1172850" y="934050"/>
            <a:ext cx="6798300" cy="3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abstract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Owner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Transform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Rotation, Scale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: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Texture2D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: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Spawn a grunt enemy: no new class needed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grunt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grunt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Transform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spawnPoint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grunt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gruntTex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grunt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Components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Component Pattern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Entity.cs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EntityFactory.cs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 GeometryWars0 onwards; every step adds components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Oriented Design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Think in Data, Not Objects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OOP asks: "What is a bullet?" — DOD asks: "How does bullet data flow?"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Array of Structs (AoS)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Bullet[]</a:t>
            </a:r>
            <a:r>
              <a:rPr lang="en"/>
              <a:t> — </a:t>
            </a:r>
            <a:r>
              <a:rPr lang="en"/>
              <a:t>each bullet is one object with all its fields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Struct of Arrays (SoA)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float[] positionsX, positionsY, velocitiesX, …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SoA packs the fields you actually touch tightly together in memory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Update loop reads only what it needs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Nothing else is dragged into cache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Layout Matters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L1 cache hit: ~1 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 memory miss: ~100 ns — a 100× penalty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CPU fetches 64 bytes at a time (one cache line)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them count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AoS Bullet { Pos, Vel, Sprite, Owner, Tag, … } ≈ 80 bytes per object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Updating positions drags sprites, tags, and pointers through cache too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SoA positions[]: 16 bullets fit in one cache 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16× the throughput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Thousands of bullets flying? This is the difference between 60 FPS and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SoA Example</a:t>
            </a:r>
            <a:endParaRPr/>
          </a:p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2549850" y="876500"/>
            <a:ext cx="4044300" cy="4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BulletSystem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10_000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Lifetime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Lifetime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Lifetime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SoA</a:t>
            </a:r>
            <a:r>
              <a:rPr lang="en">
                <a:solidFill>
                  <a:schemeClr val="accent5"/>
                </a:solidFill>
              </a:rPr>
              <a:t> Implementations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Grid.cs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ParticleManager.cs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Steps: GeometryWars3 (particles) and GeometryWars4 (grid)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- The Problem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fire 20 bullets per second.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hit spawns 30 particles.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enemy dies into 50 debris pieces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That's thousands of new allocations per second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short-lived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C# is a managed language: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new</a:t>
            </a:r>
            <a:r>
              <a:rPr lang="en"/>
              <a:t> means the GC will eventually clean up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GC pauses are non-deterministic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stutter every few seconds is the telltale sign of allocation-in-the-hot-loop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- Simple Example</a:t>
            </a:r>
            <a:endParaRPr/>
          </a:p>
        </p:txBody>
      </p:sp>
      <p:sp>
        <p:nvSpPr>
          <p:cNvPr id="145" name="Google Shape;145;p26"/>
          <p:cNvSpPr txBox="1"/>
          <p:nvPr>
            <p:ph idx="2" type="body"/>
          </p:nvPr>
        </p:nvSpPr>
        <p:spPr>
          <a:xfrm>
            <a:off x="1830150" y="876475"/>
            <a:ext cx="5483700" cy="4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ParticlePool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5000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ParticlePool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Spawn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pool exhausted — size it generously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Object Pool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ObjectPool.cs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BulletSpawner.cs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Step: GeometryWars1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Flyweight Pattern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Share What's Shared, Store What's Unique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500 enemies on screen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they're all the same sprite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Intrinsic state: shared, immutable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Texture2D, the mesh, the stats template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Extrinsic state: per-instance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Position, velocity, current HP, color tint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One EnemyType object holds intrinsic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Entity references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500 entities × 4-byte pointer to one texture, not 500 copies of the texture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Memory: kilobytes instead of megabytes. Load time: instant instead of slow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Flyweight Example</a:t>
            </a:r>
            <a:endParaRPr/>
          </a:p>
        </p:txBody>
      </p:sp>
      <p:sp>
        <p:nvSpPr>
          <p:cNvPr id="163" name="Google Shape;163;p29"/>
          <p:cNvSpPr txBox="1"/>
          <p:nvPr>
            <p:ph idx="2" type="body"/>
          </p:nvPr>
        </p:nvSpPr>
        <p:spPr>
          <a:xfrm>
            <a:off x="1947750" y="876475"/>
            <a:ext cx="52485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Intrinsic (shared) — one instance, referenced everywhere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EnemyType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Texture2D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MaxSpeed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SpawnHP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ScoreValue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Extrinsic (per-instance) — one per live enemy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EnemyInstance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EnemyType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    </a:t>
            </a: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pointer — the flyweight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CurrentHP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Draw: SpriteBatch batches draws of the same texture automatically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enemies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White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Flyweight Implementations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GameAssets.cs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GameplayDefinitions.cs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Step: GeometryWars0 onwards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Shaders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Moving work to the GPU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CPU has ~8 cores. GPU has thousands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all run the same program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Vertex shader: runs once per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Transforms positions, can displace geometry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Pixel (fragment) shader: runs once per pixel.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Decides the final color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MonoGame ships with a default shader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write custom ones in HLSL (.fx files)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Any per-pixel effect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Glow, blur, distortion, color grading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CPU submits draw calls; the GPU paints pixels in parallel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Bloom, The Signature Geometry Wars Glow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Bloom makes bright pixels bleed light into their neighbors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Render the scene to a RenderTarget2D instead of the back buffer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Threshold pass — keep only pixels brighter than some cutoff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Gaussian blur the bright pixels — horizontal pass, then vertical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Additively blend the blurred result back over the original scene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pass is a fullscreen quad with a different pixel shader (post-processing)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Shader Pipeline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101440"/>
            <a:ext cx="82677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Shader Implementation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Component Pattern defines what an entity is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Memory Layout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Data-Oriented Design defines how entities live in memory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Memory Allocation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Object Pool decides when entities are allocated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Shared Memory (deduplication)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Flyweight decides what entities share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Presentation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Shaders decide how entities look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