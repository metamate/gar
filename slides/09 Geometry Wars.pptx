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5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83" r:id="rId42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84" r:id="rId43"/>
    <p:sldId id="285" r:id="rId44"/>
    <p:sldId id="278" r:id="rId28"/>
    <p:sldId id="279" r:id="rId29"/>
    <p:sldId id="280" r:id="rId30"/>
    <p:sldId id="281" r:id="rId31"/>
    <p:sldId id="282" r:id="rId32"/>
    <p:sldId id="286" r:id="rId45"/>
    <p:sldId id="287" r:id="rId46"/>
  </p:sldIdLst>
  <p:sldSz cy="5143500" cx="9144000"/>
  <p:notesSz cx="6858000" cy="9144000"/>
  <p:embeddedFontLst>
    <p:embeddedFont>
      <p:font typeface="Roboto"/>
      <p:regular r:id="rId33"/>
      <p:bold r:id="rId34"/>
      <p:italic r:id="rId35"/>
      <p:boldItalic r:id="rId36"/>
    </p:embeddedFont>
    <p:embeddedFont>
      <p:font typeface="VT323"/>
      <p:regular r:id="rId37"/>
    </p:embeddedFont>
    <p:embeddedFont>
      <p:font typeface="Roboto Light"/>
      <p:regular r:id="rId38"/>
      <p:bold r:id="rId39"/>
      <p:italic r:id="rId40"/>
      <p:boldItalic r:id="rId41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8.xml"/><Relationship Id="rId13" Type="http://schemas.openxmlformats.org/officeDocument/2006/relationships/slide" Target="slides/slide9.xml"/><Relationship Id="rId14" Type="http://schemas.openxmlformats.org/officeDocument/2006/relationships/slide" Target="slides/slide10.xml"/><Relationship Id="rId15" Type="http://schemas.openxmlformats.org/officeDocument/2006/relationships/slide" Target="slides/slide11.xml"/><Relationship Id="rId16" Type="http://schemas.openxmlformats.org/officeDocument/2006/relationships/slide" Target="slides/slide12.xml"/><Relationship Id="rId17" Type="http://schemas.openxmlformats.org/officeDocument/2006/relationships/slide" Target="slides/slide13.xml"/><Relationship Id="rId18" Type="http://schemas.openxmlformats.org/officeDocument/2006/relationships/slide" Target="slides/slide14.xml"/><Relationship Id="rId19" Type="http://schemas.openxmlformats.org/officeDocument/2006/relationships/slide" Target="slides/slide15.xml"/><Relationship Id="rId20" Type="http://schemas.openxmlformats.org/officeDocument/2006/relationships/slide" Target="slides/slide16.xml"/><Relationship Id="rId21" Type="http://schemas.openxmlformats.org/officeDocument/2006/relationships/slide" Target="slides/slide17.xml"/><Relationship Id="rId22" Type="http://schemas.openxmlformats.org/officeDocument/2006/relationships/slide" Target="slides/slide18.xml"/><Relationship Id="rId23" Type="http://schemas.openxmlformats.org/officeDocument/2006/relationships/slide" Target="slides/slide19.xml"/><Relationship Id="rId24" Type="http://schemas.openxmlformats.org/officeDocument/2006/relationships/slide" Target="slides/slide20.xml"/><Relationship Id="rId25" Type="http://schemas.openxmlformats.org/officeDocument/2006/relationships/slide" Target="slides/slide21.xml"/><Relationship Id="rId26" Type="http://schemas.openxmlformats.org/officeDocument/2006/relationships/slide" Target="slides/slide22.xml"/><Relationship Id="rId27" Type="http://schemas.openxmlformats.org/officeDocument/2006/relationships/slide" Target="slides/slide23.xml"/><Relationship Id="rId28" Type="http://schemas.openxmlformats.org/officeDocument/2006/relationships/slide" Target="slides/slide24.xml"/><Relationship Id="rId29" Type="http://schemas.openxmlformats.org/officeDocument/2006/relationships/slide" Target="slides/slide25.xml"/><Relationship Id="rId30" Type="http://schemas.openxmlformats.org/officeDocument/2006/relationships/slide" Target="slides/slide26.xml"/><Relationship Id="rId31" Type="http://schemas.openxmlformats.org/officeDocument/2006/relationships/slide" Target="slides/slide27.xml"/><Relationship Id="rId32" Type="http://schemas.openxmlformats.org/officeDocument/2006/relationships/slide" Target="slides/slide28.xml"/><Relationship Id="rId33" Type="http://schemas.openxmlformats.org/officeDocument/2006/relationships/font" Target="fonts/Roboto-regular.fntdata"/><Relationship Id="rId34" Type="http://schemas.openxmlformats.org/officeDocument/2006/relationships/font" Target="fonts/Roboto-bold.fntdata"/><Relationship Id="rId35" Type="http://schemas.openxmlformats.org/officeDocument/2006/relationships/font" Target="fonts/Roboto-italic.fntdata"/><Relationship Id="rId36" Type="http://schemas.openxmlformats.org/officeDocument/2006/relationships/font" Target="fonts/Roboto-boldItalic.fntdata"/><Relationship Id="rId37" Type="http://schemas.openxmlformats.org/officeDocument/2006/relationships/font" Target="fonts/VT323-regular.fntdata"/><Relationship Id="rId38" Type="http://schemas.openxmlformats.org/officeDocument/2006/relationships/font" Target="fonts/RobotoLight-regular.fntdata"/><Relationship Id="rId39" Type="http://schemas.openxmlformats.org/officeDocument/2006/relationships/font" Target="fonts/RobotoLight-bold.fntdata"/><Relationship Id="rId40" Type="http://schemas.openxmlformats.org/officeDocument/2006/relationships/font" Target="fonts/RobotoLight-italic.fntdata"/><Relationship Id="rId41" Type="http://schemas.openxmlformats.org/officeDocument/2006/relationships/font" Target="fonts/RobotoLight-boldItalic.fntdata"/><Relationship Id="rId42" Type="http://schemas.openxmlformats.org/officeDocument/2006/relationships/slide" Target="slides/slide7.xml"/><Relationship Id="rId43" Type="http://schemas.openxmlformats.org/officeDocument/2006/relationships/slide" Target="slides/slide29.xml"/><Relationship Id="rId44" Type="http://schemas.openxmlformats.org/officeDocument/2006/relationships/slide" Target="slides/slide30.xml"/><Relationship Id="rId45" Type="http://schemas.openxmlformats.org/officeDocument/2006/relationships/slide" Target="slides/slide31.xml"/><Relationship Id="rId46" Type="http://schemas.openxmlformats.org/officeDocument/2006/relationships/slide" Target="slides/slide3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7" name="Google Shape;37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g3d20930eb54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3" name="Google Shape;43;g3d20930eb54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g3d20930eb54_0_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g3d20930eb54_0_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6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g3d20930eb54_0_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8" name="Google Shape;58;g3d20930eb54_0_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g3d6eb465041_1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4" name="Google Shape;64;g3d6eb465041_1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g3d20930eb54_0_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0" name="Google Shape;70;g3d20930eb54_0_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g3d5b18a32d2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6" name="Google Shape;76;g3d5b18a32d2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g3d6eb465041_1_8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2" name="Google Shape;82;g3d6eb465041_1_8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6" name="Shape 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Google Shape;87;g3d6eb465041_0_5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8" name="Google Shape;88;g3d6eb465041_0_5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g3d6eb465041_1_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4" name="Google Shape;94;g3d6eb465041_1_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g3d6eb465041_1_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0" name="Google Shape;100;g3d6eb465041_1_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g3d6eb465041_1_1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6" name="Google Shape;106;g3d6eb465041_1_1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d6eb465041_0_4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2" name="Google Shape;112;g3d6eb465041_0_4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Not the same as Data-Driven Design!</a:t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g3d6eb465041_1_2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8" name="Google Shape;118;g3d6eb465041_1_2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g3d6eb465041_1_2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4" name="Google Shape;124;g3d6eb465041_1_2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</a:t>
            </a:r>
            <a:r>
              <a:rPr lang="en"/>
              <a:t>ight loop, linear memory access, branch predictor is happy.</a:t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g3d6eb465041_1_7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0" name="Google Shape;130;g3d6eb465041_1_7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Google Shape;135;g3d6eb465041_0_3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6" name="Google Shape;136;g3d6eb465041_0_3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g3d6eb465041_1_3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2" name="Google Shape;142;g3d6eb465041_1_3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</a:t>
            </a:r>
            <a:r>
              <a:rPr lang="en"/>
              <a:t>re-allocate MAX particles once, at load time.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Never `new` a Particle again for the rest of the game.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Release is just: p.Active = false;   Zero GC pressure.</a:t>
            </a: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g3d6eb465041_1_6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8" name="Google Shape;148;g3d6eb465041_1_6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g3d6eb465041_0_3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4" name="Google Shape;154;g3d6eb465041_0_3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g3d6eb465041_1_4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0" name="Google Shape;160;g3d6eb465041_1_4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SpriteBatch itself is a flyweight: one GPU state change per texture, hundreds of sprites drawn in a single call.</a:t>
            </a:r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g3d6eb465041_1_8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6" name="Google Shape;166;g3d6eb465041_1_8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0" name="Shape 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Google Shape;171;g3d6eb465041_0_2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2" name="Google Shape;172;g3d6eb465041_0_2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g3d6eb465041_1_5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8" name="Google Shape;178;g3d6eb465041_1_5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g3d6eb465041_0_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4" name="Google Shape;184;g3d6eb465041_0_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98450" lvl="0" marL="457200" rtl="0" algn="l">
              <a:spcBef>
                <a:spcPts val="0"/>
              </a:spcBef>
              <a:spcAft>
                <a:spcPts val="0"/>
              </a:spcAft>
              <a:buSzPts val="1100"/>
              <a:buAutoNum type="arabicPeriod"/>
            </a:pPr>
            <a:r>
              <a:rPr lang="en"/>
              <a:t>Input Data: The process begins with input data that is sent to the GPU to render:</a:t>
            </a:r>
            <a:endParaRPr/>
          </a:p>
          <a:p>
            <a:pPr indent="-298450" lvl="1" marL="914400" rtl="0" algn="l">
              <a:spcBef>
                <a:spcPts val="0"/>
              </a:spcBef>
              <a:spcAft>
                <a:spcPts val="0"/>
              </a:spcAft>
              <a:buSzPts val="1100"/>
              <a:buAutoNum type="alphaLcPeriod"/>
            </a:pPr>
            <a:r>
              <a:rPr lang="en"/>
              <a:t>Vertex Data: The vertex data (positions, colors, etc.) that define the geometry of what is being drawn.</a:t>
            </a:r>
            <a:endParaRPr/>
          </a:p>
          <a:p>
            <a:pPr indent="-298450" lvl="1" marL="914400" rtl="0" algn="l">
              <a:spcBef>
                <a:spcPts val="0"/>
              </a:spcBef>
              <a:spcAft>
                <a:spcPts val="0"/>
              </a:spcAft>
              <a:buSzPts val="1100"/>
              <a:buAutoNum type="alphaLcPeriod"/>
            </a:pPr>
            <a:r>
              <a:rPr lang="en"/>
              <a:t>Texture: The image data that will be applied to the geometry.</a:t>
            </a:r>
            <a:endParaRPr/>
          </a:p>
          <a:p>
            <a:pPr indent="-298450" lvl="0" marL="457200" rtl="0" algn="l">
              <a:spcBef>
                <a:spcPts val="0"/>
              </a:spcBef>
              <a:spcAft>
                <a:spcPts val="0"/>
              </a:spcAft>
              <a:buSzPts val="1100"/>
              <a:buAutoNum type="arabicPeriod"/>
            </a:pPr>
            <a:r>
              <a:rPr lang="en"/>
              <a:t>Vertex Shader: Processes each vertex, calculating its final position on the screen and passing the data to the next stage.</a:t>
            </a:r>
            <a:endParaRPr/>
          </a:p>
          <a:p>
            <a:pPr indent="-298450" lvl="0" marL="457200" rtl="0" algn="l">
              <a:spcBef>
                <a:spcPts val="0"/>
              </a:spcBef>
              <a:spcAft>
                <a:spcPts val="0"/>
              </a:spcAft>
              <a:buSzPts val="1100"/>
              <a:buAutoNum type="arabicPeriod"/>
            </a:pPr>
            <a:r>
              <a:rPr lang="en"/>
              <a:t>Sampler: Controls how texture data is accessed, applying filtering (how pixels blend when scaled) and addressing (what happens at texture edges).</a:t>
            </a:r>
            <a:endParaRPr/>
          </a:p>
          <a:p>
            <a:pPr indent="-298450" lvl="0" marL="457200" rtl="0" algn="l">
              <a:spcBef>
                <a:spcPts val="0"/>
              </a:spcBef>
              <a:spcAft>
                <a:spcPts val="0"/>
              </a:spcAft>
              <a:buSzPts val="1100"/>
              <a:buAutoNum type="arabicPeriod"/>
            </a:pPr>
            <a:r>
              <a:rPr lang="en"/>
              <a:t>Pixel Shader: Takes the transformed vertices and sampled texture data to calculate the final color of each pixel.</a:t>
            </a:r>
            <a:endParaRPr/>
          </a:p>
          <a:p>
            <a:pPr indent="-298450" lvl="0" marL="457200" rtl="0" algn="l">
              <a:spcBef>
                <a:spcPts val="0"/>
              </a:spcBef>
              <a:spcAft>
                <a:spcPts val="0"/>
              </a:spcAft>
              <a:buSzPts val="1100"/>
              <a:buAutoNum type="arabicPeriod"/>
            </a:pPr>
            <a:r>
              <a:rPr lang="en"/>
              <a:t>Output: The final rendered image that appears on your screen.</a:t>
            </a:r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g3d6eb465041_1_9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0" name="Google Shape;190;g3d6eb465041_1_9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3" name="Shape 1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" name="Google Shape;194;g3d6eb465041_1_5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5" name="Google Shape;195;g3d6eb465041_1_5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30200" lvl="0" marL="457200">
              <a:spcBef>
                <a:spcPts val="0"/>
              </a:spcBef>
              <a:spcAft>
                <a:spcPts val="0"/>
              </a:spcAft>
              <a:buSzPts val="16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885950"/>
            <a:ext cx="39999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886075"/>
            <a:ext cx="39999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 (code)">
  <p:cSld name="TITLE_AND_TWO_COLUMNS_1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" type="body"/>
          </p:nvPr>
        </p:nvSpPr>
        <p:spPr>
          <a:xfrm>
            <a:off x="311700" y="885950"/>
            <a:ext cx="39999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8" name="Google Shape;28;p6"/>
          <p:cNvSpPr txBox="1"/>
          <p:nvPr>
            <p:ph idx="2" type="body"/>
          </p:nvPr>
        </p:nvSpPr>
        <p:spPr>
          <a:xfrm>
            <a:off x="4832400" y="886075"/>
            <a:ext cx="3999900" cy="4023300"/>
          </a:xfrm>
          <a:prstGeom prst="rect">
            <a:avLst/>
          </a:prstGeom>
          <a:solidFill>
            <a:schemeClr val="dk2"/>
          </a:solidFill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9" name="Google Shape;29;p6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7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32" name="Google Shape;32;p7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rgbClr val="212529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300"/>
              <a:buFont typeface="VT323"/>
              <a:buNone/>
              <a:defRPr sz="3300">
                <a:solidFill>
                  <a:schemeClr val="accent1"/>
                </a:solidFill>
                <a:latin typeface="VT323"/>
                <a:ea typeface="VT323"/>
                <a:cs typeface="VT323"/>
                <a:sym typeface="VT323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302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Roboto Light"/>
              <a:buChar char="●"/>
              <a:defRPr sz="1600">
                <a:solidFill>
                  <a:schemeClr val="dk1"/>
                </a:solidFill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400"/>
              <a:buFont typeface="Roboto Light"/>
              <a:buChar char="○"/>
              <a:defRPr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3048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■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3048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●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3048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○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3048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■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6pPr>
            <a:lvl7pPr indent="-3048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●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7pPr>
            <a:lvl8pPr indent="-3048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○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8pPr>
            <a:lvl9pPr indent="-3048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■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 algn="r">
              <a:buNone/>
              <a:defRPr sz="1000">
                <a:solidFill>
                  <a:schemeClr val="lt1"/>
                </a:solidFill>
              </a:defRPr>
            </a:lvl1pPr>
            <a:lvl2pPr lvl="1" algn="r">
              <a:buNone/>
              <a:defRPr sz="1000">
                <a:solidFill>
                  <a:schemeClr val="lt1"/>
                </a:solidFill>
              </a:defRPr>
            </a:lvl2pPr>
            <a:lvl3pPr lvl="2" algn="r">
              <a:buNone/>
              <a:defRPr sz="1000">
                <a:solidFill>
                  <a:schemeClr val="lt1"/>
                </a:solidFill>
              </a:defRPr>
            </a:lvl3pPr>
            <a:lvl4pPr lvl="3" algn="r">
              <a:buNone/>
              <a:defRPr sz="1000">
                <a:solidFill>
                  <a:schemeClr val="lt1"/>
                </a:solidFill>
              </a:defRPr>
            </a:lvl4pPr>
            <a:lvl5pPr lvl="4" algn="r">
              <a:buNone/>
              <a:defRPr sz="1000">
                <a:solidFill>
                  <a:schemeClr val="lt1"/>
                </a:solidFill>
              </a:defRPr>
            </a:lvl5pPr>
            <a:lvl6pPr lvl="5" algn="r">
              <a:buNone/>
              <a:defRPr sz="1000">
                <a:solidFill>
                  <a:schemeClr val="lt1"/>
                </a:solidFill>
              </a:defRPr>
            </a:lvl6pPr>
            <a:lvl7pPr lvl="6" algn="r">
              <a:buNone/>
              <a:defRPr sz="1000">
                <a:solidFill>
                  <a:schemeClr val="lt1"/>
                </a:solidFill>
              </a:defRPr>
            </a:lvl7pPr>
            <a:lvl8pPr lvl="7" algn="r">
              <a:buNone/>
              <a:defRPr sz="1000">
                <a:solidFill>
                  <a:schemeClr val="lt1"/>
                </a:solidFill>
              </a:defRPr>
            </a:lvl8pPr>
            <a:lvl9pPr lvl="8" algn="r">
              <a:buNone/>
              <a:defRPr sz="1000">
                <a:solidFill>
                  <a:schemeClr val="lt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5.png"/><Relationship Id="rId4" Type="http://schemas.openxmlformats.org/officeDocument/2006/relationships/image" Target="../media/image4.png"/><Relationship Id="rId5" Type="http://schemas.openxmlformats.org/officeDocument/2006/relationships/image" Target="../media/image2.png"/><Relationship Id="rId6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6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hyperlink" Target="https://github.com/Metamate/gmd2-geometrywars" TargetMode="External"/><Relationship Id="rId4" Type="http://schemas.openxmlformats.org/officeDocument/2006/relationships/hyperlink" Target="http://readme.md" TargetMode="Externa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3" Type="http://schemas.openxmlformats.org/officeDocument/2006/relationships/hyperlink" Target="https://github.com/Metamate/gmd2-geometrywars" TargetMode="External"/><Relationship Id="rId4" Type="http://schemas.openxmlformats.org/officeDocument/2006/relationships/hyperlink" Target="http://readme.md" TargetMode="Externa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5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8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1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3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4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5.xml"/><Relationship Id="rId3" Type="http://schemas.openxmlformats.org/officeDocument/2006/relationships/image" Target="../media/image1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6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9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GAR</a:t>
            </a:r>
            <a:endParaRPr/>
          </a:p>
        </p:txBody>
      </p:sp>
      <p:sp>
        <p:nvSpPr>
          <p:cNvPr id="40" name="Google Shape;40;p9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Session 09: Geometry Wars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0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Geometry Wars</a:t>
            </a:r>
            <a:endParaRPr/>
          </a:p>
        </p:txBody>
      </p:sp>
      <p:pic>
        <p:nvPicPr>
          <p:cNvPr id="46" name="Google Shape;46;p1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78775" y="935302"/>
            <a:ext cx="3642401" cy="2048851"/>
          </a:xfrm>
          <a:prstGeom prst="rect">
            <a:avLst/>
          </a:prstGeom>
          <a:noFill/>
          <a:ln>
            <a:noFill/>
          </a:ln>
        </p:spPr>
      </p:pic>
      <p:pic>
        <p:nvPicPr>
          <p:cNvPr id="47" name="Google Shape;47;p10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729200" y="935322"/>
            <a:ext cx="3642398" cy="2048836"/>
          </a:xfrm>
          <a:prstGeom prst="rect">
            <a:avLst/>
          </a:prstGeom>
          <a:noFill/>
          <a:ln>
            <a:noFill/>
          </a:ln>
        </p:spPr>
      </p:pic>
      <p:pic>
        <p:nvPicPr>
          <p:cNvPr id="48" name="Google Shape;48;p10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4507875" y="3221165"/>
            <a:ext cx="3009900" cy="1714500"/>
          </a:xfrm>
          <a:prstGeom prst="rect">
            <a:avLst/>
          </a:prstGeom>
          <a:noFill/>
          <a:ln>
            <a:noFill/>
          </a:ln>
        </p:spPr>
      </p:pic>
      <p:pic>
        <p:nvPicPr>
          <p:cNvPr id="49" name="Google Shape;49;p10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1563925" y="3151128"/>
            <a:ext cx="2378576" cy="185454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Today’s Goal</a:t>
            </a:r>
            <a:endParaRPr/>
          </a:p>
        </p:txBody>
      </p:sp>
      <p:pic>
        <p:nvPicPr>
          <p:cNvPr id="55" name="Google Shape;55;p1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883302" y="1536400"/>
            <a:ext cx="5377400" cy="311117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12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Today’s Topics</a:t>
            </a:r>
            <a:endParaRPr/>
          </a:p>
        </p:txBody>
      </p:sp>
      <p:sp>
        <p:nvSpPr>
          <p:cNvPr id="61" name="Google Shape;61;p12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Component Pattern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Data Oriented Design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Object Pool Pattern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Flyweight Pattern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Spatial Partitioning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Profiling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Shaders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Why Geometry Wars?</a:t>
            </a:r>
            <a:endParaRPr/>
          </a:p>
        </p:txBody>
      </p:sp>
      <p:sp>
        <p:nvSpPr>
          <p:cNvPr id="67" name="Google Shape;67;p13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</a:t>
            </a:r>
            <a:r>
              <a:rPr lang="en"/>
              <a:t>housands of entities on screen at 60 FPS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Naive OOP collapses: deep inheritance, GC churn, cache misses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Forces real architectural decisions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Every pattern today fixes a real bottleneck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iconic neon glow and grid warp are pure shader work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14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Source Code</a:t>
            </a:r>
            <a:endParaRPr/>
          </a:p>
        </p:txBody>
      </p:sp>
      <p:sp>
        <p:nvSpPr>
          <p:cNvPr id="73" name="Google Shape;73;p14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All Source code for today’s game can be found here: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u="sng">
                <a:solidFill>
                  <a:schemeClr val="hlink"/>
                </a:solidFill>
                <a:hlinkClick r:id="rId3"/>
              </a:rPr>
              <a:t>https://github.com/Metamate/gmd2-geometrywars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Walkthrough in </a:t>
            </a:r>
            <a:r>
              <a:rPr lang="en" u="sng">
                <a:solidFill>
                  <a:schemeClr val="hlink"/>
                </a:solidFill>
                <a:hlinkClick r:id="rId4"/>
              </a:rPr>
              <a:t>README.md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goal is not to understand all the systems, but the overall architecture employed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game is built up in steps: GeometryWars0 → GeometryWars6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Each step adds components to the entity recipes, and the systems they need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Compare neighbouring steps to see exactly what changed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GeometryWars6 is the finished game: explore it, and start the exercises from it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14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Steps</a:t>
            </a:r>
            <a:endParaRPr/>
          </a:p>
        </p:txBody>
      </p:sp>
      <p:sp>
        <p:nvSpPr>
          <p:cNvPr id="73" name="Google Shape;73;p14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GeometryWars0: entities &amp; components, the player ship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GeometryWars1: shooting &amp; Object Pool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GeometryWars2: enemies, collisions, score and lives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GeometryWars3: particles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GeometryWars4: the spring grid and black holes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GeometryWars5: bloom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GeometryWars6: audio (the finished game)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Explore the Codebase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79" name="Google Shape;79;p15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Take ~10 minutes to browse the finished game, GeometryWars6. Use the README as a guide if you need it.</a:t>
            </a:r>
            <a:endParaRPr/>
          </a:p>
          <a:p>
            <a:pPr indent="-330200" lvl="0" marL="457200" rtl="0" algn="l">
              <a:spcBef>
                <a:spcPts val="120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Clone the repository and build and play the game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How </a:t>
            </a:r>
            <a:r>
              <a:rPr lang="en"/>
              <a:t>high</a:t>
            </a:r>
            <a:r>
              <a:rPr lang="en"/>
              <a:t> a score can you get? ;)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How is the codebase split between the core library and the geometry wars-specific project?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6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High-Level Architecture</a:t>
            </a:r>
            <a:endParaRPr/>
          </a:p>
        </p:txBody>
      </p:sp>
      <p:sp>
        <p:nvSpPr>
          <p:cNvPr id="85" name="Google Shape;85;p16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Game1 owns the application shell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PlayState owns one active gameplay state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PlaySession owns one run of the game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EntityWorld updates entities and collisions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EntityFactory builds entities by composing components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Components implement the actual behavior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Systems handle some cross-component concerns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"/>
              <a:t>Game1 → PlayState → PlaySession → EntityWorld / EntityFactory → Components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9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p17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Component Pattern - The Problem</a:t>
            </a:r>
            <a:endParaRPr/>
          </a:p>
        </p:txBody>
      </p:sp>
      <p:sp>
        <p:nvSpPr>
          <p:cNvPr id="91" name="Google Shape;91;p17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Inheritance seems natural: Enemy → ShootingEnemy → HomingShootingEnemy…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But every new behavior combination doubles the hierarchy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Want a homing enemy that also explodes? Copy-paste the homing code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diamond problem, fragile base classes, and dead code everywhere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Behavior should be composed, not inherited</a:t>
            </a:r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p18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Component Pattern - The Solution</a:t>
            </a:r>
            <a:endParaRPr/>
          </a:p>
        </p:txBody>
      </p:sp>
      <p:sp>
        <p:nvSpPr>
          <p:cNvPr id="97" name="Google Shape;97;p18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An Entity is just an ID plus a bag of components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Components hold data and a small slice of behavior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Transform, Sprite, Collider, Health, AIController, Weapon…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Mix and match: a HomingExplodingEnemy is just Homing + Explode components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Systems iterate over entities that have the components they care about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Favor composition over inheritance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The classic OOP maxim, made concrete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Components are reusable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If you keep the “Single Responsibility Principle” in mind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9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Component Pattern - Simple Example</a:t>
            </a:r>
            <a:endParaRPr/>
          </a:p>
        </p:txBody>
      </p:sp>
      <p:sp>
        <p:nvSpPr>
          <p:cNvPr id="103" name="Google Shape;103;p19"/>
          <p:cNvSpPr txBox="1"/>
          <p:nvPr>
            <p:ph idx="2" type="body"/>
          </p:nvPr>
        </p:nvSpPr>
        <p:spPr>
          <a:xfrm>
            <a:off x="1172850" y="934050"/>
            <a:ext cx="6798300" cy="3940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class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Entity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int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Id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List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&lt;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Component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&gt;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Components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[]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abstract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class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Component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{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Entity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Owner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 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class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Transform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: 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Component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{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Vector2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Position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float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Rotation, Scale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class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Sprite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: 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Component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{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Texture2D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Texture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Color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Tint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 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class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Health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: 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Component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{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int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HP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 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6A9955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// Spawn a grunt enemy: no new class needed</a:t>
            </a:r>
            <a:endParaRPr sz="1000">
              <a:solidFill>
                <a:srgbClr val="6A9955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var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grunt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new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Entity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grunt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Components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Add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new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Transform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{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Position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spawnPoint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});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grunt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Components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Add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new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Sprite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{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Texture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gruntTex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});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grunt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Components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Add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new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Health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{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HP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1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});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20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Component Pattern Implementation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109" name="Google Shape;109;p20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Component.cs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Entity.cs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EntityFactory.cs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Steps: GeometryWars0 onwards; every step adds components</a:t>
            </a:r>
            <a:endParaRPr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2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Data Oriented Design</a:t>
            </a:r>
            <a:endParaRPr/>
          </a:p>
        </p:txBody>
      </p:sp>
      <p:sp>
        <p:nvSpPr>
          <p:cNvPr id="115" name="Google Shape;115;p21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Think in Data, Not Objects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OOP asks: "What is a bullet?" — DOD asks: "How does bullet data flow?"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Array of Structs (AoS)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Bullet[]</a:t>
            </a:r>
            <a:r>
              <a:rPr lang="en"/>
              <a:t> — </a:t>
            </a:r>
            <a:r>
              <a:rPr lang="en"/>
              <a:t>each bullet is one object with all its fields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Struct of Arrays (SoA)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Separate float[] positionsX, positionsY, velocitiesX, …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SoA packs the fields you actually touch tightly together in memory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Update loop reads only what it needs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Nothing else is dragged into cache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2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Memory Layout Matters</a:t>
            </a:r>
            <a:endParaRPr/>
          </a:p>
        </p:txBody>
      </p:sp>
      <p:sp>
        <p:nvSpPr>
          <p:cNvPr id="121" name="Google Shape;121;p22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L1 cache hit: ~1 ns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Main memory miss: ~100 ns — a 100× penalty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 CPU fetches 64 bytes at a time (one cache line)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Make them count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AoS Bullet { Pos, Vel, Sprite, Owner, Tag, … } ≈ 80 bytes per object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Updating positions drags sprites, tags, and pointers through cache too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SoA positions[]: 16 bullets fit in one cache line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16× the throughput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Thousands of bullets flying? This is the difference between 60 FPS and 15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SoA Example</a:t>
            </a:r>
            <a:endParaRPr/>
          </a:p>
        </p:txBody>
      </p:sp>
      <p:sp>
        <p:nvSpPr>
          <p:cNvPr id="127" name="Google Shape;127;p23"/>
          <p:cNvSpPr txBox="1"/>
          <p:nvPr>
            <p:ph idx="2" type="body"/>
          </p:nvPr>
        </p:nvSpPr>
        <p:spPr>
          <a:xfrm>
            <a:off x="2549850" y="876500"/>
            <a:ext cx="4044300" cy="4161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class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BulletSystem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const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int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4FC1FF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MAX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10_000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Vector2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[]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Position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new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Vector2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[</a:t>
            </a:r>
            <a:r>
              <a:rPr lang="en" sz="1000">
                <a:solidFill>
                  <a:srgbClr val="4FC1FF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MAX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];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Vector2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[]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Velocity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new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Vector2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[</a:t>
            </a:r>
            <a:r>
              <a:rPr lang="en" sz="1000">
                <a:solidFill>
                  <a:srgbClr val="4FC1FF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MAX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];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float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[]  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Lifetime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new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float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[</a:t>
            </a:r>
            <a:r>
              <a:rPr lang="en" sz="1000">
                <a:solidFill>
                  <a:srgbClr val="4FC1FF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MAX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];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bool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[]   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Active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new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bool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[</a:t>
            </a:r>
            <a:r>
              <a:rPr lang="en" sz="1000">
                <a:solidFill>
                  <a:srgbClr val="4FC1FF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MAX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];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int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count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void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Update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float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dt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 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for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(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int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&lt;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count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++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 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   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if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(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!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Active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[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])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continue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   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Position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[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]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+=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Velocity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[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]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*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dt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   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Lifetime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[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]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-=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dt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   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if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Lifetime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[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]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&lt;=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Active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[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]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false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Google Shape;132;p24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SoA</a:t>
            </a:r>
            <a:r>
              <a:rPr lang="en">
                <a:solidFill>
                  <a:schemeClr val="accent5"/>
                </a:solidFill>
              </a:rPr>
              <a:t> Implementations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133" name="Google Shape;133;p24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Grid.cs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ParticleManager.cs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Steps: GeometryWars3 (particles) and GeometryWars4 (grid)</a:t>
            </a:r>
            <a:endParaRPr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2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Object Pool - The Problem</a:t>
            </a:r>
            <a:endParaRPr/>
          </a:p>
        </p:txBody>
      </p:sp>
      <p:sp>
        <p:nvSpPr>
          <p:cNvPr id="139" name="Google Shape;139;p25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You fire 20 bullets per second.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Each hit spawns 30 particles.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Each enemy dies into 50 debris pieces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That's thousands of new allocations per second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All short-lived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C# is a managed language: </a:t>
            </a:r>
            <a:r>
              <a:rPr b="1" lang="en">
                <a:latin typeface="Roboto"/>
                <a:ea typeface="Roboto"/>
                <a:cs typeface="Roboto"/>
                <a:sym typeface="Roboto"/>
              </a:rPr>
              <a:t>new</a:t>
            </a:r>
            <a:r>
              <a:rPr lang="en"/>
              <a:t> means the GC will eventually clean up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GC pauses are non-deterministic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 stutter every few seconds is the telltale sign of allocation-in-the-hot-loop</a:t>
            </a:r>
            <a:endParaRPr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26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Object Pool - Simple Example</a:t>
            </a:r>
            <a:endParaRPr/>
          </a:p>
        </p:txBody>
      </p:sp>
      <p:sp>
        <p:nvSpPr>
          <p:cNvPr id="145" name="Google Shape;145;p26"/>
          <p:cNvSpPr txBox="1"/>
          <p:nvPr>
            <p:ph idx="2" type="body"/>
          </p:nvPr>
        </p:nvSpPr>
        <p:spPr>
          <a:xfrm>
            <a:off x="1830150" y="876475"/>
            <a:ext cx="5483700" cy="4161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class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ParticlePool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Particle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[]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items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new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Particle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[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5000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];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ParticlePool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() 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for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(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int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&lt;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items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Length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++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items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[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]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new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Particle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Particle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Spawn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Vector2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pos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 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for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(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int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&lt;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items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Length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++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 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   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if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(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!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items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[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]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Active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 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       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items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[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]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Reset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pos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       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items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[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]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Active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true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       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return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items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[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];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    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return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null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 </a:t>
            </a:r>
            <a:r>
              <a:rPr lang="en" sz="1000">
                <a:solidFill>
                  <a:srgbClr val="6A9955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// pool exhausted — size it generously</a:t>
            </a:r>
            <a:endParaRPr sz="1000">
              <a:solidFill>
                <a:srgbClr val="6A9955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27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Object Pool Implementation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151" name="Google Shape;151;p27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ObjectPool.cs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BulletSpawner.cs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Step: GeometryWars1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8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Flyweight Pattern</a:t>
            </a:r>
            <a:endParaRPr/>
          </a:p>
        </p:txBody>
      </p:sp>
      <p:sp>
        <p:nvSpPr>
          <p:cNvPr id="157" name="Google Shape;157;p28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Share What's Shared, Store What's Unique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500 enemies on screen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But they're all the same sprite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Intrinsic state: shared, immutable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The Texture2D, the mesh, the stats template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Extrinsic state: per-instance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Position, velocity, current HP, color tint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One EnemyType object holds intrinsic data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Each Entity references it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500 entities × 4-byte pointer to one texture, not 500 copies of the texture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Memory: kilobytes instead of megabytes. Load time: instant instead of slow</a:t>
            </a:r>
            <a:endParaRPr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1" name="Shape 1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2" name="Google Shape;162;p29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Flyweight Example</a:t>
            </a:r>
            <a:endParaRPr/>
          </a:p>
        </p:txBody>
      </p:sp>
      <p:sp>
        <p:nvSpPr>
          <p:cNvPr id="163" name="Google Shape;163;p29"/>
          <p:cNvSpPr txBox="1"/>
          <p:nvPr>
            <p:ph idx="2" type="body"/>
          </p:nvPr>
        </p:nvSpPr>
        <p:spPr>
          <a:xfrm>
            <a:off x="1947750" y="876475"/>
            <a:ext cx="5248500" cy="3681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6A9955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// Intrinsic (shared) — one instance, referenced everywhere</a:t>
            </a:r>
            <a:endParaRPr sz="1000">
              <a:solidFill>
                <a:srgbClr val="6A9955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class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EnemyType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Texture2D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Texture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float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MaxSpeed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SpawnHP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int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ScoreValue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6A9955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// Extrinsic (per-instance) — one per live enemy</a:t>
            </a:r>
            <a:endParaRPr sz="1000">
              <a:solidFill>
                <a:srgbClr val="6A9955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struct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EnemyInstance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EnemyType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Type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     </a:t>
            </a:r>
            <a:r>
              <a:rPr lang="en" sz="1000">
                <a:solidFill>
                  <a:srgbClr val="6A9955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// pointer — the flyweight</a:t>
            </a:r>
            <a:endParaRPr sz="1000">
              <a:solidFill>
                <a:srgbClr val="6A9955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Vector2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Position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Velocity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int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CurrentHP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6A9955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// Draw: SpriteBatch batches draws of the same texture automatically</a:t>
            </a:r>
            <a:endParaRPr sz="1000">
              <a:solidFill>
                <a:srgbClr val="6A9955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foreach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(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var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in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enemies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spriteBatch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Draw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e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Type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Texture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e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Position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Color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White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);</a:t>
            </a:r>
            <a:endParaRPr sz="1000">
              <a:solidFill>
                <a:srgbClr val="6A9955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30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Flyweight Implementations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169" name="Google Shape;169;p30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GameAssets.cs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GameplayDefinitions.cs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Step: GeometryWars0 onwards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3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Shaders</a:t>
            </a:r>
            <a:endParaRPr/>
          </a:p>
        </p:txBody>
      </p:sp>
      <p:sp>
        <p:nvSpPr>
          <p:cNvPr id="175" name="Google Shape;175;p31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Moving work to the GPU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CPU has ~8 cores. GPU has thousands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But they all run the same program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Vertex shader: runs once per vertex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Transforms positions, can displace geometry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Pixel (fragment) shader: runs once per pixel.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Decides the final color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MonoGame ships with a default shader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You can write custom ones in HLSL (.fx files)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Any per-pixel effect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Glow, blur, distortion, color grading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CPU submits draw calls; the GPU paints pixels in parallel</a:t>
            </a:r>
            <a:endParaRPr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9" name="Shape 1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0" name="Google Shape;180;p32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Bloom, The Signature Geometry Wars Glow</a:t>
            </a:r>
            <a:endParaRPr/>
          </a:p>
        </p:txBody>
      </p:sp>
      <p:sp>
        <p:nvSpPr>
          <p:cNvPr id="181" name="Google Shape;181;p32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Bloom makes bright pixels bleed light into their neighbors</a:t>
            </a:r>
            <a:endParaRPr/>
          </a:p>
          <a:p>
            <a:pPr indent="-330200" lvl="0" marL="457200" rtl="0" algn="l">
              <a:spcBef>
                <a:spcPts val="1200"/>
              </a:spcBef>
              <a:spcAft>
                <a:spcPts val="0"/>
              </a:spcAft>
              <a:buSzPts val="1600"/>
              <a:buAutoNum type="arabicPeriod"/>
            </a:pPr>
            <a:r>
              <a:rPr lang="en"/>
              <a:t>Render the scene to a RenderTarget2D instead of the back buffer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AutoNum type="arabicPeriod"/>
            </a:pPr>
            <a:r>
              <a:rPr lang="en"/>
              <a:t>Threshold pass — keep only pixels brighter than some cutoff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AutoNum type="arabicPeriod"/>
            </a:pPr>
            <a:r>
              <a:rPr lang="en"/>
              <a:t>Gaussian blur the bright pixels — horizontal pass, then vertical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AutoNum type="arabicPeriod"/>
            </a:pPr>
            <a:r>
              <a:rPr lang="en"/>
              <a:t>Additively blend the blurred result back over the original scene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"/>
              <a:t>Each pass is a fullscreen quad with a different pixel shader (post-processing)</a:t>
            </a:r>
            <a:endParaRPr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3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 Shader Pipeline</a:t>
            </a:r>
            <a:endParaRPr/>
          </a:p>
        </p:txBody>
      </p:sp>
      <p:pic>
        <p:nvPicPr>
          <p:cNvPr id="187" name="Google Shape;187;p3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38150" y="1101440"/>
            <a:ext cx="8267700" cy="35433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34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Shader Implementation</a:t>
            </a:r>
            <a:endParaRPr>
              <a:solidFill>
                <a:schemeClr val="accent5"/>
              </a:solidFill>
            </a:endParaRP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6" name="Shape 1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7" name="Google Shape;197;p3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Summary</a:t>
            </a:r>
            <a:endParaRPr/>
          </a:p>
        </p:txBody>
      </p:sp>
      <p:sp>
        <p:nvSpPr>
          <p:cNvPr id="198" name="Google Shape;198;p35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Structure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Component Pattern defines what an entity is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Memory Layout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Data-Oriented Design defines how entities live in memory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Memory Allocation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Object Pool decides when entities are allocated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Shared Memory (deduplication)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Flyweight decides what entities share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Collision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Spatial partitioning decides which entities are tested against each other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Presentation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Shaders decide how entities look</a:t>
            </a:r>
            <a:endParaRPr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38" name="Google Shape;138;p2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Spatial Partitioning</a:t>
            </a:r>
            <a:endParaRPr/>
          </a:p>
        </p:txBody>
      </p:sp>
      <p:sp>
        <p:nvSpPr>
          <p:cNvPr id="139" name="Google Shape;139;p25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Testing every pair of n entities costs n × (n − 1) / 2 checks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3,000 entities: about 4.5 million checks per frame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 broad phase only tests entities that are near each other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Uniform grid (spatial hash)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Divide the world into cells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Each frame, insert every entity into the cell(s) it overlaps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Only test entities that share a cell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Quadtrees and BVHs adapt better to uneven distributions, at the cost of complexity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Not in the code yet: this is exercise 3</a:t>
            </a:r>
            <a:endParaRPr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38" name="Google Shape;138;p2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Profiling</a:t>
            </a:r>
            <a:endParaRPr/>
          </a:p>
        </p:txBody>
      </p:sp>
      <p:sp>
        <p:nvSpPr>
          <p:cNvPr id="139" name="Google Shape;139;p25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Don't guess, measure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Stopwatch: time a block of code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Allocations and GCs: before and after a frame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GC.GetAllocatedBytesForCurrentThread(), GC.CollectionCount(0)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Frame time overlay: show milliseconds per frame, not FPS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Profilers: Visual Studio / Rider, dotnet-counters, dotnet-trace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In the game: press F3 for FPS, memory and entity count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Step: GeometryWars0 onwards</a:t>
            </a:r>
            <a:endParaRPr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38" name="Google Shape;138;p2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Exercises</a:t>
            </a:r>
            <a:endParaRPr/>
          </a:p>
        </p:txBody>
      </p:sp>
      <p:sp>
        <p:nvSpPr>
          <p:cNvPr id="139" name="Google Shape;139;p25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Start from GeometryWars6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Composition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Create a new enemy type by combining existing components in EntityFactory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Add a new component (e.g. a shield that absorbs one hit) to an existing enemy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Measure pooling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Show allocated bytes and gen-0 GCs per second on screen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Replace the bullet pool with new and compare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Spatial grid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Add a uniform grid broad phase for bullet-vs-enemy collisions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Measure collision time before and after with a Stopwatch</a:t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38" name="Google Shape;138;p2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Apply It to Your Project</a:t>
            </a:r>
            <a:endParaRPr/>
          </a:p>
        </p:txBody>
      </p:sp>
      <p:sp>
        <p:nvSpPr>
          <p:cNvPr id="139" name="Google Shape;139;p25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Is an inheritance hierarchy starting to hurt?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Which behaviours could become components?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Does anything in your game allocate every frame?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Which data is shared between many instances, and which is unique?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GMD">
  <a:themeElements>
    <a:clrScheme name="Simple Light">
      <a:dk1>
        <a:srgbClr val="DEE2E6"/>
      </a:dk1>
      <a:lt1>
        <a:srgbClr val="818387"/>
      </a:lt1>
      <a:dk2>
        <a:srgbClr val="1F1F1F"/>
      </a:dk2>
      <a:lt2>
        <a:srgbClr val="DEE2E6"/>
      </a:lt2>
      <a:accent1>
        <a:srgbClr val="D45D35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4A86E8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