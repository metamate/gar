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9" r:id="rId58"/>
    <p:sldId id="257" r:id="rId7"/>
    <p:sldId id="258" r:id="rId8"/>
    <p:sldId id="259" r:id="rId9"/>
    <p:sldId id="260" r:id="rId10"/>
    <p:sldId id="261" r:id="rId11"/>
    <p:sldId id="262" r:id="rId12"/>
    <p:sldId id="263" r:id="rId13"/>
    <p:sldId id="264" r:id="rId14"/>
    <p:sldId id="265" r:id="rId15"/>
    <p:sldId id="266" r:id="rId16"/>
    <p:sldId id="267" r:id="rId17"/>
    <p:sldId id="268" r:id="rId18"/>
    <p:sldId id="270" r:id="rId20"/>
    <p:sldId id="271" r:id="rId21"/>
    <p:sldId id="300" r:id="rId56"/>
    <p:sldId id="272" r:id="rId22"/>
    <p:sldId id="273" r:id="rId23"/>
    <p:sldId id="304" r:id="rId27"/>
    <p:sldId id="275" r:id="rId25"/>
    <p:sldId id="274" r:id="rId24"/>
    <p:sldId id="303" r:id="rId38"/>
    <p:sldId id="276" r:id="rId26"/>
    <p:sldId id="278" r:id="rId28"/>
    <p:sldId id="279" r:id="rId29"/>
    <p:sldId id="301" r:id="rId59"/>
    <p:sldId id="280" r:id="rId30"/>
    <p:sldId id="281" r:id="rId31"/>
    <p:sldId id="282" r:id="rId32"/>
    <p:sldId id="283" r:id="rId33"/>
    <p:sldId id="284" r:id="rId34"/>
    <p:sldId id="285" r:id="rId35"/>
    <p:sldId id="286" r:id="rId36"/>
    <p:sldId id="287" r:id="rId37"/>
    <p:sldId id="289" r:id="rId39"/>
    <p:sldId id="302" r:id="rId60"/>
    <p:sldId id="290" r:id="rId40"/>
    <p:sldId id="291" r:id="rId41"/>
    <p:sldId id="292" r:id="rId42"/>
    <p:sldId id="293" r:id="rId43"/>
    <p:sldId id="294" r:id="rId44"/>
    <p:sldId id="295" r:id="rId54"/>
    <p:sldId id="298" r:id="rId57"/>
    <p:sldId id="296" r:id="rId55"/>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1.xml"/><Relationship Id="rId25" Type="http://schemas.openxmlformats.org/officeDocument/2006/relationships/slide" Target="slides/slide20.xml"/><Relationship Id="rId26" Type="http://schemas.openxmlformats.org/officeDocument/2006/relationships/slide" Target="slides/slide23.xml"/><Relationship Id="rId27" Type="http://schemas.openxmlformats.org/officeDocument/2006/relationships/slide" Target="slides/slide45.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22.xml"/><Relationship Id="rId39" Type="http://schemas.openxmlformats.org/officeDocument/2006/relationships/slide" Target="slides/slide35.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2.xml"/><Relationship Id="rId55" Type="http://schemas.openxmlformats.org/officeDocument/2006/relationships/slide" Target="slides/slide44.xml"/><Relationship Id="rId56" Type="http://schemas.openxmlformats.org/officeDocument/2006/relationships/slide" Target="slides/slide17.xml"/><Relationship Id="rId57" Type="http://schemas.openxmlformats.org/officeDocument/2006/relationships/slide" Target="slides/slide43.xml"/><Relationship Id="rId58" Type="http://schemas.openxmlformats.org/officeDocument/2006/relationships/slide" Target="slides/slide2.xml"/><Relationship Id="rId59" Type="http://schemas.openxmlformats.org/officeDocument/2006/relationships/slide" Target="slides/slide26.xml"/><Relationship Id="rId60"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Flappy Bird. The main topic: structuring the code.</a:t>
            </a:r>
          </a:p>
          <a:p>
            <a:r>
              <a:t>Start by playing the finished game, Flappy12,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Flappy12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structuring the code as the game grows. We move shared code into a class library, and the game’s modes into a state machine.</a:t>
            </a:r>
          </a:p>
          <a:p>
            <a:r>
              <a:t>Every topic has a section on the course site.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what makes software architecture good? Collect answers, then land on the four on the slide.</a:t>
            </a:r>
          </a:p>
          <a:p>
            <a:r>
              <a:t>The one to remember: good architecture makes change cheap.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cycle of a change: understand the problem, learn the code, write the solution, clean up. Architecture shortens the “learn the code” step.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Coupling: how much parts depend on each other (want low). Cohesion: how much a part’s own code belongs together (want high).</a:t>
            </a:r>
          </a:p>
          <a:p>
            <a:r>
              <a:t>Ask: which picture would you rather change?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Named, reusable solutions to recurring design problems. A shared vocabulary: “make it a state machine” says a lot in four words.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gar-games/02-flappy-bird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Pong copied everything into one project. Code every game needs (window, scaling, input) belongs in a library that every game references.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shape we’re building: GARCore, referenced by each game. It grows through the course.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repository from gar-starter, which comes with an empty GARCore library. They write a Core class in it that derives from Game and owns the window and screen scaling.</a:t>
            </a:r>
          </a:p>
          <a:p>
            <a:r>
              <a:t>Before they code, ask: where is the library connected to the game, and which way does the reference point? Answer: the ProjectReference in the game’s .csproj; the game knows the library, never the other way round. So nothing in Core may mention Flappy.</a:t>
            </a:r>
          </a:p>
          <a:p>
            <a:r>
              <a:t>Full instructions are on the course site; students work from there. Walk round while they work.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Game1 derives from Core. The window should look like the screenshot.</a:t>
            </a:r>
          </a:p>
          <a:p>
            <a:r>
              <a:t>Full instructions are on the course site; students work from there. Walk round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image is just a Texture2D, like Pong’s white pixel, but loaded from a file.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Gravity and JumpForce are constants in Bird.</a:t>
            </a:r>
          </a:p>
          <a:p>
            <a:r>
              <a:t>With IsKeyDown the velocity is set every frame, so the bird rises steadily while the key is held. That is the cave flyer in the Going further exercise.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Things further away move slower. Two layers at two speeds are enough to feel depth.</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Flappy0 and Flappy2 side by side, then run Flappy2.</a:t>
            </a:r>
          </a:p>
          <a:p>
            <a:r>
              <a:t>- Flappy1: the background and the ground, drawn</a:t>
            </a:r>
          </a:p>
          <a:p>
            <a:r>
              <a:t>- Flappy2: both scrolling, looping with %</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bird never moves forward: the world scrolls past it. Games fake whatever they can get away with.</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before revealing the answer: how does the Bird get its texture? Let them argue for each box.</a:t>
            </a:r>
          </a:p>
          <a:p>
            <a:r>
              <a:t>We pick a static Art class: one place for every asset. Its cost: it’s global. We come back to that with Singleton.</a:t>
            </a:r>
          </a:p>
          <a:p>
            <a:r>
              <a:t>Full instructions are on the course site; students work from there. Walk round while they work.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Flappy3 and Flappy5 side by side, then run Flappy5.</a:t>
            </a:r>
          </a:p>
          <a:p>
            <a:r>
              <a:t>- Flappy4: velocity grows by gravity every frame, position follows velocity, both scaled by delta time</a:t>
            </a:r>
          </a:p>
          <a:p>
            <a:r>
              <a:t>- Flappy5: KeyboardInfo, MouseInfo and InputManager in GARCore; the flap in Bird.Update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through the diagram: Core updates the InputManager every frame; games ask it for keys and the mouse.</a:t>
            </a:r>
          </a:p>
          <a:p>
            <a:r>
              <a:t>A flap sets the vertical velocity upwards. Remind them: y points down.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Content made by rules instead of by hand. Here: where each pipe gap goes. Walk through the figure’s quantities.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6 minutes. Count and Interval in CountdownState. The best score can live in ScoreState or PlayState: the state objects are made once and reused, so a field survives.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Pipes spawn off-screen on the right (the spawn zone) and are removed after they leave on the left (the dead zone). The player only ever sees the middle.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Flappy5 and Flappy7 side by side, then run Flappy7.</a:t>
            </a:r>
          </a:p>
          <a:p>
            <a:r>
              <a:t>- Flappy6: a pipe on a timer, at a random height</a:t>
            </a:r>
          </a:p>
          <a:p>
            <a:r>
              <a:t>- Flappy7: PipePair, the drifting gap, and removing pairs off-screen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Same AABB as Pong. Ask: how could collisions be more forgiving? Answer: a slightly smaller hitbox than the sprite.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stop on hitting a pipe, the ground or the ceiling.</a:t>
            </a:r>
          </a:p>
          <a:p>
            <a:r>
              <a:t>Full instructions are on the course site; students work from there. Walk round while they work.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how did Pong handle its modes? A string. Why is that fragile? Typos, and an if-chain in every method.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game’s states and what moves between them. Each state is a class with the same four methods.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life of a state: Enter once, Update and Draw every frame, Exit once. Enter resets, Exit cleans up.</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IState is the contract: every state has Enter, Exit, Update and Draw. The machine only knows the interface.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StateMachine: ChangeState calls Exit on the old state and Enter on the new one. Update and Draw go to the current state.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IState, a StateMachine, a title state and a play state.</a:t>
            </a:r>
          </a:p>
          <a:p>
            <a:r>
              <a:t>Full instructions are on the course site; students work from there. Walk round while they work.</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two constants at the top of Game1. Swapped, the ground seems further away than the hills: the eye reads slower as further.</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Flappy9 and Flappy11 side by side, then run Flappy11.</a:t>
            </a:r>
          </a:p>
          <a:p>
            <a:r>
              <a:t>- Flappy10: a point per pair; ScoreState reads the score through the state machine</a:t>
            </a:r>
          </a:p>
          <a:p>
            <a:r>
              <a:t>- Flappy11: CountdownState, 3, 2, 1, between the title or score and play</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music and three sounds, in an Audio class made a Singleton. Next: is that a good idea?</a:t>
            </a:r>
          </a:p>
          <a:p>
            <a:r>
              <a:t>Full instructions are on the course site; students work from there. Walk round while they work.</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whole game works. Now the design question we skipped: global access.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Gang of Four’s definition: one instance, and global access to it. The cartoons: everyone reaching for the same object.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classic implementation. Note: simple, but not thread safe; fine for our games.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Nystrom’s warning. Ask: why? Answer: global state, hidden dependencies, hard to replace in a test.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problem does a state machine solve compared to a string or enum field?</a:t>
            </a:r>
          </a:p>
          <a:p>
            <a:r>
              <a:t>A: Each state's behaviour is in one place. You can add a state without editing the others, and Enter/Exit give reliable places for setup and cleanup.</a:t>
            </a:r>
          </a:p>
          <a:p/>
          <a:p>
            <a:r>
              <a:t>Q: What happens if you forget to call Exit() when switching state?</a:t>
            </a:r>
          </a:p>
          <a:p>
            <a:r>
              <a:t>A: Anything the old state set up is never cleaned up. Music keeps playing, event subscriptions stay alive and timers keep running.</a:t>
            </a:r>
          </a:p>
          <a:p/>
          <a:p>
            <a:r>
              <a:t>Q: Why is Singleton considered an anti-pattern by many game programmers?</a:t>
            </a:r>
          </a:p>
          <a:p>
            <a:r>
              <a:t>A: It is global state. It hides dependencies, couples code together and makes testing and reasoning harder, and games rarely need the guarantee of a single instance.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Art is a static class, Audio a Singleton. Both global; but Audio is an object, so it could implement an interface. Pokemon builds on that with a Service Locator.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PipeGap in PipePair, PipeSpawnInterval in Game1. The drift: the random step (-50 to 50) and the clamp in SpawnPipePair.</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Flappy Bird. Ask who has played it, and what they remember of how it plays.</a:t>
            </a:r>
          </a:p>
          <a:p>
            <a:r>
              <a:t>Today we build the parts that matter for the architecture.</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Gravity adds to the velocity every frame, so the bird falls faster and faster. A flap replaces the velocity, whatever it was.</a:t>
            </a:r>
          </a:p>
          <a:p>
            <a:r>
              <a:t>Ask: why set the velocity on a flap, and not add to it? Answer: the flap would be weaker the faster the bird falls.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4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4" Type="http://schemas.openxmlformats.org/officeDocument/2006/relationships/image" Target="../media/image1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 Id="rId6"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4" Type="http://schemas.openxmlformats.org/officeDocument/2006/relationships/image" Target="../media/image2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4" Type="http://schemas.openxmlformats.org/officeDocument/2006/relationships/image" Target="../media/image1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 Id="rId4"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4"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Flappy Bird</a:t>
            </a:r>
            <a:endParaRPr/>
          </a:p>
        </p:txBody>
      </p:sp>
      <p:pic>
        <p:nvPicPr>
          <p:cNvPr id="3" name="Picture 2" descr="flappy-bird.png"/>
          <p:cNvPicPr>
            <a:picLocks noChangeAspect="1"/>
          </p:cNvPicPr>
          <p:nvPr/>
        </p:nvPicPr>
        <p:blipFill>
          <a:blip r:embed="rId2"/>
          <a:stretch>
            <a:fillRect/>
          </a:stretch>
        </p:blipFill>
        <p:spPr>
          <a:xfrm>
            <a:off x="3540034" y="960120"/>
            <a:ext cx="2063931"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Flappy Bird (dotGears, 2013). Screenshot © dotGears.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flappy-bird.gif"/>
          <p:cNvPicPr>
            <a:picLocks noChangeAspect="1"/>
          </p:cNvPicPr>
          <p:nvPr/>
        </p:nvPicPr>
        <p:blipFill>
          <a:blip r:embed="rId4"/>
          <a:stretch>
            <a:fillRect/>
          </a:stretch>
        </p:blipFill>
        <p:spPr>
          <a:xfrm>
            <a:off x="1566089" y="1322900"/>
            <a:ext cx="6011824" cy="338165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359359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Structuring the code</a:t>
            </a:r>
            <a:endParaRPr/>
          </a:p>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Parallax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Picture 68" descr="coupling.png"/>
          <p:cNvPicPr>
            <a:picLocks noChangeAspect="1"/>
          </p:cNvPicPr>
          <p:nvPr/>
        </p:nvPicPr>
        <p:blipFill>
          <a:blip r:embed="rId4"/>
          <a:stretch>
            <a:fillRect/>
          </a:stretch>
        </p:blipFill>
        <p:spPr>
          <a:xfrm>
            <a:off x="320039" y="1051560"/>
            <a:ext cx="8503920" cy="37795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02-flappy-bird</a:t>
            </a:r>
            <a:endParaRPr/>
          </a:p>
          <a:p>
            <a:pPr indent="-330200" lvl="0" marL="457200" rtl="0" algn="l">
              <a:spcBef>
                <a:spcPts val="0"/>
              </a:spcBef>
              <a:spcAft>
                <a:spcPts val="0"/>
              </a:spcAft>
              <a:buSzPts val="1600"/>
              <a:buChar char="●"/>
            </a:pPr>
            <a:r>
              <a:rPr lang="en"/>
              <a:t>Its README: the steps (Flappy0 to Flappy12),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A Class Library</a:t>
            </a:r>
            <a:endParaRPr>
              <a:solidFill>
                <a:schemeClr val="accent5"/>
              </a:solidFill>
            </a:endParaRPr>
          </a:p>
        </p:txBody>
      </p:sp>
      <p:sp>
        <p:nvSpPr>
          <p:cNvPr id="99" name="Google Shape;99;p19"/>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move what every game needs into a class library, GARCore.</a:t>
            </a:r>
            <a:endParaRPr/>
          </a:p>
          <a:p>
            <a:pPr indent="-330200" lvl="0" marL="457200" rtl="0" algn="l">
              <a:spcBef>
                <a:spcPts val="0"/>
              </a:spcBef>
              <a:spcAft>
                <a:spcPts val="0"/>
              </a:spcAft>
              <a:buSzPts val="1600"/>
              <a:buChar char="●"/>
            </a:pPr>
            <a:r>
              <a:rPr lang="en"/>
              <a:t>A Core class, derived from Game: the window, and the screen scaling from Pong.</a:t>
            </a:r>
            <a:endParaRPr/>
          </a:p>
        </p:txBody>
      </p:sp>
      <p:sp>
        <p:nvSpPr>
          <p:cNvPr id="100" name="Rounded Rectangle 99"/>
          <p:cNvSpPr/>
          <p:nvPr/>
        </p:nvSpPr>
        <p:spPr>
          <a:xfrm>
            <a:off x="914400" y="2103120"/>
            <a:ext cx="292608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GARCore</a:t>
            </a:r>
          </a:p>
          <a:p>
            <a:pPr algn="ctr"/>
            <a:r>
              <a:rPr sz="1400" b="0">
                <a:solidFill>
                  <a:srgbClr val="9AA3AB"/>
                </a:solidFill>
              </a:rPr>
              <a:t>Core : Game · window · scaling</a:t>
            </a:r>
          </a:p>
        </p:txBody>
      </p:sp>
      <p:sp>
        <p:nvSpPr>
          <p:cNvPr id="101" name="Rounded Rectangle 100"/>
          <p:cNvSpPr/>
          <p:nvPr/>
        </p:nvSpPr>
        <p:spPr>
          <a:xfrm>
            <a:off x="5303520" y="173736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Flappy</a:t>
            </a:r>
          </a:p>
        </p:txBody>
      </p:sp>
      <p:sp>
        <p:nvSpPr>
          <p:cNvPr id="102" name="Rounded Rectangle 101"/>
          <p:cNvSpPr/>
          <p:nvPr/>
        </p:nvSpPr>
        <p:spPr>
          <a:xfrm>
            <a:off x="5303520" y="256032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Snake, Sokoban, ...</a:t>
            </a:r>
          </a:p>
        </p:txBody>
      </p:sp>
      <p:cxnSp>
        <p:nvCxnSpPr>
          <p:cNvPr id="103" name="Connector 102"/>
          <p:cNvCxnSpPr/>
          <p:nvPr/>
        </p:nvCxnSpPr>
        <p:spPr>
          <a:xfrm flipH="1">
            <a:off x="3886200" y="2057400"/>
            <a:ext cx="1371600" cy="36576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3703320" y="1764792"/>
            <a:ext cx="1737360" cy="274320"/>
          </a:xfrm>
          <a:prstGeom prst="rect">
            <a:avLst/>
          </a:prstGeom>
          <a:noFill/>
        </p:spPr>
        <p:txBody>
          <a:bodyPr wrap="square">
            <a:spAutoFit/>
          </a:bodyPr>
          <a:lstStyle/>
          <a:p>
            <a:pPr algn="ctr"/>
            <a:r>
              <a:rPr sz="1100" b="0" i="0">
                <a:solidFill>
                  <a:srgbClr val="9AA3AB"/>
                </a:solidFill>
              </a:rPr>
              <a:t>uses</a:t>
            </a:r>
          </a:p>
        </p:txBody>
      </p:sp>
      <p:cxnSp>
        <p:nvCxnSpPr>
          <p:cNvPr id="105" name="Connector 104"/>
          <p:cNvCxnSpPr/>
          <p:nvPr/>
        </p:nvCxnSpPr>
        <p:spPr>
          <a:xfrm flipH="1" flipV="1">
            <a:off x="3886200" y="2697480"/>
            <a:ext cx="1371600" cy="18288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A Game on the Library</a:t>
            </a:r>
            <a:endParaRPr>
              <a:solidFill>
                <a:schemeClr val="accent5"/>
              </a:solidFill>
            </a:endParaRPr>
          </a:p>
        </p:txBody>
      </p:sp>
      <p:sp>
        <p:nvSpPr>
          <p:cNvPr id="105" name="Google Shape;105;p2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new game, Flappy, whose Game1 derives from Core.</a:t>
            </a:r>
            <a:endParaRPr/>
          </a:p>
          <a:p>
            <a:pPr indent="-330200" lvl="0" marL="457200" rtl="0" algn="l">
              <a:spcBef>
                <a:spcPts val="0"/>
              </a:spcBef>
              <a:spcAft>
                <a:spcPts val="0"/>
              </a:spcAft>
              <a:buSzPts val="1600"/>
              <a:buChar char="●"/>
            </a:pPr>
            <a:r>
              <a:rPr lang="en"/>
              <a:t>640 × 360 virtual resolution in a 1280 × 720 window.</a:t>
            </a:r>
            <a:endParaRPr/>
          </a:p>
        </p:txBody>
      </p:sp>
      <p:pic>
        <p:nvPicPr>
          <p:cNvPr id="106" name="Picture 105" descr="f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Pong?</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sp>
        <p:nvSpPr>
          <p:cNvPr id="125" name="Google Shape;125;p23"/>
          <p:cNvSpPr txBox="1"/>
          <p:nvPr>
            <p:ph idx="1" type="body"/>
          </p:nvPr>
        </p:nvSpPr>
        <p:spPr>
          <a:xfrm>
            <a:off x="311700" y="886968"/>
            <a:ext cx="8520600" cy="4572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pic>
        <p:nvPicPr>
          <p:cNvPr id="126" name="Picture 125" descr="parallax.png"/>
          <p:cNvPicPr>
            <a:picLocks noChangeAspect="1"/>
          </p:cNvPicPr>
          <p:nvPr/>
        </p:nvPicPr>
        <p:blipFill>
          <a:blip r:embed="rId4"/>
          <a:stretch>
            <a:fillRect/>
          </a:stretch>
        </p:blipFill>
        <p:spPr>
          <a:xfrm>
            <a:off x="1280160" y="1371600"/>
            <a:ext cx="6583680" cy="36576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Images &amp; Parallax Implementation</a:t>
            </a:r>
            <a:endParaRPr>
              <a:solidFill>
                <a:schemeClr val="accent5"/>
              </a:solidFill>
            </a:endParaRPr>
          </a:p>
        </p:txBody>
      </p:sp>
      <p:sp>
        <p:nvSpPr>
          <p:cNvPr id="131" name="Google Shape;131;p2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Flappy0 → Flappy2: the background and the ground, scrolling at 30 and 60</a:t>
            </a:r>
            <a:endParaRPr/>
          </a:p>
          <a:p>
            <a:pPr indent="-330200" lvl="0" marL="457200" rtl="0" algn="l">
              <a:spcBef>
                <a:spcPts val="0"/>
              </a:spcBef>
              <a:spcAft>
                <a:spcPts val="0"/>
              </a:spcAft>
              <a:buSzPts val="1600"/>
              <a:buChar char="●"/>
            </a:pPr>
            <a:r>
              <a:rPr lang="en"/>
              <a:t>Each layer loops at its own point with %: background 412, ground 512</a:t>
            </a:r>
            <a:endParaRPr/>
          </a:p>
        </p:txBody>
      </p:sp>
      <p:pic>
        <p:nvPicPr>
          <p:cNvPr id="132" name="Picture 132" descr="Flappy2.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Speeds and Depth</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Flappy2:</a:t>
            </a:r>
            <a:endParaRPr/>
          </a:p>
          <a:p>
            <a:pPr indent="-330200" lvl="0" marL="457200" rtl="0" algn="l">
              <a:spcBef>
                <a:spcPts val="0"/>
              </a:spcBef>
              <a:spcAft>
                <a:spcPts val="0"/>
              </a:spcAft>
              <a:buSzPts val="1600"/>
              <a:buChar char="●"/>
            </a:pPr>
            <a:r>
              <a:rPr lang="en"/>
              <a:t>Ground at 120, background at 15</a:t>
            </a:r>
            <a:endParaRPr/>
          </a:p>
          <a:p>
            <a:pPr indent="-330200" lvl="0" marL="457200" rtl="0" algn="l">
              <a:spcBef>
                <a:spcPts val="0"/>
              </a:spcBef>
              <a:spcAft>
                <a:spcPts val="0"/>
              </a:spcAft>
              <a:buSzPts val="1600"/>
              <a:buChar char="●"/>
            </a:pPr>
            <a:r>
              <a:rPr lang="en"/>
              <a:t>Then swap the two speeds</a:t>
            </a:r>
            <a:endParaRPr/>
          </a:p>
          <a:p>
            <a:pPr indent="-330200" lvl="0" marL="457200" rtl="0" algn="l">
              <a:spcBef>
                <a:spcPts val="0"/>
              </a:spcBef>
              <a:spcAft>
                <a:spcPts val="0"/>
              </a:spcAft>
              <a:buSzPts val="1600"/>
              <a:buChar char="●"/>
            </a:pPr>
            <a:r>
              <a:rPr lang="en"/>
              <a:t>What happens to the sense of depth?</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The Bird and the Art Class</a:t>
            </a:r>
            <a:endParaRPr>
              <a:solidFill>
                <a:schemeClr val="accent5"/>
              </a:solidFill>
            </a:endParaRPr>
          </a:p>
        </p:txBody>
      </p:sp>
      <p:sp>
        <p:nvSpPr>
          <p:cNvPr id="143" name="Google Shape;143;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Flappy2: a Bird class with Update and Draw. But how does it get its texture?</a:t>
            </a:r>
            <a:endParaRPr/>
          </a:p>
        </p:txBody>
      </p:sp>
      <p:sp>
        <p:nvSpPr>
          <p:cNvPr id="144" name="Rounded Rectangle 143"/>
          <p:cNvSpPr/>
          <p:nvPr/>
        </p:nvSpPr>
        <p:spPr>
          <a:xfrm>
            <a:off x="41148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field in Game1</a:t>
            </a:r>
          </a:p>
          <a:p>
            <a:pPr algn="ctr"/>
            <a:r>
              <a:rPr sz="1200" b="0">
                <a:solidFill>
                  <a:srgbClr val="9AA3AB"/>
                </a:solidFill>
              </a:rPr>
              <a:t>breaks encapsulation,</a:t>
            </a:r>
          </a:p>
          <a:p>
            <a:pPr algn="ctr"/>
            <a:r>
              <a:rPr sz="1200" b="0">
                <a:solidFill>
                  <a:srgbClr val="9AA3AB"/>
                </a:solidFill>
              </a:rPr>
              <a:t>Game1 grows</a:t>
            </a:r>
          </a:p>
        </p:txBody>
      </p:sp>
      <p:sp>
        <p:nvSpPr>
          <p:cNvPr id="145" name="Rounded Rectangle 144"/>
          <p:cNvSpPr/>
          <p:nvPr/>
        </p:nvSpPr>
        <p:spPr>
          <a:xfrm>
            <a:off x="251460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Pass it in</a:t>
            </a:r>
          </a:p>
          <a:p>
            <a:pPr algn="ctr"/>
            <a:r>
              <a:rPr sz="1200" b="0">
                <a:solidFill>
                  <a:srgbClr val="9AA3AB"/>
                </a:solidFill>
              </a:rPr>
              <a:t>tedious for</a:t>
            </a:r>
          </a:p>
          <a:p>
            <a:pPr algn="ctr"/>
            <a:r>
              <a:rPr sz="1200" b="0">
                <a:solidFill>
                  <a:srgbClr val="9AA3AB"/>
                </a:solidFill>
              </a:rPr>
              <a:t>every new entity</a:t>
            </a:r>
          </a:p>
        </p:txBody>
      </p:sp>
      <p:sp>
        <p:nvSpPr>
          <p:cNvPr id="146" name="Rounded Rectangle 145"/>
          <p:cNvSpPr/>
          <p:nvPr/>
        </p:nvSpPr>
        <p:spPr>
          <a:xfrm>
            <a:off x="461772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ContentManager</a:t>
            </a:r>
          </a:p>
          <a:p>
            <a:pPr algn="ctr"/>
            <a:r>
              <a:rPr sz="1200" b="0">
                <a:solidFill>
                  <a:srgbClr val="9AA3AB"/>
                </a:solidFill>
              </a:rPr>
              <a:t>everything can</a:t>
            </a:r>
          </a:p>
          <a:p>
            <a:pPr algn="ctr"/>
            <a:r>
              <a:rPr sz="1200" b="0">
                <a:solidFill>
                  <a:srgbClr val="9AA3AB"/>
                </a:solidFill>
              </a:rPr>
              <a:t>load anything</a:t>
            </a:r>
          </a:p>
        </p:txBody>
      </p:sp>
      <p:sp>
        <p:nvSpPr>
          <p:cNvPr id="147" name="Rounded Rectangle 146"/>
          <p:cNvSpPr/>
          <p:nvPr/>
        </p:nvSpPr>
        <p:spPr>
          <a:xfrm>
            <a:off x="6720840" y="1463040"/>
            <a:ext cx="1965960"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Art class</a:t>
            </a:r>
          </a:p>
          <a:p>
            <a:pPr algn="ctr"/>
            <a:r>
              <a:rPr sz="1200" b="0">
                <a:solidFill>
                  <a:srgbClr val="9AA3AB"/>
                </a:solidFill>
              </a:rPr>
              <a:t>one place</a:t>
            </a:r>
          </a:p>
          <a:p>
            <a:pPr algn="ctr"/>
            <a:r>
              <a:rPr sz="1200" b="0">
                <a:solidFill>
                  <a:srgbClr val="9AA3AB"/>
                </a:solidFill>
              </a:rPr>
              <a:t>for every asset</a:t>
            </a:r>
          </a:p>
        </p:txBody>
      </p:sp>
      <p:sp>
        <p:nvSpPr>
          <p:cNvPr id="148" name="TextBox 147"/>
          <p:cNvSpPr txBox="1"/>
          <p:nvPr/>
        </p:nvSpPr>
        <p:spPr>
          <a:xfrm>
            <a:off x="457200" y="2926080"/>
            <a:ext cx="8229600" cy="731520"/>
          </a:xfrm>
          <a:prstGeom prst="rect">
            <a:avLst/>
          </a:prstGeom>
          <a:noFill/>
        </p:spPr>
        <p:txBody>
          <a:bodyPr wrap="square">
            <a:spAutoFit/>
          </a:bodyPr>
          <a:lstStyle/>
          <a:p>
            <a:pPr algn="ctr"/>
            <a:r>
              <a:rPr sz="1500" b="1" i="0">
                <a:solidFill>
                  <a:srgbClr val="DEE2E6"/>
                </a:solidFill>
              </a:rPr>
              <a:t>Which would you pick? We go with Art, and move the background and ground into it too.</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An Input Manager</a:t>
            </a:r>
            <a:endParaRPr>
              <a:solidFill>
                <a:schemeClr val="accent5"/>
              </a:solidFill>
            </a:endParaRPr>
          </a:p>
        </p:txBody>
      </p:sp>
      <p:sp>
        <p:nvSpPr>
          <p:cNvPr id="155" name="Google Shape;155;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“just pressed” check from Pong moves into GARCore.</a:t>
            </a:r>
            <a:endParaRPr/>
          </a:p>
        </p:txBody>
      </p:sp>
      <p:sp>
        <p:nvSpPr>
          <p:cNvPr id="156" name="Rounded Rectangle 155"/>
          <p:cNvSpPr/>
          <p:nvPr/>
        </p:nvSpPr>
        <p:spPr>
          <a:xfrm>
            <a:off x="3108960" y="1417320"/>
            <a:ext cx="292608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InputManager</a:t>
            </a:r>
          </a:p>
          <a:p>
            <a:pPr algn="ctr"/>
            <a:r>
              <a:rPr sz="1300" b="0">
                <a:solidFill>
                  <a:srgbClr val="9AA3AB"/>
                </a:solidFill>
              </a:rPr>
              <a:t>updated by Core, every frame</a:t>
            </a:r>
          </a:p>
        </p:txBody>
      </p:sp>
      <p:sp>
        <p:nvSpPr>
          <p:cNvPr id="157" name="Rounded Rectangle 156"/>
          <p:cNvSpPr/>
          <p:nvPr/>
        </p:nvSpPr>
        <p:spPr>
          <a:xfrm>
            <a:off x="91440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KeyboardInfo</a:t>
            </a:r>
          </a:p>
          <a:p>
            <a:pPr algn="ctr"/>
            <a:r>
              <a:rPr sz="1300" b="0">
                <a:solidFill>
                  <a:srgbClr val="9AA3AB"/>
                </a:solidFill>
              </a:rPr>
              <a:t>IsKeyDown · WasKeyJustPressed</a:t>
            </a:r>
          </a:p>
        </p:txBody>
      </p:sp>
      <p:sp>
        <p:nvSpPr>
          <p:cNvPr id="158" name="Rounded Rectangle 157"/>
          <p:cNvSpPr/>
          <p:nvPr/>
        </p:nvSpPr>
        <p:spPr>
          <a:xfrm>
            <a:off x="493776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MouseInfo</a:t>
            </a:r>
          </a:p>
          <a:p>
            <a:pPr algn="ctr"/>
            <a:r>
              <a:rPr sz="1300" b="0">
                <a:solidFill>
                  <a:srgbClr val="9AA3AB"/>
                </a:solidFill>
              </a:rPr>
              <a:t>Position · WasLeftButtonJustPressed</a:t>
            </a:r>
          </a:p>
        </p:txBody>
      </p:sp>
      <p:cxnSp>
        <p:nvCxnSpPr>
          <p:cNvPr id="159" name="Connector 158"/>
          <p:cNvCxnSpPr/>
          <p:nvPr/>
        </p:nvCxnSpPr>
        <p:spPr>
          <a:xfrm flipH="1">
            <a:off x="292608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30352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914400" y="3566160"/>
            <a:ext cx="7315200" cy="365760"/>
          </a:xfrm>
          <a:prstGeom prst="rect">
            <a:avLst/>
          </a:prstGeom>
          <a:noFill/>
        </p:spPr>
        <p:txBody>
          <a:bodyPr wrap="square">
            <a:spAutoFit/>
          </a:bodyPr>
          <a:lstStyle/>
          <a:p>
            <a:pPr algn="ctr"/>
            <a:r>
              <a:rPr sz="1300" b="0" i="0">
                <a:solidFill>
                  <a:srgbClr val="9AA3AB"/>
                </a:solidFill>
              </a:rPr>
              <a:t>A flap sets the vertical velocity to an upward jump force. Remember: y points down.</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Gravity and Input Implementation</a:t>
            </a:r>
            <a:endParaRPr>
              <a:solidFill>
                <a:schemeClr val="accent5"/>
              </a:solidFill>
            </a:endParaRPr>
          </a:p>
        </p:txBody>
      </p:sp>
      <p:sp>
        <p:nvSpPr>
          <p:cNvPr id="149" name="Google Shape;149;p2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Flappy3 → Flappy5: the bird falls, and flaps on Space or a click</a:t>
            </a:r>
            <a:endParaRPr/>
          </a:p>
        </p:txBody>
      </p:sp>
      <p:pic>
        <p:nvPicPr>
          <p:cNvPr id="150" name="Picture 150" descr="Flappy3.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Tune the Flap</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b="1"/>
              <a:t>In Flappy5, in Bird:</a:t>
            </a:r>
            <a:endParaRPr/>
          </a:p>
          <a:p>
            <a:pPr indent="-330200" lvl="0" marL="457200" rtl="0" algn="l">
              <a:spcBef>
                <a:spcPts val="0"/>
              </a:spcBef>
              <a:spcAft>
                <a:spcPts val="0"/>
              </a:spcAft>
              <a:buSzPts val="1600"/>
              <a:buChar char="●"/>
            </a:pPr>
            <a:r>
              <a:rPr lang="en" b="1"/>
              <a:t>Gravity 1500, and a jump force of 450</a:t>
            </a:r>
            <a:endParaRPr/>
          </a:p>
          <a:p>
            <a:pPr indent="-330200" lvl="0" marL="457200" rtl="0" algn="l">
              <a:spcBef>
                <a:spcPts val="0"/>
              </a:spcBef>
              <a:spcAft>
                <a:spcPts val="0"/>
              </a:spcAft>
              <a:buSzPts val="1600"/>
              <a:buChar char="●"/>
            </a:pPr>
            <a:r>
              <a:rPr lang="en" b="1"/>
              <a:t>Flap on the Up key too</a:t>
            </a:r>
            <a:endParaRPr/>
          </a:p>
          <a:p>
            <a:pPr indent="-330200" lvl="0" marL="457200" rtl="0" algn="l">
              <a:spcBef>
                <a:spcPts val="0"/>
              </a:spcBef>
              <a:spcAft>
                <a:spcPts val="0"/>
              </a:spcAft>
              <a:buSzPts val="1600"/>
              <a:buChar char="●"/>
            </a:pPr>
            <a:r>
              <a:rPr lang="en" b="1"/>
              <a:t>Swap WasKeyJustPressed for IsKeyDown. What does holding Space do now?</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Picture 160" descr="pipes.png"/>
          <p:cNvPicPr>
            <a:picLocks noChangeAspect="1"/>
          </p:cNvPicPr>
          <p:nvPr/>
        </p:nvPicPr>
        <p:blipFill>
          <a:blip r:embed="rId4"/>
          <a:stretch>
            <a:fillRect/>
          </a:stretch>
        </p:blipFill>
        <p:spPr>
          <a:xfrm>
            <a:off x="360381" y="1051560"/>
            <a:ext cx="8423237" cy="397764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Picture 172" descr="flappy_zones.png"/>
          <p:cNvPicPr>
            <a:picLocks noChangeAspect="1"/>
          </p:cNvPicPr>
          <p:nvPr/>
        </p:nvPicPr>
        <p:blipFill>
          <a:blip r:embed="rId3"/>
          <a:stretch>
            <a:fillRect/>
          </a:stretch>
        </p:blipFill>
        <p:spPr>
          <a:xfrm>
            <a:off x="1521325" y="332167"/>
            <a:ext cx="6101350" cy="447916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Procedural Generation Implementation</a:t>
            </a:r>
            <a:endParaRPr>
              <a:solidFill>
                <a:schemeClr val="accent5"/>
              </a:solidFill>
            </a:endParaRPr>
          </a:p>
        </p:txBody>
      </p:sp>
      <p:sp>
        <p:nvSpPr>
          <p:cNvPr id="178" name="Google Shape;178;p32"/>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Flappy5 → Flappy7: pipes on a timer, then pairs with a drifting gap</a:t>
            </a:r>
            <a:endParaRPr/>
          </a:p>
          <a:p>
            <a:pPr indent="-330200" lvl="0" marL="457200" rtl="0" algn="l">
              <a:spcBef>
                <a:spcPts val="0"/>
              </a:spcBef>
              <a:spcAft>
                <a:spcPts val="0"/>
              </a:spcAft>
              <a:buSzPts val="1600"/>
              <a:buChar char="●"/>
            </a:pPr>
            <a:r>
              <a:rPr lang="en"/>
              <a:t>A PipePair wraps two pipes; pairs that leave the screen are removed.</a:t>
            </a:r>
            <a:endParaRPr/>
          </a:p>
        </p:txBody>
      </p:sp>
      <p:pic>
        <p:nvPicPr>
          <p:cNvPr id="179" name="Picture 179" descr="Flappy7.png"/>
          <p:cNvPicPr>
            <a:picLocks noChangeAspect="1"/>
          </p:cNvPicPr>
          <p:nvPr/>
        </p:nvPicPr>
        <p:blipFill>
          <a:blip r:embed="rId6"/>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Harder Gap</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Flappy7:</a:t>
            </a:r>
            <a:endParaRPr/>
          </a:p>
          <a:p>
            <a:pPr indent="-330200" lvl="0" marL="457200" rtl="0" algn="l">
              <a:spcBef>
                <a:spcPts val="0"/>
              </a:spcBef>
              <a:spcAft>
                <a:spcPts val="0"/>
              </a:spcAft>
              <a:buSzPts val="1600"/>
              <a:buChar char="●"/>
            </a:pPr>
            <a:r>
              <a:rPr lang="en"/>
              <a:t>A 80-pixel gap, and a pair every 1.5 seconds</a:t>
            </a:r>
            <a:endParaRPr/>
          </a:p>
          <a:p>
            <a:pPr indent="-330200" lvl="0" marL="457200" rtl="0" algn="l">
              <a:spcBef>
                <a:spcPts val="0"/>
              </a:spcBef>
              <a:spcAft>
                <a:spcPts val="0"/>
              </a:spcAft>
              <a:buSzPts val="1600"/>
              <a:buChar char="●"/>
            </a:pPr>
            <a:r>
              <a:rPr lang="en"/>
              <a:t>Is it still fair?</a:t>
            </a:r>
            <a:endParaRPr/>
          </a:p>
          <a:p>
            <a:pPr indent="-330200" lvl="0" marL="457200" rtl="0" algn="l">
              <a:spcBef>
                <a:spcPts val="0"/>
              </a:spcBef>
              <a:spcAft>
                <a:spcPts val="0"/>
              </a:spcAft>
              <a:buSzPts val="1600"/>
              <a:buChar char="●"/>
            </a:pPr>
            <a:r>
              <a:rPr lang="en"/>
              <a:t>Which numbers in SpawnPipePair make the drift gentler?</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as in Pong</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Hitboxes</a:t>
            </a:r>
            <a:endParaRPr>
              <a:solidFill>
                <a:schemeClr val="accent5"/>
              </a:solidFill>
            </a:endParaRPr>
          </a:p>
        </p:txBody>
      </p:sp>
      <p:sp>
        <p:nvSpPr>
          <p:cNvPr id="190" name="Google Shape;190;p3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Flappy7: the game stops when the bird hits a pipe, the ground or the ceiling.</a:t>
            </a:r>
            <a:endParaRPr/>
          </a:p>
          <a:p>
            <a:pPr indent="-330200" lvl="0" marL="457200" rtl="0" algn="l">
              <a:spcBef>
                <a:spcPts val="0"/>
              </a:spcBef>
              <a:spcAft>
                <a:spcPts val="0"/>
              </a:spcAft>
              <a:buSzPts val="1600"/>
              <a:buChar char="●"/>
            </a:pPr>
            <a:r>
              <a:rPr lang="en"/>
              <a:t>Can you make the collisions a little more forgiving?</a:t>
            </a:r>
            <a:endParaRPr/>
          </a:p>
        </p:txBody>
      </p:sp>
      <p:pic>
        <p:nvPicPr>
          <p:cNvPr id="191" name="Picture 191" descr="Flappy8.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Picture 206" descr="lifecycle.png"/>
          <p:cNvPicPr>
            <a:picLocks noChangeAspect="1"/>
          </p:cNvPicPr>
          <p:nvPr/>
        </p:nvPicPr>
        <p:blipFill>
          <a:blip r:embed="rId4"/>
          <a:stretch>
            <a:fillRect/>
          </a:stretch>
        </p:blipFill>
        <p:spPr>
          <a:xfrm>
            <a:off x="320039" y="457200"/>
            <a:ext cx="8503920" cy="307086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A State Machine</a:t>
            </a:r>
            <a:endParaRPr>
              <a:solidFill>
                <a:schemeClr val="accent5"/>
              </a:solidFill>
            </a:endParaRPr>
          </a:p>
        </p:txBody>
      </p:sp>
      <p:sp>
        <p:nvSpPr>
          <p:cNvPr id="225" name="Google Shape;225;p4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an IState interface, a state machine, a title state and a play state.</a:t>
            </a:r>
            <a:endParaRPr/>
          </a:p>
          <a:p>
            <a:pPr indent="-330200" lvl="0" marL="457200" rtl="0" algn="l">
              <a:spcBef>
                <a:spcPts val="0"/>
              </a:spcBef>
              <a:spcAft>
                <a:spcPts val="0"/>
              </a:spcAft>
              <a:buSzPts val="1600"/>
              <a:buChar char="●"/>
            </a:pPr>
            <a:r>
              <a:rPr lang="en"/>
              <a:t>Most of Game1’s gameplay code moves into the play state.</a:t>
            </a:r>
            <a:endParaRPr/>
          </a:p>
        </p:txBody>
      </p:sp>
      <p:pic>
        <p:nvPicPr>
          <p:cNvPr id="226" name="Picture 226" descr="flappy9_title.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Score and Countdown Implementation</a:t>
            </a:r>
            <a:endParaRPr>
              <a:solidFill>
                <a:schemeClr val="accent5"/>
              </a:solidFill>
            </a:endParaRPr>
          </a:p>
        </p:txBody>
      </p:sp>
      <p:sp>
        <p:nvSpPr>
          <p:cNvPr id="237" name="Google Shape;237;p4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Flappy9 → Flappy11: a score state that reads the score, and a countdown from 3</a:t>
            </a:r>
            <a:endParaRPr/>
          </a:p>
        </p:txBody>
      </p:sp>
      <p:pic>
        <p:nvPicPr>
          <p:cNvPr id="238" name="Picture 238" descr="Flappy11.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Countdown and Best Score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Flappy11:</a:t>
            </a:r>
            <a:endParaRPr/>
          </a:p>
          <a:p>
            <a:pPr indent="-330200" lvl="0" marL="457200" rtl="0" algn="l">
              <a:spcBef>
                <a:spcPts val="0"/>
              </a:spcBef>
              <a:spcAft>
                <a:spcPts val="0"/>
              </a:spcAft>
              <a:buSzPts val="1600"/>
              <a:buChar char="●"/>
            </a:pPr>
            <a:r>
              <a:rPr lang="en"/>
              <a:t>Start the countdown at 5, and tick every 0.3 seconds</a:t>
            </a:r>
            <a:endParaRPr/>
          </a:p>
          <a:p>
            <a:pPr indent="-330200" lvl="0" marL="457200" rtl="0" algn="l">
              <a:spcBef>
                <a:spcPts val="0"/>
              </a:spcBef>
              <a:spcAft>
                <a:spcPts val="0"/>
              </a:spcAft>
              <a:buSzPts val="1600"/>
              <a:buChar char="●"/>
            </a:pPr>
            <a:r>
              <a:rPr lang="en"/>
              <a:t>Show a best score on the score screen</a:t>
            </a:r>
            <a:endParaRPr/>
          </a:p>
          <a:p>
            <a:pPr indent="-330200" lvl="0" marL="457200" rtl="0" algn="l">
              <a:spcBef>
                <a:spcPts val="0"/>
              </a:spcBef>
              <a:spcAft>
                <a:spcPts val="0"/>
              </a:spcAft>
              <a:buSzPts val="1600"/>
              <a:buChar char="●"/>
            </a:pPr>
            <a:r>
              <a:rPr lang="en"/>
              <a:t>Where does it live, so it survives the next game?</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 as a Singleton</a:t>
            </a:r>
            <a:endParaRPr>
              <a:solidFill>
                <a:schemeClr val="accent5"/>
              </a:solidFill>
            </a:endParaRPr>
          </a:p>
        </p:txBody>
      </p:sp>
      <p:sp>
        <p:nvSpPr>
          <p:cNvPr id="243" name="Google Shape;243;p43"/>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Flappy11: music, and sounds for flap, hurt and score.</a:t>
            </a:r>
            <a:endParaRPr/>
          </a:p>
          <a:p>
            <a:pPr indent="-330200" lvl="0" marL="457200" rtl="0" algn="l">
              <a:spcBef>
                <a:spcPts val="0"/>
              </a:spcBef>
              <a:spcAft>
                <a:spcPts val="0"/>
              </a:spcAft>
              <a:buSzPts val="1600"/>
              <a:buChar char="●"/>
            </a:pPr>
            <a:r>
              <a:rPr lang="en"/>
              <a:t>In an Audio class, made a Singleton: Audio.Instance.PlayFlap()</a:t>
            </a:r>
            <a:endParaRPr/>
          </a:p>
        </p:txBody>
      </p:sp>
      <p:sp>
        <p:nvSpPr>
          <p:cNvPr id="244" name="Rounded Rectangle 243"/>
          <p:cNvSpPr/>
          <p:nvPr/>
        </p:nvSpPr>
        <p:spPr>
          <a:xfrm>
            <a:off x="1828800" y="2103120"/>
            <a:ext cx="548640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Song + MediaPlayer.Play: the music</a:t>
            </a:r>
          </a:p>
          <a:p>
            <a:pPr algn="ctr"/>
            <a:r>
              <a:rPr sz="1400" b="0">
                <a:solidFill>
                  <a:srgbClr val="9AA3AB"/>
                </a:solidFill>
              </a:rPr>
              <a:t>SoundEffect: flap, hurt (+ explosion), score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problem does a state machine solve compared to a string or enum field?</a:t>
            </a:r>
            <a:endParaRPr/>
          </a:p>
          <a:p>
            <a:pPr indent="-330200" lvl="0" marL="457200" rtl="0" algn="l">
              <a:spcBef>
                <a:spcPts val="0"/>
              </a:spcBef>
              <a:spcAft>
                <a:spcPts val="0"/>
              </a:spcAft>
              <a:buSzPts val="1600"/>
              <a:buChar char="●"/>
            </a:pPr>
            <a:r>
              <a:rPr lang="en"/>
              <a:t>What happens if you forget to call Exit() when switching state?</a:t>
            </a:r>
            <a:endParaRPr/>
          </a:p>
          <a:p>
            <a:pPr indent="-330200" lvl="0" marL="457200" rtl="0" algn="l">
              <a:spcBef>
                <a:spcPts val="0"/>
              </a:spcBef>
              <a:spcAft>
                <a:spcPts val="0"/>
              </a:spcAft>
              <a:buSzPts val="1600"/>
              <a:buChar char="●"/>
            </a:pPr>
            <a:r>
              <a:rPr lang="en"/>
              <a:t>Why is Singleton considered an anti-pattern by many game programmers?</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code in your game could another game reuse?</a:t>
            </a:r>
            <a:endParaRPr/>
          </a:p>
          <a:p>
            <a:pPr indent="-317500" lvl="1" marL="914400" rtl="0" algn="l">
              <a:spcBef>
                <a:spcPts val="0"/>
              </a:spcBef>
              <a:spcAft>
                <a:spcPts val="0"/>
              </a:spcAft>
              <a:buSzPts val="1400"/>
              <a:buChar char="○"/>
            </a:pPr>
            <a:r>
              <a:rPr lang="en"/>
              <a:t>That belongs in a class library, like GARCore</a:t>
            </a:r>
            <a:endParaRPr/>
          </a:p>
          <a:p>
            <a:pPr indent="-330200" lvl="0" marL="457200" rtl="0" algn="l">
              <a:spcBef>
                <a:spcPts val="0"/>
              </a:spcBef>
              <a:spcAft>
                <a:spcPts val="0"/>
              </a:spcAft>
              <a:buSzPts val="1600"/>
              <a:buChar char="●"/>
            </a:pPr>
            <a:r>
              <a:rPr lang="en"/>
              <a:t>Which states does your game have? Draw them as a state diagram</a:t>
            </a:r>
            <a:endParaRPr/>
          </a:p>
          <a:p>
            <a:pPr indent="-330200" lvl="0" marL="457200" rtl="0" algn="l">
              <a:spcBef>
                <a:spcPts val="0"/>
              </a:spcBef>
              <a:spcAft>
                <a:spcPts val="0"/>
              </a:spcAft>
              <a:buSzPts val="1600"/>
              <a:buChar char="●"/>
            </a:pPr>
            <a:r>
              <a:rPr lang="en"/>
              <a:t>Is anything in your game global? Does it need to be?</a:t>
            </a:r>
            <a:endParaRP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Gravity</a:t>
            </a:r>
            <a:endParaRPr/>
          </a:p>
        </p:txBody>
      </p:sp>
      <p:pic>
        <p:nvPicPr>
          <p:cNvPr id="3" name="Picture 2" descr="gravity.png"/>
          <p:cNvPicPr>
            <a:picLocks noChangeAspect="1"/>
          </p:cNvPicPr>
          <p:nvPr/>
        </p:nvPicPr>
        <p:blipFill>
          <a:blip r:embed="rId2"/>
          <a:stretch>
            <a:fillRect/>
          </a:stretch>
        </p:blipFill>
        <p:spPr>
          <a:xfrm>
            <a:off x="360381" y="1051560"/>
            <a:ext cx="8423237" cy="3977640"/>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