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99" r:id="rId58"/>
    <p:sldId id="257" r:id="rId7"/>
    <p:sldId id="258" r:id="rId8"/>
    <p:sldId id="259" r:id="rId9"/>
    <p:sldId id="260" r:id="rId10"/>
    <p:sldId id="261" r:id="rId11"/>
    <p:sldId id="262" r:id="rId12"/>
    <p:sldId id="263" r:id="rId13"/>
    <p:sldId id="264" r:id="rId14"/>
    <p:sldId id="265" r:id="rId15"/>
    <p:sldId id="266" r:id="rId16"/>
    <p:sldId id="267" r:id="rId17"/>
    <p:sldId id="268" r:id="rId18"/>
    <p:sldId id="270" r:id="rId20"/>
    <p:sldId id="271" r:id="rId21"/>
    <p:sldId id="300" r:id="rId56"/>
    <p:sldId id="272" r:id="rId22"/>
    <p:sldId id="273" r:id="rId23"/>
    <p:sldId id="274" r:id="rId24"/>
    <p:sldId id="275" r:id="rId25"/>
    <p:sldId id="276" r:id="rId26"/>
    <p:sldId id="278" r:id="rId28"/>
    <p:sldId id="279" r:id="rId29"/>
    <p:sldId id="301" r:id="rId59"/>
    <p:sldId id="280" r:id="rId30"/>
    <p:sldId id="281" r:id="rId31"/>
    <p:sldId id="282" r:id="rId32"/>
    <p:sldId id="283" r:id="rId33"/>
    <p:sldId id="284" r:id="rId34"/>
    <p:sldId id="285" r:id="rId35"/>
    <p:sldId id="286" r:id="rId36"/>
    <p:sldId id="287" r:id="rId37"/>
    <p:sldId id="289" r:id="rId39"/>
    <p:sldId id="302" r:id="rId60"/>
    <p:sldId id="290" r:id="rId40"/>
    <p:sldId id="291" r:id="rId41"/>
    <p:sldId id="292" r:id="rId42"/>
    <p:sldId id="293" r:id="rId43"/>
    <p:sldId id="294" r:id="rId44"/>
    <p:sldId id="295" r:id="rId54"/>
    <p:sldId id="298" r:id="rId57"/>
    <p:sldId id="296" r:id="rId55"/>
  </p:sldIdLst>
  <p:sldSz cy="5143500" cx="9144000"/>
  <p:notesSz cx="6858000" cy="9144000"/>
  <p:embeddedFontLst>
    <p:embeddedFont>
      <p:font typeface="Roboto"/>
      <p:regular r:id="rId45"/>
      <p:bold r:id="rId46"/>
      <p:italic r:id="rId47"/>
      <p:boldItalic r:id="rId48"/>
    </p:embeddedFont>
    <p:embeddedFont>
      <p:font typeface="VT323"/>
      <p:regular r:id="rId49"/>
    </p:embeddedFont>
    <p:embeddedFont>
      <p:font typeface="Roboto Light"/>
      <p:regular r:id="rId50"/>
      <p:bold r:id="rId51"/>
      <p:italic r:id="rId52"/>
      <p:boldItalic r:id="rId5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font" Target="fonts/Roboto-regular.fntdata"/><Relationship Id="rId46" Type="http://schemas.openxmlformats.org/officeDocument/2006/relationships/font" Target="fonts/Roboto-bold.fntdata"/><Relationship Id="rId47" Type="http://schemas.openxmlformats.org/officeDocument/2006/relationships/font" Target="fonts/Roboto-italic.fntdata"/><Relationship Id="rId48" Type="http://schemas.openxmlformats.org/officeDocument/2006/relationships/font" Target="fonts/Roboto-boldItalic.fntdata"/><Relationship Id="rId49" Type="http://schemas.openxmlformats.org/officeDocument/2006/relationships/font" Target="fonts/VT323-regular.fntdata"/><Relationship Id="rId50" Type="http://schemas.openxmlformats.org/officeDocument/2006/relationships/font" Target="fonts/RobotoLight-regular.fntdata"/><Relationship Id="rId51" Type="http://schemas.openxmlformats.org/officeDocument/2006/relationships/font" Target="fonts/RobotoLight-bold.fntdata"/><Relationship Id="rId52" Type="http://schemas.openxmlformats.org/officeDocument/2006/relationships/font" Target="fonts/RobotoLight-italic.fntdata"/><Relationship Id="rId53" Type="http://schemas.openxmlformats.org/officeDocument/2006/relationships/font" Target="fonts/RobotoLight-boldItalic.fntdata"/><Relationship Id="rId54" Type="http://schemas.openxmlformats.org/officeDocument/2006/relationships/slide" Target="slides/slide41.xml"/><Relationship Id="rId55" Type="http://schemas.openxmlformats.org/officeDocument/2006/relationships/slide" Target="slides/slide43.xml"/><Relationship Id="rId56" Type="http://schemas.openxmlformats.org/officeDocument/2006/relationships/slide" Target="slides/slide17.xml"/><Relationship Id="rId57" Type="http://schemas.openxmlformats.org/officeDocument/2006/relationships/slide" Target="slides/slide42.xml"/><Relationship Id="rId58" Type="http://schemas.openxmlformats.org/officeDocument/2006/relationships/slide" Target="slides/slide2.xml"/><Relationship Id="rId59" Type="http://schemas.openxmlformats.org/officeDocument/2006/relationships/slide" Target="slides/slide25.xml"/><Relationship Id="rId60"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Flappy Bird. The main topic: structuring the code.</a:t>
            </a:r>
          </a:p>
          <a:p>
            <a:r>
              <a:t>Start by playing the finished game, Flappy12,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3a203257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3a203257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Flappy12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93cde9348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93cde9348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structuring the code as the game grows. We move shared code into a class library, and the game’s modes into a state machine.</a:t>
            </a:r>
          </a:p>
          <a:p>
            <a:r>
              <a:t>Every topic has a section on the course site.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9c2e5de9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9c2e5de9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what makes software architecture good? Collect answers, then land on the four on the slide.</a:t>
            </a:r>
          </a:p>
          <a:p>
            <a:r>
              <a:t>The one to remember: good architecture makes change cheap.</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9c2e5de9e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9c2e5de9e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cycle of a change: understand the problem, learn the code, write the solution, clean up. Architecture shortens the “learn the code” step.</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g3c9c2e5de9e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 name="Google Shape;66;g3c9c2e5de9e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Coupling: how much parts depend on each other (want low). Cohesion: how much a part’s own code belongs together (want high).</a:t>
            </a:r>
          </a:p>
          <a:p>
            <a:r>
              <a:t>Ask: which picture would you rather change?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g3c9c2e5de9e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 name="Google Shape;72;g3c9c2e5de9e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Named, reusable solutions to recurring design problems. A shared vocabulary: “make it a state machine” says a lot in four words.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g3c83a203257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 name="Google Shape;78;g3c83a203257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gar-games/02-flappy-bird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g3c83da3f63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 name="Google Shape;84;g3c83da3f63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Pong copied everything into one project. Code every game needs (window, scaling, input) belongs in a library that every game references.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c83da3f632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c83da3f632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shape we’re building: GARCore, referenced by each game. It grows through the course.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c79d334e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c79d334e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a repository from gar-starter, which comes with an empty GARCore library. They write a Core class in it that derives from Game and owns the window and screen scaling.</a:t>
            </a:r>
          </a:p>
          <a:p>
            <a:r>
              <a:t>Before they code, ask: where is the library connected to the game, and which way does the reference point? Answer: the ProjectReference in the game’s .csproj; the game knows the library, never the other way round. So nothing in Core may mention Flappy.</a:t>
            </a:r>
          </a:p>
          <a:p>
            <a:r>
              <a:t>Full instructions are on the course site; students work from there. Walk round while they work.</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c83da3f632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c83da3f632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Game1 derives from Core. The window should look like the screenshot.</a:t>
            </a:r>
          </a:p>
          <a:p>
            <a:r>
              <a:t>Full instructions are on the course site; students work from there. Walk round while they work.</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c83da3f632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c83da3f632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An image is just a Texture2D, like Pong’s white pixel, but loaded from a file.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g3c83a203257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 name="Google Shape;121;g3c83a203257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Things further away move slower. Two layers at two speeds are enough to feel depth.</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3c79d334e7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 name="Google Shape;128;g3c79d334e7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Flappy0 and Flappy2 side by side, then run Flappy2.</a:t>
            </a:r>
          </a:p>
          <a:p>
            <a:r>
              <a:t>- Flappy1: the background and the ground, drawn</a:t>
            </a:r>
          </a:p>
          <a:p>
            <a:r>
              <a:t>- Flappy2: both scrolling, looping with %</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g393cde93488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 name="Google Shape;134;g393cde93488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bird never moves forward: the world scrolls past it. Games fake whatever they can get away with.</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g3c79d334e77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0" name="Google Shape;140;g3c79d334e77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the question before revealing the answer: how does the Bird get its texture? Let them argue for each box.</a:t>
            </a:r>
          </a:p>
          <a:p>
            <a:r>
              <a:t>We pick a static Art class: one place for every asset. Its cost: it’s global. We come back to that with Singleton.</a:t>
            </a:r>
          </a:p>
          <a:p>
            <a:r>
              <a:t>Full instructions are on the course site; students work from there. Walk round while they work.</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c79d334e77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c79d334e77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velocity grows every frame; position follows velocity; both scaled by delta time.</a:t>
            </a:r>
          </a:p>
          <a:p>
            <a:r>
              <a:t>Full instructions are on the course site; students work from there. Walk round while they work.</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c79d334e77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c79d334e77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Walk through the diagram: Core updates the InputManager every frame; games ask it for keys and the mouse.</a:t>
            </a:r>
          </a:p>
          <a:p>
            <a:r>
              <a:t>A flap sets the vertical velocity upwards. Remind them: y points down.</a:t>
            </a:r>
          </a:p>
          <a:p>
            <a:r>
              <a:t>Full instructions are on the course site; students work from there. Walk round while they work.</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c85d5bb073_2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c85d5bb073_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Content made by rules instead of by hand. Here: where each pipe gap goes. Walk through the figure’s quantities.</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6 minutes. Count and Interval in CountdownState. The best score can live in ScoreState or PlayState: the state objects are made once and reused, so a field survives.</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g3c85d5bb073_2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0" name="Google Shape;170;g3c85d5bb073_2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Pipes spawn off-screen on the right (the spawn zone) and are removed after they leave on the left (the dead zone). The player only ever sees the middle.</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c79d334e77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c79d334e77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Flappy5 and Flappy7 side by side, then run Flappy7.</a:t>
            </a:r>
          </a:p>
          <a:p>
            <a:r>
              <a:t>- Flappy6: a pipe on a timer, at a random height</a:t>
            </a:r>
          </a:p>
          <a:p>
            <a:r>
              <a:t>- Flappy7: PipePair, the drifting gap, and removing pairs off-screen</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c85d5bb073_2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c85d5bb073_2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Same AABB as Pong. Ask: how could collisions be more forgiving? Answer: a slightly smaller hitbox than the sprite.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g3c79d334e77_0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7" name="Google Shape;187;g3c79d334e77_0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stop on hitting a pipe, the ground or the ceiling.</a:t>
            </a:r>
          </a:p>
          <a:p>
            <a:r>
              <a:t>Full instructions are on the course site; students work from there. Walk round while they work.</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3c85d5bb073_2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3" name="Google Shape;193;g3c85d5bb073_2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how did Pong handle its modes? A string. Why is that fragile? Typos, and an if-chain in every method.</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3c85d5bb073_2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9" name="Google Shape;199;g3c85d5bb073_2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game’s states and what moves between them. Each state is a class with the same four methods.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85d5bb073_1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85d5bb073_1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life of a state: Enter once, Update and Draw every frame, Exit once. Enter resets, Exit cleans up.</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g393cde93488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0" name="Google Shape;210;g393cde93488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IState is the contract: every state has Enter, Exit, Update and Draw. The machine only knows the interface.</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g3c85d5bb073_2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7" name="Google Shape;217;g3c85d5bb073_2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StateMachine: ChangeState calls Exit on the old state and Enter on the new one. Update and Draw go to the current state.</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c79d334e77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c79d334e77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IState, a StateMachine, a title state and a play state.</a:t>
            </a:r>
          </a:p>
          <a:p>
            <a:r>
              <a:t>Full instructions are on the course site; students work from there. Walk round while they work.</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The two constants at the top of Game1. Swapped, the ground seems further away than the hills: the eye reads slower as further.</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3c85d5bb073_2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3c85d5bb073_2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Flappy9 and Flappy11 side by side, then run Flappy11.</a:t>
            </a:r>
          </a:p>
          <a:p>
            <a:r>
              <a:t>- Flappy10: a point per pair; ScoreState reads the score through the state machine</a:t>
            </a:r>
          </a:p>
          <a:p>
            <a:r>
              <a:t>- Flappy11: CountdownState, 3, 2, 1, between the title or score and play</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g3c79d334e77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0" name="Google Shape;240;g3c79d334e77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music and three sounds, in an Audio class made a Singleton. Next: is that a good idea?</a:t>
            </a:r>
          </a:p>
          <a:p>
            <a:r>
              <a:t>Full instructions are on the course site; students work from there. Walk round while they work.</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g3c79d334e77_0_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6" name="Google Shape;246;g3c79d334e77_0_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whole game works. Now the design question we skipped: global access.</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g3c9c670f03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3" name="Google Shape;253;g3c9c670f03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Gang of Four’s definition: one instance, and global access to it. The cartoons: everyone reaching for the same object.</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g3cbde5d7b56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1" name="Google Shape;261;g3cbde5d7b56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classic implementation. Note: simple, but not thread safe; fine for our games.</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g3cbde5d7b56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8" name="Google Shape;268;g3cbde5d7b56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Nystrom’s warning. Ask: why? Answer: global state, hidden dependencies, hard to replace in a test.</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problem does a state machine solve compared to a string or enum field?</a:t>
            </a:r>
          </a:p>
          <a:p>
            <a:r>
              <a:t>A: Each state's behaviour is in one place. You can add a state without editing the others, and Enter/Exit give reliable places for setup and cleanup.</a:t>
            </a:r>
          </a:p>
          <a:p/>
          <a:p>
            <a:r>
              <a:t>Q: What happens if you forget to call Exit() when switching state?</a:t>
            </a:r>
          </a:p>
          <a:p>
            <a:r>
              <a:t>A: Anything the old state set up is never cleaned up. Music keeps playing, event subscriptions stay alive and timers keep running.</a:t>
            </a:r>
          </a:p>
          <a:p/>
          <a:p>
            <a:r>
              <a:t>Q: Why is Singleton considered an anti-pattern by many game programmers?</a:t>
            </a:r>
          </a:p>
          <a:p>
            <a:r>
              <a:t>A: It is global state. It hides dependencies, couples code together and makes testing and reasoning harder, and games rarely need the guarantee of a single instance.</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Art is a static class, Audio a Singleton. Both global; but Audio is an object, so it could implement an interface. Pokemon builds on that with a Service Locator.</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PipeGap in PipePair, PipeSpawnInterval in Game1. The drift: the random step (-50 to 50) and the clamp in SpawnPipePair.</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Flappy Bird. Ask who has played it, and what they remember of how it plays.</a:t>
            </a:r>
          </a:p>
          <a:p>
            <a:r>
              <a:t>Today we build the parts that matter for the architecture.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notesSlide" Target="../notesSlides/notesSlide4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4" Type="http://schemas.openxmlformats.org/officeDocument/2006/relationships/image" Target="../media/image13.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hyperlink" Target="https://github.com/Metamate/gar-games/tree/main/02-flappy"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9.gi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4" Type="http://schemas.openxmlformats.org/officeDocument/2006/relationships/image" Target="../media/image2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hyperlink" Target="http://www.youtube.com/watch?v=HUgE9L7V4oY" TargetMode="External"/><Relationship Id="rId4" Type="http://schemas.openxmlformats.org/officeDocument/2006/relationships/image" Target="../media/image15.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hyperlink" Target="https://drive.google.com/file/d/1b8eepQAJjS6b1H4EDx3q2EABqdkQRRVd/view?usp=drive_link"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4" Type="http://schemas.openxmlformats.org/officeDocument/2006/relationships/image" Target="../media/image2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 Id="rId3" Type="http://schemas.openxmlformats.org/officeDocument/2006/relationships/image" Target="../media/image1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3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hyperlink" Target="https://docs.monogame.net/api/Microsoft.Xna.Framework.Graphics.SpriteBatch.html#Microsoft_Xna_Framework_Graphics_SpriteBatch_Draw_Microsoft_Xna_Framework_Graphics_Texture2D_Microsoft_Xna_Framework_Vector2_System_Nullable_Microsoft_Xna_Framework_Rectangle__Microsoft_Xna_Framework_Color_System_Single_Microsoft_Xna_Framework_Vector2_System_Single_Microsoft_Xna_Framework_Graphics_SpriteEffects_System_Single_" TargetMode="External"/><Relationship Id="rId4" Type="http://schemas.openxmlformats.org/officeDocument/2006/relationships/hyperlink" Target="https://docs.monogame.net/api/Microsoft.Xna.Framework.Graphics.SpriteEffects.html" TargetMode="External"/><Relationship Id="rId6" Type="http://schemas.openxmlformats.org/officeDocument/2006/relationships/image" Target="../media/image2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4" Type="http://schemas.openxmlformats.org/officeDocument/2006/relationships/image" Target="../media/image2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hyperlink" Target="https://drive.google.com/file/d/1WL5c1jFGq4ZBwqACP-6nO2RcUN0IbpRo/view?usp=drive_link" TargetMode="External"/><Relationship Id="rId5"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4"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hyperlink" Target="https://docs.monogame.net/api/Microsoft.Xna.Framework.Media.Song.html" TargetMode="External"/><Relationship Id="rId4" Type="http://schemas.openxmlformats.org/officeDocument/2006/relationships/hyperlink" Target="https://drive.google.com/file/d/1LATV-G9rwlnMwBQPITGsNNlvMTCOqBBC/view?usp=drive_link" TargetMode="External"/><Relationship Id="rId5" Type="http://schemas.openxmlformats.org/officeDocument/2006/relationships/hyperlink" Target="https://docs.monogame.net/api/Microsoft.Xna.Framework.Media.MediaPlayer.html#Microsoft_Xna_Framework_Media_MediaPlayer_Play_Microsoft_Xna_Framework_Media_Song_" TargetMode="External"/><Relationship Id="rId6" Type="http://schemas.openxmlformats.org/officeDocument/2006/relationships/hyperlink" Target="https://drive.google.com/file/d/13LKIw67rIX9Z5MYAqap7e8mKEqPh_G3K/view?usp=drive_link" TargetMode="External"/><Relationship Id="rId7" Type="http://schemas.openxmlformats.org/officeDocument/2006/relationships/hyperlink" Target="https://drive.google.com/file/d/14qt-upC_R4WkZOJkcJO0jjS4uEn1FHP7/view?usp=drive_link" TargetMode="External"/><Relationship Id="rId8" Type="http://schemas.openxmlformats.org/officeDocument/2006/relationships/hyperlink" Target="https://drive.google.com/file/d/17E7FcUNSMfXg2UaeD0_J8FyO1ymePxQj/view?usp=drive_link" TargetMode="External"/><Relationship Id="rId9" Type="http://schemas.openxmlformats.org/officeDocument/2006/relationships/hyperlink" Target="https://drive.google.com/file/d/1xY-B4cc7hAFLAlnMgw55KSW3gZfdD_xL/view?usp=drive_link"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1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8.png"/><Relationship Id="rId4" Type="http://schemas.openxmlformats.org/officeDocument/2006/relationships/image" Target="../media/image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 Id="rId3" Type="http://schemas.openxmlformats.org/officeDocument/2006/relationships/image" Target="../media/image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02: Flappy Bird</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Flappy Bird</a:t>
            </a:r>
            <a:endParaRPr/>
          </a:p>
        </p:txBody>
      </p:sp>
      <p:pic>
        <p:nvPicPr>
          <p:cNvPr id="3" name="Picture 2" descr="flappy-bird.png"/>
          <p:cNvPicPr>
            <a:picLocks noChangeAspect="1"/>
          </p:cNvPicPr>
          <p:nvPr/>
        </p:nvPicPr>
        <p:blipFill>
          <a:blip r:embed="rId2"/>
          <a:stretch>
            <a:fillRect/>
          </a:stretch>
        </p:blipFill>
        <p:spPr>
          <a:xfrm>
            <a:off x="3540034" y="960120"/>
            <a:ext cx="2063931"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Flappy Bird (dotGears, 2013). Screenshot © dotGears.</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flappy-bird.gif"/>
          <p:cNvPicPr>
            <a:picLocks noChangeAspect="1"/>
          </p:cNvPicPr>
          <p:nvPr/>
        </p:nvPicPr>
        <p:blipFill>
          <a:blip r:embed="rId4"/>
          <a:stretch>
            <a:fillRect/>
          </a:stretch>
        </p:blipFill>
        <p:spPr>
          <a:xfrm>
            <a:off x="1566089" y="1322900"/>
            <a:ext cx="6011824" cy="3381651"/>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3593592"/>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Structuring the code</a:t>
            </a:r>
            <a:endParaRPr/>
          </a:p>
          <a:p>
            <a:pPr indent="-330200" lvl="0" marL="457200" rtl="0" algn="l">
              <a:spcBef>
                <a:spcPts val="0"/>
              </a:spcBef>
              <a:spcAft>
                <a:spcPts val="0"/>
              </a:spcAft>
              <a:buSzPts val="1600"/>
              <a:buChar char="●"/>
            </a:pPr>
            <a:r>
              <a:rPr lang="en"/>
              <a:t>Game Architecture</a:t>
            </a:r>
            <a:endParaRPr/>
          </a:p>
          <a:p>
            <a:pPr indent="-330200" lvl="0" marL="457200" rtl="0" algn="l">
              <a:spcBef>
                <a:spcPts val="0"/>
              </a:spcBef>
              <a:spcAft>
                <a:spcPts val="0"/>
              </a:spcAft>
              <a:buSzPts val="1600"/>
              <a:buChar char="●"/>
            </a:pPr>
            <a:r>
              <a:rPr lang="en"/>
              <a:t>Class Libraries</a:t>
            </a:r>
            <a:endParaRPr/>
          </a:p>
          <a:p>
            <a:pPr indent="-330200" lvl="0" marL="457200" rtl="0" algn="l">
              <a:spcBef>
                <a:spcPts val="0"/>
              </a:spcBef>
              <a:spcAft>
                <a:spcPts val="0"/>
              </a:spcAft>
              <a:buSzPts val="1600"/>
              <a:buChar char="●"/>
            </a:pPr>
            <a:r>
              <a:rPr lang="en"/>
              <a:t>Images</a:t>
            </a:r>
            <a:endParaRPr/>
          </a:p>
          <a:p>
            <a:pPr indent="-330200" lvl="0" marL="457200" rtl="0" algn="l">
              <a:spcBef>
                <a:spcPts val="0"/>
              </a:spcBef>
              <a:spcAft>
                <a:spcPts val="0"/>
              </a:spcAft>
              <a:buSzPts val="1600"/>
              <a:buChar char="●"/>
            </a:pPr>
            <a:r>
              <a:rPr lang="en"/>
              <a:t>Infinite Scrolling</a:t>
            </a:r>
            <a:endParaRPr/>
          </a:p>
          <a:p>
            <a:pPr indent="-330200" lvl="0" marL="457200" rtl="0" algn="l">
              <a:spcBef>
                <a:spcPts val="0"/>
              </a:spcBef>
              <a:spcAft>
                <a:spcPts val="0"/>
              </a:spcAft>
              <a:buSzPts val="1600"/>
              <a:buChar char="●"/>
            </a:pPr>
            <a:r>
              <a:rPr lang="en"/>
              <a:t>Procedural Generation</a:t>
            </a:r>
            <a:endParaRPr/>
          </a:p>
          <a:p>
            <a:pPr indent="-330200" lvl="0" marL="457200" rtl="0" algn="l">
              <a:spcBef>
                <a:spcPts val="0"/>
              </a:spcBef>
              <a:spcAft>
                <a:spcPts val="0"/>
              </a:spcAft>
              <a:buSzPts val="1600"/>
              <a:buChar char="●"/>
            </a:pPr>
            <a:r>
              <a:rPr lang="en"/>
              <a:t>Interfaces</a:t>
            </a:r>
            <a:endParaRPr/>
          </a:p>
          <a:p>
            <a:pPr indent="-330200" lvl="0" marL="457200" rtl="0" algn="l">
              <a:spcBef>
                <a:spcPts val="0"/>
              </a:spcBef>
              <a:spcAft>
                <a:spcPts val="0"/>
              </a:spcAft>
              <a:buSzPts val="1600"/>
              <a:buChar char="●"/>
            </a:pPr>
            <a:r>
              <a:rPr lang="en"/>
              <a:t>State Machines</a:t>
            </a:r>
            <a:endParaRPr/>
          </a:p>
          <a:p>
            <a:pPr indent="-330200" lvl="0" marL="457200" rtl="0" algn="l">
              <a:spcBef>
                <a:spcPts val="0"/>
              </a:spcBef>
              <a:spcAft>
                <a:spcPts val="0"/>
              </a:spcAft>
              <a:buSzPts val="1600"/>
              <a:buChar char="●"/>
            </a:pPr>
            <a:r>
              <a:rPr lang="en"/>
              <a:t>Singleton Pattern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 Architecture</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is good software architecture?</a:t>
            </a:r>
            <a:endParaRPr/>
          </a:p>
          <a:p>
            <a:pPr indent="-317500" lvl="1" marL="914400" rtl="0" algn="l">
              <a:spcBef>
                <a:spcPts val="0"/>
              </a:spcBef>
              <a:spcAft>
                <a:spcPts val="0"/>
              </a:spcAft>
              <a:buSzPts val="1400"/>
              <a:buChar char="○"/>
            </a:pPr>
            <a:r>
              <a:rPr lang="en"/>
              <a:t>Change</a:t>
            </a:r>
            <a:endParaRPr/>
          </a:p>
          <a:p>
            <a:pPr indent="-317500" lvl="1" marL="914400" rtl="0" algn="l">
              <a:spcBef>
                <a:spcPts val="0"/>
              </a:spcBef>
              <a:spcAft>
                <a:spcPts val="0"/>
              </a:spcAft>
              <a:buSzPts val="1400"/>
              <a:buChar char="○"/>
            </a:pPr>
            <a:r>
              <a:rPr lang="en"/>
              <a:t>Decoupling</a:t>
            </a:r>
            <a:endParaRPr/>
          </a:p>
          <a:p>
            <a:pPr indent="-317500" lvl="1" marL="914400" rtl="0" algn="l">
              <a:spcBef>
                <a:spcPts val="0"/>
              </a:spcBef>
              <a:spcAft>
                <a:spcPts val="0"/>
              </a:spcAft>
              <a:buSzPts val="1400"/>
              <a:buChar char="○"/>
            </a:pPr>
            <a:r>
              <a:rPr lang="en"/>
              <a:t>Cost</a:t>
            </a:r>
            <a:endParaRPr/>
          </a:p>
          <a:p>
            <a:pPr indent="-317500" lvl="1" marL="914400" rtl="0" algn="l">
              <a:spcBef>
                <a:spcPts val="0"/>
              </a:spcBef>
              <a:spcAft>
                <a:spcPts val="0"/>
              </a:spcAft>
              <a:buSzPts val="1400"/>
              <a:buChar char="○"/>
            </a:pPr>
            <a:r>
              <a:rPr lang="en"/>
              <a:t>Performance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pic>
        <p:nvPicPr>
          <p:cNvPr id="63" name="Google Shape;63;p13"/>
          <p:cNvPicPr preferRelativeResize="0"/>
          <p:nvPr/>
        </p:nvPicPr>
        <p:blipFill>
          <a:blip r:embed="rId3">
            <a:alphaModFix/>
          </a:blip>
          <a:stretch>
            <a:fillRect/>
          </a:stretch>
        </p:blipFill>
        <p:spPr>
          <a:xfrm>
            <a:off x="1267375" y="792336"/>
            <a:ext cx="6609249" cy="355882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 name="Shape 67"/>
        <p:cNvGrpSpPr/>
        <p:nvPr/>
      </p:nvGrpSpPr>
      <p:grpSpPr>
        <a:xfrm>
          <a:off x="0" y="0"/>
          <a:ext cx="0" cy="0"/>
          <a:chOff x="0" y="0"/>
          <a:chExt cx="0" cy="0"/>
        </a:xfrm>
      </p:grpSpPr>
      <p:sp>
        <p:nvSpPr>
          <p:cNvPr id="68" name="Google Shape;68;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Coupling &amp; Cohesion</a:t>
            </a:r>
            <a:endParaRPr/>
          </a:p>
        </p:txBody>
      </p:sp>
      <p:pic>
        <p:nvPicPr>
          <p:cNvPr id="69" name="Google Shape;69;p14"/>
          <p:cNvPicPr preferRelativeResize="0"/>
          <p:nvPr/>
        </p:nvPicPr>
        <p:blipFill>
          <a:blip r:embed="rId3">
            <a:alphaModFix/>
          </a:blip>
          <a:stretch>
            <a:fillRect/>
          </a:stretch>
        </p:blipFill>
        <p:spPr>
          <a:xfrm>
            <a:off x="2369400" y="1016050"/>
            <a:ext cx="4405200" cy="383632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 name="Shape 73"/>
        <p:cNvGrpSpPr/>
        <p:nvPr/>
      </p:nvGrpSpPr>
      <p:grpSpPr>
        <a:xfrm>
          <a:off x="0" y="0"/>
          <a:ext cx="0" cy="0"/>
          <a:chOff x="0" y="0"/>
          <a:chExt cx="0" cy="0"/>
        </a:xfrm>
      </p:grpSpPr>
      <p:sp>
        <p:nvSpPr>
          <p:cNvPr id="74" name="Google Shape;74;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Design Patterns</a:t>
            </a:r>
            <a:endParaRPr/>
          </a:p>
        </p:txBody>
      </p:sp>
      <p:pic>
        <p:nvPicPr>
          <p:cNvPr id="75" name="Google Shape;75;p15"/>
          <p:cNvPicPr preferRelativeResize="0"/>
          <p:nvPr/>
        </p:nvPicPr>
        <p:blipFill>
          <a:blip r:embed="rId3">
            <a:alphaModFix/>
          </a:blip>
          <a:stretch>
            <a:fillRect/>
          </a:stretch>
        </p:blipFill>
        <p:spPr>
          <a:xfrm>
            <a:off x="1726622" y="1383898"/>
            <a:ext cx="5690752" cy="320382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81" name="Google Shape;81;p16"/>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02-flappy-bird</a:t>
            </a:r>
            <a:endParaRPr/>
          </a:p>
          <a:p>
            <a:pPr indent="-330200" lvl="0" marL="457200" rtl="0" algn="l">
              <a:spcBef>
                <a:spcPts val="0"/>
              </a:spcBef>
              <a:spcAft>
                <a:spcPts val="0"/>
              </a:spcAft>
              <a:buSzPts val="1600"/>
              <a:buChar char="●"/>
            </a:pPr>
            <a:r>
              <a:rPr lang="en"/>
              <a:t>Its README: the steps (Flappy0 to Flappy12),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sp>
        <p:nvSpPr>
          <p:cNvPr id="86" name="Google Shape;86;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 Library</a:t>
            </a:r>
            <a:endParaRPr/>
          </a:p>
        </p:txBody>
      </p:sp>
      <p:pic>
        <p:nvPicPr>
          <p:cNvPr id="87" name="Google Shape;87;p17"/>
          <p:cNvPicPr preferRelativeResize="0"/>
          <p:nvPr/>
        </p:nvPicPr>
        <p:blipFill>
          <a:blip r:embed="rId3">
            <a:alphaModFix/>
          </a:blip>
          <a:stretch>
            <a:fillRect/>
          </a:stretch>
        </p:blipFill>
        <p:spPr>
          <a:xfrm>
            <a:off x="270188" y="1400650"/>
            <a:ext cx="8603624" cy="234220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 Library</a:t>
            </a:r>
            <a:endParaRPr/>
          </a:p>
        </p:txBody>
      </p:sp>
      <p:pic>
        <p:nvPicPr>
          <p:cNvPr id="93" name="Google Shape;93;p18"/>
          <p:cNvPicPr preferRelativeResize="0"/>
          <p:nvPr/>
        </p:nvPicPr>
        <p:blipFill>
          <a:blip r:embed="rId3">
            <a:alphaModFix/>
          </a:blip>
          <a:stretch>
            <a:fillRect/>
          </a:stretch>
        </p:blipFill>
        <p:spPr>
          <a:xfrm>
            <a:off x="252837" y="900688"/>
            <a:ext cx="8638324" cy="3342119"/>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 A Class Library</a:t>
            </a:r>
            <a:endParaRPr>
              <a:solidFill>
                <a:schemeClr val="accent5"/>
              </a:solidFill>
            </a:endParaRPr>
          </a:p>
        </p:txBody>
      </p:sp>
      <p:sp>
        <p:nvSpPr>
          <p:cNvPr id="99" name="Google Shape;99;p19"/>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move what every game needs into a class library, GARCore.</a:t>
            </a:r>
            <a:endParaRPr/>
          </a:p>
          <a:p>
            <a:pPr indent="-330200" lvl="0" marL="457200" rtl="0" algn="l">
              <a:spcBef>
                <a:spcPts val="0"/>
              </a:spcBef>
              <a:spcAft>
                <a:spcPts val="0"/>
              </a:spcAft>
              <a:buSzPts val="1600"/>
              <a:buChar char="●"/>
            </a:pPr>
            <a:r>
              <a:rPr lang="en"/>
              <a:t>A Core class, derived from Game: the window, and the screen scaling from Pong.</a:t>
            </a:r>
            <a:endParaRPr/>
          </a:p>
        </p:txBody>
      </p:sp>
      <p:sp>
        <p:nvSpPr>
          <p:cNvPr id="100" name="Rounded Rectangle 99"/>
          <p:cNvSpPr/>
          <p:nvPr/>
        </p:nvSpPr>
        <p:spPr>
          <a:xfrm>
            <a:off x="914400" y="2103120"/>
            <a:ext cx="2926080" cy="9144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GARCore</a:t>
            </a:r>
          </a:p>
          <a:p>
            <a:pPr algn="ctr"/>
            <a:r>
              <a:rPr sz="1400" b="0">
                <a:solidFill>
                  <a:srgbClr val="9AA3AB"/>
                </a:solidFill>
              </a:rPr>
              <a:t>Core : Game · window · scaling</a:t>
            </a:r>
          </a:p>
        </p:txBody>
      </p:sp>
      <p:sp>
        <p:nvSpPr>
          <p:cNvPr id="101" name="Rounded Rectangle 100"/>
          <p:cNvSpPr/>
          <p:nvPr/>
        </p:nvSpPr>
        <p:spPr>
          <a:xfrm>
            <a:off x="5303520" y="1737360"/>
            <a:ext cx="29260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Flappy</a:t>
            </a:r>
          </a:p>
        </p:txBody>
      </p:sp>
      <p:sp>
        <p:nvSpPr>
          <p:cNvPr id="102" name="Rounded Rectangle 101"/>
          <p:cNvSpPr/>
          <p:nvPr/>
        </p:nvSpPr>
        <p:spPr>
          <a:xfrm>
            <a:off x="5303520" y="2560320"/>
            <a:ext cx="29260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Snake, Sokoban, ...</a:t>
            </a:r>
          </a:p>
        </p:txBody>
      </p:sp>
      <p:cxnSp>
        <p:nvCxnSpPr>
          <p:cNvPr id="103" name="Connector 102"/>
          <p:cNvCxnSpPr/>
          <p:nvPr/>
        </p:nvCxnSpPr>
        <p:spPr>
          <a:xfrm flipH="1">
            <a:off x="3886200" y="2057400"/>
            <a:ext cx="1371600" cy="36576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04" name="TextBox 103"/>
          <p:cNvSpPr txBox="1"/>
          <p:nvPr/>
        </p:nvSpPr>
        <p:spPr>
          <a:xfrm>
            <a:off x="3703320" y="1764792"/>
            <a:ext cx="1737360" cy="274320"/>
          </a:xfrm>
          <a:prstGeom prst="rect">
            <a:avLst/>
          </a:prstGeom>
          <a:noFill/>
        </p:spPr>
        <p:txBody>
          <a:bodyPr wrap="square">
            <a:spAutoFit/>
          </a:bodyPr>
          <a:lstStyle/>
          <a:p>
            <a:pPr algn="ctr"/>
            <a:r>
              <a:rPr sz="1100" b="0" i="0">
                <a:solidFill>
                  <a:srgbClr val="9AA3AB"/>
                </a:solidFill>
              </a:rPr>
              <a:t>uses</a:t>
            </a:r>
          </a:p>
        </p:txBody>
      </p:sp>
      <p:cxnSp>
        <p:nvCxnSpPr>
          <p:cNvPr id="105" name="Connector 104"/>
          <p:cNvCxnSpPr/>
          <p:nvPr/>
        </p:nvCxnSpPr>
        <p:spPr>
          <a:xfrm flipH="1" flipV="1">
            <a:off x="3886200" y="2697480"/>
            <a:ext cx="1371600" cy="18288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7" st="1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0: A Game on the Library</a:t>
            </a:r>
            <a:endParaRPr>
              <a:solidFill>
                <a:schemeClr val="accent5"/>
              </a:solidFill>
            </a:endParaRPr>
          </a:p>
        </p:txBody>
      </p:sp>
      <p:sp>
        <p:nvSpPr>
          <p:cNvPr id="105" name="Google Shape;105;p20"/>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 new game, Flappy, whose Game1 derives from Core.</a:t>
            </a:r>
            <a:endParaRPr/>
          </a:p>
          <a:p>
            <a:pPr indent="-330200" lvl="0" marL="457200" rtl="0" algn="l">
              <a:spcBef>
                <a:spcPts val="0"/>
              </a:spcBef>
              <a:spcAft>
                <a:spcPts val="0"/>
              </a:spcAft>
              <a:buSzPts val="1600"/>
              <a:buChar char="●"/>
            </a:pPr>
            <a:r>
              <a:rPr lang="en"/>
              <a:t>640 × 360 virtual resolution in a 1280 × 720 window.</a:t>
            </a:r>
            <a:endParaRPr/>
          </a:p>
        </p:txBody>
      </p:sp>
      <p:pic>
        <p:nvPicPr>
          <p:cNvPr id="106" name="Picture 105" descr="f0.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Images</a:t>
            </a:r>
            <a:endParaRPr/>
          </a:p>
        </p:txBody>
      </p:sp>
      <p:sp>
        <p:nvSpPr>
          <p:cNvPr id="111" name="Google Shape;111;p2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Remember from Pong?</a:t>
            </a:r>
            <a:endParaRPr/>
          </a:p>
          <a:p>
            <a:pPr indent="-317500" lvl="1" marL="914400" rtl="0" algn="l">
              <a:spcBef>
                <a:spcPts val="0"/>
              </a:spcBef>
              <a:spcAft>
                <a:spcPts val="0"/>
              </a:spcAft>
              <a:buSzPts val="1400"/>
              <a:buChar char="○"/>
            </a:pPr>
            <a:r>
              <a:rPr lang="en"/>
              <a:t>Just a Texture2D!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1">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Parallax Scrolling</a:t>
            </a:r>
            <a:endParaRPr/>
          </a:p>
        </p:txBody>
      </p:sp>
      <p:pic>
        <p:nvPicPr>
          <p:cNvPr id="124" name="Google Shape;124;p23" title="Parallax_scroll.gif"/>
          <p:cNvPicPr preferRelativeResize="0"/>
          <p:nvPr/>
        </p:nvPicPr>
        <p:blipFill>
          <a:blip r:embed="rId3">
            <a:alphaModFix/>
          </a:blip>
          <a:stretch>
            <a:fillRect/>
          </a:stretch>
        </p:blipFill>
        <p:spPr>
          <a:xfrm>
            <a:off x="2123225" y="1637625"/>
            <a:ext cx="4897550" cy="3060975"/>
          </a:xfrm>
          <a:prstGeom prst="rect">
            <a:avLst/>
          </a:prstGeom>
          <a:noFill/>
          <a:ln>
            <a:noFill/>
          </a:ln>
        </p:spPr>
      </p:pic>
      <p:sp>
        <p:nvSpPr>
          <p:cNvPr id="125" name="Google Shape;125;p2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Illusion of movement </a:t>
            </a:r>
            <a:r>
              <a:rPr lang="en"/>
              <a:t>given two frames of reference that are moving at different rates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sp>
        <p:nvSpPr>
          <p:cNvPr id="130" name="Google Shape;130;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Images &amp; Parallax Implementation</a:t>
            </a:r>
            <a:endParaRPr>
              <a:solidFill>
                <a:schemeClr val="accent5"/>
              </a:solidFill>
            </a:endParaRPr>
          </a:p>
        </p:txBody>
      </p:sp>
      <p:sp>
        <p:nvSpPr>
          <p:cNvPr id="131" name="Google Shape;131;p24"/>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Demo: Flappy0 → Flappy2: the background and the ground, scrolling at 30 and 60</a:t>
            </a:r>
            <a:endParaRPr/>
          </a:p>
          <a:p>
            <a:pPr indent="-330200" lvl="0" marL="457200" rtl="0" algn="l">
              <a:spcBef>
                <a:spcPts val="0"/>
              </a:spcBef>
              <a:spcAft>
                <a:spcPts val="0"/>
              </a:spcAft>
              <a:buSzPts val="1600"/>
              <a:buChar char="●"/>
            </a:pPr>
            <a:r>
              <a:rPr lang="en"/>
              <a:t>Each layer loops at its own point with %: background 412, ground 512</a:t>
            </a:r>
            <a:endParaRPr/>
          </a:p>
        </p:txBody>
      </p:sp>
      <p:pic>
        <p:nvPicPr>
          <p:cNvPr id="132" name="Picture 132" descr="Flappy2.png"/>
          <p:cNvPicPr>
            <a:picLocks noChangeAspect="1"/>
          </p:cNvPicPr>
          <p:nvPr/>
        </p:nvPicPr>
        <p:blipFill>
          <a:blip r:embed="rId4"/>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Speeds and Depth</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Flappy2:</a:t>
            </a:r>
            <a:endParaRPr/>
          </a:p>
          <a:p>
            <a:pPr indent="-330200" lvl="0" marL="457200" rtl="0" algn="l">
              <a:spcBef>
                <a:spcPts val="0"/>
              </a:spcBef>
              <a:spcAft>
                <a:spcPts val="0"/>
              </a:spcAft>
              <a:buSzPts val="1600"/>
              <a:buChar char="●"/>
            </a:pPr>
            <a:r>
              <a:rPr lang="en"/>
              <a:t>Ground at 120, background at 15</a:t>
            </a:r>
            <a:endParaRPr/>
          </a:p>
          <a:p>
            <a:pPr indent="-330200" lvl="0" marL="457200" rtl="0" algn="l">
              <a:spcBef>
                <a:spcPts val="0"/>
              </a:spcBef>
              <a:spcAft>
                <a:spcPts val="0"/>
              </a:spcAft>
              <a:buSzPts val="1600"/>
              <a:buChar char="●"/>
            </a:pPr>
            <a:r>
              <a:rPr lang="en"/>
              <a:t>Then swap the two speeds</a:t>
            </a:r>
            <a:endParaRPr/>
          </a:p>
          <a:p>
            <a:pPr indent="-330200" lvl="0" marL="457200" rtl="0" algn="l">
              <a:spcBef>
                <a:spcPts val="0"/>
              </a:spcBef>
              <a:spcAft>
                <a:spcPts val="0"/>
              </a:spcAft>
              <a:buSzPts val="1600"/>
              <a:buChar char="●"/>
            </a:pPr>
            <a:r>
              <a:rPr lang="en"/>
              <a:t>What happens to the sense of depth?</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 name="Shape 135"/>
        <p:cNvGrpSpPr/>
        <p:nvPr/>
      </p:nvGrpSpPr>
      <p:grpSpPr>
        <a:xfrm>
          <a:off x="0" y="0"/>
          <a:ext cx="0" cy="0"/>
          <a:chOff x="0" y="0"/>
          <a:chExt cx="0" cy="0"/>
        </a:xfrm>
      </p:grpSpPr>
      <p:sp>
        <p:nvSpPr>
          <p:cNvPr id="136" name="Google Shape;136;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Games are Illusions</a:t>
            </a:r>
            <a:endParaRPr/>
          </a:p>
        </p:txBody>
      </p:sp>
      <p:pic>
        <p:nvPicPr>
          <p:cNvPr descr="THE NEWER VERSION: https://youtu.be/xFdgkMpVzLo&#10;&#10;I'm so incredibly thankful to everyone who came on for this episode. This was my attempt at making an episode feel as important as the game i was covering. And while i will leave it to the viewers to decide if it was properly pulled off, it wouldnt have had any weight to it without the support of everyone who came on to help it feel that way. Here are links to all the contributors. If you enjoyed this episode, it would mean a lot to me if you checked them out and maybe let them know you appreciated their support as much as I did.&#10;&#10;The intro animator Michael Chin - https://www.youtube.com/user/MichaelChin1994&#10;&#10;Joey Ferris - https://www.youtube.com/user/TheFerrisofWheels&#10;&#10;Zeltik - https://www.youtube.com/channel/UCudx6plmpbs5WtWvsvu-EdQ&#10;&#10;HMK - https://www.youtube.com/user/HMK9CAPN&#10;&#10;Darrin Harr III from www.ZeldaInformer.com - https://www.youtube.com/user/ZeldaInformer&#10;&#10;Voiced by Brandon Acosta and written by Alex Trevino on behalf of www.ZeldaUniverse.com - https://www.youtube.com/user/ZeldaUniverseTV&#10;&#10;Also, you can follow me on twitter if you want screen shots of boundary break-esk stuff throughout the week!:&#10;https://twitter.com/BoundaryBreak&#10;&#10;Source for lower third:&#10;https://youtu.be/IXtr2C8SccQ&#10;&#10;By request of the guy who actually made the map for Haunted Wasteland (he was a very cool guy) Please check out www.VGmaps.com for more video game related maps!" id="137" name="Google Shape;137;p25" title="Boundary Break: Ocarina of Time (OLD - See Description for updated version)">
            <a:hlinkClick r:id="rId3"/>
          </p:cNvPr>
          <p:cNvPicPr preferRelativeResize="0"/>
          <p:nvPr/>
        </p:nvPicPr>
        <p:blipFill>
          <a:blip r:embed="rId4">
            <a:alphaModFix/>
          </a:blip>
          <a:stretch>
            <a:fillRect/>
          </a:stretch>
        </p:blipFill>
        <p:spPr>
          <a:xfrm>
            <a:off x="1907200" y="1456375"/>
            <a:ext cx="5259975" cy="29587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7"/>
                                        </p:tgtEl>
                                        <p:attrNameLst>
                                          <p:attrName>style.visibility</p:attrName>
                                        </p:attrNameLst>
                                      </p:cBhvr>
                                      <p:to>
                                        <p:strVal val="visible"/>
                                      </p:to>
                                    </p:set>
                                    <p:animEffect filter="fade" transition="in">
                                      <p:cBhvr>
                                        <p:cTn dur="1000"/>
                                        <p:tgtEl>
                                          <p:spTgt spid="13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3: The Bird and the Art Class</a:t>
            </a:r>
            <a:endParaRPr>
              <a:solidFill>
                <a:schemeClr val="accent5"/>
              </a:solidFill>
            </a:endParaRPr>
          </a:p>
        </p:txBody>
      </p:sp>
      <p:sp>
        <p:nvSpPr>
          <p:cNvPr id="143" name="Google Shape;143;p26"/>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From Flappy2: a Bird class with Update and Draw. But how does it get its texture?</a:t>
            </a:r>
            <a:endParaRPr/>
          </a:p>
        </p:txBody>
      </p:sp>
      <p:sp>
        <p:nvSpPr>
          <p:cNvPr id="144" name="Rounded Rectangle 143"/>
          <p:cNvSpPr/>
          <p:nvPr/>
        </p:nvSpPr>
        <p:spPr>
          <a:xfrm>
            <a:off x="41148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field in Game1</a:t>
            </a:r>
          </a:p>
          <a:p>
            <a:pPr algn="ctr"/>
            <a:r>
              <a:rPr sz="1200" b="0">
                <a:solidFill>
                  <a:srgbClr val="9AA3AB"/>
                </a:solidFill>
              </a:rPr>
              <a:t>breaks encapsulation,</a:t>
            </a:r>
          </a:p>
          <a:p>
            <a:pPr algn="ctr"/>
            <a:r>
              <a:rPr sz="1200" b="0">
                <a:solidFill>
                  <a:srgbClr val="9AA3AB"/>
                </a:solidFill>
              </a:rPr>
              <a:t>Game1 grows</a:t>
            </a:r>
          </a:p>
        </p:txBody>
      </p:sp>
      <p:sp>
        <p:nvSpPr>
          <p:cNvPr id="145" name="Rounded Rectangle 144"/>
          <p:cNvSpPr/>
          <p:nvPr/>
        </p:nvSpPr>
        <p:spPr>
          <a:xfrm>
            <a:off x="251460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Pass it in</a:t>
            </a:r>
          </a:p>
          <a:p>
            <a:pPr algn="ctr"/>
            <a:r>
              <a:rPr sz="1200" b="0">
                <a:solidFill>
                  <a:srgbClr val="9AA3AB"/>
                </a:solidFill>
              </a:rPr>
              <a:t>tedious for</a:t>
            </a:r>
          </a:p>
          <a:p>
            <a:pPr algn="ctr"/>
            <a:r>
              <a:rPr sz="1200" b="0">
                <a:solidFill>
                  <a:srgbClr val="9AA3AB"/>
                </a:solidFill>
              </a:rPr>
              <a:t>every new entity</a:t>
            </a:r>
          </a:p>
        </p:txBody>
      </p:sp>
      <p:sp>
        <p:nvSpPr>
          <p:cNvPr id="146" name="Rounded Rectangle 145"/>
          <p:cNvSpPr/>
          <p:nvPr/>
        </p:nvSpPr>
        <p:spPr>
          <a:xfrm>
            <a:off x="461772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ContentManager</a:t>
            </a:r>
          </a:p>
          <a:p>
            <a:pPr algn="ctr"/>
            <a:r>
              <a:rPr sz="1200" b="0">
                <a:solidFill>
                  <a:srgbClr val="9AA3AB"/>
                </a:solidFill>
              </a:rPr>
              <a:t>everything can</a:t>
            </a:r>
          </a:p>
          <a:p>
            <a:pPr algn="ctr"/>
            <a:r>
              <a:rPr sz="1200" b="0">
                <a:solidFill>
                  <a:srgbClr val="9AA3AB"/>
                </a:solidFill>
              </a:rPr>
              <a:t>load anything</a:t>
            </a:r>
          </a:p>
        </p:txBody>
      </p:sp>
      <p:sp>
        <p:nvSpPr>
          <p:cNvPr id="147" name="Rounded Rectangle 146"/>
          <p:cNvSpPr/>
          <p:nvPr/>
        </p:nvSpPr>
        <p:spPr>
          <a:xfrm>
            <a:off x="6720840" y="1463040"/>
            <a:ext cx="1965960" cy="11430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Art class</a:t>
            </a:r>
          </a:p>
          <a:p>
            <a:pPr algn="ctr"/>
            <a:r>
              <a:rPr sz="1200" b="0">
                <a:solidFill>
                  <a:srgbClr val="9AA3AB"/>
                </a:solidFill>
              </a:rPr>
              <a:t>one place</a:t>
            </a:r>
          </a:p>
          <a:p>
            <a:pPr algn="ctr"/>
            <a:r>
              <a:rPr sz="1200" b="0">
                <a:solidFill>
                  <a:srgbClr val="9AA3AB"/>
                </a:solidFill>
              </a:rPr>
              <a:t>for every asset</a:t>
            </a:r>
          </a:p>
        </p:txBody>
      </p:sp>
      <p:sp>
        <p:nvSpPr>
          <p:cNvPr id="148" name="TextBox 147"/>
          <p:cNvSpPr txBox="1"/>
          <p:nvPr/>
        </p:nvSpPr>
        <p:spPr>
          <a:xfrm>
            <a:off x="457200" y="2926080"/>
            <a:ext cx="8229600" cy="731520"/>
          </a:xfrm>
          <a:prstGeom prst="rect">
            <a:avLst/>
          </a:prstGeom>
          <a:noFill/>
        </p:spPr>
        <p:txBody>
          <a:bodyPr wrap="square">
            <a:spAutoFit/>
          </a:bodyPr>
          <a:lstStyle/>
          <a:p>
            <a:pPr algn="ctr"/>
            <a:r>
              <a:rPr sz="1500" b="1" i="0">
                <a:solidFill>
                  <a:srgbClr val="DEE2E6"/>
                </a:solidFill>
              </a:rPr>
              <a:t>Which would you pick? We go with Art, and move the background and ground into it too.</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4: Gravity</a:t>
            </a:r>
            <a:endParaRPr>
              <a:solidFill>
                <a:schemeClr val="accent5"/>
              </a:solidFill>
            </a:endParaRPr>
          </a:p>
        </p:txBody>
      </p:sp>
      <p:sp>
        <p:nvSpPr>
          <p:cNvPr id="149" name="Google Shape;149;p27"/>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gravity. A velocity that grows every frame, scaled by delta time.</a:t>
            </a:r>
            <a:endParaRPr/>
          </a:p>
        </p:txBody>
      </p:sp>
      <p:pic>
        <p:nvPicPr>
          <p:cNvPr id="150" name="Picture 150" descr="Flappy3.png"/>
          <p:cNvPicPr>
            <a:picLocks noChangeAspect="1"/>
          </p:cNvPicPr>
          <p:nvPr/>
        </p:nvPicPr>
        <p:blipFill>
          <a:blip r:embed="rId4"/>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5: An Input Manager</a:t>
            </a:r>
            <a:endParaRPr>
              <a:solidFill>
                <a:schemeClr val="accent5"/>
              </a:solidFill>
            </a:endParaRPr>
          </a:p>
        </p:txBody>
      </p:sp>
      <p:sp>
        <p:nvSpPr>
          <p:cNvPr id="155" name="Google Shape;155;p2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flap on Space or a click, with input classes in GARCore.</a:t>
            </a:r>
            <a:endParaRPr/>
          </a:p>
        </p:txBody>
      </p:sp>
      <p:sp>
        <p:nvSpPr>
          <p:cNvPr id="156" name="Rounded Rectangle 155"/>
          <p:cNvSpPr/>
          <p:nvPr/>
        </p:nvSpPr>
        <p:spPr>
          <a:xfrm>
            <a:off x="3108960" y="1417320"/>
            <a:ext cx="2926080" cy="6400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InputManager</a:t>
            </a:r>
          </a:p>
          <a:p>
            <a:pPr algn="ctr"/>
            <a:r>
              <a:rPr sz="1300" b="0">
                <a:solidFill>
                  <a:srgbClr val="9AA3AB"/>
                </a:solidFill>
              </a:rPr>
              <a:t>updated by Core, every frame</a:t>
            </a:r>
          </a:p>
        </p:txBody>
      </p:sp>
      <p:sp>
        <p:nvSpPr>
          <p:cNvPr id="157" name="Rounded Rectangle 156"/>
          <p:cNvSpPr/>
          <p:nvPr/>
        </p:nvSpPr>
        <p:spPr>
          <a:xfrm>
            <a:off x="914400" y="2560320"/>
            <a:ext cx="3291840"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KeyboardInfo</a:t>
            </a:r>
          </a:p>
          <a:p>
            <a:pPr algn="ctr"/>
            <a:r>
              <a:rPr sz="1300" b="0">
                <a:solidFill>
                  <a:srgbClr val="9AA3AB"/>
                </a:solidFill>
              </a:rPr>
              <a:t>IsKeyDown · WasKeyJustPressed</a:t>
            </a:r>
          </a:p>
        </p:txBody>
      </p:sp>
      <p:sp>
        <p:nvSpPr>
          <p:cNvPr id="158" name="Rounded Rectangle 157"/>
          <p:cNvSpPr/>
          <p:nvPr/>
        </p:nvSpPr>
        <p:spPr>
          <a:xfrm>
            <a:off x="4937760" y="2560320"/>
            <a:ext cx="3291840"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MouseInfo</a:t>
            </a:r>
          </a:p>
          <a:p>
            <a:pPr algn="ctr"/>
            <a:r>
              <a:rPr sz="1300" b="0">
                <a:solidFill>
                  <a:srgbClr val="9AA3AB"/>
                </a:solidFill>
              </a:rPr>
              <a:t>Position · WasLeftButtonJustPressed</a:t>
            </a:r>
          </a:p>
        </p:txBody>
      </p:sp>
      <p:cxnSp>
        <p:nvCxnSpPr>
          <p:cNvPr id="159" name="Connector 158"/>
          <p:cNvCxnSpPr/>
          <p:nvPr/>
        </p:nvCxnSpPr>
        <p:spPr>
          <a:xfrm flipH="1">
            <a:off x="2926080" y="2075688"/>
            <a:ext cx="914400" cy="4663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5303520" y="2075688"/>
            <a:ext cx="914400" cy="4663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61" name="TextBox 160"/>
          <p:cNvSpPr txBox="1"/>
          <p:nvPr/>
        </p:nvSpPr>
        <p:spPr>
          <a:xfrm>
            <a:off x="914400" y="3566160"/>
            <a:ext cx="7315200" cy="365760"/>
          </a:xfrm>
          <a:prstGeom prst="rect">
            <a:avLst/>
          </a:prstGeom>
          <a:noFill/>
        </p:spPr>
        <p:txBody>
          <a:bodyPr wrap="square">
            <a:spAutoFit/>
          </a:bodyPr>
          <a:lstStyle/>
          <a:p>
            <a:pPr algn="ctr"/>
            <a:r>
              <a:rPr sz="1300" b="0" i="0">
                <a:solidFill>
                  <a:srgbClr val="9AA3AB"/>
                </a:solidFill>
              </a:rPr>
              <a:t>A flap sets the vertical velocity to an upward jump force. Remember: y points down.</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Procedural Generation</a:t>
            </a:r>
            <a:endParaRPr/>
          </a:p>
        </p:txBody>
      </p:sp>
      <p:pic>
        <p:nvPicPr>
          <p:cNvPr id="161" name="Google Shape;161;p29"/>
          <p:cNvPicPr preferRelativeResize="0"/>
          <p:nvPr/>
        </p:nvPicPr>
        <p:blipFill>
          <a:blip r:embed="rId3">
            <a:alphaModFix/>
          </a:blip>
          <a:stretch>
            <a:fillRect/>
          </a:stretch>
        </p:blipFill>
        <p:spPr>
          <a:xfrm>
            <a:off x="1527738" y="954840"/>
            <a:ext cx="6088525" cy="4070387"/>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Picture 172" descr="flappy_zones.png"/>
          <p:cNvPicPr>
            <a:picLocks noChangeAspect="1"/>
          </p:cNvPicPr>
          <p:nvPr/>
        </p:nvPicPr>
        <p:blipFill>
          <a:blip r:embed="rId3"/>
          <a:stretch>
            <a:fillRect/>
          </a:stretch>
        </p:blipFill>
        <p:spPr>
          <a:xfrm>
            <a:off x="1521325" y="332167"/>
            <a:ext cx="6101350" cy="4479166"/>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Procedural Generation Implementation</a:t>
            </a:r>
            <a:endParaRPr>
              <a:solidFill>
                <a:schemeClr val="accent5"/>
              </a:solidFill>
            </a:endParaRPr>
          </a:p>
        </p:txBody>
      </p:sp>
      <p:sp>
        <p:nvSpPr>
          <p:cNvPr id="178" name="Google Shape;178;p32"/>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Demo: Flappy5 → Flappy7: pipes on a timer, then pairs with a drifting gap</a:t>
            </a:r>
            <a:endParaRPr/>
          </a:p>
          <a:p>
            <a:pPr indent="-330200" lvl="0" marL="457200" rtl="0" algn="l">
              <a:spcBef>
                <a:spcPts val="0"/>
              </a:spcBef>
              <a:spcAft>
                <a:spcPts val="0"/>
              </a:spcAft>
              <a:buSzPts val="1600"/>
              <a:buChar char="●"/>
            </a:pPr>
            <a:r>
              <a:rPr lang="en"/>
              <a:t>A PipePair wraps two pipes; pairs that leave the screen are removed.</a:t>
            </a:r>
            <a:endParaRPr/>
          </a:p>
        </p:txBody>
      </p:sp>
      <p:pic>
        <p:nvPicPr>
          <p:cNvPr id="179" name="Picture 179" descr="Flappy7.png"/>
          <p:cNvPicPr>
            <a:picLocks noChangeAspect="1"/>
          </p:cNvPicPr>
          <p:nvPr/>
        </p:nvPicPr>
        <p:blipFill>
          <a:blip r:embed="rId6"/>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8" st="1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Harder Gap</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Flappy7:</a:t>
            </a:r>
            <a:endParaRPr/>
          </a:p>
          <a:p>
            <a:pPr indent="-330200" lvl="0" marL="457200" rtl="0" algn="l">
              <a:spcBef>
                <a:spcPts val="0"/>
              </a:spcBef>
              <a:spcAft>
                <a:spcPts val="0"/>
              </a:spcAft>
              <a:buSzPts val="1600"/>
              <a:buChar char="●"/>
            </a:pPr>
            <a:r>
              <a:rPr lang="en"/>
              <a:t>A 60-pixel gap, and a pair every 1.5 seconds</a:t>
            </a:r>
            <a:endParaRPr/>
          </a:p>
          <a:p>
            <a:pPr indent="-330200" lvl="0" marL="457200" rtl="0" algn="l">
              <a:spcBef>
                <a:spcPts val="0"/>
              </a:spcBef>
              <a:spcAft>
                <a:spcPts val="0"/>
              </a:spcAft>
              <a:buSzPts val="1600"/>
              <a:buChar char="●"/>
            </a:pPr>
            <a:r>
              <a:rPr lang="en"/>
              <a:t>Is it still fair?</a:t>
            </a:r>
            <a:endParaRPr/>
          </a:p>
          <a:p>
            <a:pPr indent="-330200" lvl="0" marL="457200" rtl="0" algn="l">
              <a:spcBef>
                <a:spcPts val="0"/>
              </a:spcBef>
              <a:spcAft>
                <a:spcPts val="0"/>
              </a:spcAft>
              <a:buSzPts val="1600"/>
              <a:buChar char="●"/>
            </a:pPr>
            <a:r>
              <a:rPr lang="en"/>
              <a:t>Which numbers in SpawnPipePair make the drift gentler?</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Collisions</a:t>
            </a:r>
            <a:endParaRPr/>
          </a:p>
        </p:txBody>
      </p:sp>
      <p:sp>
        <p:nvSpPr>
          <p:cNvPr id="184" name="Google Shape;184;p3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How can we do collision detection?</a:t>
            </a:r>
            <a:endParaRPr/>
          </a:p>
          <a:p>
            <a:pPr indent="-317500" lvl="1" marL="914400" rtl="0" algn="l">
              <a:spcBef>
                <a:spcPts val="0"/>
              </a:spcBef>
              <a:spcAft>
                <a:spcPts val="0"/>
              </a:spcAft>
              <a:buSzPts val="1400"/>
              <a:buChar char="○"/>
            </a:pPr>
            <a:r>
              <a:rPr lang="en"/>
              <a:t>AABB, as in Pong</a:t>
            </a:r>
            <a:endParaRPr/>
          </a:p>
          <a:p>
            <a:pPr indent="0" lvl="0" marL="0" rtl="0" algn="l">
              <a:spcBef>
                <a:spcPts val="1200"/>
              </a:spcBef>
              <a:spcAft>
                <a:spcPts val="0"/>
              </a:spcAft>
              <a:buNone/>
            </a:pPr>
            <a:r>
              <a:rPr/>
              <a:t/>
            </a:r>
            <a:endParaRPr/>
          </a:p>
          <a:p>
            <a:pPr indent="0" lvl="0" marL="0" rtl="0" algn="l">
              <a:spcBef>
                <a:spcPts val="1200"/>
              </a:spcBef>
              <a:spcAft>
                <a:spcPts val="1200"/>
              </a:spcAft>
              <a:buNone/>
            </a:pPr>
            <a:r>
              <a:rPr/>
              <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 name="Shape 188"/>
        <p:cNvGrpSpPr/>
        <p:nvPr/>
      </p:nvGrpSpPr>
      <p:grpSpPr>
        <a:xfrm>
          <a:off x="0" y="0"/>
          <a:ext cx="0" cy="0"/>
          <a:chOff x="0" y="0"/>
          <a:chExt cx="0" cy="0"/>
        </a:xfrm>
      </p:grpSpPr>
      <p:sp>
        <p:nvSpPr>
          <p:cNvPr id="189" name="Google Shape;189;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8: Hitboxes</a:t>
            </a:r>
            <a:endParaRPr>
              <a:solidFill>
                <a:schemeClr val="accent5"/>
              </a:solidFill>
            </a:endParaRPr>
          </a:p>
        </p:txBody>
      </p:sp>
      <p:sp>
        <p:nvSpPr>
          <p:cNvPr id="190" name="Google Shape;190;p34"/>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From Flappy7: the game stops when the bird hits a pipe, the ground or the ceiling.</a:t>
            </a:r>
            <a:endParaRPr/>
          </a:p>
          <a:p>
            <a:pPr indent="-330200" lvl="0" marL="457200" rtl="0" algn="l">
              <a:spcBef>
                <a:spcPts val="0"/>
              </a:spcBef>
              <a:spcAft>
                <a:spcPts val="0"/>
              </a:spcAft>
              <a:buSzPts val="1600"/>
              <a:buChar char="●"/>
            </a:pPr>
            <a:r>
              <a:rPr lang="en"/>
              <a:t>Can you make the collisions a little more forgiving?</a:t>
            </a:r>
            <a:endParaRPr/>
          </a:p>
        </p:txBody>
      </p:sp>
      <p:pic>
        <p:nvPicPr>
          <p:cNvPr id="191" name="Picture 191" descr="Flappy8.png"/>
          <p:cNvPicPr>
            <a:picLocks noChangeAspect="1"/>
          </p:cNvPicPr>
          <p:nvPr/>
        </p:nvPicPr>
        <p:blipFill>
          <a:blip r:embed="rId4"/>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State</a:t>
            </a:r>
            <a:endParaRPr/>
          </a:p>
        </p:txBody>
      </p:sp>
      <p:sp>
        <p:nvSpPr>
          <p:cNvPr id="196" name="Google Shape;196;p3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Do you remember how game state was handled in the Pong game?</a:t>
            </a:r>
            <a:endParaRPr/>
          </a:p>
          <a:p>
            <a:pPr indent="-317500" lvl="1" marL="914400" rtl="0" algn="l">
              <a:spcBef>
                <a:spcPts val="0"/>
              </a:spcBef>
              <a:spcAft>
                <a:spcPts val="0"/>
              </a:spcAft>
              <a:buSzPts val="1400"/>
              <a:buChar char="○"/>
            </a:pPr>
            <a:r>
              <a:rPr lang="en"/>
              <a:t>Why is this potentially “problematic”?</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sp>
        <p:nvSpPr>
          <p:cNvPr id="201" name="Google Shape;201;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Flappy Bird State Machine</a:t>
            </a:r>
            <a:endParaRPr/>
          </a:p>
        </p:txBody>
      </p:sp>
      <p:pic>
        <p:nvPicPr>
          <p:cNvPr id="202" name="Google Shape;202;p36"/>
          <p:cNvPicPr preferRelativeResize="0"/>
          <p:nvPr/>
        </p:nvPicPr>
        <p:blipFill>
          <a:blip r:embed="rId3">
            <a:alphaModFix/>
          </a:blip>
          <a:stretch>
            <a:fillRect/>
          </a:stretch>
        </p:blipFill>
        <p:spPr>
          <a:xfrm>
            <a:off x="152400" y="1441590"/>
            <a:ext cx="8839200" cy="3271330"/>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pic>
        <p:nvPicPr>
          <p:cNvPr id="207" name="Google Shape;207;p37"/>
          <p:cNvPicPr preferRelativeResize="0"/>
          <p:nvPr/>
        </p:nvPicPr>
        <p:blipFill>
          <a:blip r:embed="rId3">
            <a:alphaModFix/>
          </a:blip>
          <a:stretch>
            <a:fillRect/>
          </a:stretch>
        </p:blipFill>
        <p:spPr>
          <a:xfrm>
            <a:off x="2261863" y="152400"/>
            <a:ext cx="4620269" cy="483869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sp>
        <p:nvSpPr>
          <p:cNvPr id="212" name="Google Shape;212;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Interfaces</a:t>
            </a:r>
            <a:endParaRPr/>
          </a:p>
        </p:txBody>
      </p:sp>
      <p:sp>
        <p:nvSpPr>
          <p:cNvPr id="213" name="Google Shape;213;p38"/>
          <p:cNvSpPr txBox="1"/>
          <p:nvPr>
            <p:ph idx="2" type="body"/>
          </p:nvPr>
        </p:nvSpPr>
        <p:spPr>
          <a:xfrm>
            <a:off x="4832400" y="886075"/>
            <a:ext cx="3999900" cy="37146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PlayState</a:t>
            </a:r>
            <a:r>
              <a:rPr lang="en" sz="1000">
                <a:solidFill>
                  <a:srgbClr val="CCCCCC"/>
                </a:solidFill>
                <a:highlight>
                  <a:srgbClr val="1F1F1F"/>
                </a:highlight>
                <a:latin typeface="Consolas"/>
                <a:ea typeface="Consolas"/>
                <a:cs typeface="Consolas"/>
                <a:sym typeface="Consolas"/>
              </a:rPr>
              <a:t> : </a:t>
            </a:r>
            <a:r>
              <a:rPr lang="en" sz="1000">
                <a:solidFill>
                  <a:srgbClr val="4EC9B0"/>
                </a:solidFill>
                <a:highlight>
                  <a:srgbClr val="1F1F1F"/>
                </a:highlight>
                <a:latin typeface="Consolas"/>
                <a:ea typeface="Consolas"/>
                <a:cs typeface="Consolas"/>
                <a:sym typeface="Consolas"/>
              </a:rPr>
              <a:t>IState</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Enter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214" name="Google Shape;214;p38"/>
          <p:cNvSpPr txBox="1"/>
          <p:nvPr>
            <p:ph idx="2" type="body"/>
          </p:nvPr>
        </p:nvSpPr>
        <p:spPr>
          <a:xfrm>
            <a:off x="311700" y="886075"/>
            <a:ext cx="3999900" cy="17970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IState</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Enter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8" name="Shape 218"/>
        <p:cNvGrpSpPr/>
        <p:nvPr/>
      </p:nvGrpSpPr>
      <p:grpSpPr>
        <a:xfrm>
          <a:off x="0" y="0"/>
          <a:ext cx="0" cy="0"/>
          <a:chOff x="0" y="0"/>
          <a:chExt cx="0" cy="0"/>
        </a:xfrm>
      </p:grpSpPr>
      <p:sp>
        <p:nvSpPr>
          <p:cNvPr id="219" name="Google Shape;219;p39"/>
          <p:cNvSpPr txBox="1"/>
          <p:nvPr>
            <p:ph idx="2" type="body"/>
          </p:nvPr>
        </p:nvSpPr>
        <p:spPr>
          <a:xfrm>
            <a:off x="2231700" y="201900"/>
            <a:ext cx="4680600" cy="47397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class</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StateMachine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Game1</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IState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 { </a:t>
            </a:r>
            <a:r>
              <a:rPr lang="en" sz="800">
                <a:solidFill>
                  <a:srgbClr val="569CD6"/>
                </a:solidFill>
                <a:highlight>
                  <a:srgbClr val="1F1F1F"/>
                </a:highlight>
                <a:latin typeface="Consolas"/>
                <a:ea typeface="Consolas"/>
                <a:cs typeface="Consolas"/>
                <a:sym typeface="Consolas"/>
              </a:rPr>
              <a:t>get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set</a:t>
            </a:r>
            <a:r>
              <a:rPr lang="en" sz="800">
                <a:solidFill>
                  <a:srgbClr val="CCCCCC"/>
                </a:solidFill>
                <a:highlight>
                  <a:srgbClr val="1F1F1F"/>
                </a:highlight>
                <a:latin typeface="Consolas"/>
                <a:ea typeface="Consolas"/>
                <a:cs typeface="Consolas"/>
                <a:sym typeface="Consolas"/>
              </a:rPr>
              <a:t>; }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new</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 { </a:t>
            </a:r>
            <a:r>
              <a:rPr lang="en" sz="800">
                <a:solidFill>
                  <a:srgbClr val="569CD6"/>
                </a:solidFill>
                <a:highlight>
                  <a:srgbClr val="1F1F1F"/>
                </a:highlight>
                <a:latin typeface="Consolas"/>
                <a:ea typeface="Consolas"/>
                <a:cs typeface="Consolas"/>
                <a:sym typeface="Consolas"/>
              </a:rPr>
              <a:t>get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set</a:t>
            </a:r>
            <a:r>
              <a:rPr lang="en" sz="800">
                <a:solidFill>
                  <a:srgbClr val="CCCCCC"/>
                </a:solidFill>
                <a:highlight>
                  <a:srgbClr val="1F1F1F"/>
                </a:highlight>
                <a:latin typeface="Consolas"/>
                <a:ea typeface="Consolas"/>
                <a:cs typeface="Consolas"/>
                <a:sym typeface="Consolas"/>
              </a:rPr>
              <a:t>; }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new</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ChangeState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IState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newState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Exit</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CCCCCC"/>
                </a:solidFill>
                <a:highlight>
                  <a:srgbClr val="1F1F1F"/>
                </a:highlight>
                <a:latin typeface="Consolas"/>
                <a:ea typeface="Consolas"/>
                <a:cs typeface="Consolas"/>
                <a:sym typeface="Consolas"/>
              </a:rPr>
              <a:t>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newState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Enter</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Update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Update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Draw</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Draw</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a:t>
            </a:r>
            <a:endParaRPr sz="500">
              <a:solidFill>
                <a:srgbClr val="569CD6"/>
              </a:solidFill>
              <a:highlight>
                <a:srgbClr val="1F1F1F"/>
              </a:highlight>
              <a:latin typeface="Consolas"/>
              <a:ea typeface="Consolas"/>
              <a:cs typeface="Consolas"/>
              <a:sym typeface="Consolas"/>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9: A State Machine</a:t>
            </a:r>
            <a:endParaRPr>
              <a:solidFill>
                <a:schemeClr val="accent5"/>
              </a:solidFill>
            </a:endParaRPr>
          </a:p>
        </p:txBody>
      </p:sp>
      <p:sp>
        <p:nvSpPr>
          <p:cNvPr id="225" name="Google Shape;225;p40"/>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an IState interface, a state machine, a title state and a play state.</a:t>
            </a:r>
            <a:endParaRPr/>
          </a:p>
          <a:p>
            <a:pPr indent="-330200" lvl="0" marL="457200" rtl="0" algn="l">
              <a:spcBef>
                <a:spcPts val="0"/>
              </a:spcBef>
              <a:spcAft>
                <a:spcPts val="0"/>
              </a:spcAft>
              <a:buSzPts val="1600"/>
              <a:buChar char="●"/>
            </a:pPr>
            <a:r>
              <a:rPr lang="en"/>
              <a:t>Most of Game1’s gameplay code moves into the play state.</a:t>
            </a:r>
            <a:endParaRPr/>
          </a:p>
        </p:txBody>
      </p:sp>
      <p:pic>
        <p:nvPicPr>
          <p:cNvPr id="226" name="Picture 226" descr="Flappy9.png"/>
          <p:cNvPicPr>
            <a:picLocks noChangeAspect="1"/>
          </p:cNvPicPr>
          <p:nvPr/>
        </p:nvPicPr>
        <p:blipFill>
          <a:blip r:embed="rId5"/>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8" st="1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4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Score and Countdown Implementation</a:t>
            </a:r>
            <a:endParaRPr>
              <a:solidFill>
                <a:schemeClr val="accent5"/>
              </a:solidFill>
            </a:endParaRPr>
          </a:p>
        </p:txBody>
      </p:sp>
      <p:sp>
        <p:nvSpPr>
          <p:cNvPr id="237" name="Google Shape;237;p42"/>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Demo: Flappy9 → Flappy11: a score state that reads the score, and a countdown from 3</a:t>
            </a:r>
            <a:endParaRPr/>
          </a:p>
        </p:txBody>
      </p:sp>
      <p:pic>
        <p:nvPicPr>
          <p:cNvPr id="238" name="Picture 238" descr="Flappy11.png"/>
          <p:cNvPicPr>
            <a:picLocks noChangeAspect="1"/>
          </p:cNvPicPr>
          <p:nvPr/>
        </p:nvPicPr>
        <p:blipFill>
          <a:blip r:embed="rId4"/>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Countdown and Best Score</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Flappy11:</a:t>
            </a:r>
            <a:endParaRPr/>
          </a:p>
          <a:p>
            <a:pPr indent="-330200" lvl="0" marL="457200" rtl="0" algn="l">
              <a:spcBef>
                <a:spcPts val="0"/>
              </a:spcBef>
              <a:spcAft>
                <a:spcPts val="0"/>
              </a:spcAft>
              <a:buSzPts val="1600"/>
              <a:buChar char="●"/>
            </a:pPr>
            <a:r>
              <a:rPr lang="en"/>
              <a:t>Start the countdown at 5, and tick every 0.3 seconds</a:t>
            </a:r>
            <a:endParaRPr/>
          </a:p>
          <a:p>
            <a:pPr indent="-330200" lvl="0" marL="457200" rtl="0" algn="l">
              <a:spcBef>
                <a:spcPts val="0"/>
              </a:spcBef>
              <a:spcAft>
                <a:spcPts val="0"/>
              </a:spcAft>
              <a:buSzPts val="1600"/>
              <a:buChar char="●"/>
            </a:pPr>
            <a:r>
              <a:rPr lang="en"/>
              <a:t>Show a best score on the score screen</a:t>
            </a:r>
            <a:endParaRPr/>
          </a:p>
          <a:p>
            <a:pPr indent="-330200" lvl="0" marL="457200" rtl="0" algn="l">
              <a:spcBef>
                <a:spcPts val="0"/>
              </a:spcBef>
              <a:spcAft>
                <a:spcPts val="0"/>
              </a:spcAft>
              <a:buSzPts val="1600"/>
              <a:buChar char="●"/>
            </a:pPr>
            <a:r>
              <a:rPr lang="en"/>
              <a:t>Where does it live, so it survives the next game?</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sp>
        <p:nvSpPr>
          <p:cNvPr id="242" name="Google Shape;242;p4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12: Audio as a Singleton</a:t>
            </a:r>
            <a:endParaRPr>
              <a:solidFill>
                <a:schemeClr val="accent5"/>
              </a:solidFill>
            </a:endParaRPr>
          </a:p>
        </p:txBody>
      </p:sp>
      <p:sp>
        <p:nvSpPr>
          <p:cNvPr id="243" name="Google Shape;243;p43"/>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From Flappy11: music, and sounds for flap, hurt and score.</a:t>
            </a:r>
            <a:endParaRPr/>
          </a:p>
          <a:p>
            <a:pPr indent="-330200" lvl="0" marL="457200" rtl="0" algn="l">
              <a:spcBef>
                <a:spcPts val="0"/>
              </a:spcBef>
              <a:spcAft>
                <a:spcPts val="0"/>
              </a:spcAft>
              <a:buSzPts val="1600"/>
              <a:buChar char="●"/>
            </a:pPr>
            <a:r>
              <a:rPr lang="en"/>
              <a:t>In an Audio class, made a Singleton: Audio.Instance.PlayFlap()</a:t>
            </a:r>
            <a:endParaRPr/>
          </a:p>
        </p:txBody>
      </p:sp>
      <p:sp>
        <p:nvSpPr>
          <p:cNvPr id="244" name="Rounded Rectangle 243"/>
          <p:cNvSpPr/>
          <p:nvPr/>
        </p:nvSpPr>
        <p:spPr>
          <a:xfrm>
            <a:off x="1828800" y="2103120"/>
            <a:ext cx="5486400" cy="10058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Song + MediaPlayer.Play: the music</a:t>
            </a:r>
          </a:p>
          <a:p>
            <a:pPr algn="ctr"/>
            <a:r>
              <a:rPr sz="1400" b="0">
                <a:solidFill>
                  <a:srgbClr val="9AA3AB"/>
                </a:solidFill>
              </a:rPr>
              <a:t>SoundEffect: flap, hurt (+ explosion), score</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 name="Shape 247"/>
        <p:cNvGrpSpPr/>
        <p:nvPr/>
      </p:nvGrpSpPr>
      <p:grpSpPr>
        <a:xfrm>
          <a:off x="0" y="0"/>
          <a:ext cx="0" cy="0"/>
          <a:chOff x="0" y="0"/>
          <a:chExt cx="0" cy="0"/>
        </a:xfrm>
      </p:grpSpPr>
      <p:sp>
        <p:nvSpPr>
          <p:cNvPr id="248" name="Google Shape;248;p4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 Made it (Again)!</a:t>
            </a:r>
            <a:endParaRPr/>
          </a:p>
        </p:txBody>
      </p:sp>
      <p:sp>
        <p:nvSpPr>
          <p:cNvPr id="249" name="Google Shape;249;p4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Congratulations! You now have your very own working Flappy Bird Game made with MonoGame.</a:t>
            </a:r>
            <a:endParaRPr/>
          </a:p>
        </p:txBody>
      </p:sp>
      <p:pic>
        <p:nvPicPr>
          <p:cNvPr id="250" name="Google Shape;250;p44"/>
          <p:cNvPicPr preferRelativeResize="0"/>
          <p:nvPr/>
        </p:nvPicPr>
        <p:blipFill>
          <a:blip r:embed="rId3">
            <a:alphaModFix/>
          </a:blip>
          <a:stretch>
            <a:fillRect/>
          </a:stretch>
        </p:blipFill>
        <p:spPr>
          <a:xfrm>
            <a:off x="1066538" y="2195848"/>
            <a:ext cx="7010925" cy="1403500"/>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4" name="Shape 254"/>
        <p:cNvGrpSpPr/>
        <p:nvPr/>
      </p:nvGrpSpPr>
      <p:grpSpPr>
        <a:xfrm>
          <a:off x="0" y="0"/>
          <a:ext cx="0" cy="0"/>
          <a:chOff x="0" y="0"/>
          <a:chExt cx="0" cy="0"/>
        </a:xfrm>
      </p:grpSpPr>
      <p:sp>
        <p:nvSpPr>
          <p:cNvPr id="255" name="Google Shape;255;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t>“Ensure that only one instance of the singleton class ever exists</a:t>
            </a:r>
            <a:endParaRPr i="1"/>
          </a:p>
          <a:p>
            <a:pPr indent="0" lvl="0" marL="0" rtl="0" algn="l">
              <a:spcBef>
                <a:spcPts val="1200"/>
              </a:spcBef>
              <a:spcAft>
                <a:spcPts val="0"/>
              </a:spcAft>
              <a:buNone/>
            </a:pPr>
            <a:r>
              <a:rPr b="1" i="1" lang="en">
                <a:latin typeface="Roboto"/>
                <a:ea typeface="Roboto"/>
                <a:cs typeface="Roboto"/>
                <a:sym typeface="Roboto"/>
              </a:rPr>
              <a:t>and</a:t>
            </a:r>
            <a:r>
              <a:rPr i="1" lang="en"/>
              <a:t> provide global access to that instance.”</a:t>
            </a:r>
            <a:endParaRPr i="1"/>
          </a:p>
          <a:p>
            <a:pPr indent="-330200" lvl="0" marL="457200" rtl="0" algn="l">
              <a:spcBef>
                <a:spcPts val="1200"/>
              </a:spcBef>
              <a:spcAft>
                <a:spcPts val="0"/>
              </a:spcAft>
              <a:buClr>
                <a:schemeClr val="lt1"/>
              </a:buClr>
              <a:buSzPts val="1600"/>
              <a:buChar char="-"/>
            </a:pPr>
            <a:r>
              <a:rPr i="1" lang="en">
                <a:solidFill>
                  <a:schemeClr val="lt1"/>
                </a:solidFill>
              </a:rPr>
              <a:t>Gang of Four, Design Patterns</a:t>
            </a:r>
            <a:endParaRPr i="1">
              <a:solidFill>
                <a:schemeClr val="lt1"/>
              </a:solidFill>
            </a:endParaRPr>
          </a:p>
        </p:txBody>
      </p:sp>
      <p:sp>
        <p:nvSpPr>
          <p:cNvPr id="256" name="Google Shape;256;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Problem</a:t>
            </a:r>
            <a:endParaRPr/>
          </a:p>
        </p:txBody>
      </p:sp>
      <p:pic>
        <p:nvPicPr>
          <p:cNvPr id="257" name="Google Shape;257;p45"/>
          <p:cNvPicPr preferRelativeResize="0"/>
          <p:nvPr/>
        </p:nvPicPr>
        <p:blipFill>
          <a:blip r:embed="rId3">
            <a:alphaModFix/>
          </a:blip>
          <a:stretch>
            <a:fillRect/>
          </a:stretch>
        </p:blipFill>
        <p:spPr>
          <a:xfrm>
            <a:off x="485450" y="2438100"/>
            <a:ext cx="3642878" cy="2276775"/>
          </a:xfrm>
          <a:prstGeom prst="rect">
            <a:avLst/>
          </a:prstGeom>
          <a:noFill/>
          <a:ln>
            <a:noFill/>
          </a:ln>
        </p:spPr>
      </p:pic>
      <p:pic>
        <p:nvPicPr>
          <p:cNvPr id="258" name="Google Shape;258;p45"/>
          <p:cNvPicPr preferRelativeResize="0"/>
          <p:nvPr/>
        </p:nvPicPr>
        <p:blipFill>
          <a:blip r:embed="rId4">
            <a:alphaModFix/>
          </a:blip>
          <a:stretch>
            <a:fillRect/>
          </a:stretch>
        </p:blipFill>
        <p:spPr>
          <a:xfrm>
            <a:off x="4304675" y="2438100"/>
            <a:ext cx="4553575" cy="2276775"/>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Solution</a:t>
            </a:r>
            <a:endParaRPr/>
          </a:p>
        </p:txBody>
      </p:sp>
      <p:sp>
        <p:nvSpPr>
          <p:cNvPr id="264" name="Google Shape;264;p46"/>
          <p:cNvSpPr txBox="1"/>
          <p:nvPr>
            <p:ph idx="2" type="body"/>
          </p:nvPr>
        </p:nvSpPr>
        <p:spPr>
          <a:xfrm>
            <a:off x="4433925" y="1353675"/>
            <a:ext cx="3999900" cy="3004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Instance</a:t>
            </a:r>
            <a:endParaRPr sz="1000">
              <a:solidFill>
                <a:srgbClr val="9CDCFE"/>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get</a:t>
            </a:r>
            <a:endParaRPr sz="1000">
              <a:solidFill>
                <a:srgbClr val="569CD6"/>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pic>
        <p:nvPicPr>
          <p:cNvPr id="265" name="Google Shape;265;p46"/>
          <p:cNvPicPr preferRelativeResize="0"/>
          <p:nvPr/>
        </p:nvPicPr>
        <p:blipFill>
          <a:blip r:embed="rId3">
            <a:alphaModFix/>
          </a:blip>
          <a:stretch>
            <a:fillRect/>
          </a:stretch>
        </p:blipFill>
        <p:spPr>
          <a:xfrm>
            <a:off x="160900" y="1463690"/>
            <a:ext cx="4129126" cy="2784759"/>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9" name="Shape 269"/>
        <p:cNvGrpSpPr/>
        <p:nvPr/>
      </p:nvGrpSpPr>
      <p:grpSpPr>
        <a:xfrm>
          <a:off x="0" y="0"/>
          <a:ext cx="0" cy="0"/>
          <a:chOff x="0" y="0"/>
          <a:chExt cx="0" cy="0"/>
        </a:xfrm>
      </p:grpSpPr>
      <p:sp>
        <p:nvSpPr>
          <p:cNvPr id="270" name="Google Shape;270;p47"/>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t>“Friends don’t let friends create singletons”</a:t>
            </a:r>
            <a:endParaRPr i="1"/>
          </a:p>
          <a:p>
            <a:pPr indent="-317500" lvl="0" marL="457200" rtl="0" algn="l">
              <a:spcBef>
                <a:spcPts val="1200"/>
              </a:spcBef>
              <a:spcAft>
                <a:spcPts val="0"/>
              </a:spcAft>
              <a:buClr>
                <a:schemeClr val="lt1"/>
              </a:buClr>
              <a:buSzPts val="1400"/>
              <a:buChar char="-"/>
            </a:pPr>
            <a:r>
              <a:rPr i="1" lang="en" sz="1400">
                <a:solidFill>
                  <a:schemeClr val="lt1"/>
                </a:solidFill>
              </a:rPr>
              <a:t>Robert Nystrom, “Game Programming Patterns”</a:t>
            </a:r>
            <a:endParaRPr i="1" sz="1400">
              <a:solidFill>
                <a:schemeClr val="lt1"/>
              </a:solidFill>
            </a:endParaRPr>
          </a:p>
        </p:txBody>
      </p:sp>
      <p:sp>
        <p:nvSpPr>
          <p:cNvPr id="271" name="Google Shape;271;p4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Usage</a:t>
            </a:r>
            <a:endParaRP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63" name="Google Shape;263;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in Flappy Bird</a:t>
            </a:r>
            <a:endParaRPr/>
          </a:p>
        </p:txBody>
      </p:sp>
      <p:sp>
        <p:nvSpPr>
          <p:cNvPr id="243" name="Google Shape;243;p43"/>
          <p:cNvSpPr txBox="1"/>
          <p:nvPr>
            <p:ph idx="1" type="body"/>
          </p:nvPr>
        </p:nvSpPr>
        <p:spPr>
          <a:xfrm>
            <a:off x="311700" y="1152475"/>
            <a:ext cx="3900000" cy="34000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Audio is a Singleton: one object, reached through Audio.Instance</a:t>
            </a:r>
            <a:endParaRPr/>
          </a:p>
          <a:p>
            <a:pPr indent="-330200" lvl="0" marL="457200" rtl="0" algn="l">
              <a:spcBef>
                <a:spcPts val="0"/>
              </a:spcBef>
              <a:spcAft>
                <a:spcPts val="0"/>
              </a:spcAft>
              <a:buSzPts val="1600"/>
              <a:buChar char="●"/>
            </a:pPr>
            <a:r>
              <a:rPr lang="en"/>
              <a:t>Art is a static class</a:t>
            </a:r>
            <a:endParaRPr/>
          </a:p>
          <a:p>
            <a:pPr indent="-330200" lvl="0" marL="457200" rtl="0" algn="l">
              <a:spcBef>
                <a:spcPts val="0"/>
              </a:spcBef>
              <a:spcAft>
                <a:spcPts val="0"/>
              </a:spcAft>
              <a:buSzPts val="1600"/>
              <a:buChar char="●"/>
            </a:pPr>
            <a:r>
              <a:rPr lang="en"/>
              <a:t>Both give global access</a:t>
            </a:r>
            <a:endParaRPr/>
          </a:p>
          <a:p>
            <a:pPr indent="-330200" lvl="0" marL="457200" rtl="0" algn="l">
              <a:spcBef>
                <a:spcPts val="0"/>
              </a:spcBef>
              <a:spcAft>
                <a:spcPts val="0"/>
              </a:spcAft>
              <a:buSzPts val="1600"/>
              <a:buChar char="●"/>
            </a:pPr>
            <a:r>
              <a:rPr lang="en"/>
              <a:t>But Audio is an object</a:t>
            </a:r>
            <a:endParaRPr/>
          </a:p>
          <a:p>
            <a:pPr indent="-317500" lvl="1" marL="914400" rtl="0" algn="l">
              <a:spcBef>
                <a:spcPts val="0"/>
              </a:spcBef>
              <a:spcAft>
                <a:spcPts val="0"/>
              </a:spcAft>
              <a:buSzPts val="1400"/>
              <a:buChar char="○"/>
            </a:pPr>
            <a:r>
              <a:rPr lang="en"/>
              <a:t>It could implement an interface or be passed as a parameter</a:t>
            </a:r>
            <a:endParaRPr/>
          </a:p>
          <a:p>
            <a:pPr indent="-317500" lvl="1" marL="914400" rtl="0" algn="l">
              <a:spcBef>
                <a:spcPts val="0"/>
              </a:spcBef>
              <a:spcAft>
                <a:spcPts val="0"/>
              </a:spcAft>
              <a:buSzPts val="1400"/>
              <a:buChar char="○"/>
            </a:pPr>
            <a:r>
              <a:rPr lang="en"/>
              <a:t>Pokemon builds on this with a Service Locator</a:t>
            </a:r>
            <a:endParaRPr/>
          </a:p>
          <a:p>
            <a:pPr indent="-330200" lvl="0" marL="457200" rtl="0" algn="l">
              <a:spcBef>
                <a:spcPts val="0"/>
              </a:spcBef>
              <a:spcAft>
                <a:spcPts val="0"/>
              </a:spcAft>
              <a:buSzPts val="1600"/>
              <a:buChar char="●"/>
            </a:pPr>
            <a:r>
              <a:rPr lang="en"/>
              <a:t>Step: Flappy12</a:t>
            </a:r>
            <a:endParaRPr/>
          </a:p>
        </p:txBody>
      </p:sp>
      <p:sp>
        <p:nvSpPr>
          <p:cNvPr id="264" name="Google Shape;264;p46"/>
          <p:cNvSpPr txBox="1"/>
          <p:nvPr>
            <p:ph idx="2" type="body"/>
          </p:nvPr>
        </p:nvSpPr>
        <p:spPr>
          <a:xfrm>
            <a:off x="4500000" y="1152475"/>
            <a:ext cx="440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public class Audio</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public static Audio Instance { get;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 new Audio();</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private Audio() {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public void PlayFlap() =&gt; _flap.Play();</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 PlayMusic, PlayScore, PlayCrash...</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Anywhere in the game</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Audio.Instance.PlayFlap();</a:t>
            </a:r>
            <a:endParaRPr sz="1000">
              <a:solidFill>
                <a:srgbClr val="4EC9B0"/>
              </a:solidFill>
              <a:highlight>
                <a:srgbClr val="1F1F1F"/>
              </a:highlight>
              <a:latin typeface="Consolas"/>
              <a:ea typeface="Consolas"/>
              <a:cs typeface="Consolas"/>
              <a:sym typeface="Consolas"/>
            </a:endParaRP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335024"/>
          </a:xfrm>
        </p:spPr>
        <p:txBody>
          <a:bodyPr/>
          <a:lstStyle/>
          <a:p>
            <a:pPr indent="-330200" lvl="0" marL="457200" rtl="0" algn="l">
              <a:spcBef>
                <a:spcPts val="0"/>
              </a:spcBef>
              <a:spcAft>
                <a:spcPts val="0"/>
              </a:spcAft>
              <a:buSzPts val="1600"/>
              <a:buChar char="●"/>
            </a:pPr>
            <a:r>
              <a:rPr lang="en"/>
              <a:t>What problem does a state machine solve compared to a string or enum field?</a:t>
            </a:r>
            <a:endParaRPr/>
          </a:p>
          <a:p>
            <a:pPr indent="-330200" lvl="0" marL="457200" rtl="0" algn="l">
              <a:spcBef>
                <a:spcPts val="0"/>
              </a:spcBef>
              <a:spcAft>
                <a:spcPts val="0"/>
              </a:spcAft>
              <a:buSzPts val="1600"/>
              <a:buChar char="●"/>
            </a:pPr>
            <a:r>
              <a:rPr lang="en"/>
              <a:t>What happens if you forget to call Exit() when switching state?</a:t>
            </a:r>
            <a:endParaRPr/>
          </a:p>
          <a:p>
            <a:pPr indent="-330200" lvl="0" marL="457200" rtl="0" algn="l">
              <a:spcBef>
                <a:spcPts val="0"/>
              </a:spcBef>
              <a:spcAft>
                <a:spcPts val="0"/>
              </a:spcAft>
              <a:buSzPts val="1600"/>
              <a:buChar char="●"/>
            </a:pPr>
            <a:r>
              <a:rPr lang="en"/>
              <a:t>Why is Singleton considered an anti-pattern by many game programmers?</a:t>
            </a:r>
            <a:endParaRPr/>
          </a:p>
        </p:txBody>
      </p:sp>
      <p:sp>
        <p:nvSpPr>
          <p:cNvPr id="4" name="TextBox 3"/>
          <p:cNvSpPr txBox="1"/>
          <p:nvPr/>
        </p:nvSpPr>
        <p:spPr>
          <a:xfrm>
            <a:off x="457200" y="2798064"/>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Apply It to Your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code in your game could another game reuse?</a:t>
            </a:r>
            <a:endParaRPr/>
          </a:p>
          <a:p>
            <a:pPr indent="-317500" lvl="1" marL="914400" rtl="0" algn="l">
              <a:spcBef>
                <a:spcPts val="0"/>
              </a:spcBef>
              <a:spcAft>
                <a:spcPts val="0"/>
              </a:spcAft>
              <a:buSzPts val="1400"/>
              <a:buChar char="○"/>
            </a:pPr>
            <a:r>
              <a:rPr lang="en"/>
              <a:t>That belongs in a class library, like GARCore</a:t>
            </a:r>
            <a:endParaRPr/>
          </a:p>
          <a:p>
            <a:pPr indent="-330200" lvl="0" marL="457200" rtl="0" algn="l">
              <a:spcBef>
                <a:spcPts val="0"/>
              </a:spcBef>
              <a:spcAft>
                <a:spcPts val="0"/>
              </a:spcAft>
              <a:buSzPts val="1600"/>
              <a:buChar char="●"/>
            </a:pPr>
            <a:r>
              <a:rPr lang="en"/>
              <a:t>Which states does your game have? Draw them as a state diagram</a:t>
            </a:r>
            <a:endParaRPr/>
          </a:p>
          <a:p>
            <a:pPr indent="-330200" lvl="0" marL="457200" rtl="0" algn="l">
              <a:spcBef>
                <a:spcPts val="0"/>
              </a:spcBef>
              <a:spcAft>
                <a:spcPts val="0"/>
              </a:spcAft>
              <a:buSzPts val="1600"/>
              <a:buChar char="●"/>
            </a:pPr>
            <a:r>
              <a:rPr lang="en"/>
              <a:t>Is anything in your game global? Does it need to be?</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