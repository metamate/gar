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99" r:id="rId58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6"/>
    <p:sldId id="267" r:id="rId17"/>
    <p:sldId id="268" r:id="rId18"/>
    <p:sldId id="270" r:id="rId20"/>
    <p:sldId id="271" r:id="rId21"/>
    <p:sldId id="300" r:id="rId56"/>
    <p:sldId id="273" r:id="rId23"/>
    <p:sldId id="304" r:id="rId27"/>
    <p:sldId id="275" r:id="rId25"/>
    <p:sldId id="274" r:id="rId24"/>
    <p:sldId id="303" r:id="rId38"/>
    <p:sldId id="276" r:id="rId26"/>
    <p:sldId id="278" r:id="rId28"/>
    <p:sldId id="279" r:id="rId29"/>
    <p:sldId id="301" r:id="rId5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9" r:id="rId39"/>
    <p:sldId id="302" r:id="rId60"/>
    <p:sldId id="290" r:id="rId40"/>
    <p:sldId id="291" r:id="rId41"/>
    <p:sldId id="292" r:id="rId42"/>
    <p:sldId id="305" r:id="rId22"/>
    <p:sldId id="293" r:id="rId43"/>
    <p:sldId id="294" r:id="rId44"/>
    <p:sldId id="295" r:id="rId54"/>
    <p:sldId id="306" r:id="rId19"/>
    <p:sldId id="307" r:id="rId15"/>
    <p:sldId id="298" r:id="rId57"/>
    <p:sldId id="296" r:id="rId55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  <p:embeddedFont>
      <p:font typeface="VT323"/>
      <p:regular r:id="rId49"/>
    </p:embeddedFont>
    <p:embeddedFont>
      <p:font typeface="Roboto Light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46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45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39.xml"/><Relationship Id="rId23" Type="http://schemas.openxmlformats.org/officeDocument/2006/relationships/slide" Target="slides/slide17.xml"/><Relationship Id="rId24" Type="http://schemas.openxmlformats.org/officeDocument/2006/relationships/slide" Target="slides/slide20.xml"/><Relationship Id="rId25" Type="http://schemas.openxmlformats.org/officeDocument/2006/relationships/slide" Target="slides/slide19.xml"/><Relationship Id="rId26" Type="http://schemas.openxmlformats.org/officeDocument/2006/relationships/slide" Target="slides/slide22.xml"/><Relationship Id="rId27" Type="http://schemas.openxmlformats.org/officeDocument/2006/relationships/slide" Target="slides/slide18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21.xml"/><Relationship Id="rId39" Type="http://schemas.openxmlformats.org/officeDocument/2006/relationships/slide" Target="slides/slide34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font" Target="fonts/Roboto-regular.fntdata"/><Relationship Id="rId46" Type="http://schemas.openxmlformats.org/officeDocument/2006/relationships/font" Target="fonts/Roboto-bold.fntdata"/><Relationship Id="rId47" Type="http://schemas.openxmlformats.org/officeDocument/2006/relationships/font" Target="fonts/Roboto-italic.fntdata"/><Relationship Id="rId48" Type="http://schemas.openxmlformats.org/officeDocument/2006/relationships/font" Target="fonts/Roboto-boldItalic.fntdata"/><Relationship Id="rId49" Type="http://schemas.openxmlformats.org/officeDocument/2006/relationships/font" Target="fonts/VT323-regular.fntdata"/><Relationship Id="rId50" Type="http://schemas.openxmlformats.org/officeDocument/2006/relationships/font" Target="fonts/RobotoLight-regular.fntdata"/><Relationship Id="rId51" Type="http://schemas.openxmlformats.org/officeDocument/2006/relationships/font" Target="fonts/RobotoLight-bold.fntdata"/><Relationship Id="rId52" Type="http://schemas.openxmlformats.org/officeDocument/2006/relationships/font" Target="fonts/RobotoLight-italic.fntdata"/><Relationship Id="rId53" Type="http://schemas.openxmlformats.org/officeDocument/2006/relationships/font" Target="fonts/RobotoLight-boldItalic.fntdata"/><Relationship Id="rId54" Type="http://schemas.openxmlformats.org/officeDocument/2006/relationships/slide" Target="slides/slide42.xml"/><Relationship Id="rId55" Type="http://schemas.openxmlformats.org/officeDocument/2006/relationships/slide" Target="slides/slide44.xml"/><Relationship Id="rId56" Type="http://schemas.openxmlformats.org/officeDocument/2006/relationships/slide" Target="slides/slide16.xml"/><Relationship Id="rId57" Type="http://schemas.openxmlformats.org/officeDocument/2006/relationships/slide" Target="slides/slide43.xml"/><Relationship Id="rId58" Type="http://schemas.openxmlformats.org/officeDocument/2006/relationships/slide" Target="slides/slide2.xml"/><Relationship Id="rId59" Type="http://schemas.openxmlformats.org/officeDocument/2006/relationships/slide" Target="slides/slide25.xml"/><Relationship Id="rId60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we build Flappy Bird. The main topic: structuring the code.</a:t>
            </a:r>
          </a:p>
          <a:p>
            <a:r>
              <a:t>Start by playing the finished game, Flappy12, before any code.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83a2032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c83a2032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Run Flappy12 and play it for a minute.</a:t>
            </a:r>
          </a:p>
          <a:p>
            <a:r>
              <a:t>Ask: what would you need to build this? Collect answers on the board, and come back to them at the end.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3cde934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93cde934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Today’s main topic is structuring the code as the game grows. We move shared code into a class library, and the game’s modes into a state machine.</a:t>
            </a:r>
          </a:p>
          <a:p>
            <a:r>
              <a:t>Every topic has a section on the course site.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9c2e5de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c9c2e5de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Ask: what makes software architecture good? Collect answers, then land on the four on the slide.</a:t>
            </a:r>
          </a:p>
          <a:p>
            <a:r>
              <a:t>The one to remember: good architecture makes change cheap.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9c2e5de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9c2e5de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cycle of a change: understand the problem, learn the code, write the solution, clean up. Architecture shortens the “learn the code” step.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9c2e5de9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9c2e5de9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Coupling: how much parts depend on each other (want low). Cohesion: how much a part’s own code belongs together (want high).</a:t>
            </a:r>
          </a:p>
          <a:p>
            <a:r>
              <a:t>Ask: which picture would you rather change?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9c2e5de9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9c2e5de9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Named, reusable solutions to recurring design problems. A shared vocabulary: “make it a state machine” says a lot in four words.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83a2032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83a2032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gar-games/02-flappy-bird live. Show the README: the step table, the code map, how to run a step.</a:t>
            </a:r>
          </a:p>
          <a:p>
            <a:r>
              <a:t>Say: the site explains the ideas, the README helps you find them in the code, the slides are for today.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3da3f6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3da3f6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Pong copied everything into one project. Code every game needs (window, scaling, input) belongs in a library that every game references.</a:t>
            </a:r>
          </a:p>
          <a:p>
            <a:r>
              <a:t>GARCore is referenced by each game, and it grows through the course.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Who holds what in the finished Flappy Bird. Game1 hands Update and Draw to the state machine; the play state owns the bird and the pipes.</a:t>
            </a:r>
          </a:p>
          <a:p>
            <a:r>
              <a:t>Art and Audio are global, so no arrow leads to them. Ask: is that a strength of the diagram or a hole in it?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79d334e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79d334e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a repository from gar-starter, which comes with an empty GARCore library. They write a Core class in it that derives from Game and owns the window and screen scaling.</a:t>
            </a:r>
          </a:p>
          <a:p>
            <a:r>
              <a:t>Before they code, ask: where is the library connected to the game, and which way does the reference point? Answer: the ProjectReference in the game’s .csproj; the game knows the library, never the other way round. So nothing in Core may mention Flappy.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83da3f63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83da3f63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Game1 derives from Core. The window should look like the screenshot.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3da3f63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83da3f63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An image is just a Texture2D, like Pong’s white pixel, but loaded from a file.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Gravity and JumpForce are constants in Bird.</a:t>
            </a:r>
          </a:p>
          <a:p>
            <a:r>
              <a:t>With IsKeyDown the velocity is set every frame, so the bird rises steadily while the key is held. That is the cave flyer in the Going further exercise.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83a20325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83a20325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Things further away move slower. Two layers at two speeds are enough to feel depth.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79d334e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79d334e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Flappy0 and Flappy2 side by side, then run Flappy2.</a:t>
            </a:r>
          </a:p>
          <a:p>
            <a:r>
              <a:t>- Flappy1: the background and the ground, drawn</a:t>
            </a:r>
          </a:p>
          <a:p>
            <a:r>
              <a:t>- Flappy2: both scrolling, looping with %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class on the left reaches the same Audio object through Audio.Instance.</a:t>
            </a:r>
          </a:p>
          <a:p>
            <a:r>
              <a:t>Ask: which of these classes depend on Audio, judging by their constructors? Answer: you cannot tell, and that is the cost.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79d334e7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79d334e7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 the question before revealing the answer: how does the Bird get its texture? Let them argue for each box.</a:t>
            </a:r>
          </a:p>
          <a:p>
            <a:r>
              <a:t>We pick a static Art class: one place for every asset. Its cost: it’s global. We come back to that with Singleton.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79d334e7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79d334e7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Flappy3 and Flappy5 side by side, then run Flappy5.</a:t>
            </a:r>
          </a:p>
          <a:p>
            <a:r>
              <a:t>- Flappy4: velocity grows by gravity every frame, position follows velocity, both scaled by delta time</a:t>
            </a:r>
          </a:p>
          <a:p>
            <a:r>
              <a:t>- Flappy5: KeyboardInfo, MouseInfo and InputManager in GARCore; the flap in Bird.Update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79d334e7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79d334e7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Walk through the diagram: Core updates the InputManager every frame; games ask it for keys and the mouse.</a:t>
            </a:r>
          </a:p>
          <a:p>
            <a:r>
              <a:t>A flap sets the vertical velocity upwards. Remind them: y points down.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85d5bb07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85d5bb07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Content made by rules instead of by hand. Here: where each pipe gap goes. Walk through the figure’s quantities.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6 minutes. Count and Interval in CountdownState. The best score can live in ScoreState or PlayState: the state objects are made once and reused, so a field survives.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85d5bb07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85d5bb07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Pipes spawn off-screen on the right (the spawn zone) and are removed after they leave on the left (the dead zone). The player only ever sees the middle.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79d334e7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79d334e7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Flappy5 and Flappy7 side by side, then run Flappy7.</a:t>
            </a:r>
          </a:p>
          <a:p>
            <a:r>
              <a:t>- Flappy6: a pipe on a timer, at a random height</a:t>
            </a:r>
          </a:p>
          <a:p>
            <a:r>
              <a:t>- Flappy7: PipePair, the drifting gap, and removing pairs off-screen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85d5bb073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85d5bb073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Same AABB as Pong. Ask: how could collisions be more forgiving? Answer: a slightly smaller hitbox than the sprite.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79d334e7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79d334e7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stop on hitting a pipe, the ground or the ceiling.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85d5bb073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85d5bb073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Ask: how did Pong handle its modes? A string. Why is that fragile? Typos, and an if-chain in every method.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85d5bb073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85d5bb073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game’s states and what moves between them. Each state is a class with the same four methods.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85d5bb07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85d5bb07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life of a state: Enter once, Update and Draw every frame, Exit once. Enter resets, Exit cleans up.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3cde9348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3cde934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IState is the contract: every state has Enter, Exit, Update and Draw. The machine only knows the interface.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85d5bb073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85d5bb073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StateMachine: ChangeState calls Exit on the old state and Enter on the new one. Update and Draw go to the current state.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79d334e7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79d334e7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IState, a StateMachine, a title state and a play state.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The two constants at the top of Game1. Swapped, the ground seems further away than the hills: the eye reads slower as further.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85d5bb073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85d5bb073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open Flappy9 and Flappy11 side by side, then run Flappy11.</a:t>
            </a:r>
          </a:p>
          <a:p>
            <a:r>
              <a:t>- Flappy10: a point per pair; ScoreState reads the score through the state machine</a:t>
            </a:r>
          </a:p>
          <a:p>
            <a:r>
              <a:t>- Flappy11: CountdownState, 3, 2, 1, between the title or score and play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79d334e7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79d334e7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Exercise: music and three sounds, in an Audio class made a Singleton. Next: is that a good idea?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79d334e7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79d334e7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whole game works. Now the design question we skipped: global access.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9c670f0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9c670f0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Gang of Four’s definition: one instance, and global access to it.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bde5d7b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bde5d7b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classic implementation. Note: simple, but not thread safe; fine for our games.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bde5d7b5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bde5d7b5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Nystrom’s warning. Ask: why? Answer: global state, hidden dependencies, hard to replace in a test.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one question at a time. Pairs discuss for a minute, then take two or three answers.</a:t>
            </a:r>
          </a:p>
          <a:p>
            <a:r>
              <a:t>Expected answers (from the course site):</a:t>
            </a:r>
          </a:p>
          <a:p/>
          <a:p>
            <a:r>
              <a:t>Q: What problem does a state machine solve compared to a string or enum field?</a:t>
            </a:r>
          </a:p>
          <a:p>
            <a:r>
              <a:t>A: Each state's behaviour is in one place. You can add a state without editing the others, and Enter/Exit give reliable places for setup and cleanup.</a:t>
            </a:r>
          </a:p>
          <a:p/>
          <a:p>
            <a:r>
              <a:t>Q: What happens if you forget to call Exit() when switching state?</a:t>
            </a:r>
          </a:p>
          <a:p>
            <a:r>
              <a:t>A: Anything the old state set up is never cleaned up. Music keeps playing, event subscriptions stay alive and timers keep running.</a:t>
            </a:r>
          </a:p>
          <a:p/>
          <a:p>
            <a:r>
              <a:t>Q: Why is Singleton considered an anti-pattern by many game programmers?</a:t>
            </a:r>
          </a:p>
          <a:p>
            <a:r>
              <a:t>A: It is global state. It hides dependencies, couples code together and makes testing and reasoning harder, and games rarely need the guarantee of a single instance.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Art is a static class, Audio a Singleton. Both global; but Audio is an object, so it could implement an interface. Pokemon builds on that with a Service Locator.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PipeGap in PipePair, PipeSpawnInterval in Game1. The drift: the random step (-50 to 50) and the clamp in SpawnPipePair.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project groups five minutes with these questions.</a:t>
            </a:r>
          </a:p>
          <a:p>
            <a:r>
              <a:t>Ask two groups to share one answer each, and push them to name actual classes and files.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original: Flappy Bird. Ask who has played it, and what they remember of how it plays.</a:t>
            </a:r>
          </a:p>
          <a:p>
            <a:r>
              <a:t>Today we build the parts that matter for the architecture.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Gravity adds to the velocity every frame, so the bird falls faster and faster. A flap replaces the velocity, whatever it was.</a:t>
            </a:r>
          </a:p>
          <a:p>
            <a:r>
              <a:t>Ask: why set the velocity on a flap, and not add to it? Answer: the flap would be weaker the faster the bird falls.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session in one slide. Read each concern aloud and let the class give the answer before pointing at it.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4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13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etamate/gar-games/tree/main/02-flapp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4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rive.google.com/file/d/1b8eepQAJjS6b1H4EDx3q2EABqdkQRRVd/view?usp=drive_link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4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4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4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monogame.net/api/Microsoft.Xna.Framework.Graphics.SpriteBatch.html#Microsoft_Xna_Framework_Graphics_SpriteBatch_Draw_Microsoft_Xna_Framework_Graphics_Texture2D_Microsoft_Xna_Framework_Vector2_System_Nullable_Microsoft_Xna_Framework_Rectangle__Microsoft_Xna_Framework_Color_System_Single_Microsoft_Xna_Framework_Vector2_System_Single_Microsoft_Xna_Framework_Graphics_SpriteEffects_System_Single_" TargetMode="External"/><Relationship Id="rId4" Type="http://schemas.openxmlformats.org/officeDocument/2006/relationships/hyperlink" Target="https://docs.monogame.net/api/Microsoft.Xna.Framework.Graphics.SpriteEffects.html" TargetMode="External"/><Relationship Id="rId6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4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4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4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rive.google.com/file/d/1WL5c1jFGq4ZBwqACP-6nO2RcUN0IbpRo/view?usp=drive_link" TargetMode="External"/><Relationship Id="rId4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4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ocs.monogame.net/api/Microsoft.Xna.Framework.Media.Song.html" TargetMode="External"/><Relationship Id="rId4" Type="http://schemas.openxmlformats.org/officeDocument/2006/relationships/hyperlink" Target="https://drive.google.com/file/d/1LATV-G9rwlnMwBQPITGsNNlvMTCOqBBC/view?usp=drive_link" TargetMode="External"/><Relationship Id="rId5" Type="http://schemas.openxmlformats.org/officeDocument/2006/relationships/hyperlink" Target="https://docs.monogame.net/api/Microsoft.Xna.Framework.Media.MediaPlayer.html#Microsoft_Xna_Framework_Media_MediaPlayer_Play_Microsoft_Xna_Framework_Media_Song_" TargetMode="External"/><Relationship Id="rId6" Type="http://schemas.openxmlformats.org/officeDocument/2006/relationships/hyperlink" Target="https://drive.google.com/file/d/13LKIw67rIX9Z5MYAqap7e8mKEqPh_G3K/view?usp=drive_link" TargetMode="External"/><Relationship Id="rId7" Type="http://schemas.openxmlformats.org/officeDocument/2006/relationships/hyperlink" Target="https://drive.google.com/file/d/14qt-upC_R4WkZOJkcJO0jjS4uEn1FHP7/view?usp=drive_link" TargetMode="External"/><Relationship Id="rId8" Type="http://schemas.openxmlformats.org/officeDocument/2006/relationships/hyperlink" Target="https://drive.google.com/file/d/17E7FcUNSMfXg2UaeD0_J8FyO1ymePxQj/view?usp=drive_link" TargetMode="External"/><Relationship Id="rId9" Type="http://schemas.openxmlformats.org/officeDocument/2006/relationships/hyperlink" Target="https://drive.google.com/file/d/1xY-B4cc7hAFLAlnMgw55KSW3gZfdD_xL/view?usp=drive_link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02: Flappy Bird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5615"/>
            <a:ext cx="8520600" cy="572700"/>
          </a:xfrm>
        </p:spPr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Flappy Bird</a:t>
            </a:r>
            <a:endParaRPr/>
          </a:p>
        </p:txBody>
      </p:sp>
      <p:pic>
        <p:nvPicPr>
          <p:cNvPr id="3" name="Picture 2" descr="flappy-bi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034" y="960120"/>
            <a:ext cx="2063931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A3AB"/>
                </a:solidFill>
              </a:rPr>
              <a:t>Flappy Bird (dotGears, 2013). Screenshot © dotGears.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46" name="Picture 46" descr="flappy-bird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089" y="1322900"/>
            <a:ext cx="6011824" cy="33816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885950"/>
            <a:ext cx="8520600" cy="35935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Main topic: Structuring the code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 Architecture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Class Libraries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Images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Parallax Scrolling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Procedural Generation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State Machines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Interfaces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Singleton Pattern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Architecture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is good software architecture?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Decoupling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Performance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change-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457200"/>
            <a:ext cx="8503920" cy="3897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Coupling &amp; Cohesion</a:t>
            </a:r>
            <a:endParaRPr/>
          </a:p>
        </p:txBody>
      </p:sp>
      <p:pic>
        <p:nvPicPr>
          <p:cNvPr id="69" name="Picture 68" descr="coup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1051560"/>
            <a:ext cx="850392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EE2E6"/>
                </a:solidFill>
              </a:rPr>
              <a:t>Named, reusable solutions to recurring design problems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AA3AB"/>
                </a:solidFill>
              </a:rPr>
              <a:t>A shared vocabulary for talking about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885950"/>
            <a:ext cx="8520600" cy="12893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github.com/Metamate/gar-games, folder 02-flappy-bird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Its README: the steps (Flappy0 to Flappy12), where things are in the code, how to run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site: today’s concepts in full, the exercises, and questions to check yourself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Library</a:t>
            </a:r>
            <a:endParaRPr/>
          </a:p>
        </p:txBody>
      </p:sp>
      <p:pic>
        <p:nvPicPr>
          <p:cNvPr id="87" name="Picture 86" descr="class-libr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1051560"/>
            <a:ext cx="850392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Flappy -1: A Class Library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move what every game needs into a class library, GARCore.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Core class, derived from Game: the window, and the screen scaling from Pong.</a:t>
            </a:r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914400" y="21031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GARCore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Core : Game · window · scaling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303520" y="1737360"/>
            <a:ext cx="2926080" cy="6400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Flappy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03520" y="2560320"/>
            <a:ext cx="2926080" cy="6400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Snake, Sokoban, ...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3886200" y="2057400"/>
            <a:ext cx="1371600" cy="36576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70332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uses</a:t>
            </a:r>
          </a:p>
        </p:txBody>
      </p:sp>
      <p:cxnSp>
        <p:nvCxnSpPr>
          <p:cNvPr id="105" name="Connector 104"/>
          <p:cNvCxnSpPr/>
          <p:nvPr/>
        </p:nvCxnSpPr>
        <p:spPr>
          <a:xfrm flipH="1" flipV="1">
            <a:off x="3886200" y="2697480"/>
            <a:ext cx="1371600" cy="18288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Flappy 0: A Game on the Library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a new game, Flappy, whose Game1 derives from Core.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640 × 360 virtual resolution in a 1280 × 720 window.</a:t>
            </a:r>
            <a:endParaRPr/>
          </a:p>
        </p:txBody>
      </p:sp>
      <p:pic>
        <p:nvPicPr>
          <p:cNvPr id="106" name="Picture 105" descr="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148840"/>
            <a:ext cx="438912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Remember from Pong?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Just a Texture2D!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Parallax Scrolling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886968"/>
            <a:ext cx="85206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Layers that scroll at different speeds look as if they are at different distances</a:t>
            </a:r>
            <a:endParaRPr/>
          </a:p>
        </p:txBody>
      </p:sp>
      <p:pic>
        <p:nvPicPr>
          <p:cNvPr id="126" name="Picture 125" descr="parall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65836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Images &amp; Parallax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Demo: Flappy0 → Flappy2: the background and the ground, scrolling at 30 and 60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Each layer loops at its own point with %: background 412, ground 512</a:t>
            </a:r>
            <a:endParaRPr/>
          </a:p>
        </p:txBody>
      </p:sp>
      <p:pic>
        <p:nvPicPr>
          <p:cNvPr id="132" name="Picture 132" descr="Flappy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148840"/>
            <a:ext cx="438912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Speeds and Depth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Flappy2: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Ground at 120, background at 15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Then swap the two speeds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happens to the sense of depth?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Flappy 3: The Bird and the Art Class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From Flappy2: a Bird class with Update and Draw. But how does it get its texture?</a:t>
            </a:r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411480" y="14630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A static field in Game1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breaks encapsulation,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Game1 grows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514600" y="14630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Pass it in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tedious for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every new entity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617720" y="14630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A static ContentManager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everything can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load anything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720840" y="14630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A static Art class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one place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for every asset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EE2E6"/>
                </a:solidFill>
              </a:rPr>
              <a:t>Which would you pick? We go with Art, and move the background and ground into it too.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Gravity</a:t>
            </a:r>
            <a:endParaRPr/>
          </a:p>
        </p:txBody>
      </p:sp>
      <p:pic>
        <p:nvPicPr>
          <p:cNvPr id="3" name="Picture 2" descr="gra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81" y="1051560"/>
            <a:ext cx="8423237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An Input Manager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“just pressed” check from Pong moves into GARCore.</a:t>
            </a:r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3108960" y="1417320"/>
            <a:ext cx="2926080" cy="6400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InputManager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updated by Core, every frame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4400" y="256032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KeyboardInfo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IsKeyDown · WasKeyJustPressed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937760" y="256032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MouseInfo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Position · WasLeftButtonJustPressed</a:t>
            </a:r>
          </a:p>
        </p:txBody>
      </p:sp>
      <p:cxnSp>
        <p:nvCxnSpPr>
          <p:cNvPr id="159" name="Connector 158"/>
          <p:cNvCxnSpPr/>
          <p:nvPr/>
        </p:nvCxnSpPr>
        <p:spPr>
          <a:xfrm flipH="1">
            <a:off x="2926080" y="2075688"/>
            <a:ext cx="914400" cy="4663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303520" y="2075688"/>
            <a:ext cx="914400" cy="4663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3AB"/>
                </a:solidFill>
              </a:rPr>
              <a:t>A flap sets the vertical velocity to an upward jump force. Remember: y points down.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Gravity and Input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Demo: Flappy3 → Flappy5: the bird falls, and flaps on Space or a click</a:t>
            </a:r>
            <a:endParaRPr/>
          </a:p>
        </p:txBody>
      </p:sp>
      <p:pic>
        <p:nvPicPr>
          <p:cNvPr id="150" name="Picture 150" descr="Flappy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148840"/>
            <a:ext cx="438912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Tune the Flap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In Flappy5, in Bird: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Gravity 1500, and a jump force of 450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Flap on the Up key too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Swap WasKeyJustPressed for IsKeyDown. What does holding Space do now?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Procedural Generation</a:t>
            </a:r>
            <a:endParaRPr/>
          </a:p>
        </p:txBody>
      </p:sp>
      <p:pic>
        <p:nvPicPr>
          <p:cNvPr id="161" name="Picture 160" descr="pi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81" y="1051560"/>
            <a:ext cx="8423237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2" descr="flappy_z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325" y="332167"/>
            <a:ext cx="6101350" cy="44791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Procedural Generation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Demo: Flappy5 → Flappy7: pipes on a timer, then pairs with a drifting gap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PipePair wraps two pipes; pairs that leave the screen are removed.</a:t>
            </a:r>
            <a:endParaRPr/>
          </a:p>
        </p:txBody>
      </p:sp>
      <p:pic>
        <p:nvPicPr>
          <p:cNvPr id="179" name="Picture 179" descr="Flappy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2148840"/>
            <a:ext cx="438912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A Harder Gap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Flappy7: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80-pixel gap, and a pair every 1.5 seconds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Is it still fair?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numbers in SpawnPipePair make the drift gentler?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Collisions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can we do collision detection?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AABB, as in Pong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Flappy 8: Hitboxes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From Flappy7: the game stops when the bird hits a pipe, the ground or the ceiling.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Can you make the collisions a little more forgiving?</a:t>
            </a:r>
            <a:endParaRPr/>
          </a:p>
        </p:txBody>
      </p:sp>
      <p:pic>
        <p:nvPicPr>
          <p:cNvPr id="191" name="Picture 191" descr="Flappy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148840"/>
            <a:ext cx="438912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</a:t>
            </a:r>
            <a:endParaRPr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Do you remember how game state was handled in the Pong game?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 is this potentially “problematic”?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States of the Game</a:t>
            </a:r>
            <a:endParaRPr/>
          </a:p>
        </p:txBody>
      </p:sp>
      <p:pic>
        <p:nvPicPr>
          <p:cNvPr id="202" name="Picture 201" descr="st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1051560"/>
            <a:ext cx="850392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206" descr="life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457200"/>
            <a:ext cx="8503920" cy="30708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Interfaces</a:t>
            </a:r>
            <a:endParaRPr/>
          </a:p>
        </p:txBody>
      </p:sp>
      <p:sp>
        <p:nvSpPr>
          <p:cNvPr id="213" name="Google Shape;213;p38"/>
          <p:cNvSpPr txBox="1"/>
          <p:nvPr>
            <p:ph idx="2" type="body"/>
          </p:nvPr>
        </p:nvSpPr>
        <p:spPr>
          <a:xfrm>
            <a:off x="4832400" y="886075"/>
            <a:ext cx="3999900" cy="3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PlayState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IState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Enter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14" name="Google Shape;214;p38"/>
          <p:cNvSpPr txBox="1"/>
          <p:nvPr>
            <p:ph idx="2" type="body"/>
          </p:nvPr>
        </p:nvSpPr>
        <p:spPr>
          <a:xfrm>
            <a:off x="311700" y="886075"/>
            <a:ext cx="3999900" cy="17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IState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Enter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>
            <p:ph idx="2" type="body"/>
          </p:nvPr>
        </p:nvSpPr>
        <p:spPr>
          <a:xfrm>
            <a:off x="2231700" y="201900"/>
            <a:ext cx="4680600" cy="47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StateMachine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Game1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_currentState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TitleState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TitleState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 </a:t>
            </a:r>
            <a:r>
              <a:rPr lang="en" sz="8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TitleState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} </a:t>
            </a:r>
            <a:r>
              <a:rPr lang="en" sz="8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PlayState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ChangeState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_currentState</a:t>
            </a:r>
            <a:r>
              <a:rPr lang="en" sz="8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?.</a:t>
            </a:r>
            <a:r>
              <a:rPr lang="en" sz="8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_currentState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newState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_currentState</a:t>
            </a:r>
            <a:r>
              <a:rPr lang="en" sz="8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8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Enter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_currentState</a:t>
            </a:r>
            <a:r>
              <a:rPr lang="en" sz="8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?.</a:t>
            </a:r>
            <a:r>
              <a:rPr lang="en" sz="8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gameTime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_currentState</a:t>
            </a:r>
            <a:r>
              <a:rPr lang="en" sz="8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?.</a:t>
            </a:r>
            <a:r>
              <a:rPr lang="en" sz="8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8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8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500">
              <a:solidFill>
                <a:srgbClr val="569CD6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Flappy 9: A State Machine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Goal: an IState interface, a state machine, a title state and a play state.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Most of Game1’s gameplay code moves into the play state.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goes in Enter, and why not in the constructor?</a:t>
            </a:r>
            <a:endParaRPr/>
          </a:p>
        </p:txBody>
      </p:sp>
      <p:pic>
        <p:nvPicPr>
          <p:cNvPr id="226" name="Picture 226" descr="flappy9_ti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148840"/>
            <a:ext cx="438912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Score and Countdown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Demo: Flappy9 → Flappy11: a score state that reads the score, and a countdown from 3</a:t>
            </a:r>
            <a:endParaRPr/>
          </a:p>
        </p:txBody>
      </p:sp>
      <p:pic>
        <p:nvPicPr>
          <p:cNvPr id="238" name="Picture 238" descr="Flappy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148840"/>
            <a:ext cx="438912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Countdown and Best Score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Flappy11: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the countdown at 5, and tick every 0.3 seconds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Show a best score on the score screen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does it live, so it survives the next game?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Flappy 12: Audio as a Singleton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43" name="Google Shape;243;p43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From Flappy11: music, and sounds for flap, hurt and score.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an Audio class, made a Singleton: Audio.Instance.PlayFlap()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classes use Audio? Do their constructors show it?</a:t>
            </a:r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1828800" y="2103120"/>
            <a:ext cx="5486400" cy="10058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Song + MediaPlayer.Play: the music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SoundEffect: flap, hurt (+ explosion), score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Made it (Again)!</a:t>
            </a:r>
            <a:endParaRPr/>
          </a:p>
        </p:txBody>
      </p:sp>
      <p:sp>
        <p:nvSpPr>
          <p:cNvPr id="249" name="Google Shape;249;p4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Congratulations! You now have your very own working Flappy Bird Game made with MonoGame.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“Ensure that only one instance of the singleton class ever exists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i="1" lang="en"/>
              <a:t> provide global access to that instance.”</a:t>
            </a:r>
            <a:endParaRPr i="1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-"/>
            </a:pPr>
            <a:r>
              <a:rPr i="1" lang="en">
                <a:solidFill>
                  <a:schemeClr val="lt1"/>
                </a:solidFill>
              </a:rPr>
              <a:t>Gang of Four, Design Patterns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256" name="Google Shape;256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Pattern: Problem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Instance, Reached From Anywhere</a:t>
            </a:r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051560"/>
            <a:ext cx="850392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Pattern: Solution</a:t>
            </a:r>
            <a:endParaRPr/>
          </a:p>
        </p:txBody>
      </p:sp>
      <p:sp>
        <p:nvSpPr>
          <p:cNvPr id="264" name="Google Shape;264;p46"/>
          <p:cNvSpPr txBox="1"/>
          <p:nvPr>
            <p:ph idx="2" type="body"/>
          </p:nvPr>
        </p:nvSpPr>
        <p:spPr>
          <a:xfrm>
            <a:off x="4433925" y="1353675"/>
            <a:ext cx="3999900" cy="30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Singleton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Singleton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_instance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Singleton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Instance</a:t>
            </a:r>
            <a:endParaRPr sz="1000">
              <a:solidFill>
                <a:srgbClr val="9CDCFE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endParaRPr sz="1000">
              <a:solidFill>
                <a:srgbClr val="569CD6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_instance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??=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Singleton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_instance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“Friends don’t let friends create singletons”</a:t>
            </a:r>
            <a:endParaRPr i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i="1" lang="en" sz="1400">
                <a:solidFill>
                  <a:schemeClr val="lt1"/>
                </a:solidFill>
              </a:rPr>
              <a:t>Robert Nystrom, “Game Programming Patterns”</a:t>
            </a:r>
            <a:endParaRPr i="1" sz="14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Pattern: Usage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3" name="Google Shape;263;p4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in Flappy Bird</a:t>
            </a:r>
            <a:endParaRPr/>
          </a:p>
        </p:txBody>
      </p:sp>
      <p:sp>
        <p:nvSpPr>
          <p:cNvPr id="243" name="Google Shape;243;p43"/>
          <p:cNvSpPr txBox="1"/>
          <p:nvPr>
            <p:ph idx="1" type="body"/>
          </p:nvPr>
        </p:nvSpPr>
        <p:spPr>
          <a:xfrm>
            <a:off x="311700" y="1152475"/>
            <a:ext cx="3900000" cy="34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Audio is a Singleton: one object, reached through Audio.Instance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Art is a static class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Both give global access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But Audio is an object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could implement an interface or be passed as a parameter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Pokemon builds on this with a Service Locator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Step: Flappy12</a:t>
            </a:r>
            <a:endParaRPr/>
          </a:p>
        </p:txBody>
      </p:sp>
      <p:sp>
        <p:nvSpPr>
          <p:cNvPr id="264" name="Google Shape;264;p46"/>
          <p:cNvSpPr txBox="1"/>
          <p:nvPr>
            <p:ph idx="2" type="body"/>
          </p:nvPr>
        </p:nvSpPr>
        <p:spPr>
          <a:xfrm>
            <a:off x="4500000" y="1152475"/>
            <a:ext cx="440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 class Audio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static Audio Instance { get; }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= new Audio();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private Audio() { }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void PlayFlap() =&gt; _flap.Play();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// PlayMusic, PlayScore, PlayCrash...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Anywhere in the game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Audio.Instance.PlayFlap();</a:t>
            </a:r>
            <a:endParaRPr sz="1000">
              <a:solidFill>
                <a:srgbClr val="4EC9B0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Yourself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33502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problem does a state machine solve compared to a string or enum field?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happens if you forget to call Exit() when switching state?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Why is Singleton considered an anti-pattern by many game programmers?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980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answers, and more questions, are on the course site.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It to Your Project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code in your game could another game reuse?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belongs in a class library, like GARCore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states does your game have? Draw them as a state diagram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Is anything in your game global? Does it need to be?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Whole Game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521208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Flappy12 adds music and sounds. The play state owns the bird and the pipes.</a:t>
            </a: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29000" y="1481328"/>
            <a:ext cx="2286000" cy="56692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Game1 : Core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scrolls the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246376"/>
            <a:ext cx="2286000" cy="56692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StateMachine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the current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" y="3011424"/>
            <a:ext cx="1591056" cy="56692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TitleState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170432" y="2831592"/>
            <a:ext cx="3401568" cy="1615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75688" y="3011424"/>
            <a:ext cx="1591056" cy="56692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CountdownState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871216" y="2831592"/>
            <a:ext cx="1700784" cy="1615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79392" y="3011424"/>
            <a:ext cx="2286000" cy="56692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PlayState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76472" y="3776472"/>
            <a:ext cx="1591056" cy="56692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Bird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572000" y="3596640"/>
            <a:ext cx="850392" cy="1615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77256" y="3776472"/>
            <a:ext cx="1591056" cy="56692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PipePair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two pipes each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22392" y="3596640"/>
            <a:ext cx="850392" cy="1615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2831592"/>
            <a:ext cx="850392" cy="1615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78040" y="3011424"/>
            <a:ext cx="1591056" cy="566928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ScoreState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2831592"/>
            <a:ext cx="3401568" cy="1615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2066544"/>
            <a:ext cx="0" cy="1615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3AB"/>
                </a:solidFill>
              </a:rPr>
              <a:t>Art and Audio are not in the tree. Any class reaches them.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521208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Six concerns, and this session’s answer to each.</a:t>
            </a: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How cheap a change is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Low coupling, high cohesion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173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Code every game needs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class library, GARCore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173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Which screen the game is on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state machine of IState objects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Levels nobody drew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Procedural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4688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Depth on a flat screen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Parallax scrolling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4688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Reaching the audio from anywhere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Singleton, and what it costs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