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9" r:id="rId58"/>
    <p:sldId id="257" r:id="rId7"/>
    <p:sldId id="258" r:id="rId8"/>
    <p:sldId id="259" r:id="rId9"/>
    <p:sldId id="260" r:id="rId10"/>
    <p:sldId id="261" r:id="rId11"/>
    <p:sldId id="262" r:id="rId12"/>
    <p:sldId id="263" r:id="rId13"/>
    <p:sldId id="264" r:id="rId14"/>
    <p:sldId id="265" r:id="rId15"/>
    <p:sldId id="266" r:id="rId16"/>
    <p:sldId id="267" r:id="rId17"/>
    <p:sldId id="268" r:id="rId18"/>
    <p:sldId id="270" r:id="rId20"/>
    <p:sldId id="271" r:id="rId21"/>
    <p:sldId id="300" r:id="rId56"/>
    <p:sldId id="272" r:id="rId22"/>
    <p:sldId id="273" r:id="rId23"/>
    <p:sldId id="274" r:id="rId24"/>
    <p:sldId id="275" r:id="rId25"/>
    <p:sldId id="276" r:id="rId26"/>
    <p:sldId id="278" r:id="rId28"/>
    <p:sldId id="279" r:id="rId29"/>
    <p:sldId id="301" r:id="rId59"/>
    <p:sldId id="280" r:id="rId30"/>
    <p:sldId id="281" r:id="rId31"/>
    <p:sldId id="282" r:id="rId32"/>
    <p:sldId id="283" r:id="rId33"/>
    <p:sldId id="284" r:id="rId34"/>
    <p:sldId id="285" r:id="rId35"/>
    <p:sldId id="286" r:id="rId36"/>
    <p:sldId id="287" r:id="rId37"/>
    <p:sldId id="289" r:id="rId39"/>
    <p:sldId id="302" r:id="rId60"/>
    <p:sldId id="290" r:id="rId40"/>
    <p:sldId id="291" r:id="rId41"/>
    <p:sldId id="292" r:id="rId42"/>
    <p:sldId id="293" r:id="rId43"/>
    <p:sldId id="294" r:id="rId44"/>
    <p:sldId id="295" r:id="rId54"/>
    <p:sldId id="298" r:id="rId57"/>
    <p:sldId id="296" r:id="rId55"/>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1.xml"/><Relationship Id="rId55" Type="http://schemas.openxmlformats.org/officeDocument/2006/relationships/slide" Target="slides/slide43.xml"/><Relationship Id="rId56" Type="http://schemas.openxmlformats.org/officeDocument/2006/relationships/slide" Target="slides/slide17.xml"/><Relationship Id="rId57" Type="http://schemas.openxmlformats.org/officeDocument/2006/relationships/slide" Target="slides/slide42.xml"/><Relationship Id="rId58" Type="http://schemas.openxmlformats.org/officeDocument/2006/relationships/slide" Target="slides/slide2.xml"/><Relationship Id="rId59" Type="http://schemas.openxmlformats.org/officeDocument/2006/relationships/slide" Target="slides/slide25.xml"/><Relationship Id="rId60"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gar-games/02-flappy-bird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GARCore,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repository from gar-starter, which comes with an empty GARCore library. They write a Core class in it that derives from Game and owns the window and screen scaling.</a:t>
            </a:r>
          </a:p>
          <a:p>
            <a:r>
              <a:t>Before they code, ask: where is the library connected to the game, and which way does the reference point? Answer: the ProjectReference in the game’s .csproj; the game knows the library, never the other way round. So nothing in Core may mention Flappy.</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Flappy0 and Flappy2 side by side, then run Flappy2.</a:t>
            </a:r>
          </a:p>
          <a:p>
            <a:r>
              <a:t>- Flappy1: the background and the ground, drawn</a:t>
            </a:r>
          </a:p>
          <a:p>
            <a:r>
              <a:t>- Flappy2: both scrolling, looping with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6 minutes. Count and Interval in CountdownState. The best score can live in ScoreState or PlayState: the state objects are made once and reused, so a field survives.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Flappy5 and Flappy7 side by side, then run Flappy7.</a:t>
            </a:r>
          </a:p>
          <a:p>
            <a:r>
              <a:t>- Flappy6: a pipe on a timer, at a random height</a:t>
            </a:r>
          </a:p>
          <a:p>
            <a:r>
              <a:t>- Flappy7: PipePair, the drifting gap, and removing pairs off-screen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two constants at the top of Game1. Swapped, the ground seems further away than the hills: the eye reads slower as further.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Flappy9 and Flappy11 side by side, then run Flappy11.</a:t>
            </a:r>
          </a:p>
          <a:p>
            <a:r>
              <a:t>- Flappy10: a point per pair; ScoreState reads the score through the state machine</a:t>
            </a:r>
          </a:p>
          <a:p>
            <a:r>
              <a:t>- Flappy11: CountdownState, 3, 2, 1, between the title or score and play</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It hides dependencies, couples code together and makes testing and reasoning harder, and games rarely need the "exactly one instance" guarantee.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PipeGap in PipePair, PipeSpawnInterval in Game1. The drift: the random step (-50 to 50) and the clamp in SpawnPipePair.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Flappy Bird. Ask who has played it, and what they remember of how it plays.</a:t>
            </a:r>
          </a:p>
          <a:p>
            <a:r>
              <a:t>Today we build the parts that matter for the architecture, not the whole game.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Flappy Bird</a:t>
            </a:r>
            <a:endParaRPr/>
          </a:p>
        </p:txBody>
      </p:sp>
      <p:pic>
        <p:nvPicPr>
          <p:cNvPr id="3" name="Picture 2" descr="flappy-bird.png"/>
          <p:cNvPicPr>
            <a:picLocks noChangeAspect="1"/>
          </p:cNvPicPr>
          <p:nvPr/>
        </p:nvPicPr>
        <p:blipFill>
          <a:blip r:embed="rId2"/>
          <a:stretch>
            <a:fillRect/>
          </a:stretch>
        </p:blipFill>
        <p:spPr>
          <a:xfrm>
            <a:off x="3540034" y="960120"/>
            <a:ext cx="2063931"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Flappy Bird (dotGears, 2013). Screenshot © dotGears.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359359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Organizing a growing game</a:t>
            </a:r>
            <a:endParaRPr/>
          </a:p>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02-flappy-bird</a:t>
            </a:r>
            <a:endParaRPr/>
          </a:p>
          <a:p>
            <a:pPr indent="-330200" lvl="0" marL="457200" rtl="0" algn="l">
              <a:spcBef>
                <a:spcPts val="0"/>
              </a:spcBef>
              <a:spcAft>
                <a:spcPts val="0"/>
              </a:spcAft>
              <a:buSzPts val="1600"/>
              <a:buChar char="●"/>
            </a:pPr>
            <a:r>
              <a:rPr lang="en"/>
              <a:t>Its README: the steps (Flappy0 to Flappy12),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GARCore.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GARCore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Pong?</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Images &amp; Parallax Implementation</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Flappy0 → Flappy2: the background and the ground, scrolling at 30 and 60</a:t>
            </a:r>
            <a:endParaRPr/>
          </a:p>
          <a:p>
            <a:pPr indent="-330200" lvl="0" marL="457200" rtl="0" algn="l">
              <a:spcBef>
                <a:spcPts val="0"/>
              </a:spcBef>
              <a:spcAft>
                <a:spcPts val="0"/>
              </a:spcAft>
              <a:buSzPts val="1600"/>
              <a:buChar char="●"/>
            </a:pPr>
            <a:r>
              <a:rPr lang="en"/>
              <a:t>Each layer loops at its own point with %: background 413, ground 512</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Speeds and Depth</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Flappy2:</a:t>
            </a:r>
            <a:endParaRPr/>
          </a:p>
          <a:p>
            <a:pPr indent="-330200" lvl="0" marL="457200" rtl="0" algn="l">
              <a:spcBef>
                <a:spcPts val="0"/>
              </a:spcBef>
              <a:spcAft>
                <a:spcPts val="0"/>
              </a:spcAft>
              <a:buSzPts val="1600"/>
              <a:buChar char="●"/>
            </a:pPr>
            <a:r>
              <a:rPr lang="en"/>
              <a:t>Ground at 120, background at 15</a:t>
            </a:r>
            <a:endParaRPr/>
          </a:p>
          <a:p>
            <a:pPr indent="-330200" lvl="0" marL="457200" rtl="0" algn="l">
              <a:spcBef>
                <a:spcPts val="0"/>
              </a:spcBef>
              <a:spcAft>
                <a:spcPts val="0"/>
              </a:spcAft>
              <a:buSzPts val="1600"/>
              <a:buChar char="●"/>
            </a:pPr>
            <a:r>
              <a:rPr lang="en"/>
              <a:t>Then swap the two speeds</a:t>
            </a:r>
            <a:endParaRPr/>
          </a:p>
          <a:p>
            <a:pPr indent="-330200" lvl="0" marL="457200" rtl="0" algn="l">
              <a:spcBef>
                <a:spcPts val="0"/>
              </a:spcBef>
              <a:spcAft>
                <a:spcPts val="0"/>
              </a:spcAft>
              <a:buSzPts val="1600"/>
              <a:buChar char="●"/>
            </a:pPr>
            <a:r>
              <a:rPr lang="en"/>
              <a:t>What happens to the sense of depth?</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Flappy2: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GARCore.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Procedural Generation Implementation</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Flappy5 → Flappy7: pipes on a timer, then pairs with a drifting gap</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Harder Gap</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Flappy7:</a:t>
            </a:r>
            <a:endParaRPr/>
          </a:p>
          <a:p>
            <a:pPr indent="-330200" lvl="0" marL="457200" rtl="0" algn="l">
              <a:spcBef>
                <a:spcPts val="0"/>
              </a:spcBef>
              <a:spcAft>
                <a:spcPts val="0"/>
              </a:spcAft>
              <a:buSzPts val="1600"/>
              <a:buChar char="●"/>
            </a:pPr>
            <a:r>
              <a:rPr lang="en"/>
              <a:t>A 60-pixel gap, and a pair every 1.5 seconds</a:t>
            </a:r>
            <a:endParaRPr/>
          </a:p>
          <a:p>
            <a:pPr indent="-330200" lvl="0" marL="457200" rtl="0" algn="l">
              <a:spcBef>
                <a:spcPts val="0"/>
              </a:spcBef>
              <a:spcAft>
                <a:spcPts val="0"/>
              </a:spcAft>
              <a:buSzPts val="1600"/>
              <a:buChar char="●"/>
            </a:pPr>
            <a:r>
              <a:rPr lang="en"/>
              <a:t>Is it still fair?</a:t>
            </a:r>
            <a:endParaRPr/>
          </a:p>
          <a:p>
            <a:pPr indent="-330200" lvl="0" marL="457200" rtl="0" algn="l">
              <a:spcBef>
                <a:spcPts val="0"/>
              </a:spcBef>
              <a:spcAft>
                <a:spcPts val="0"/>
              </a:spcAft>
              <a:buSzPts val="1600"/>
              <a:buChar char="●"/>
            </a:pPr>
            <a:r>
              <a:rPr lang="en"/>
              <a:t>Which numbers in SpawnPipePair make the drift gentler?</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as in Pong</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Flappy7: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Score and Countdown Implementation</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Demo: Flappy9 → Flappy11: a score state that reads the score, and a countdown from 3</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Countdown and Best Score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Flappy11:</a:t>
            </a:r>
            <a:endParaRPr/>
          </a:p>
          <a:p>
            <a:pPr indent="-330200" lvl="0" marL="457200" rtl="0" algn="l">
              <a:spcBef>
                <a:spcPts val="0"/>
              </a:spcBef>
              <a:spcAft>
                <a:spcPts val="0"/>
              </a:spcAft>
              <a:buSzPts val="1600"/>
              <a:buChar char="●"/>
            </a:pPr>
            <a:r>
              <a:rPr lang="en"/>
              <a:t>Start the countdown at 5, and tick every 0.3 seconds</a:t>
            </a:r>
            <a:endParaRPr/>
          </a:p>
          <a:p>
            <a:pPr indent="-330200" lvl="0" marL="457200" rtl="0" algn="l">
              <a:spcBef>
                <a:spcPts val="0"/>
              </a:spcBef>
              <a:spcAft>
                <a:spcPts val="0"/>
              </a:spcAft>
              <a:buSzPts val="1600"/>
              <a:buChar char="●"/>
            </a:pPr>
            <a:r>
              <a:rPr lang="en"/>
              <a:t>Show a best score on the score screen</a:t>
            </a:r>
            <a:endParaRPr/>
          </a:p>
          <a:p>
            <a:pPr indent="-330200" lvl="0" marL="457200" rtl="0" algn="l">
              <a:spcBef>
                <a:spcPts val="0"/>
              </a:spcBef>
              <a:spcAft>
                <a:spcPts val="0"/>
              </a:spcAft>
              <a:buSzPts val="1600"/>
              <a:buChar char="●"/>
            </a:pPr>
            <a:r>
              <a:rPr lang="en"/>
              <a:t>Where does it live, so it survives the next game?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From Flappy11: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GARCore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