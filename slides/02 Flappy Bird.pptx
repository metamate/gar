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Simple example, but not thread safe</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md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Google Shape;46;p10" title="flappy.gif"/>
          <p:cNvPicPr preferRelativeResize="0"/>
          <p:nvPr/>
        </p:nvPicPr>
        <p:blipFill>
          <a:blip r:embed="rId3">
            <a:alphaModFix/>
          </a:blip>
          <a:stretch>
            <a:fillRect/>
          </a:stretch>
        </p:blipFill>
        <p:spPr>
          <a:xfrm>
            <a:off x="1548302" y="1322900"/>
            <a:ext cx="6047399" cy="33816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https://github.com/Metamate/gmd2-flappy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Class Library</a:t>
            </a:r>
            <a:endParaRPr>
              <a:solidFill>
                <a:schemeClr val="accent5"/>
              </a:solidFill>
            </a:endParaRPr>
          </a:p>
        </p:txBody>
      </p:sp>
      <p:sp>
        <p:nvSpPr>
          <p:cNvPr id="99" name="Google Shape;99;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MonoGame Game Library project “GMDCore”</a:t>
            </a:r>
            <a:endParaRPr/>
          </a:p>
          <a:p>
            <a:pPr indent="-310832" lvl="1" marL="914400" rtl="0" algn="l">
              <a:spcBef>
                <a:spcPts val="0"/>
              </a:spcBef>
              <a:spcAft>
                <a:spcPts val="0"/>
              </a:spcAft>
              <a:buSzPct val="100000"/>
              <a:buChar char="○"/>
            </a:pPr>
            <a:r>
              <a:rPr lang="en"/>
              <a:t>This will be a common core of functionality that we can add to as we create more games</a:t>
            </a:r>
            <a:endParaRPr/>
          </a:p>
          <a:p>
            <a:pPr indent="-310832" lvl="1" marL="914400" rtl="0" algn="l">
              <a:spcBef>
                <a:spcPts val="0"/>
              </a:spcBef>
              <a:spcAft>
                <a:spcPts val="0"/>
              </a:spcAft>
              <a:buSzPct val="100000"/>
              <a:buChar char="○"/>
            </a:pPr>
            <a:r>
              <a:rPr lang="en"/>
              <a:t>It is simply a class library with MonoGame installed as a dependency</a:t>
            </a:r>
            <a:endParaRPr/>
          </a:p>
          <a:p>
            <a:pPr indent="-322580" lvl="0" marL="457200" rtl="0" algn="l">
              <a:spcBef>
                <a:spcPts val="0"/>
              </a:spcBef>
              <a:spcAft>
                <a:spcPts val="0"/>
              </a:spcAft>
              <a:buSzPct val="100000"/>
              <a:buChar char="●"/>
            </a:pPr>
            <a:r>
              <a:rPr lang="en"/>
              <a:t>Create a Core class which derives from the Game class</a:t>
            </a:r>
            <a:endParaRPr/>
          </a:p>
          <a:p>
            <a:pPr indent="-322580" lvl="0" marL="457200" rtl="0" algn="l">
              <a:spcBef>
                <a:spcPts val="0"/>
              </a:spcBef>
              <a:spcAft>
                <a:spcPts val="0"/>
              </a:spcAft>
              <a:buSzPct val="100000"/>
              <a:buChar char="●"/>
            </a:pPr>
            <a:r>
              <a:rPr lang="en"/>
              <a:t>Add the UpdateScreenScaleMatrix() method from last week to the Core class</a:t>
            </a:r>
            <a:endParaRPr/>
          </a:p>
          <a:p>
            <a:pPr indent="-310832" lvl="1" marL="914400" rtl="0" algn="l">
              <a:spcBef>
                <a:spcPts val="0"/>
              </a:spcBef>
              <a:spcAft>
                <a:spcPts val="0"/>
              </a:spcAft>
              <a:buSzPct val="100000"/>
              <a:buChar char="○"/>
            </a:pPr>
            <a:r>
              <a:rPr lang="en"/>
              <a:t>You will need to declare a Matrix field (consider the visibility), as well as fields to store the virtual width and virtual height (they are no longer constants)</a:t>
            </a:r>
            <a:endParaRPr/>
          </a:p>
          <a:p>
            <a:pPr indent="-310832" lvl="1" marL="914400" rtl="0" algn="l">
              <a:spcBef>
                <a:spcPts val="0"/>
              </a:spcBef>
              <a:spcAft>
                <a:spcPts val="0"/>
              </a:spcAft>
              <a:buSzPct val="100000"/>
              <a:buChar char="○"/>
            </a:pPr>
            <a:r>
              <a:rPr lang="en"/>
              <a:t>Subscribe the method to the Window.ClientSizeChanged event (like last week)</a:t>
            </a:r>
            <a:endParaRPr/>
          </a:p>
          <a:p>
            <a:pPr indent="-310832" lvl="1" marL="914400" rtl="0" algn="l">
              <a:spcBef>
                <a:spcPts val="0"/>
              </a:spcBef>
              <a:spcAft>
                <a:spcPts val="0"/>
              </a:spcAft>
              <a:buSzPct val="100000"/>
              <a:buChar char="○"/>
            </a:pPr>
            <a:r>
              <a:rPr lang="en"/>
              <a:t>Call UpdateScreenScaleMatrix as the game is initialized (like last week)</a:t>
            </a:r>
            <a:endParaRPr/>
          </a:p>
          <a:p>
            <a:pPr indent="-322580" lvl="0" marL="457200" rtl="0" algn="l">
              <a:spcBef>
                <a:spcPts val="0"/>
              </a:spcBef>
              <a:spcAft>
                <a:spcPts val="0"/>
              </a:spcAft>
              <a:buSzPct val="100000"/>
              <a:buChar char="●"/>
            </a:pPr>
            <a:r>
              <a:rPr lang="en"/>
              <a:t>Add a constructor to the Core class</a:t>
            </a:r>
            <a:endParaRPr/>
          </a:p>
          <a:p>
            <a:pPr indent="-310832" lvl="1" marL="914400" rtl="0" algn="l">
              <a:spcBef>
                <a:spcPts val="0"/>
              </a:spcBef>
              <a:spcAft>
                <a:spcPts val="0"/>
              </a:spcAft>
              <a:buSzPct val="100000"/>
              <a:buChar char="○"/>
            </a:pPr>
            <a:r>
              <a:rPr lang="en"/>
              <a:t>It must take these arguments</a:t>
            </a:r>
            <a:endParaRPr/>
          </a:p>
          <a:p>
            <a:pPr indent="-299085" lvl="2" marL="1371600" rtl="0" algn="l">
              <a:spcBef>
                <a:spcPts val="0"/>
              </a:spcBef>
              <a:spcAft>
                <a:spcPts val="0"/>
              </a:spcAft>
              <a:buSzPct val="100000"/>
              <a:buChar char="■"/>
            </a:pPr>
            <a:r>
              <a:rPr lang="en"/>
              <a:t>string title, </a:t>
            </a:r>
            <a:r>
              <a:rPr lang="en"/>
              <a:t>int windowWidth, int windowHeight, </a:t>
            </a:r>
            <a:r>
              <a:rPr lang="en"/>
              <a:t>int virtualWidth, int virtualHeight</a:t>
            </a:r>
            <a:endParaRPr/>
          </a:p>
          <a:p>
            <a:pPr indent="-310832" lvl="1" marL="914400" rtl="0" algn="l">
              <a:spcBef>
                <a:spcPts val="0"/>
              </a:spcBef>
              <a:spcAft>
                <a:spcPts val="0"/>
              </a:spcAft>
              <a:buSzPct val="100000"/>
              <a:buChar char="○"/>
            </a:pPr>
            <a:r>
              <a:rPr lang="en"/>
              <a:t>In the constructor, use the provided arguments</a:t>
            </a:r>
            <a:endParaRPr/>
          </a:p>
          <a:p>
            <a:pPr indent="-299085" lvl="2" marL="1371600" rtl="0" algn="l">
              <a:spcBef>
                <a:spcPts val="0"/>
              </a:spcBef>
              <a:spcAft>
                <a:spcPts val="0"/>
              </a:spcAft>
              <a:buSzPct val="100000"/>
              <a:buChar char="■"/>
            </a:pPr>
            <a:r>
              <a:rPr lang="en"/>
              <a:t>Assign values to virtual width and virtual height fields</a:t>
            </a:r>
            <a:endParaRPr/>
          </a:p>
          <a:p>
            <a:pPr indent="-299085" lvl="2" marL="1371600" rtl="0" algn="l">
              <a:spcBef>
                <a:spcPts val="0"/>
              </a:spcBef>
              <a:spcAft>
                <a:spcPts val="0"/>
              </a:spcAft>
              <a:buSzPct val="100000"/>
              <a:buChar char="■"/>
            </a:pPr>
            <a:r>
              <a:rPr lang="en"/>
              <a:t>Set the Window.Title property and PreferredBackBufferWidth/Height of the GraphicsDeviceManager</a:t>
            </a:r>
            <a:endParaRPr/>
          </a:p>
          <a:p>
            <a:pPr indent="-322580" lvl="0" marL="457200" rtl="0" algn="l">
              <a:spcBef>
                <a:spcPts val="0"/>
              </a:spcBef>
              <a:spcAft>
                <a:spcPts val="0"/>
              </a:spcAft>
              <a:buSzPct val="100000"/>
              <a:buChar char="●"/>
            </a:pPr>
            <a:r>
              <a:rPr lang="en"/>
              <a:t>Make the GraphicsDeviceManager and SpriteBatch visible in derived classes</a:t>
            </a:r>
            <a:endParaRPr/>
          </a:p>
          <a:p>
            <a:pPr indent="-310832" lvl="1" marL="914400" rtl="0" algn="l">
              <a:spcBef>
                <a:spcPts val="0"/>
              </a:spcBef>
              <a:spcAft>
                <a:spcPts val="0"/>
              </a:spcAft>
              <a:buSzPct val="100000"/>
              <a:buChar char="○"/>
            </a:pPr>
            <a:r>
              <a:rPr lang="en"/>
              <a:t>Consider naming conventions when changing visibility of a field</a:t>
            </a:r>
            <a:endParaRPr/>
          </a:p>
          <a:p>
            <a:pPr indent="-322580" lvl="0" marL="457200" rtl="0" algn="l">
              <a:spcBef>
                <a:spcPts val="0"/>
              </a:spcBef>
              <a:spcAft>
                <a:spcPts val="0"/>
              </a:spcAft>
              <a:buSzPct val="100000"/>
              <a:buChar char="●"/>
            </a:pPr>
            <a:r>
              <a:rPr lang="en"/>
              <a:t>Move the SpriteBatch initialization to the start of the Initialize() method</a:t>
            </a:r>
            <a:endParaRPr/>
          </a:p>
          <a:p>
            <a:pPr indent="-322580" lvl="0" marL="457200" rtl="0" algn="l">
              <a:spcBef>
                <a:spcPts val="0"/>
              </a:spcBef>
              <a:spcAft>
                <a:spcPts val="0"/>
              </a:spcAft>
              <a:buSzPct val="100000"/>
              <a:buChar char="●"/>
            </a:pPr>
            <a:r>
              <a:rPr lang="en"/>
              <a:t>Remove the call to GraphicsDevice.Clear() in the Draw method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Consuming the Class Library</a:t>
            </a:r>
            <a:endParaRPr>
              <a:solidFill>
                <a:schemeClr val="accent5"/>
              </a:solidFill>
            </a:endParaRPr>
          </a:p>
        </p:txBody>
      </p:sp>
      <p:sp>
        <p:nvSpPr>
          <p:cNvPr id="105" name="Google Shape;105;p2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Create a new MonoGame project “Flappy”</a:t>
            </a:r>
            <a:endParaRPr/>
          </a:p>
          <a:p>
            <a:pPr indent="-317500" lvl="1" marL="914400" rtl="0" algn="l">
              <a:spcBef>
                <a:spcPts val="0"/>
              </a:spcBef>
              <a:spcAft>
                <a:spcPts val="0"/>
              </a:spcAft>
              <a:buSzPts val="1400"/>
              <a:buChar char="○"/>
            </a:pPr>
            <a:r>
              <a:rPr lang="en"/>
              <a:t>Start from the gar-starter template on GitHub</a:t>
            </a:r>
            <a:endParaRPr/>
          </a:p>
          <a:p>
            <a:pPr indent="-330200" lvl="0" marL="457200" rtl="0" algn="l">
              <a:spcBef>
                <a:spcPts val="0"/>
              </a:spcBef>
              <a:spcAft>
                <a:spcPts val="0"/>
              </a:spcAft>
              <a:buSzPts val="1600"/>
              <a:buChar char="●"/>
            </a:pPr>
            <a:r>
              <a:rPr lang="en"/>
              <a:t>Add a reference to the GMDCore class library</a:t>
            </a:r>
            <a:endParaRPr/>
          </a:p>
          <a:p>
            <a:pPr indent="-317500" lvl="1" marL="914400" rtl="0" algn="l">
              <a:spcBef>
                <a:spcPts val="0"/>
              </a:spcBef>
              <a:spcAft>
                <a:spcPts val="0"/>
              </a:spcAft>
              <a:buSzPts val="1400"/>
              <a:buChar char="○"/>
            </a:pPr>
            <a:r>
              <a:rPr lang="en"/>
              <a:t>Derive your Game1 class from the Core class in the class library</a:t>
            </a:r>
            <a:endParaRPr/>
          </a:p>
          <a:p>
            <a:pPr indent="-317500" lvl="1" marL="914400" rtl="0" algn="l">
              <a:spcBef>
                <a:spcPts val="0"/>
              </a:spcBef>
              <a:spcAft>
                <a:spcPts val="0"/>
              </a:spcAft>
              <a:buSzPts val="1400"/>
              <a:buChar char="○"/>
            </a:pPr>
            <a:r>
              <a:rPr lang="en"/>
              <a:t>Take advantage of the Core class constructor to create a window with…</a:t>
            </a:r>
            <a:endParaRPr/>
          </a:p>
          <a:p>
            <a:pPr indent="-304800" lvl="2" marL="1371600" rtl="0" algn="l">
              <a:spcBef>
                <a:spcPts val="0"/>
              </a:spcBef>
              <a:spcAft>
                <a:spcPts val="0"/>
              </a:spcAft>
              <a:buSzPts val="1200"/>
              <a:buChar char="■"/>
            </a:pPr>
            <a:r>
              <a:rPr lang="en"/>
              <a:t>512x288 virtual resolution</a:t>
            </a:r>
            <a:endParaRPr/>
          </a:p>
          <a:p>
            <a:pPr indent="-304800" lvl="2" marL="1371600" rtl="0" algn="l">
              <a:spcBef>
                <a:spcPts val="0"/>
              </a:spcBef>
              <a:spcAft>
                <a:spcPts val="0"/>
              </a:spcAft>
              <a:buSzPts val="1200"/>
              <a:buChar char="■"/>
            </a:pPr>
            <a:r>
              <a:rPr lang="en"/>
              <a:t>1280x720 window resolution</a:t>
            </a:r>
            <a:endParaRPr/>
          </a:p>
          <a:p>
            <a:pPr indent="-317500" lvl="1" marL="914400" rtl="0" algn="l">
              <a:spcBef>
                <a:spcPts val="0"/>
              </a:spcBef>
              <a:spcAft>
                <a:spcPts val="0"/>
              </a:spcAft>
              <a:buSzPts val="1400"/>
              <a:buChar char="○"/>
            </a:pPr>
            <a:r>
              <a:rPr lang="en"/>
              <a:t>The implementation of your Game1 constructor should be empty for now</a:t>
            </a:r>
            <a:endParaRPr/>
          </a:p>
          <a:p>
            <a:pPr indent="-330200" lvl="0" marL="457200" rtl="0" algn="l">
              <a:spcBef>
                <a:spcPts val="0"/>
              </a:spcBef>
              <a:spcAft>
                <a:spcPts val="0"/>
              </a:spcAft>
              <a:buSzPts val="1600"/>
              <a:buChar char="●"/>
            </a:pPr>
            <a:r>
              <a:rPr lang="en"/>
              <a:t>Remove the GraphicsDevice &amp; SpriteBatch fields from the Game1 class</a:t>
            </a:r>
            <a:endParaRPr/>
          </a:p>
          <a:p>
            <a:pPr indent="-317500" lvl="1" marL="914400" rtl="0" algn="l">
              <a:spcBef>
                <a:spcPts val="0"/>
              </a:spcBef>
              <a:spcAft>
                <a:spcPts val="0"/>
              </a:spcAft>
              <a:buSzPts val="1400"/>
              <a:buChar char="○"/>
            </a:pPr>
            <a:r>
              <a:rPr lang="en"/>
              <a:t>We are now using the base Core class counterparts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Background</a:t>
            </a:r>
            <a:endParaRPr>
              <a:solidFill>
                <a:schemeClr val="accent5"/>
              </a:solidFill>
            </a:endParaRPr>
          </a:p>
        </p:txBody>
      </p:sp>
      <p:sp>
        <p:nvSpPr>
          <p:cNvPr id="117" name="Google Shape;117;p2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background image</a:t>
            </a:r>
            <a:r>
              <a:rPr lang="en"/>
              <a:t> and a </a:t>
            </a:r>
            <a:r>
              <a:rPr lang="en" u="sng">
                <a:solidFill>
                  <a:schemeClr val="hlink"/>
                </a:solidFill>
                <a:hlinkClick r:id="rId4"/>
              </a:rPr>
              <a:t>ground image</a:t>
            </a:r>
            <a:r>
              <a:rPr lang="en"/>
              <a:t> to the empty screen</a:t>
            </a:r>
            <a:endParaRPr/>
          </a:p>
          <a:p>
            <a:pPr indent="-317500" lvl="1" marL="914400" rtl="0" algn="l">
              <a:spcBef>
                <a:spcPts val="0"/>
              </a:spcBef>
              <a:spcAft>
                <a:spcPts val="0"/>
              </a:spcAft>
              <a:buSzPts val="1400"/>
              <a:buChar char="○"/>
            </a:pPr>
            <a:r>
              <a:rPr lang="en"/>
              <a:t>Store the two images in an “images” folder inside your Assets folder</a:t>
            </a:r>
            <a:endParaRPr/>
          </a:p>
          <a:p>
            <a:pPr indent="-317500" lvl="1" marL="914400" rtl="0" algn="l">
              <a:spcBef>
                <a:spcPts val="0"/>
              </a:spcBef>
              <a:spcAft>
                <a:spcPts val="0"/>
              </a:spcAft>
              <a:buSzPts val="1400"/>
              <a:buChar char="○"/>
            </a:pPr>
            <a:r>
              <a:rPr lang="en"/>
              <a:t>Remember to call ContentManager.Load inside LoadContent()</a:t>
            </a:r>
            <a:endParaRPr/>
          </a:p>
        </p:txBody>
      </p:sp>
      <p:pic>
        <p:nvPicPr>
          <p:cNvPr id="118" name="Google Shape;118;p22"/>
          <p:cNvPicPr preferRelativeResize="0"/>
          <p:nvPr/>
        </p:nvPicPr>
        <p:blipFill>
          <a:blip r:embed="rId5">
            <a:alphaModFix/>
          </a:blip>
          <a:stretch>
            <a:fillRect/>
          </a:stretch>
        </p:blipFill>
        <p:spPr>
          <a:xfrm>
            <a:off x="2193389" y="1910050"/>
            <a:ext cx="4757226" cy="28417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a:t>
            </a:r>
            <a:endParaRPr>
              <a:solidFill>
                <a:schemeClr val="accent5"/>
              </a:solidFill>
            </a:endParaRPr>
          </a:p>
        </p:txBody>
      </p:sp>
      <p:sp>
        <p:nvSpPr>
          <p:cNvPr id="131" name="Google Shape;131;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Implement an infinitely scrolling background using the two provided images</a:t>
            </a:r>
            <a:endParaRPr/>
          </a:p>
          <a:p>
            <a:pPr indent="-317500" lvl="1" marL="914400" rtl="0" algn="l">
              <a:spcBef>
                <a:spcPts val="0"/>
              </a:spcBef>
              <a:spcAft>
                <a:spcPts val="0"/>
              </a:spcAft>
              <a:buSzPts val="1400"/>
              <a:buChar char="○"/>
            </a:pPr>
            <a:r>
              <a:rPr lang="en"/>
              <a:t>The background must move slower than the ground in order to create the desired parallax effect</a:t>
            </a:r>
            <a:endParaRPr/>
          </a:p>
          <a:p>
            <a:pPr indent="-317500" lvl="1" marL="914400" rtl="0" algn="l">
              <a:spcBef>
                <a:spcPts val="0"/>
              </a:spcBef>
              <a:spcAft>
                <a:spcPts val="0"/>
              </a:spcAft>
              <a:buSzPts val="1400"/>
              <a:buChar char="○"/>
            </a:pPr>
            <a:r>
              <a:rPr lang="en"/>
              <a:t>You will need t</a:t>
            </a:r>
            <a:r>
              <a:rPr lang="en"/>
              <a:t>w</a:t>
            </a:r>
            <a:r>
              <a:rPr lang="en"/>
              <a:t>o new </a:t>
            </a:r>
            <a:r>
              <a:rPr lang="en"/>
              <a:t>constants to control the scroll speed as well as two new fields to keep track of the position of each element</a:t>
            </a:r>
            <a:endParaRPr/>
          </a:p>
          <a:p>
            <a:pPr indent="-317500" lvl="1" marL="914400" rtl="0" algn="l">
              <a:spcBef>
                <a:spcPts val="0"/>
              </a:spcBef>
              <a:spcAft>
                <a:spcPts val="0"/>
              </a:spcAft>
              <a:buSzPts val="1400"/>
              <a:buChar char="○"/>
            </a:pPr>
            <a:r>
              <a:rPr lang="en"/>
              <a:t>For the graphics provided to you, the “looping points” are</a:t>
            </a:r>
            <a:endParaRPr/>
          </a:p>
          <a:p>
            <a:pPr indent="-304800" lvl="2" marL="1371600" rtl="0" algn="l">
              <a:spcBef>
                <a:spcPts val="0"/>
              </a:spcBef>
              <a:spcAft>
                <a:spcPts val="0"/>
              </a:spcAft>
              <a:buSzPts val="1200"/>
              <a:buChar char="■"/>
            </a:pPr>
            <a:r>
              <a:rPr lang="en"/>
              <a:t>Background: 413</a:t>
            </a:r>
            <a:endParaRPr/>
          </a:p>
          <a:p>
            <a:pPr indent="-304800" lvl="2" marL="1371600" rtl="0" algn="l">
              <a:spcBef>
                <a:spcPts val="0"/>
              </a:spcBef>
              <a:spcAft>
                <a:spcPts val="0"/>
              </a:spcAft>
              <a:buSzPts val="1200"/>
              <a:buChar char="■"/>
            </a:pPr>
            <a:r>
              <a:rPr lang="en"/>
              <a:t>Ground: 512 (virtual width)</a:t>
            </a:r>
            <a:endParaRPr/>
          </a:p>
          <a:p>
            <a:pPr indent="-317500" lvl="1" marL="914400" rtl="0" algn="l">
              <a:spcBef>
                <a:spcPts val="0"/>
              </a:spcBef>
              <a:spcAft>
                <a:spcPts val="0"/>
              </a:spcAft>
              <a:buSzPts val="1400"/>
              <a:buChar char="○"/>
            </a:pPr>
            <a:r>
              <a:rPr lang="en"/>
              <a:t>The % operator might come in handy here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Bird &amp; Assets</a:t>
            </a:r>
            <a:endParaRPr>
              <a:solidFill>
                <a:schemeClr val="accent5"/>
              </a:solidFill>
            </a:endParaRPr>
          </a:p>
        </p:txBody>
      </p:sp>
      <p:sp>
        <p:nvSpPr>
          <p:cNvPr id="143" name="Google Shape;143;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bird</a:t>
            </a:r>
            <a:r>
              <a:rPr lang="en"/>
              <a:t> to the screen</a:t>
            </a:r>
            <a:endParaRPr/>
          </a:p>
          <a:p>
            <a:pPr indent="-317500" lvl="1" marL="914400" rtl="0" algn="l">
              <a:spcBef>
                <a:spcPts val="0"/>
              </a:spcBef>
              <a:spcAft>
                <a:spcPts val="0"/>
              </a:spcAft>
              <a:buSzPts val="1400"/>
              <a:buChar char="○"/>
            </a:pPr>
            <a:r>
              <a:rPr lang="en"/>
              <a:t>Create a Bird class to encapsulate the relevant data (for now Position)</a:t>
            </a:r>
            <a:endParaRPr/>
          </a:p>
          <a:p>
            <a:pPr indent="-317500" lvl="1" marL="914400" rtl="0" algn="l">
              <a:spcBef>
                <a:spcPts val="0"/>
              </a:spcBef>
              <a:spcAft>
                <a:spcPts val="0"/>
              </a:spcAft>
              <a:buSzPts val="1400"/>
              <a:buChar char="○"/>
            </a:pPr>
            <a:r>
              <a:rPr lang="en"/>
              <a:t>Remember to add relevant methods (Update and Draw)</a:t>
            </a:r>
            <a:endParaRPr/>
          </a:p>
          <a:p>
            <a:pPr indent="-330200" lvl="0" marL="457200" rtl="0" algn="l">
              <a:spcBef>
                <a:spcPts val="0"/>
              </a:spcBef>
              <a:spcAft>
                <a:spcPts val="0"/>
              </a:spcAft>
              <a:buSzPts val="1600"/>
              <a:buChar char="●"/>
            </a:pPr>
            <a:r>
              <a:rPr lang="en"/>
              <a:t>How do we get a reference to the Bird image in the bird class? Multiple approaches…</a:t>
            </a:r>
            <a:endParaRPr/>
          </a:p>
          <a:p>
            <a:pPr indent="-317500" lvl="1" marL="914400" rtl="0" algn="l">
              <a:spcBef>
                <a:spcPts val="0"/>
              </a:spcBef>
              <a:spcAft>
                <a:spcPts val="0"/>
              </a:spcAft>
              <a:buSzPts val="1400"/>
              <a:buChar char="○"/>
            </a:pPr>
            <a:r>
              <a:rPr lang="en"/>
              <a:t>Make the texture available as a public static field in the Game1 class (like last week)</a:t>
            </a:r>
            <a:endParaRPr/>
          </a:p>
          <a:p>
            <a:pPr indent="-304800" lvl="2" marL="1371600" rtl="0" algn="l">
              <a:spcBef>
                <a:spcPts val="0"/>
              </a:spcBef>
              <a:spcAft>
                <a:spcPts val="0"/>
              </a:spcAft>
              <a:buSzPts val="1200"/>
              <a:buChar char="■"/>
            </a:pPr>
            <a:r>
              <a:rPr lang="en"/>
              <a:t>This breaks encapsulation and bloats the Game1 class…</a:t>
            </a:r>
            <a:endParaRPr/>
          </a:p>
          <a:p>
            <a:pPr indent="-317500" lvl="1" marL="914400" rtl="0" algn="l">
              <a:spcBef>
                <a:spcPts val="0"/>
              </a:spcBef>
              <a:spcAft>
                <a:spcPts val="0"/>
              </a:spcAft>
              <a:buSzPts val="1400"/>
              <a:buChar char="○"/>
            </a:pPr>
            <a:r>
              <a:rPr lang="en"/>
              <a:t>I</a:t>
            </a:r>
            <a:r>
              <a:rPr lang="en"/>
              <a:t>nject the Texture2D or ContentManager into the bird upon initialization</a:t>
            </a:r>
            <a:endParaRPr/>
          </a:p>
          <a:p>
            <a:pPr indent="-304800" lvl="2" marL="1371600" rtl="0" algn="l">
              <a:spcBef>
                <a:spcPts val="0"/>
              </a:spcBef>
              <a:spcAft>
                <a:spcPts val="0"/>
              </a:spcAft>
              <a:buSzPts val="1200"/>
              <a:buChar char="■"/>
            </a:pPr>
            <a:r>
              <a:rPr lang="en"/>
              <a:t>This is a bit tedious to have to do for every instantiation of an entity</a:t>
            </a:r>
            <a:endParaRPr/>
          </a:p>
          <a:p>
            <a:pPr indent="-317500" lvl="1" marL="914400" rtl="0" algn="l">
              <a:spcBef>
                <a:spcPts val="0"/>
              </a:spcBef>
              <a:spcAft>
                <a:spcPts val="0"/>
              </a:spcAft>
              <a:buSzPts val="1400"/>
              <a:buChar char="○"/>
            </a:pPr>
            <a:r>
              <a:rPr lang="en"/>
              <a:t>Make the ContentManager available across our game files</a:t>
            </a:r>
            <a:endParaRPr/>
          </a:p>
          <a:p>
            <a:pPr indent="-304800" lvl="2" marL="1371600" rtl="0" algn="l">
              <a:spcBef>
                <a:spcPts val="0"/>
              </a:spcBef>
              <a:spcAft>
                <a:spcPts val="0"/>
              </a:spcAft>
              <a:buSzPts val="1200"/>
              <a:buChar char="■"/>
            </a:pPr>
            <a:r>
              <a:rPr lang="en"/>
              <a:t>marking it as a static field in the Core library</a:t>
            </a:r>
            <a:endParaRPr/>
          </a:p>
          <a:p>
            <a:pPr indent="-317500" lvl="1" marL="914400" rtl="0" algn="l">
              <a:spcBef>
                <a:spcPts val="0"/>
              </a:spcBef>
              <a:spcAft>
                <a:spcPts val="0"/>
              </a:spcAft>
              <a:buClr>
                <a:schemeClr val="accent1"/>
              </a:buClr>
              <a:buSzPts val="1400"/>
              <a:buChar char="○"/>
            </a:pPr>
            <a:r>
              <a:rPr lang="en">
                <a:solidFill>
                  <a:schemeClr val="accent1"/>
                </a:solidFill>
              </a:rPr>
              <a:t>Create a separate, static Art class that holds references to all assets</a:t>
            </a:r>
            <a:endParaRPr>
              <a:solidFill>
                <a:schemeClr val="accent1"/>
              </a:solidFill>
            </a:endParaRPr>
          </a:p>
          <a:p>
            <a:pPr indent="-304800" lvl="2" marL="1371600" rtl="0" algn="l">
              <a:spcBef>
                <a:spcPts val="0"/>
              </a:spcBef>
              <a:spcAft>
                <a:spcPts val="0"/>
              </a:spcAft>
              <a:buClr>
                <a:schemeClr val="accent1"/>
              </a:buClr>
              <a:buSzPts val="1200"/>
              <a:buChar char="■"/>
            </a:pPr>
            <a:r>
              <a:rPr lang="en">
                <a:solidFill>
                  <a:schemeClr val="accent1"/>
                </a:solidFill>
              </a:rPr>
              <a:t>This class would then be passed the ContentManager in its constructor</a:t>
            </a:r>
            <a:endParaRPr/>
          </a:p>
          <a:p>
            <a:pPr indent="-330200" lvl="0" marL="457200" rtl="0" algn="l">
              <a:spcBef>
                <a:spcPts val="0"/>
              </a:spcBef>
              <a:spcAft>
                <a:spcPts val="0"/>
              </a:spcAft>
              <a:buSzPts val="1600"/>
              <a:buChar char="●"/>
            </a:pPr>
            <a:r>
              <a:rPr lang="en"/>
              <a:t>Refactor your existing asset references (background and ground) to use the Art class</a:t>
            </a:r>
            <a:endParaRPr/>
          </a:p>
          <a:p>
            <a:pPr indent="-330200" lvl="0" marL="457200" rtl="0" algn="l">
              <a:spcBef>
                <a:spcPts val="0"/>
              </a:spcBef>
              <a:spcAft>
                <a:spcPts val="0"/>
              </a:spcAft>
              <a:buSzPts val="1600"/>
              <a:buChar char="●"/>
            </a:pPr>
            <a:r>
              <a:rPr lang="en"/>
              <a:t>Initialize the Bird in the Game1 Initialize method with a default position of 100,100</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gravity to make the bird fall</a:t>
            </a:r>
            <a:endParaRPr/>
          </a:p>
          <a:p>
            <a:pPr indent="-317500" lvl="1" marL="914400" rtl="0" algn="l">
              <a:spcBef>
                <a:spcPts val="0"/>
              </a:spcBef>
              <a:spcAft>
                <a:spcPts val="0"/>
              </a:spcAft>
              <a:buSzPts val="1400"/>
              <a:buChar char="○"/>
            </a:pPr>
            <a:r>
              <a:rPr lang="en"/>
              <a:t>You will need to introduce two new fields</a:t>
            </a:r>
            <a:endParaRPr/>
          </a:p>
          <a:p>
            <a:pPr indent="-304800" lvl="2" marL="1371600" rtl="0" algn="l">
              <a:spcBef>
                <a:spcPts val="0"/>
              </a:spcBef>
              <a:spcAft>
                <a:spcPts val="0"/>
              </a:spcAft>
              <a:buSzPts val="1200"/>
              <a:buChar char="■"/>
            </a:pPr>
            <a:r>
              <a:rPr lang="en"/>
              <a:t>One constant for gravity (pick a fitting value) and another to keep track of the velocity of the bird</a:t>
            </a:r>
            <a:endParaRPr/>
          </a:p>
          <a:p>
            <a:pPr indent="-304800" lvl="2" marL="1371600" rtl="0" algn="l">
              <a:spcBef>
                <a:spcPts val="0"/>
              </a:spcBef>
              <a:spcAft>
                <a:spcPts val="0"/>
              </a:spcAft>
              <a:buSzPts val="1200"/>
              <a:buChar char="■"/>
            </a:pPr>
            <a:r>
              <a:rPr lang="en"/>
              <a:t>Remember to normalize both the update in position and velocity by using deltatime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Flap</a:t>
            </a:r>
            <a:endParaRPr>
              <a:solidFill>
                <a:schemeClr val="accent5"/>
              </a:solidFill>
            </a:endParaRPr>
          </a:p>
        </p:txBody>
      </p:sp>
      <p:sp>
        <p:nvSpPr>
          <p:cNvPr id="155" name="Google Shape;155;p2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Recall from last week how to emulate a key being pressed down this frame? Add that functionality to the GMDCore library!</a:t>
            </a:r>
            <a:endParaRPr/>
          </a:p>
          <a:p>
            <a:pPr indent="-317500" lvl="1" marL="914400" rtl="0" algn="l">
              <a:spcBef>
                <a:spcPts val="0"/>
              </a:spcBef>
              <a:spcAft>
                <a:spcPts val="0"/>
              </a:spcAft>
              <a:buSzPts val="1400"/>
              <a:buChar char="○"/>
            </a:pPr>
            <a:r>
              <a:rPr lang="en"/>
              <a:t>Create a new folder “Input” in GMDCore</a:t>
            </a:r>
            <a:endParaRPr/>
          </a:p>
          <a:p>
            <a:pPr indent="-304800" lvl="2" marL="1371600" rtl="0" algn="l">
              <a:spcBef>
                <a:spcPts val="0"/>
              </a:spcBef>
              <a:spcAft>
                <a:spcPts val="0"/>
              </a:spcAft>
              <a:buSzPts val="1200"/>
              <a:buChar char="■"/>
            </a:pPr>
            <a:r>
              <a:rPr lang="en"/>
              <a:t>Add a class “KeyboardInfo” to the folder containing</a:t>
            </a:r>
            <a:endParaRPr/>
          </a:p>
          <a:p>
            <a:pPr indent="-304800" lvl="3" marL="1828800" rtl="0" algn="l">
              <a:spcBef>
                <a:spcPts val="0"/>
              </a:spcBef>
              <a:spcAft>
                <a:spcPts val="0"/>
              </a:spcAft>
              <a:buSzPts val="1200"/>
              <a:buChar char="●"/>
            </a:pPr>
            <a:r>
              <a:rPr lang="en"/>
              <a:t>A way to keep track of previous and current keyboardstate</a:t>
            </a:r>
            <a:endParaRPr/>
          </a:p>
          <a:p>
            <a:pPr indent="-304800" lvl="4" marL="2286000" rtl="0" algn="l">
              <a:spcBef>
                <a:spcPts val="0"/>
              </a:spcBef>
              <a:spcAft>
                <a:spcPts val="0"/>
              </a:spcAft>
              <a:buSzPts val="1200"/>
              <a:buChar char="○"/>
            </a:pPr>
            <a:r>
              <a:rPr lang="en"/>
              <a:t>Create a custom Update method to update them each frame</a:t>
            </a:r>
            <a:endParaRPr/>
          </a:p>
          <a:p>
            <a:pPr indent="-304800" lvl="3" marL="1828800" rtl="0" algn="l">
              <a:spcBef>
                <a:spcPts val="0"/>
              </a:spcBef>
              <a:spcAft>
                <a:spcPts val="0"/>
              </a:spcAft>
              <a:buSzPts val="1200"/>
              <a:buChar char="●"/>
            </a:pPr>
            <a:r>
              <a:rPr lang="en"/>
              <a:t>Methods for checking IsKeyUp, IsKeyDown, WasKeyJustPressed, WasKeyJustReleased</a:t>
            </a:r>
            <a:endParaRPr/>
          </a:p>
          <a:p>
            <a:pPr indent="-304800" lvl="2" marL="1371600" rtl="0" algn="l">
              <a:spcBef>
                <a:spcPts val="0"/>
              </a:spcBef>
              <a:spcAft>
                <a:spcPts val="0"/>
              </a:spcAft>
              <a:buSzPts val="1200"/>
              <a:buChar char="■"/>
            </a:pPr>
            <a:r>
              <a:rPr lang="en"/>
              <a:t>Add another class “InputManager” in the same folder containing</a:t>
            </a:r>
            <a:endParaRPr/>
          </a:p>
          <a:p>
            <a:pPr indent="-304800" lvl="3" marL="1828800" rtl="0" algn="l">
              <a:spcBef>
                <a:spcPts val="0"/>
              </a:spcBef>
              <a:spcAft>
                <a:spcPts val="0"/>
              </a:spcAft>
              <a:buSzPts val="1200"/>
              <a:buChar char="●"/>
            </a:pPr>
            <a:r>
              <a:rPr lang="en"/>
              <a:t>A reference to a KeyBoardInfo instance</a:t>
            </a:r>
            <a:endParaRPr/>
          </a:p>
          <a:p>
            <a:pPr indent="-304800" lvl="3" marL="1828800" rtl="0" algn="l">
              <a:spcBef>
                <a:spcPts val="0"/>
              </a:spcBef>
              <a:spcAft>
                <a:spcPts val="0"/>
              </a:spcAft>
              <a:buSzPts val="1200"/>
              <a:buChar char="●"/>
            </a:pPr>
            <a:r>
              <a:rPr lang="en"/>
              <a:t>An update method that calls the update method of the KeyBoardInfo class</a:t>
            </a:r>
            <a:endParaRPr/>
          </a:p>
          <a:p>
            <a:pPr indent="-304800" lvl="2" marL="1371600" rtl="0" algn="l">
              <a:spcBef>
                <a:spcPts val="0"/>
              </a:spcBef>
              <a:spcAft>
                <a:spcPts val="0"/>
              </a:spcAft>
              <a:buSzPts val="1200"/>
              <a:buChar char="■"/>
            </a:pPr>
            <a:r>
              <a:rPr lang="en"/>
              <a:t>Add the InputManager as static property to the Core class</a:t>
            </a:r>
            <a:endParaRPr/>
          </a:p>
          <a:p>
            <a:pPr indent="-304800" lvl="2" marL="1371600" rtl="0" algn="l">
              <a:spcBef>
                <a:spcPts val="0"/>
              </a:spcBef>
              <a:spcAft>
                <a:spcPts val="0"/>
              </a:spcAft>
              <a:buSzPts val="1200"/>
              <a:buChar char="■"/>
            </a:pPr>
            <a:r>
              <a:rPr lang="en"/>
              <a:t>Remember to call Update on the InputManager in the Update method of Core</a:t>
            </a:r>
            <a:endParaRPr/>
          </a:p>
          <a:p>
            <a:pPr indent="-330200" lvl="0" marL="457200" rtl="0" algn="l">
              <a:spcBef>
                <a:spcPts val="0"/>
              </a:spcBef>
              <a:spcAft>
                <a:spcPts val="0"/>
              </a:spcAft>
              <a:buSzPts val="1600"/>
              <a:buChar char="●"/>
            </a:pPr>
            <a:r>
              <a:rPr lang="en"/>
              <a:t>Make the bird flap with WasKeyJustPressed(Keys.Space)) to counteract the gravity</a:t>
            </a:r>
            <a:endParaRPr/>
          </a:p>
          <a:p>
            <a:pPr indent="-317500" lvl="1" marL="914400" rtl="0" algn="l">
              <a:spcBef>
                <a:spcPts val="0"/>
              </a:spcBef>
              <a:spcAft>
                <a:spcPts val="0"/>
              </a:spcAft>
              <a:buSzPts val="1400"/>
              <a:buChar char="○"/>
            </a:pPr>
            <a:r>
              <a:rPr lang="en"/>
              <a:t>Remember, the 2D coordinate system has its origin in the top center…</a:t>
            </a:r>
            <a:endParaRPr/>
          </a:p>
          <a:p>
            <a:pPr indent="-317500" lvl="1" marL="914400" rtl="0" algn="l">
              <a:spcBef>
                <a:spcPts val="0"/>
              </a:spcBef>
              <a:spcAft>
                <a:spcPts val="0"/>
              </a:spcAft>
              <a:buSzPts val="1400"/>
              <a:buChar char="○"/>
            </a:pPr>
            <a:r>
              <a:rPr lang="en"/>
              <a:t>Overwriting the vertical velocity with a “jumpforce” value is a good way to instantly give the bird a jolt of upwards momentum</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Infinite Pipes</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the </a:t>
            </a:r>
            <a:r>
              <a:rPr lang="en" u="sng">
                <a:solidFill>
                  <a:schemeClr val="hlink"/>
                </a:solidFill>
                <a:hlinkClick r:id="rId3"/>
              </a:rPr>
              <a:t>pipe</a:t>
            </a:r>
            <a:r>
              <a:rPr lang="en"/>
              <a:t> to our game</a:t>
            </a:r>
            <a:endParaRPr/>
          </a:p>
          <a:p>
            <a:pPr indent="-317500" lvl="1" marL="914400" rtl="0" algn="l">
              <a:spcBef>
                <a:spcPts val="0"/>
              </a:spcBef>
              <a:spcAft>
                <a:spcPts val="0"/>
              </a:spcAft>
              <a:buSzPts val="1400"/>
              <a:buChar char="○"/>
            </a:pPr>
            <a:r>
              <a:rPr lang="en"/>
              <a:t>Unsurprisingly</a:t>
            </a:r>
            <a:r>
              <a:rPr lang="en"/>
              <a:t>, we will model the Pipe as a class</a:t>
            </a:r>
            <a:endParaRPr/>
          </a:p>
          <a:p>
            <a:pPr indent="-317500" lvl="1" marL="914400" rtl="0" algn="l">
              <a:spcBef>
                <a:spcPts val="0"/>
              </a:spcBef>
              <a:spcAft>
                <a:spcPts val="0"/>
              </a:spcAft>
              <a:buSzPts val="1400"/>
              <a:buChar char="○"/>
            </a:pPr>
            <a:r>
              <a:rPr lang="en"/>
              <a:t>Inside the class, you must create a constructor that spawns a pipe at a random vertical position at the rightmost edge and within the lower quarter of the screen</a:t>
            </a:r>
            <a:endParaRPr/>
          </a:p>
          <a:p>
            <a:pPr indent="-304800" lvl="2" marL="1371600" rtl="0" algn="l">
              <a:spcBef>
                <a:spcPts val="0"/>
              </a:spcBef>
              <a:spcAft>
                <a:spcPts val="0"/>
              </a:spcAft>
              <a:buSzPts val="1200"/>
              <a:buChar char="■"/>
            </a:pPr>
            <a:r>
              <a:rPr lang="en"/>
              <a:t>The Random class will be useful here</a:t>
            </a:r>
            <a:endParaRPr/>
          </a:p>
          <a:p>
            <a:pPr indent="-304800" lvl="2" marL="1371600" rtl="0" algn="l">
              <a:spcBef>
                <a:spcPts val="0"/>
              </a:spcBef>
              <a:spcAft>
                <a:spcPts val="0"/>
              </a:spcAft>
              <a:buSzPts val="1200"/>
              <a:buChar char="■"/>
            </a:pPr>
            <a:r>
              <a:rPr lang="en"/>
              <a:t>You will need to add the Pipe as a Texture2D to the Art class</a:t>
            </a:r>
            <a:endParaRPr/>
          </a:p>
          <a:p>
            <a:pPr indent="-317500" lvl="1" marL="914400" rtl="0" algn="l">
              <a:spcBef>
                <a:spcPts val="0"/>
              </a:spcBef>
              <a:spcAft>
                <a:spcPts val="0"/>
              </a:spcAft>
              <a:buSzPts val="1400"/>
              <a:buChar char="○"/>
            </a:pPr>
            <a:r>
              <a:rPr lang="en"/>
              <a:t>You must also create an update method that “scrolls” the Pipe to the left of the screen based on a pipe speed value</a:t>
            </a:r>
            <a:endParaRPr/>
          </a:p>
          <a:p>
            <a:pPr indent="-304800" lvl="2" marL="1371600" rtl="0" algn="l">
              <a:spcBef>
                <a:spcPts val="0"/>
              </a:spcBef>
              <a:spcAft>
                <a:spcPts val="0"/>
              </a:spcAft>
              <a:buSzPts val="1200"/>
              <a:buChar char="■"/>
            </a:pPr>
            <a:r>
              <a:rPr lang="en"/>
              <a:t>Picking the same speed as the ground scroll “grounds” the pipes to the ground</a:t>
            </a:r>
            <a:endParaRPr/>
          </a:p>
          <a:p>
            <a:pPr indent="-317500" lvl="1" marL="914400" rtl="0" algn="l">
              <a:spcBef>
                <a:spcPts val="0"/>
              </a:spcBef>
              <a:spcAft>
                <a:spcPts val="0"/>
              </a:spcAft>
              <a:buSzPts val="1400"/>
              <a:buChar char="○"/>
            </a:pPr>
            <a:r>
              <a:rPr lang="en"/>
              <a:t>Include functionality for rendering the Pipe to the screen</a:t>
            </a:r>
            <a:endParaRPr/>
          </a:p>
          <a:p>
            <a:pPr indent="-330200" lvl="0" marL="457200" rtl="0" algn="l">
              <a:spcBef>
                <a:spcPts val="0"/>
              </a:spcBef>
              <a:spcAft>
                <a:spcPts val="0"/>
              </a:spcAft>
              <a:buSzPts val="1600"/>
              <a:buChar char="●"/>
            </a:pPr>
            <a:r>
              <a:rPr lang="en"/>
              <a:t>Render the pipe an “infinite” amount of times!</a:t>
            </a:r>
            <a:endParaRPr/>
          </a:p>
          <a:p>
            <a:pPr indent="-317500" lvl="1" marL="914400" rtl="0" algn="l">
              <a:spcBef>
                <a:spcPts val="0"/>
              </a:spcBef>
              <a:spcAft>
                <a:spcPts val="0"/>
              </a:spcAft>
              <a:buSzPts val="1400"/>
              <a:buChar char="○"/>
            </a:pPr>
            <a:r>
              <a:rPr lang="en"/>
              <a:t>In the Game1 class, add functionality to spawn pipes at a set interval</a:t>
            </a:r>
            <a:endParaRPr/>
          </a:p>
          <a:p>
            <a:pPr indent="-317500" lvl="1" marL="914400" rtl="0" algn="l">
              <a:spcBef>
                <a:spcPts val="0"/>
              </a:spcBef>
              <a:spcAft>
                <a:spcPts val="0"/>
              </a:spcAft>
              <a:buSzPts val="1400"/>
              <a:buChar char="○"/>
            </a:pPr>
            <a:r>
              <a:rPr lang="en"/>
              <a:t>You will need two new fields, a spawn timer, and a constant spawn interval</a:t>
            </a:r>
            <a:endParaRPr/>
          </a:p>
          <a:p>
            <a:pPr indent="-317500" lvl="1" marL="914400" rtl="0" algn="l">
              <a:spcBef>
                <a:spcPts val="0"/>
              </a:spcBef>
              <a:spcAft>
                <a:spcPts val="0"/>
              </a:spcAft>
              <a:buSzPts val="1400"/>
              <a:buChar char="○"/>
            </a:pPr>
            <a:r>
              <a:rPr lang="en"/>
              <a:t>You will also need a list to keep track of all pipes</a:t>
            </a:r>
            <a:endParaRPr/>
          </a:p>
          <a:p>
            <a:pPr indent="-304800" lvl="2" marL="1371600" rtl="0" algn="l">
              <a:spcBef>
                <a:spcPts val="0"/>
              </a:spcBef>
              <a:spcAft>
                <a:spcPts val="0"/>
              </a:spcAft>
              <a:buSzPts val="1200"/>
              <a:buChar char="■"/>
            </a:pPr>
            <a:r>
              <a:rPr lang="en"/>
              <a:t>You will be iterating through the list of pipes both in Update and Draw of Game1</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31"/>
          <p:cNvPicPr preferRelativeResize="0"/>
          <p:nvPr/>
        </p:nvPicPr>
        <p:blipFill>
          <a:blip r:embed="rId3">
            <a:alphaModFix/>
          </a:blip>
          <a:stretch>
            <a:fillRect/>
          </a:stretch>
        </p:blipFill>
        <p:spPr>
          <a:xfrm>
            <a:off x="1521325" y="332162"/>
            <a:ext cx="6101351" cy="447917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Pipe Pairs</a:t>
            </a:r>
            <a:endParaRPr>
              <a:solidFill>
                <a:schemeClr val="accent5"/>
              </a:solidFill>
            </a:endParaRPr>
          </a:p>
        </p:txBody>
      </p:sp>
      <p:sp>
        <p:nvSpPr>
          <p:cNvPr id="178" name="Google Shape;17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10000"/>
          </a:bodyPr>
          <a:lstStyle/>
          <a:p>
            <a:pPr indent="-322580" lvl="0" marL="457200" rtl="0" algn="l">
              <a:spcBef>
                <a:spcPts val="0"/>
              </a:spcBef>
              <a:spcAft>
                <a:spcPts val="0"/>
              </a:spcAft>
              <a:buSzPct val="100000"/>
              <a:buChar char="●"/>
            </a:pPr>
            <a:r>
              <a:rPr lang="en"/>
              <a:t>The p</a:t>
            </a:r>
            <a:r>
              <a:rPr lang="en"/>
              <a:t>ipes must now be spawned in “pairs”, with one pipe facing up and the other facing down.</a:t>
            </a:r>
            <a:endParaRPr/>
          </a:p>
          <a:p>
            <a:pPr indent="-310832" lvl="1" marL="914400" rtl="0" algn="l">
              <a:spcBef>
                <a:spcPts val="0"/>
              </a:spcBef>
              <a:spcAft>
                <a:spcPts val="0"/>
              </a:spcAft>
              <a:buSzPct val="100000"/>
              <a:buChar char="○"/>
            </a:pPr>
            <a:r>
              <a:rPr lang="en"/>
              <a:t>We will model this as a new class, PipePair, wrapping the Pipe class</a:t>
            </a:r>
            <a:endParaRPr/>
          </a:p>
          <a:p>
            <a:pPr indent="-310832" lvl="1" marL="914400" rtl="0" algn="l">
              <a:spcBef>
                <a:spcPts val="0"/>
              </a:spcBef>
              <a:spcAft>
                <a:spcPts val="0"/>
              </a:spcAft>
              <a:buSzPct val="100000"/>
              <a:buChar char="○"/>
            </a:pPr>
            <a:r>
              <a:rPr lang="en"/>
              <a:t>The PipePair class will contain</a:t>
            </a:r>
            <a:endParaRPr/>
          </a:p>
          <a:p>
            <a:pPr indent="-299085" lvl="2" marL="1371600" rtl="0" algn="l">
              <a:spcBef>
                <a:spcPts val="0"/>
              </a:spcBef>
              <a:spcAft>
                <a:spcPts val="0"/>
              </a:spcAft>
              <a:buSzPct val="100000"/>
              <a:buChar char="■"/>
            </a:pPr>
            <a:r>
              <a:rPr lang="en"/>
              <a:t>A top pipe and a bottom pipe</a:t>
            </a:r>
            <a:endParaRPr/>
          </a:p>
          <a:p>
            <a:pPr indent="-299085" lvl="2" marL="1371600" rtl="0" algn="l">
              <a:spcBef>
                <a:spcPts val="0"/>
              </a:spcBef>
              <a:spcAft>
                <a:spcPts val="0"/>
              </a:spcAft>
              <a:buSzPct val="100000"/>
              <a:buChar char="■"/>
            </a:pPr>
            <a:r>
              <a:rPr lang="en"/>
              <a:t>A pipe gap (vertical distance between two pipes)</a:t>
            </a:r>
            <a:endParaRPr/>
          </a:p>
          <a:p>
            <a:pPr indent="-299085" lvl="2" marL="1371600" rtl="0" algn="l">
              <a:spcBef>
                <a:spcPts val="0"/>
              </a:spcBef>
              <a:spcAft>
                <a:spcPts val="0"/>
              </a:spcAft>
              <a:buSzPct val="100000"/>
              <a:buChar char="■"/>
            </a:pPr>
            <a:r>
              <a:rPr lang="en"/>
              <a:t>A pipe speed value (move this from the Pipe class to the PipePair class)</a:t>
            </a:r>
            <a:endParaRPr/>
          </a:p>
          <a:p>
            <a:pPr indent="-299085" lvl="2" marL="1371600" rtl="0" algn="l">
              <a:spcBef>
                <a:spcPts val="0"/>
              </a:spcBef>
              <a:spcAft>
                <a:spcPts val="0"/>
              </a:spcAft>
              <a:buSzPct val="100000"/>
              <a:buChar char="■"/>
            </a:pPr>
            <a:r>
              <a:rPr lang="en"/>
              <a:t>A float to keep track of the horizontal position of the two pipes</a:t>
            </a:r>
            <a:endParaRPr/>
          </a:p>
          <a:p>
            <a:pPr indent="-299085" lvl="2" marL="1371600" rtl="0" algn="l">
              <a:spcBef>
                <a:spcPts val="0"/>
              </a:spcBef>
              <a:spcAft>
                <a:spcPts val="0"/>
              </a:spcAft>
              <a:buSzPct val="100000"/>
              <a:buChar char="■"/>
            </a:pPr>
            <a:r>
              <a:rPr lang="en"/>
              <a:t>A constructor that takes a float y value to define the vertical position of the pipe gap</a:t>
            </a:r>
            <a:endParaRPr/>
          </a:p>
          <a:p>
            <a:pPr indent="-299085" lvl="2" marL="1371600" rtl="0" algn="l">
              <a:spcBef>
                <a:spcPts val="0"/>
              </a:spcBef>
              <a:spcAft>
                <a:spcPts val="0"/>
              </a:spcAft>
              <a:buSzPct val="100000"/>
              <a:buChar char="■"/>
            </a:pPr>
            <a:r>
              <a:rPr lang="en"/>
              <a:t>Logic that </a:t>
            </a:r>
            <a:r>
              <a:rPr lang="en"/>
              <a:t>flags</a:t>
            </a:r>
            <a:r>
              <a:rPr lang="en"/>
              <a:t> PipePairs for deletion once they go beyond the left side of the screen</a:t>
            </a:r>
            <a:endParaRPr/>
          </a:p>
          <a:p>
            <a:pPr indent="-299085" lvl="2" marL="1371600" rtl="0" algn="l">
              <a:spcBef>
                <a:spcPts val="0"/>
              </a:spcBef>
              <a:spcAft>
                <a:spcPts val="0"/>
              </a:spcAft>
              <a:buSzPct val="100000"/>
              <a:buChar char="■"/>
            </a:pPr>
            <a:r>
              <a:rPr lang="en"/>
              <a:t>Since the PipePair will be controlling the pipes, the update and initialization </a:t>
            </a:r>
            <a:r>
              <a:rPr lang="en"/>
              <a:t>logic</a:t>
            </a:r>
            <a:r>
              <a:rPr lang="en"/>
              <a:t> of of the Pipe class will be moved to the PipePair class</a:t>
            </a:r>
            <a:endParaRPr/>
          </a:p>
          <a:p>
            <a:pPr indent="-310832" lvl="1" marL="914400" rtl="0" algn="l">
              <a:spcBef>
                <a:spcPts val="0"/>
              </a:spcBef>
              <a:spcAft>
                <a:spcPts val="0"/>
              </a:spcAft>
              <a:buSzPct val="100000"/>
              <a:buChar char="○"/>
            </a:pPr>
            <a:r>
              <a:rPr lang="en"/>
              <a:t>The Pipe constructor must now take a position and a bool indicating whether it is flipped</a:t>
            </a:r>
            <a:endParaRPr/>
          </a:p>
          <a:p>
            <a:pPr indent="-299085" lvl="2" marL="1371600" rtl="0" algn="l">
              <a:spcBef>
                <a:spcPts val="0"/>
              </a:spcBef>
              <a:spcAft>
                <a:spcPts val="0"/>
              </a:spcAft>
              <a:buSzPct val="100000"/>
              <a:buChar char="■"/>
            </a:pPr>
            <a:r>
              <a:rPr lang="en"/>
              <a:t>The position is purely used to draw the Pipe, as all movement is done in PipePair</a:t>
            </a:r>
            <a:endParaRPr/>
          </a:p>
          <a:p>
            <a:pPr indent="-299085" lvl="2" marL="1371600" rtl="0" algn="l">
              <a:spcBef>
                <a:spcPts val="0"/>
              </a:spcBef>
              <a:spcAft>
                <a:spcPts val="0"/>
              </a:spcAft>
              <a:buSzPct val="100000"/>
              <a:buChar char="■"/>
            </a:pPr>
            <a:r>
              <a:rPr lang="en"/>
              <a:t>For flipping the pipe art, you must use a specific </a:t>
            </a:r>
            <a:r>
              <a:rPr lang="en" u="sng">
                <a:solidFill>
                  <a:schemeClr val="hlink"/>
                </a:solidFill>
                <a:hlinkClick r:id="rId3"/>
              </a:rPr>
              <a:t>overload of SpriteBatch.Draw()</a:t>
            </a:r>
            <a:r>
              <a:rPr lang="en"/>
              <a:t> with a </a:t>
            </a:r>
            <a:r>
              <a:rPr lang="en" u="sng">
                <a:solidFill>
                  <a:schemeClr val="hlink"/>
                </a:solidFill>
                <a:hlinkClick r:id="rId4"/>
              </a:rPr>
              <a:t>SpriteEffects</a:t>
            </a:r>
            <a:r>
              <a:rPr lang="en"/>
              <a:t> argument</a:t>
            </a:r>
            <a:endParaRPr/>
          </a:p>
          <a:p>
            <a:pPr indent="-322580" lvl="0" marL="457200" rtl="0" algn="l">
              <a:spcBef>
                <a:spcPts val="0"/>
              </a:spcBef>
              <a:spcAft>
                <a:spcPts val="0"/>
              </a:spcAft>
              <a:buSzPct val="100000"/>
              <a:buChar char="●"/>
            </a:pPr>
            <a:r>
              <a:rPr lang="en"/>
              <a:t>Update the Game1 class to work with PipePairs instead of Pipes</a:t>
            </a:r>
            <a:endParaRPr/>
          </a:p>
          <a:p>
            <a:pPr indent="-310832" lvl="1" marL="914400" rtl="0" algn="l">
              <a:spcBef>
                <a:spcPts val="0"/>
              </a:spcBef>
              <a:spcAft>
                <a:spcPts val="0"/>
              </a:spcAft>
              <a:buSzPct val="100000"/>
              <a:buChar char="○"/>
            </a:pPr>
            <a:r>
              <a:rPr lang="en"/>
              <a:t>The pipe pairs will be spawned given a vertical position for the gap</a:t>
            </a:r>
            <a:endParaRPr/>
          </a:p>
          <a:p>
            <a:pPr indent="-299085" lvl="2" marL="1371600" rtl="0" algn="l">
              <a:spcBef>
                <a:spcPts val="0"/>
              </a:spcBef>
              <a:spcAft>
                <a:spcPts val="0"/>
              </a:spcAft>
              <a:buSzPct val="100000"/>
              <a:buChar char="■"/>
            </a:pPr>
            <a:r>
              <a:rPr lang="en"/>
              <a:t>Make this position vary slightly for each pipe pair</a:t>
            </a:r>
            <a:endParaRPr/>
          </a:p>
          <a:p>
            <a:pPr indent="-299085" lvl="3" marL="1828800" rtl="0" algn="l">
              <a:spcBef>
                <a:spcPts val="0"/>
              </a:spcBef>
              <a:spcAft>
                <a:spcPts val="0"/>
              </a:spcAft>
              <a:buSzPct val="100000"/>
              <a:buChar char="●"/>
            </a:pPr>
            <a:r>
              <a:rPr lang="en"/>
              <a:t>Keep track of the previous spawn position and add a random value (e.g. -50-50) to it</a:t>
            </a:r>
            <a:endParaRPr/>
          </a:p>
          <a:p>
            <a:pPr indent="-299085" lvl="3" marL="1828800" rtl="0" algn="l">
              <a:spcBef>
                <a:spcPts val="0"/>
              </a:spcBef>
              <a:spcAft>
                <a:spcPts val="0"/>
              </a:spcAft>
              <a:buSzPct val="100000"/>
              <a:buChar char="●"/>
            </a:pPr>
            <a:r>
              <a:rPr lang="en"/>
              <a:t>This position must be clamped so that you don’t risk spawning the pipe gap above/below the screen</a:t>
            </a:r>
            <a:endParaRPr/>
          </a:p>
          <a:p>
            <a:pPr indent="-310832" lvl="1" marL="914400" rtl="0" algn="l">
              <a:spcBef>
                <a:spcPts val="0"/>
              </a:spcBef>
              <a:spcAft>
                <a:spcPts val="0"/>
              </a:spcAft>
              <a:buSzPct val="100000"/>
              <a:buChar char="○"/>
            </a:pPr>
            <a:r>
              <a:rPr lang="en"/>
              <a:t>Add functionality to delete PipePairs flagged for deletion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Collisions</a:t>
            </a:r>
            <a:endParaRPr>
              <a:solidFill>
                <a:schemeClr val="accent5"/>
              </a:solidFill>
            </a:endParaRPr>
          </a:p>
        </p:txBody>
      </p:sp>
      <p:sp>
        <p:nvSpPr>
          <p:cNvPr id="190" name="Google Shape;19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Include collision detection between bird and pipes</a:t>
            </a:r>
            <a:endParaRPr/>
          </a:p>
          <a:p>
            <a:pPr indent="-317500" lvl="1" marL="914400" rtl="0" algn="l">
              <a:spcBef>
                <a:spcPts val="0"/>
              </a:spcBef>
              <a:spcAft>
                <a:spcPts val="0"/>
              </a:spcAft>
              <a:buSzPts val="1400"/>
              <a:buChar char="○"/>
            </a:pPr>
            <a:r>
              <a:rPr lang="en"/>
              <a:t>When a bird collides with a pipe, the game should pause</a:t>
            </a:r>
            <a:endParaRPr/>
          </a:p>
          <a:p>
            <a:pPr indent="-304800" lvl="2" marL="1371600" rtl="0" algn="l">
              <a:spcBef>
                <a:spcPts val="0"/>
              </a:spcBef>
              <a:spcAft>
                <a:spcPts val="0"/>
              </a:spcAft>
              <a:buSzPts val="1200"/>
              <a:buChar char="■"/>
            </a:pPr>
            <a:r>
              <a:rPr lang="en"/>
              <a:t>Pause can be implemented as a simple boolean flag that is checked in Update</a:t>
            </a:r>
            <a:endParaRPr/>
          </a:p>
          <a:p>
            <a:pPr indent="-317500" lvl="1" marL="914400" rtl="0" algn="l">
              <a:spcBef>
                <a:spcPts val="0"/>
              </a:spcBef>
              <a:spcAft>
                <a:spcPts val="0"/>
              </a:spcAft>
              <a:buSzPts val="1400"/>
              <a:buChar char="○"/>
            </a:pPr>
            <a:r>
              <a:rPr lang="en"/>
              <a:t>The Game1 class should react to collisions, but the the actual AABB collision detection should be delegated to the Bird class (similar to last week!)</a:t>
            </a:r>
            <a:endParaRPr/>
          </a:p>
          <a:p>
            <a:pPr indent="-317500" lvl="1" marL="914400" rtl="0" algn="l">
              <a:spcBef>
                <a:spcPts val="0"/>
              </a:spcBef>
              <a:spcAft>
                <a:spcPts val="0"/>
              </a:spcAft>
              <a:buSzPts val="1400"/>
              <a:buChar char="○"/>
            </a:pPr>
            <a:r>
              <a:rPr lang="en"/>
              <a:t>Can you figure out a way to make collision detection more forgiving?</a:t>
            </a:r>
            <a:endParaRPr/>
          </a:p>
          <a:p>
            <a:pPr indent="-330200" lvl="0" marL="457200" rtl="0" algn="l">
              <a:spcBef>
                <a:spcPts val="0"/>
              </a:spcBef>
              <a:spcAft>
                <a:spcPts val="0"/>
              </a:spcAft>
              <a:buSzPts val="1600"/>
              <a:buChar char="●"/>
            </a:pPr>
            <a:r>
              <a:rPr lang="en"/>
              <a:t>Add a similar collision check between the bird and ground &amp; ceiling of the game</a:t>
            </a:r>
            <a:endParaRPr/>
          </a:p>
          <a:p>
            <a:pPr indent="-317500" lvl="1" marL="914400" rtl="0" algn="l">
              <a:spcBef>
                <a:spcPts val="0"/>
              </a:spcBef>
              <a:spcAft>
                <a:spcPts val="0"/>
              </a:spcAft>
              <a:buSzPts val="1400"/>
              <a:buChar char="○"/>
            </a:pPr>
            <a:r>
              <a:rPr lang="en"/>
              <a:t>This check can simply be done in Game1 Update</a:t>
            </a:r>
            <a:endParaRPr/>
          </a:p>
          <a:p>
            <a:pPr indent="-317500" lvl="1" marL="914400" rtl="0" algn="l">
              <a:spcBef>
                <a:spcPts val="0"/>
              </a:spcBef>
              <a:spcAft>
                <a:spcPts val="0"/>
              </a:spcAft>
              <a:buSzPts val="1400"/>
              <a:buChar char="○"/>
            </a:pPr>
            <a:r>
              <a:rPr lang="en"/>
              <a:t>It simply compares the bird y position to other values, no AABB collision detection involved...</a:t>
            </a:r>
            <a:endParaRPr strike="sngStrike"/>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State Machine</a:t>
            </a:r>
            <a:endParaRPr>
              <a:solidFill>
                <a:schemeClr val="accent5"/>
              </a:solidFill>
            </a:endParaRPr>
          </a:p>
        </p:txBody>
      </p:sp>
      <p:sp>
        <p:nvSpPr>
          <p:cNvPr id="225" name="Google Shape;225;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new </a:t>
            </a:r>
            <a:r>
              <a:rPr lang="en"/>
              <a:t>I</a:t>
            </a:r>
            <a:r>
              <a:rPr lang="en"/>
              <a:t>State interface</a:t>
            </a:r>
            <a:endParaRPr/>
          </a:p>
          <a:p>
            <a:pPr indent="-310832" lvl="1" marL="914400" rtl="0" algn="l">
              <a:spcBef>
                <a:spcPts val="0"/>
              </a:spcBef>
              <a:spcAft>
                <a:spcPts val="0"/>
              </a:spcAft>
              <a:buSzPct val="100000"/>
              <a:buChar char="○"/>
            </a:pPr>
            <a:r>
              <a:rPr lang="en"/>
              <a:t>The interface must have four methods</a:t>
            </a:r>
            <a:endParaRPr/>
          </a:p>
          <a:p>
            <a:pPr indent="-299085" lvl="2" marL="1371600" rtl="0" algn="l">
              <a:spcBef>
                <a:spcPts val="0"/>
              </a:spcBef>
              <a:spcAft>
                <a:spcPts val="0"/>
              </a:spcAft>
              <a:buSzPct val="100000"/>
              <a:buChar char="■"/>
            </a:pPr>
            <a:r>
              <a:rPr lang="en"/>
              <a:t>Enter()</a:t>
            </a:r>
            <a:endParaRPr/>
          </a:p>
          <a:p>
            <a:pPr indent="-299085" lvl="2" marL="1371600" rtl="0" algn="l">
              <a:spcBef>
                <a:spcPts val="0"/>
              </a:spcBef>
              <a:spcAft>
                <a:spcPts val="0"/>
              </a:spcAft>
              <a:buSzPct val="100000"/>
              <a:buChar char="■"/>
            </a:pPr>
            <a:r>
              <a:rPr lang="en"/>
              <a:t>Exit()</a:t>
            </a:r>
            <a:endParaRPr/>
          </a:p>
          <a:p>
            <a:pPr indent="-299085" lvl="2" marL="1371600" rtl="0" algn="l">
              <a:spcBef>
                <a:spcPts val="0"/>
              </a:spcBef>
              <a:spcAft>
                <a:spcPts val="0"/>
              </a:spcAft>
              <a:buSzPct val="100000"/>
              <a:buChar char="■"/>
            </a:pPr>
            <a:r>
              <a:rPr lang="en"/>
              <a:t>Update(GameTime gameTime)</a:t>
            </a:r>
            <a:endParaRPr/>
          </a:p>
          <a:p>
            <a:pPr indent="-299085" lvl="2" marL="1371600" rtl="0" algn="l">
              <a:spcBef>
                <a:spcPts val="0"/>
              </a:spcBef>
              <a:spcAft>
                <a:spcPts val="0"/>
              </a:spcAft>
              <a:buSzPct val="100000"/>
              <a:buChar char="■"/>
            </a:pPr>
            <a:r>
              <a:rPr lang="en"/>
              <a:t>Draw(SpriteBatch spriteBatch)</a:t>
            </a:r>
            <a:endParaRPr/>
          </a:p>
          <a:p>
            <a:pPr indent="-322580" lvl="0" marL="457200" rtl="0" algn="l">
              <a:spcBef>
                <a:spcPts val="0"/>
              </a:spcBef>
              <a:spcAft>
                <a:spcPts val="0"/>
              </a:spcAft>
              <a:buSzPct val="100000"/>
              <a:buChar char="●"/>
            </a:pPr>
            <a:r>
              <a:rPr lang="en"/>
              <a:t>Create two new states implementing the interface</a:t>
            </a:r>
            <a:endParaRPr/>
          </a:p>
          <a:p>
            <a:pPr indent="-310832" lvl="1" marL="914400" rtl="0" algn="l">
              <a:spcBef>
                <a:spcPts val="0"/>
              </a:spcBef>
              <a:spcAft>
                <a:spcPts val="0"/>
              </a:spcAft>
              <a:buSzPct val="100000"/>
              <a:buChar char="○"/>
            </a:pPr>
            <a:r>
              <a:rPr lang="en"/>
              <a:t>Title state</a:t>
            </a:r>
            <a:endParaRPr/>
          </a:p>
          <a:p>
            <a:pPr indent="-299085" lvl="2" marL="1371600" rtl="0" algn="l">
              <a:spcBef>
                <a:spcPts val="0"/>
              </a:spcBef>
              <a:spcAft>
                <a:spcPts val="0"/>
              </a:spcAft>
              <a:buSzPct val="100000"/>
              <a:buChar char="■"/>
            </a:pPr>
            <a:r>
              <a:rPr lang="en"/>
              <a:t>The user sees a title and presses enter to start playing (i.e. transition to play state)</a:t>
            </a:r>
            <a:endParaRPr/>
          </a:p>
          <a:p>
            <a:pPr indent="-299085" lvl="2" marL="1371600" rtl="0" algn="l">
              <a:spcBef>
                <a:spcPts val="0"/>
              </a:spcBef>
              <a:spcAft>
                <a:spcPts val="0"/>
              </a:spcAft>
              <a:buSzPct val="100000"/>
              <a:buChar char="■"/>
            </a:pPr>
            <a:r>
              <a:rPr lang="en"/>
              <a:t>The background should not be scrolling in this state! (repurpose the pause functionality to achieve this)</a:t>
            </a:r>
            <a:endParaRPr/>
          </a:p>
          <a:p>
            <a:pPr indent="-310832" lvl="1" marL="914400" rtl="0" algn="l">
              <a:spcBef>
                <a:spcPts val="0"/>
              </a:spcBef>
              <a:spcAft>
                <a:spcPts val="0"/>
              </a:spcAft>
              <a:buSzPct val="100000"/>
              <a:buChar char="○"/>
            </a:pPr>
            <a:r>
              <a:rPr lang="en"/>
              <a:t>Play state</a:t>
            </a:r>
            <a:endParaRPr/>
          </a:p>
          <a:p>
            <a:pPr indent="-299085" lvl="2" marL="1371600" rtl="0" algn="l">
              <a:spcBef>
                <a:spcPts val="0"/>
              </a:spcBef>
              <a:spcAft>
                <a:spcPts val="0"/>
              </a:spcAft>
              <a:buSzPct val="100000"/>
              <a:buChar char="■"/>
            </a:pPr>
            <a:r>
              <a:rPr lang="en"/>
              <a:t>The main state where the game is played (notice how most of your Game1 gameplay code will be moved here)</a:t>
            </a:r>
            <a:endParaRPr/>
          </a:p>
          <a:p>
            <a:pPr indent="-299085" lvl="2" marL="1371600" rtl="0" algn="l">
              <a:spcBef>
                <a:spcPts val="0"/>
              </a:spcBef>
              <a:spcAft>
                <a:spcPts val="0"/>
              </a:spcAft>
              <a:buSzPct val="100000"/>
              <a:buChar char="■"/>
            </a:pPr>
            <a:r>
              <a:rPr lang="en"/>
              <a:t>If the bird collides with anything, return to title state</a:t>
            </a:r>
            <a:endParaRPr/>
          </a:p>
          <a:p>
            <a:pPr indent="-299085" lvl="2" marL="1371600" rtl="0" algn="l">
              <a:spcBef>
                <a:spcPts val="0"/>
              </a:spcBef>
              <a:spcAft>
                <a:spcPts val="0"/>
              </a:spcAft>
              <a:buSzPct val="100000"/>
              <a:buChar char="■"/>
            </a:pPr>
            <a:r>
              <a:rPr lang="en"/>
              <a:t>This state will need to reset important gameplay values in the Enter method (to ensure a clean state for every retry)</a:t>
            </a:r>
            <a:endParaRPr/>
          </a:p>
          <a:p>
            <a:pPr indent="-322580" lvl="0" marL="457200" rtl="0" algn="l">
              <a:spcBef>
                <a:spcPts val="0"/>
              </a:spcBef>
              <a:spcAft>
                <a:spcPts val="0"/>
              </a:spcAft>
              <a:buSzPct val="100000"/>
              <a:buChar char="●"/>
            </a:pPr>
            <a:r>
              <a:rPr lang="en"/>
              <a:t>Create a s</a:t>
            </a:r>
            <a:r>
              <a:rPr lang="en"/>
              <a:t>tate machine</a:t>
            </a:r>
            <a:r>
              <a:rPr lang="en"/>
              <a:t> that controls the global state of the game</a:t>
            </a:r>
            <a:endParaRPr/>
          </a:p>
          <a:p>
            <a:pPr indent="-310832" lvl="1" marL="914400" rtl="0" algn="l">
              <a:spcBef>
                <a:spcPts val="0"/>
              </a:spcBef>
              <a:spcAft>
                <a:spcPts val="0"/>
              </a:spcAft>
              <a:buSzPct val="100000"/>
              <a:buChar char="○"/>
            </a:pPr>
            <a:r>
              <a:rPr lang="en"/>
              <a:t>You need to supply a reference of the Game1 instance to the StateMachine constructor, which in turn makes it </a:t>
            </a:r>
            <a:r>
              <a:rPr lang="en"/>
              <a:t>available</a:t>
            </a:r>
            <a:r>
              <a:rPr lang="en"/>
              <a:t> to each state through their constructors.</a:t>
            </a:r>
            <a:endParaRPr/>
          </a:p>
          <a:p>
            <a:pPr indent="-310832" lvl="1" marL="914400" rtl="0" algn="l">
              <a:spcBef>
                <a:spcPts val="0"/>
              </a:spcBef>
              <a:spcAft>
                <a:spcPts val="0"/>
              </a:spcAft>
              <a:buSzPct val="100000"/>
              <a:buChar char="○"/>
            </a:pPr>
            <a:r>
              <a:rPr lang="en"/>
              <a:t>Remember to initialize the state machine and call its Update and Draw methods from the Game1 class</a:t>
            </a:r>
            <a:endParaRPr/>
          </a:p>
          <a:p>
            <a:pPr indent="-322580" lvl="0" marL="457200" rtl="0" algn="l">
              <a:spcBef>
                <a:spcPts val="0"/>
              </a:spcBef>
              <a:spcAft>
                <a:spcPts val="0"/>
              </a:spcAft>
              <a:buSzPct val="100000"/>
              <a:buChar char="●"/>
            </a:pPr>
            <a:r>
              <a:rPr lang="en"/>
              <a:t>Add the </a:t>
            </a:r>
            <a:r>
              <a:rPr lang="en" u="sng">
                <a:solidFill>
                  <a:schemeClr val="hlink"/>
                </a:solidFill>
                <a:hlinkClick r:id="rId3"/>
              </a:rPr>
              <a:t>retro</a:t>
            </a:r>
            <a:r>
              <a:rPr lang="en"/>
              <a:t> font to the game</a:t>
            </a:r>
            <a:endParaRPr/>
          </a:p>
          <a:p>
            <a:pPr indent="-310832" lvl="1" marL="914400" rtl="0" algn="l">
              <a:spcBef>
                <a:spcPts val="0"/>
              </a:spcBef>
              <a:spcAft>
                <a:spcPts val="0"/>
              </a:spcAft>
              <a:buSzPct val="100000"/>
              <a:buChar char="○"/>
            </a:pPr>
            <a:r>
              <a:rPr lang="en"/>
              <a:t>There is an overload method of DrawString() that lets you tweak the scale of the drawn text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Scoring</a:t>
            </a:r>
            <a:endParaRPr>
              <a:solidFill>
                <a:schemeClr val="accent5"/>
              </a:solidFill>
            </a:endParaRPr>
          </a:p>
        </p:txBody>
      </p:sp>
      <p:sp>
        <p:nvSpPr>
          <p:cNvPr id="231" name="Google Shape;231;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Introduce scoring to the game</a:t>
            </a:r>
            <a:endParaRPr/>
          </a:p>
          <a:p>
            <a:pPr indent="-317500" lvl="1" marL="914400" rtl="0" algn="l">
              <a:spcBef>
                <a:spcPts val="0"/>
              </a:spcBef>
              <a:spcAft>
                <a:spcPts val="0"/>
              </a:spcAft>
              <a:buSzPts val="1400"/>
              <a:buChar char="○"/>
            </a:pPr>
            <a:r>
              <a:rPr lang="en"/>
              <a:t>When the bird passes a pipe pair, the score should be incremented by one</a:t>
            </a:r>
            <a:endParaRPr/>
          </a:p>
          <a:p>
            <a:pPr indent="-304800" lvl="2" marL="1371600" rtl="0" algn="l">
              <a:spcBef>
                <a:spcPts val="0"/>
              </a:spcBef>
              <a:spcAft>
                <a:spcPts val="0"/>
              </a:spcAft>
              <a:buSzPts val="1200"/>
              <a:buChar char="■"/>
            </a:pPr>
            <a:r>
              <a:rPr lang="en" sz="1400"/>
              <a:t>The score should be tracked in the play state</a:t>
            </a:r>
            <a:endParaRPr sz="1400"/>
          </a:p>
          <a:p>
            <a:pPr indent="-317500" lvl="2" marL="1371600" rtl="0" algn="l">
              <a:spcBef>
                <a:spcPts val="0"/>
              </a:spcBef>
              <a:spcAft>
                <a:spcPts val="0"/>
              </a:spcAft>
              <a:buSzPts val="1400"/>
              <a:buChar char="■"/>
            </a:pPr>
            <a:r>
              <a:rPr lang="en" sz="1400"/>
              <a:t>Introduce a property on PipePair to keep track of if that pair has already been scored</a:t>
            </a:r>
            <a:endParaRPr sz="1400"/>
          </a:p>
          <a:p>
            <a:pPr indent="-317500" lvl="1" marL="914400" rtl="0" algn="l">
              <a:spcBef>
                <a:spcPts val="0"/>
              </a:spcBef>
              <a:spcAft>
                <a:spcPts val="0"/>
              </a:spcAft>
              <a:buSzPts val="1400"/>
              <a:buChar char="○"/>
            </a:pPr>
            <a:r>
              <a:rPr lang="en"/>
              <a:t>Display the score in the top left corner of the screen while in play state</a:t>
            </a:r>
            <a:endParaRPr/>
          </a:p>
          <a:p>
            <a:pPr indent="-330200" lvl="0" marL="457200" rtl="0" algn="l">
              <a:spcBef>
                <a:spcPts val="0"/>
              </a:spcBef>
              <a:spcAft>
                <a:spcPts val="0"/>
              </a:spcAft>
              <a:buSzPts val="1600"/>
              <a:buChar char="●"/>
            </a:pPr>
            <a:r>
              <a:rPr lang="en"/>
              <a:t>Add a score</a:t>
            </a:r>
            <a:r>
              <a:rPr lang="en"/>
              <a:t> state that displays the final score</a:t>
            </a:r>
            <a:endParaRPr/>
          </a:p>
          <a:p>
            <a:pPr indent="-317500" lvl="1" marL="914400" rtl="0" algn="l">
              <a:spcBef>
                <a:spcPts val="0"/>
              </a:spcBef>
              <a:spcAft>
                <a:spcPts val="0"/>
              </a:spcAft>
              <a:buSzPts val="1400"/>
              <a:buChar char="○"/>
            </a:pPr>
            <a:r>
              <a:rPr lang="en"/>
              <a:t>Display the score in big text in the center of the screen</a:t>
            </a:r>
            <a:endParaRPr/>
          </a:p>
          <a:p>
            <a:pPr indent="-304800" lvl="2" marL="1371600" rtl="0" algn="l">
              <a:spcBef>
                <a:spcPts val="0"/>
              </a:spcBef>
              <a:spcAft>
                <a:spcPts val="0"/>
              </a:spcAft>
              <a:buSzPts val="1200"/>
              <a:buChar char="■"/>
            </a:pPr>
            <a:r>
              <a:rPr lang="en"/>
              <a:t>Consider - how do you get access to the score data from this state?</a:t>
            </a:r>
            <a:endParaRPr/>
          </a:p>
          <a:p>
            <a:pPr indent="-317500" lvl="1" marL="914400" rtl="0" algn="l">
              <a:spcBef>
                <a:spcPts val="0"/>
              </a:spcBef>
              <a:spcAft>
                <a:spcPts val="0"/>
              </a:spcAft>
              <a:buSzPts val="1400"/>
              <a:buChar char="○"/>
            </a:pPr>
            <a:r>
              <a:rPr lang="en"/>
              <a:t>Transition from play state to score state when the bird has collided with an obstacle</a:t>
            </a:r>
            <a:endParaRPr/>
          </a:p>
          <a:p>
            <a:pPr indent="-317500" lvl="1" marL="914400" rtl="0" algn="l">
              <a:spcBef>
                <a:spcPts val="0"/>
              </a:spcBef>
              <a:spcAft>
                <a:spcPts val="0"/>
              </a:spcAft>
              <a:buSzPts val="1400"/>
              <a:buChar char="○"/>
            </a:pPr>
            <a:r>
              <a:rPr lang="en"/>
              <a:t>Transition from score state to play state when space is pressed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Countdown</a:t>
            </a:r>
            <a:endParaRPr>
              <a:solidFill>
                <a:schemeClr val="accent5"/>
              </a:solidFill>
            </a:endParaRPr>
          </a:p>
        </p:txBody>
      </p:sp>
      <p:sp>
        <p:nvSpPr>
          <p:cNvPr id="237" name="Google Shape;237;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c</a:t>
            </a:r>
            <a:r>
              <a:rPr lang="en"/>
              <a:t>ountdown state</a:t>
            </a:r>
            <a:endParaRPr/>
          </a:p>
          <a:p>
            <a:pPr indent="-317500" lvl="1" marL="914400" rtl="0" algn="l">
              <a:spcBef>
                <a:spcPts val="0"/>
              </a:spcBef>
              <a:spcAft>
                <a:spcPts val="0"/>
              </a:spcAft>
              <a:buSzPts val="1400"/>
              <a:buChar char="○"/>
            </a:pPr>
            <a:r>
              <a:rPr lang="en"/>
              <a:t>This state sits between title state and play state</a:t>
            </a:r>
            <a:endParaRPr/>
          </a:p>
          <a:p>
            <a:pPr indent="-304800" lvl="2" marL="1371600" rtl="0" algn="l">
              <a:spcBef>
                <a:spcPts val="0"/>
              </a:spcBef>
              <a:spcAft>
                <a:spcPts val="0"/>
              </a:spcAft>
              <a:buSzPts val="1200"/>
              <a:buChar char="■"/>
            </a:pPr>
            <a:r>
              <a:rPr lang="en"/>
              <a:t>Title state should now transition to countdown state instead of play state</a:t>
            </a:r>
            <a:endParaRPr/>
          </a:p>
          <a:p>
            <a:pPr indent="-304800" lvl="2" marL="1371600" rtl="0" algn="l">
              <a:spcBef>
                <a:spcPts val="0"/>
              </a:spcBef>
              <a:spcAft>
                <a:spcPts val="0"/>
              </a:spcAft>
              <a:buSzPts val="1200"/>
              <a:buChar char="■"/>
            </a:pPr>
            <a:r>
              <a:rPr lang="en"/>
              <a:t>Score state should now transition to countdown state instead of directly to play state</a:t>
            </a:r>
            <a:endParaRPr/>
          </a:p>
          <a:p>
            <a:pPr indent="-317500" lvl="1" marL="914400" rtl="0" algn="l">
              <a:spcBef>
                <a:spcPts val="0"/>
              </a:spcBef>
              <a:spcAft>
                <a:spcPts val="0"/>
              </a:spcAft>
              <a:buSzPts val="1400"/>
              <a:buChar char="○"/>
            </a:pPr>
            <a:r>
              <a:rPr lang="en"/>
              <a:t>Countdown state counts down from 3 to 0. When 0 is reached, it transitions to play state</a:t>
            </a:r>
            <a:endParaRPr/>
          </a:p>
          <a:p>
            <a:pPr indent="-304800" lvl="2" marL="1371600" rtl="0" algn="l">
              <a:spcBef>
                <a:spcPts val="0"/>
              </a:spcBef>
              <a:spcAft>
                <a:spcPts val="0"/>
              </a:spcAft>
              <a:buSzPts val="1200"/>
              <a:buChar char="■"/>
            </a:pPr>
            <a:r>
              <a:rPr lang="en"/>
              <a:t>Display the countdown in the center of the screen</a:t>
            </a:r>
            <a:endParaRPr/>
          </a:p>
          <a:p>
            <a:pPr indent="-304800" lvl="2" marL="1371600" rtl="0" algn="l">
              <a:spcBef>
                <a:spcPts val="0"/>
              </a:spcBef>
              <a:spcAft>
                <a:spcPts val="0"/>
              </a:spcAft>
              <a:buSzPts val="1200"/>
              <a:buChar char="■"/>
            </a:pPr>
            <a:r>
              <a:rPr lang="en"/>
              <a:t>You can reuse some of the timer logic from spawning pipes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a:t>
            </a:r>
            <a:endParaRPr>
              <a:solidFill>
                <a:schemeClr val="accent5"/>
              </a:solidFill>
            </a:endParaRPr>
          </a:p>
        </p:txBody>
      </p:sp>
      <p:sp>
        <p:nvSpPr>
          <p:cNvPr id="243" name="Google Shape;24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background music (i.e. a “</a:t>
            </a:r>
            <a:r>
              <a:rPr lang="en" u="sng">
                <a:solidFill>
                  <a:schemeClr val="hlink"/>
                </a:solidFill>
                <a:hlinkClick r:id="rId3"/>
              </a:rPr>
              <a:t>Song</a:t>
            </a:r>
            <a:r>
              <a:rPr lang="en"/>
              <a:t>”) to the game</a:t>
            </a:r>
            <a:endParaRPr/>
          </a:p>
          <a:p>
            <a:pPr indent="-317500" lvl="1" marL="914400" rtl="0" algn="l">
              <a:spcBef>
                <a:spcPts val="0"/>
              </a:spcBef>
              <a:spcAft>
                <a:spcPts val="0"/>
              </a:spcAft>
              <a:buSzPts val="1400"/>
              <a:buChar char="○"/>
            </a:pPr>
            <a:r>
              <a:rPr lang="en"/>
              <a:t>You can use </a:t>
            </a:r>
            <a:r>
              <a:rPr lang="en" u="sng">
                <a:solidFill>
                  <a:schemeClr val="hlink"/>
                </a:solidFill>
                <a:hlinkClick r:id="rId4"/>
              </a:rPr>
              <a:t>this track</a:t>
            </a:r>
            <a:endParaRPr/>
          </a:p>
          <a:p>
            <a:pPr indent="-317500" lvl="1" marL="914400" rtl="0" algn="l">
              <a:spcBef>
                <a:spcPts val="0"/>
              </a:spcBef>
              <a:spcAft>
                <a:spcPts val="0"/>
              </a:spcAft>
              <a:buSzPts val="1400"/>
              <a:buChar char="○"/>
            </a:pPr>
            <a:r>
              <a:rPr lang="en"/>
              <a:t>You will need to use the static </a:t>
            </a:r>
            <a:r>
              <a:rPr lang="en" u="sng">
                <a:solidFill>
                  <a:schemeClr val="hlink"/>
                </a:solidFill>
                <a:hlinkClick r:id="rId5"/>
              </a:rPr>
              <a:t>MediaPlayer.Play(Song song)</a:t>
            </a:r>
            <a:r>
              <a:rPr lang="en"/>
              <a:t> method to play the song</a:t>
            </a:r>
            <a:endParaRPr/>
          </a:p>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 effects:</a:t>
            </a:r>
            <a:endParaRPr/>
          </a:p>
          <a:p>
            <a:pPr indent="-304800" lvl="2" marL="1371600" rtl="0" algn="l">
              <a:spcBef>
                <a:spcPts val="0"/>
              </a:spcBef>
              <a:spcAft>
                <a:spcPts val="0"/>
              </a:spcAft>
              <a:buSzPts val="1200"/>
              <a:buChar char="■"/>
            </a:pPr>
            <a:r>
              <a:rPr lang="en" u="sng">
                <a:solidFill>
                  <a:schemeClr val="hlink"/>
                </a:solidFill>
                <a:hlinkClick r:id="rId6"/>
              </a:rPr>
              <a:t>Flap</a:t>
            </a:r>
            <a:endParaRPr/>
          </a:p>
          <a:p>
            <a:pPr indent="-304800" lvl="2" marL="1371600" rtl="0" algn="l">
              <a:spcBef>
                <a:spcPts val="0"/>
              </a:spcBef>
              <a:spcAft>
                <a:spcPts val="0"/>
              </a:spcAft>
              <a:buSzPts val="1200"/>
              <a:buChar char="■"/>
            </a:pPr>
            <a:r>
              <a:rPr lang="en" u="sng">
                <a:solidFill>
                  <a:schemeClr val="hlink"/>
                </a:solidFill>
                <a:hlinkClick r:id="rId7"/>
              </a:rPr>
              <a:t>Hurt</a:t>
            </a:r>
            <a:r>
              <a:rPr lang="en"/>
              <a:t> (you can play this together with an </a:t>
            </a:r>
            <a:r>
              <a:rPr lang="en" u="sng">
                <a:solidFill>
                  <a:schemeClr val="hlink"/>
                </a:solidFill>
                <a:hlinkClick r:id="rId8"/>
              </a:rPr>
              <a:t>Explosion</a:t>
            </a:r>
            <a:r>
              <a:rPr lang="en"/>
              <a:t> sound for extra impact)</a:t>
            </a:r>
            <a:endParaRPr/>
          </a:p>
          <a:p>
            <a:pPr indent="-304800" lvl="2" marL="1371600" rtl="0" algn="l">
              <a:spcBef>
                <a:spcPts val="0"/>
              </a:spcBef>
              <a:spcAft>
                <a:spcPts val="0"/>
              </a:spcAft>
              <a:buSzPts val="1200"/>
              <a:buChar char="■"/>
            </a:pPr>
            <a:r>
              <a:rPr lang="en" u="sng">
                <a:solidFill>
                  <a:schemeClr val="hlink"/>
                </a:solidFill>
                <a:hlinkClick r:id="rId9"/>
              </a:rPr>
              <a:t>Score</a:t>
            </a:r>
            <a:endParaRPr/>
          </a:p>
          <a:p>
            <a:pPr indent="-330200" lvl="0" marL="457200" rtl="0" algn="l">
              <a:spcBef>
                <a:spcPts val="0"/>
              </a:spcBef>
              <a:spcAft>
                <a:spcPts val="0"/>
              </a:spcAft>
              <a:buSzPts val="1600"/>
              <a:buChar char="●"/>
            </a:pPr>
            <a:r>
              <a:rPr lang="en"/>
              <a:t>For organizing the sound</a:t>
            </a:r>
            <a:r>
              <a:rPr lang="en"/>
              <a:t>s</a:t>
            </a:r>
            <a:r>
              <a:rPr lang="en"/>
              <a:t>, you can create a new Audio class that works similarly to the Art class, just for audio assets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