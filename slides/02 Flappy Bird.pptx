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5" r:id="rId25"/>
    <p:sldId id="274" r:id="rId24"/>
    <p:sldId id="303" r:id="rId38"/>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1.xml"/><Relationship Id="rId25" Type="http://schemas.openxmlformats.org/officeDocument/2006/relationships/slide" Target="slides/slide20.xml"/><Relationship Id="rId26"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22.xml"/><Relationship Id="rId39" Type="http://schemas.openxmlformats.org/officeDocument/2006/relationships/slide" Target="slides/slide35.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2.xml"/><Relationship Id="rId55" Type="http://schemas.openxmlformats.org/officeDocument/2006/relationships/slide" Target="slides/slide44.xml"/><Relationship Id="rId56" Type="http://schemas.openxmlformats.org/officeDocument/2006/relationships/slide" Target="slides/slide17.xml"/><Relationship Id="rId57" Type="http://schemas.openxmlformats.org/officeDocument/2006/relationships/slide" Target="slides/slide43.xml"/><Relationship Id="rId58" Type="http://schemas.openxmlformats.org/officeDocument/2006/relationships/slide" Target="slides/slide2.xml"/><Relationship Id="rId59" Type="http://schemas.openxmlformats.org/officeDocument/2006/relationships/slide" Target="slides/slide26.xml"/><Relationship Id="rId60"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Gravity and JumpForce are constants in Bird.</a:t>
            </a:r>
          </a:p>
          <a:p>
            <a:r>
              <a:t>With IsKeyDown the velocity is set every frame, so the bird rises steadily while the key is held. That is the cave flyer in the Going further exercise.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Flappy3 and Flappy5 side by side, then run Flappy5.</a:t>
            </a:r>
          </a:p>
          <a:p>
            <a:r>
              <a:t>- Flappy4: velocity grows by gravity every frame, position follows velocity, both scaled by delta time</a:t>
            </a:r>
          </a:p>
          <a:p>
            <a:r>
              <a:t>- Flappy5: KeyboardInfo, MouseInfo and InputManager in GARCore; the flap in Bird.Update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and timers keep running.</a:t>
            </a:r>
          </a:p>
          <a:p/>
          <a:p>
            <a:r>
              <a:t>Q: Why is Singleton considered an anti-pattern by many game programmers?</a:t>
            </a:r>
          </a:p>
          <a:p>
            <a:r>
              <a:t>A: It is global state. It hides dependencies, couples code together and makes testing and reasoning harder, and games rarely need the guarantee of a single instance.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6"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flappy-bird.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Parallax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640 × 360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412, ground 512</a:t>
            </a:r>
            <a:endParaRPr/>
          </a:p>
        </p:txBody>
      </p:sp>
      <p:pic>
        <p:nvPicPr>
          <p:cNvPr id="132" name="Picture 132" descr="Flappy2.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“just pressed” check from Pong moves into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Gravity and Input Implementation</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Flappy3 → Flappy5: the bird falls, and flaps on Space or a click</a:t>
            </a:r>
            <a:endParaRPr/>
          </a:p>
        </p:txBody>
      </p:sp>
      <p:pic>
        <p:nvPicPr>
          <p:cNvPr id="150" name="Picture 150" descr="Flappy3.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Flap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b="1"/>
              <a:t>In Flappy5, in Bird:</a:t>
            </a:r>
            <a:endParaRPr/>
          </a:p>
          <a:p>
            <a:pPr indent="-330200" lvl="0" marL="457200" rtl="0" algn="l">
              <a:spcBef>
                <a:spcPts val="0"/>
              </a:spcBef>
              <a:spcAft>
                <a:spcPts val="0"/>
              </a:spcAft>
              <a:buSzPts val="1600"/>
              <a:buChar char="●"/>
            </a:pPr>
            <a:r>
              <a:rPr lang="en" b="1"/>
              <a:t>Gravity 1500, and a jump force of 450</a:t>
            </a:r>
            <a:endParaRPr/>
          </a:p>
          <a:p>
            <a:pPr indent="-330200" lvl="0" marL="457200" rtl="0" algn="l">
              <a:spcBef>
                <a:spcPts val="0"/>
              </a:spcBef>
              <a:spcAft>
                <a:spcPts val="0"/>
              </a:spcAft>
              <a:buSzPts val="1600"/>
              <a:buChar char="●"/>
            </a:pPr>
            <a:r>
              <a:rPr lang="en" b="1"/>
              <a:t>Flap on the Up key too</a:t>
            </a:r>
            <a:endParaRPr/>
          </a:p>
          <a:p>
            <a:pPr indent="-330200" lvl="0" marL="457200" rtl="0" algn="l">
              <a:spcBef>
                <a:spcPts val="0"/>
              </a:spcBef>
              <a:spcAft>
                <a:spcPts val="0"/>
              </a:spcAft>
              <a:buSzPts val="1600"/>
              <a:buChar char="●"/>
            </a:pPr>
            <a:r>
              <a:rPr lang="en" b="1"/>
              <a:t>Swap WasKeyJustPressed for IsKeyDown. What does holding Space do now?</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3"/>
          <a:stretch>
            <a:fillRect/>
          </a:stretch>
        </p:blipFill>
        <p:spPr>
          <a:xfrm>
            <a:off x="1521325" y="332167"/>
            <a:ext cx="6101350" cy="447916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9" descr="Flappy7.png"/>
          <p:cNvPicPr>
            <a:picLocks noChangeAspect="1"/>
          </p:cNvPicPr>
          <p:nvPr/>
        </p:nvPicPr>
        <p:blipFill>
          <a:blip r:embed="rId6"/>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80-pixel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1" descr="Flappy8.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6" descr="flappy9_title.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8" descr="Flappy11.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