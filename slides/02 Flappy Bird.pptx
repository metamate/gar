
<file path=[Content_Types].xml><?xml version="1.0" encoding="utf-8"?>
<Types xmlns="http://schemas.openxmlformats.org/package/2006/content-types">
  <Default Extension="fntdata" ContentType="application/x-fontdata"/>
  <Default Extension="gif" ContentType="image/gif"/>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299" r:id="rId58"/>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54"/>
    <p:sldId id="298" r:id="rId57"/>
    <p:sldId id="296" r:id="rId55"/>
  </p:sldIdLst>
  <p:sldSz cy="5143500" cx="9144000"/>
  <p:notesSz cx="6858000" cy="9144000"/>
  <p:embeddedFontLst>
    <p:embeddedFont>
      <p:font typeface="Roboto"/>
      <p:regular r:id="rId45"/>
      <p:bold r:id="rId46"/>
      <p:italic r:id="rId47"/>
      <p:boldItalic r:id="rId48"/>
    </p:embeddedFont>
    <p:embeddedFont>
      <p:font typeface="VT323"/>
      <p:regular r:id="rId49"/>
    </p:embeddedFont>
    <p:embeddedFont>
      <p:font typeface="Roboto Light"/>
      <p:regular r:id="rId50"/>
      <p:bold r:id="rId51"/>
      <p:italic r:id="rId52"/>
      <p:boldItalic r:id="rId53"/>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font" Target="fonts/Roboto-regular.fntdata"/><Relationship Id="rId46" Type="http://schemas.openxmlformats.org/officeDocument/2006/relationships/font" Target="fonts/Roboto-bold.fntdata"/><Relationship Id="rId47" Type="http://schemas.openxmlformats.org/officeDocument/2006/relationships/font" Target="fonts/Roboto-italic.fntdata"/><Relationship Id="rId48" Type="http://schemas.openxmlformats.org/officeDocument/2006/relationships/font" Target="fonts/Roboto-boldItalic.fntdata"/><Relationship Id="rId49" Type="http://schemas.openxmlformats.org/officeDocument/2006/relationships/font" Target="fonts/VT323-regular.fntdata"/><Relationship Id="rId50" Type="http://schemas.openxmlformats.org/officeDocument/2006/relationships/font" Target="fonts/RobotoLight-regular.fntdata"/><Relationship Id="rId51" Type="http://schemas.openxmlformats.org/officeDocument/2006/relationships/font" Target="fonts/RobotoLight-bold.fntdata"/><Relationship Id="rId52" Type="http://schemas.openxmlformats.org/officeDocument/2006/relationships/font" Target="fonts/RobotoLight-italic.fntdata"/><Relationship Id="rId53" Type="http://schemas.openxmlformats.org/officeDocument/2006/relationships/font" Target="fonts/RobotoLight-boldItalic.fntdata"/><Relationship Id="rId54" Type="http://schemas.openxmlformats.org/officeDocument/2006/relationships/slide" Target="slides/slide41.xml"/><Relationship Id="rId55" Type="http://schemas.openxmlformats.org/officeDocument/2006/relationships/slide" Target="slides/slide43.xml"/><Relationship Id="rId57" Type="http://schemas.openxmlformats.org/officeDocument/2006/relationships/slide" Target="slides/slide42.xml"/><Relationship Id="rId58"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Welcome. Today we build Flappy Bird. The main topic: organizing a growing game.</a:t>
            </a:r>
          </a:p>
          <a:p>
            <a:r>
              <a:t>Start by playing the finished game, Flappy12, before any code.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c83a203257_0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c83a203257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Run Flappy12 and play it for a minute.</a:t>
            </a:r>
          </a:p>
          <a:p>
            <a:r>
              <a:t>Ask: what would you need to build this? Collect answers on the board, and come back to them at the end.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g393cde9348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 name="Google Shape;49;g393cde9348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main topic: organizing a game as it grows. A class library for what every game needs, and a state machine for the game’s modes.</a:t>
            </a:r>
          </a:p>
          <a:p>
            <a:r>
              <a:t>Every topic has a section on the course site.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c9c2e5de9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 name="Google Shape;55;g3c9c2e5de9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Ask: what makes software architecture good? Collect answers, then land on the four on the slide.</a:t>
            </a:r>
          </a:p>
          <a:p>
            <a:r>
              <a:t>The one to remember: good architecture makes change cheap.</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 name="Shape 59"/>
        <p:cNvGrpSpPr/>
        <p:nvPr/>
      </p:nvGrpSpPr>
      <p:grpSpPr>
        <a:xfrm>
          <a:off x="0" y="0"/>
          <a:ext cx="0" cy="0"/>
          <a:chOff x="0" y="0"/>
          <a:chExt cx="0" cy="0"/>
        </a:xfrm>
      </p:grpSpPr>
      <p:sp>
        <p:nvSpPr>
          <p:cNvPr id="60" name="Google Shape;60;g3c9c2e5de9e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 name="Google Shape;61;g3c9c2e5de9e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cycle of a change: understand the problem, learn the code, write the solution, clean up. Architecture shortens the “learn the code” step.</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 name="Shape 64"/>
        <p:cNvGrpSpPr/>
        <p:nvPr/>
      </p:nvGrpSpPr>
      <p:grpSpPr>
        <a:xfrm>
          <a:off x="0" y="0"/>
          <a:ext cx="0" cy="0"/>
          <a:chOff x="0" y="0"/>
          <a:chExt cx="0" cy="0"/>
        </a:xfrm>
      </p:grpSpPr>
      <p:sp>
        <p:nvSpPr>
          <p:cNvPr id="65" name="Google Shape;65;g3c9c2e5de9e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6" name="Google Shape;66;g3c9c2e5de9e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Coupling: how much parts depend on each other (want low). Cohesion: how much a part’s own code belongs together (want high).</a:t>
            </a:r>
          </a:p>
          <a:p>
            <a:r>
              <a:t>Ask: which picture would you rather change?</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 name="Shape 70"/>
        <p:cNvGrpSpPr/>
        <p:nvPr/>
      </p:nvGrpSpPr>
      <p:grpSpPr>
        <a:xfrm>
          <a:off x="0" y="0"/>
          <a:ext cx="0" cy="0"/>
          <a:chOff x="0" y="0"/>
          <a:chExt cx="0" cy="0"/>
        </a:xfrm>
      </p:grpSpPr>
      <p:sp>
        <p:nvSpPr>
          <p:cNvPr id="71" name="Google Shape;71;g3c9c2e5de9e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2" name="Google Shape;72;g3c9c2e5de9e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Named, reusable solutions to recurring design problems. A shared vocabulary: “make it a state machine” says a lot in four words.</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 name="Shape 76"/>
        <p:cNvGrpSpPr/>
        <p:nvPr/>
      </p:nvGrpSpPr>
      <p:grpSpPr>
        <a:xfrm>
          <a:off x="0" y="0"/>
          <a:ext cx="0" cy="0"/>
          <a:chOff x="0" y="0"/>
          <a:chExt cx="0" cy="0"/>
        </a:xfrm>
      </p:grpSpPr>
      <p:sp>
        <p:nvSpPr>
          <p:cNvPr id="77" name="Google Shape;77;g3c83a203257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8" name="Google Shape;78;g3c83a203257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Open gar-games/02-flappy live. Show the README: the step table, the code map, how to run a step.</a:t>
            </a:r>
          </a:p>
          <a:p>
            <a:r>
              <a:t>Say: the site explains the ideas, the README helps you find them in the code, the slides are for today.</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 name="Shape 82"/>
        <p:cNvGrpSpPr/>
        <p:nvPr/>
      </p:nvGrpSpPr>
      <p:grpSpPr>
        <a:xfrm>
          <a:off x="0" y="0"/>
          <a:ext cx="0" cy="0"/>
          <a:chOff x="0" y="0"/>
          <a:chExt cx="0" cy="0"/>
        </a:xfrm>
      </p:grpSpPr>
      <p:sp>
        <p:nvSpPr>
          <p:cNvPr id="83" name="Google Shape;83;g3c83da3f63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 name="Google Shape;84;g3c83da3f63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Pong copied everything into one project. Code every game needs (window, scaling, input) belongs in a library that every game references.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c83da3f632_0_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c83da3f632_0_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shape we’re building: GMDCore, referenced by each game. It grows through the course.</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g3c79d334e77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6" name="Google Shape;96;g3c79d334e7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a repository from gar-starter, which comes with an empty GMDCore library. They write a Core class in it that derives from Game and owns the window and screen scaling.</a:t>
            </a:r>
          </a:p>
          <a:p>
            <a:r>
              <a:t>Before they code, ask: where is the library connected to the game, and which way does the reference point? Answer: the ProjectReference in the game’s .csproj; the game knows the library, never the other way round. So nothing in Core may mention Flappy.</a:t>
            </a:r>
          </a:p>
          <a:p>
            <a:r>
              <a:t>Full instructions are on the course site; students work from there. Walk round while they work.</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 name="Shape 100"/>
        <p:cNvGrpSpPr/>
        <p:nvPr/>
      </p:nvGrpSpPr>
      <p:grpSpPr>
        <a:xfrm>
          <a:off x="0" y="0"/>
          <a:ext cx="0" cy="0"/>
          <a:chOff x="0" y="0"/>
          <a:chExt cx="0" cy="0"/>
        </a:xfrm>
      </p:grpSpPr>
      <p:sp>
        <p:nvSpPr>
          <p:cNvPr id="101" name="Google Shape;101;g3c83da3f632_0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 name="Google Shape;102;g3c83da3f632_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Game1 derives from Core. The window should look like the screenshot.</a:t>
            </a:r>
          </a:p>
          <a:p>
            <a:r>
              <a:t>Full instructions are on the course site; students work from there. Walk round while they work.</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g3c83da3f632_0_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 name="Google Shape;108;g3c83da3f632_0_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An image is just a Texture2D, like Pong’s white pixel, but loaded from a file.</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g3c83da3f632_0_1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 name="Google Shape;114;g3c83da3f632_0_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draw the background and the ground.</a:t>
            </a:r>
          </a:p>
          <a:p>
            <a:r>
              <a:t>Full instructions are on the course site; students work from there. Walk round while they work.</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 name="Shape 119"/>
        <p:cNvGrpSpPr/>
        <p:nvPr/>
      </p:nvGrpSpPr>
      <p:grpSpPr>
        <a:xfrm>
          <a:off x="0" y="0"/>
          <a:ext cx="0" cy="0"/>
          <a:chOff x="0" y="0"/>
          <a:chExt cx="0" cy="0"/>
        </a:xfrm>
      </p:grpSpPr>
      <p:sp>
        <p:nvSpPr>
          <p:cNvPr id="120" name="Google Shape;120;g3c83a203257_0_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1" name="Google Shape;121;g3c83a203257_0_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Things further away move slower. Two layers at two speeds are enough to feel depth.</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 name="Shape 126"/>
        <p:cNvGrpSpPr/>
        <p:nvPr/>
      </p:nvGrpSpPr>
      <p:grpSpPr>
        <a:xfrm>
          <a:off x="0" y="0"/>
          <a:ext cx="0" cy="0"/>
          <a:chOff x="0" y="0"/>
          <a:chExt cx="0" cy="0"/>
        </a:xfrm>
      </p:grpSpPr>
      <p:sp>
        <p:nvSpPr>
          <p:cNvPr id="127" name="Google Shape;127;g3c79d334e77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8" name="Google Shape;128;g3c79d334e77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scroll both layers forever, at different speeds.</a:t>
            </a:r>
          </a:p>
          <a:p>
            <a:r>
              <a:t>Hint: the looping points (413 and 512) and the % operator.</a:t>
            </a:r>
          </a:p>
          <a:p>
            <a:r>
              <a:t>Full instructions are on the course site; students work from there. Walk round while they work.</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 name="Shape 132"/>
        <p:cNvGrpSpPr/>
        <p:nvPr/>
      </p:nvGrpSpPr>
      <p:grpSpPr>
        <a:xfrm>
          <a:off x="0" y="0"/>
          <a:ext cx="0" cy="0"/>
          <a:chOff x="0" y="0"/>
          <a:chExt cx="0" cy="0"/>
        </a:xfrm>
      </p:grpSpPr>
      <p:sp>
        <p:nvSpPr>
          <p:cNvPr id="133" name="Google Shape;133;g393cde93488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4" name="Google Shape;134;g393cde93488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bird never moves forward: the world scrolls past it. Games fake whatever they can get away with.</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 name="Shape 138"/>
        <p:cNvGrpSpPr/>
        <p:nvPr/>
      </p:nvGrpSpPr>
      <p:grpSpPr>
        <a:xfrm>
          <a:off x="0" y="0"/>
          <a:ext cx="0" cy="0"/>
          <a:chOff x="0" y="0"/>
          <a:chExt cx="0" cy="0"/>
        </a:xfrm>
      </p:grpSpPr>
      <p:sp>
        <p:nvSpPr>
          <p:cNvPr id="139" name="Google Shape;139;g3c79d334e77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0" name="Google Shape;140;g3c79d334e77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Ask the question before revealing the answer: how does the Bird get its texture? Let them argue for each box.</a:t>
            </a:r>
          </a:p>
          <a:p>
            <a:r>
              <a:t>We pick a static Art class: one place for every asset. Its cost: it’s global. We come back to that with Singleton.</a:t>
            </a:r>
          </a:p>
          <a:p>
            <a:r>
              <a:t>Full instructions are on the course site; students work from there. Walk round while they work.</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c79d334e77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g3c79d334e77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velocity grows every frame; position follows velocity; both scaled by delta time.</a:t>
            </a:r>
          </a:p>
          <a:p>
            <a:r>
              <a:t>Full instructions are on the course site; students work from there. Walk round while they work.</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g3c79d334e77_0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2" name="Google Shape;152;g3c79d334e77_0_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Walk through the diagram: Core updates the InputManager every frame; games ask it for keys and the mouse.</a:t>
            </a:r>
          </a:p>
          <a:p>
            <a:r>
              <a:t>A flap sets the vertical velocity upwards. Remind them: y points down.</a:t>
            </a:r>
          </a:p>
          <a:p>
            <a:r>
              <a:t>Full instructions are on the course site; students work from there. Walk round while they work.</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g3c85d5bb073_2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8" name="Google Shape;158;g3c85d5bb073_2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Content made by rules instead of by hand. Here: where each pipe gap goes. Walk through the figure’s quantities.</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g3c79d334e77_0_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4" name="Google Shape;164;g3c79d334e77_0_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spawn pipes on a timer, scroll them left.</a:t>
            </a:r>
          </a:p>
          <a:p>
            <a:r>
              <a:t>Full instructions are on the course site; students work from there. Walk round while they work.</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g3c85d5bb073_2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0" name="Google Shape;170;g3c85d5bb073_2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Pipes spawn off-screen on the right (the spawn zone) and are removed after they leave on the left (the dead zone). The player only ever sees the middle.</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 name="Shape 173"/>
        <p:cNvGrpSpPr/>
        <p:nvPr/>
      </p:nvGrpSpPr>
      <p:grpSpPr>
        <a:xfrm>
          <a:off x="0" y="0"/>
          <a:ext cx="0" cy="0"/>
          <a:chOff x="0" y="0"/>
          <a:chExt cx="0" cy="0"/>
        </a:xfrm>
      </p:grpSpPr>
      <p:sp>
        <p:nvSpPr>
          <p:cNvPr id="174" name="Google Shape;174;g3c79d334e77_0_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5" name="Google Shape;175;g3c79d334e77_0_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pairs with a gap that drifts smoothly; remove pairs that leave the screen.</a:t>
            </a:r>
          </a:p>
          <a:p>
            <a:r>
              <a:t>Full instructions are on the course site; students work from there. Walk round while they work.</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g3c85d5bb073_2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1" name="Google Shape;181;g3c85d5bb073_2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Same AABB as Pong. Ask: how could collisions be more forgiving? Answer: a slightly smaller hitbox than the sprite.</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 name="Shape 185"/>
        <p:cNvGrpSpPr/>
        <p:nvPr/>
      </p:nvGrpSpPr>
      <p:grpSpPr>
        <a:xfrm>
          <a:off x="0" y="0"/>
          <a:ext cx="0" cy="0"/>
          <a:chOff x="0" y="0"/>
          <a:chExt cx="0" cy="0"/>
        </a:xfrm>
      </p:grpSpPr>
      <p:sp>
        <p:nvSpPr>
          <p:cNvPr id="186" name="Google Shape;186;g3c79d334e77_0_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7" name="Google Shape;187;g3c79d334e77_0_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stop on hitting a pipe, the ground or the ceiling.</a:t>
            </a:r>
          </a:p>
          <a:p>
            <a:r>
              <a:t>Full instructions are on the course site; students work from there. Walk round while they work.</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 name="Shape 191"/>
        <p:cNvGrpSpPr/>
        <p:nvPr/>
      </p:nvGrpSpPr>
      <p:grpSpPr>
        <a:xfrm>
          <a:off x="0" y="0"/>
          <a:ext cx="0" cy="0"/>
          <a:chOff x="0" y="0"/>
          <a:chExt cx="0" cy="0"/>
        </a:xfrm>
      </p:grpSpPr>
      <p:sp>
        <p:nvSpPr>
          <p:cNvPr id="192" name="Google Shape;192;g3c85d5bb073_2_3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3" name="Google Shape;193;g3c85d5bb073_2_3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Ask: how did Pong handle its modes? A string. Why is that fragile? Typos, and an if-chain in every method.</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 name="Shape 197"/>
        <p:cNvGrpSpPr/>
        <p:nvPr/>
      </p:nvGrpSpPr>
      <p:grpSpPr>
        <a:xfrm>
          <a:off x="0" y="0"/>
          <a:ext cx="0" cy="0"/>
          <a:chOff x="0" y="0"/>
          <a:chExt cx="0" cy="0"/>
        </a:xfrm>
      </p:grpSpPr>
      <p:sp>
        <p:nvSpPr>
          <p:cNvPr id="198" name="Google Shape;198;g3c85d5bb073_2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9" name="Google Shape;199;g3c85d5bb073_2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game’s states and what moves between them. Each state is a class with the same four methods.</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g3c85d5bb073_1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5" name="Google Shape;205;g3c85d5bb073_1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life of a state: Enter once, Update and Draw every frame, Exit once. Enter resets, Exit cleans up.</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8" name="Shape 208"/>
        <p:cNvGrpSpPr/>
        <p:nvPr/>
      </p:nvGrpSpPr>
      <p:grpSpPr>
        <a:xfrm>
          <a:off x="0" y="0"/>
          <a:ext cx="0" cy="0"/>
          <a:chOff x="0" y="0"/>
          <a:chExt cx="0" cy="0"/>
        </a:xfrm>
      </p:grpSpPr>
      <p:sp>
        <p:nvSpPr>
          <p:cNvPr id="209" name="Google Shape;209;g393cde93488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0" name="Google Shape;210;g393cde93488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IState is the contract: every state has Enter, Exit, Update and Draw. The machine only knows the interface.</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5" name="Shape 215"/>
        <p:cNvGrpSpPr/>
        <p:nvPr/>
      </p:nvGrpSpPr>
      <p:grpSpPr>
        <a:xfrm>
          <a:off x="0" y="0"/>
          <a:ext cx="0" cy="0"/>
          <a:chOff x="0" y="0"/>
          <a:chExt cx="0" cy="0"/>
        </a:xfrm>
      </p:grpSpPr>
      <p:sp>
        <p:nvSpPr>
          <p:cNvPr id="216" name="Google Shape;216;g3c85d5bb073_2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7" name="Google Shape;217;g3c85d5bb073_2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StateMachine: ChangeState calls Exit on the old state and Enter on the new one. Update and Draw go to the current state.</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 name="Shape 220"/>
        <p:cNvGrpSpPr/>
        <p:nvPr/>
      </p:nvGrpSpPr>
      <p:grpSpPr>
        <a:xfrm>
          <a:off x="0" y="0"/>
          <a:ext cx="0" cy="0"/>
          <a:chOff x="0" y="0"/>
          <a:chExt cx="0" cy="0"/>
        </a:xfrm>
      </p:grpSpPr>
      <p:sp>
        <p:nvSpPr>
          <p:cNvPr id="221" name="Google Shape;221;g3c79d334e77_0_4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2" name="Google Shape;222;g3c79d334e77_0_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IState, a StateMachine, a title state and a play state.</a:t>
            </a:r>
          </a:p>
          <a:p>
            <a:r>
              <a:t>Full instructions are on the course site; students work from there. Walk round while they work.</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6" name="Shape 226"/>
        <p:cNvGrpSpPr/>
        <p:nvPr/>
      </p:nvGrpSpPr>
      <p:grpSpPr>
        <a:xfrm>
          <a:off x="0" y="0"/>
          <a:ext cx="0" cy="0"/>
          <a:chOff x="0" y="0"/>
          <a:chExt cx="0" cy="0"/>
        </a:xfrm>
      </p:grpSpPr>
      <p:sp>
        <p:nvSpPr>
          <p:cNvPr id="227" name="Google Shape;227;g3c79d334e77_0_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8" name="Google Shape;228;g3c79d334e77_0_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a point per pipe pair, and a score state. Ask the question on the slide: the score state needs the score; pass it in when changing state.</a:t>
            </a:r>
          </a:p>
          <a:p>
            <a:r>
              <a:t>Full instructions are on the course site; students work from there. Walk round while they work.</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2" name="Shape 232"/>
        <p:cNvGrpSpPr/>
        <p:nvPr/>
      </p:nvGrpSpPr>
      <p:grpSpPr>
        <a:xfrm>
          <a:off x="0" y="0"/>
          <a:ext cx="0" cy="0"/>
          <a:chOff x="0" y="0"/>
          <a:chExt cx="0" cy="0"/>
        </a:xfrm>
      </p:grpSpPr>
      <p:sp>
        <p:nvSpPr>
          <p:cNvPr id="233" name="Google Shape;233;g3c85d5bb073_2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4" name="Google Shape;234;g3c85d5bb073_2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a countdown state between the title (or score) and play.</a:t>
            </a:r>
          </a:p>
          <a:p>
            <a:r>
              <a:t>Full instructions are on the course site; students work from there. Walk round while they work.</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8" name="Shape 238"/>
        <p:cNvGrpSpPr/>
        <p:nvPr/>
      </p:nvGrpSpPr>
      <p:grpSpPr>
        <a:xfrm>
          <a:off x="0" y="0"/>
          <a:ext cx="0" cy="0"/>
          <a:chOff x="0" y="0"/>
          <a:chExt cx="0" cy="0"/>
        </a:xfrm>
      </p:grpSpPr>
      <p:sp>
        <p:nvSpPr>
          <p:cNvPr id="239" name="Google Shape;239;g3c79d334e77_0_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0" name="Google Shape;240;g3c79d334e77_0_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music and three sounds, in an Audio class made a Singleton. Next: is that a good idea?</a:t>
            </a:r>
          </a:p>
          <a:p>
            <a:r>
              <a:t>Full instructions are on the course site; students work from there. Walk round while they work.</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4" name="Shape 244"/>
        <p:cNvGrpSpPr/>
        <p:nvPr/>
      </p:nvGrpSpPr>
      <p:grpSpPr>
        <a:xfrm>
          <a:off x="0" y="0"/>
          <a:ext cx="0" cy="0"/>
          <a:chOff x="0" y="0"/>
          <a:chExt cx="0" cy="0"/>
        </a:xfrm>
      </p:grpSpPr>
      <p:sp>
        <p:nvSpPr>
          <p:cNvPr id="245" name="Google Shape;245;g3c79d334e77_0_6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6" name="Google Shape;246;g3c79d334e77_0_6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whole game works. Now the design question we skipped: global access.</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1" name="Shape 251"/>
        <p:cNvGrpSpPr/>
        <p:nvPr/>
      </p:nvGrpSpPr>
      <p:grpSpPr>
        <a:xfrm>
          <a:off x="0" y="0"/>
          <a:ext cx="0" cy="0"/>
          <a:chOff x="0" y="0"/>
          <a:chExt cx="0" cy="0"/>
        </a:xfrm>
      </p:grpSpPr>
      <p:sp>
        <p:nvSpPr>
          <p:cNvPr id="252" name="Google Shape;252;g3c9c670f03a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3" name="Google Shape;253;g3c9c670f03a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Gang of Four’s definition: one instance, and global access to it. The cartoons: everyone reaching for the same object.</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9" name="Shape 259"/>
        <p:cNvGrpSpPr/>
        <p:nvPr/>
      </p:nvGrpSpPr>
      <p:grpSpPr>
        <a:xfrm>
          <a:off x="0" y="0"/>
          <a:ext cx="0" cy="0"/>
          <a:chOff x="0" y="0"/>
          <a:chExt cx="0" cy="0"/>
        </a:xfrm>
      </p:grpSpPr>
      <p:sp>
        <p:nvSpPr>
          <p:cNvPr id="260" name="Google Shape;260;g3cbde5d7b56_0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1" name="Google Shape;261;g3cbde5d7b56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classic implementation. Note: simple, but not thread safe; fine for our games.</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6" name="Shape 266"/>
        <p:cNvGrpSpPr/>
        <p:nvPr/>
      </p:nvGrpSpPr>
      <p:grpSpPr>
        <a:xfrm>
          <a:off x="0" y="0"/>
          <a:ext cx="0" cy="0"/>
          <a:chOff x="0" y="0"/>
          <a:chExt cx="0" cy="0"/>
        </a:xfrm>
      </p:grpSpPr>
      <p:sp>
        <p:nvSpPr>
          <p:cNvPr id="267" name="Google Shape;267;g3cbde5d7b56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8" name="Google Shape;268;g3cbde5d7b56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Nystrom’s warning. Ask: why? Answer: global state, hidden dependencies, hard to replace in a test.</a:t>
            </a:r>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one question at a time. Pairs discuss for a minute, then take two or three answers.</a:t>
            </a:r>
          </a:p>
          <a:p>
            <a:r>
              <a:t>Expected answers (from the course site):</a:t>
            </a:r>
          </a:p>
          <a:p/>
          <a:p>
            <a:r>
              <a:t>Q: What problem does a state machine solve compared to a string or enum field?</a:t>
            </a:r>
          </a:p>
          <a:p>
            <a:r>
              <a:t>A: Each state's behaviour is in one place instead of spread across if-chains. You can add a state without editing the others, and Enter/Exit give reliable places for setup and cleanup.</a:t>
            </a:r>
          </a:p>
          <a:p/>
          <a:p>
            <a:r>
              <a:t>Q: What happens if you forget to call Exit() when switching state?</a:t>
            </a:r>
          </a:p>
          <a:p>
            <a:r>
              <a:t>A: Anything the old state set up is never cleaned up: music keeps playing, event subscriptions stay alive, timers keep running.</a:t>
            </a:r>
          </a:p>
          <a:p/>
          <a:p>
            <a:r>
              <a:t>Q: Why is Singleton considered an anti-pattern by many game programmers?</a:t>
            </a:r>
          </a:p>
          <a:p>
            <a:r>
              <a:t>A: It is global state. It hides dependencies, couples code together and makes testing and reasoning harder, and games rarely need the "exactly one instance" guarantee.</a:t>
            </a:r>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Art is a static class, Audio a Singleton. Both global; but Audio is an object, so it could implement an interface. Pokemon builds on that with a Service Locator.</a:t>
            </a:r>
          </a:p>
        </p:txBody>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Give the project groups five minutes with these questions.</a:t>
            </a:r>
          </a:p>
          <a:p>
            <a:r>
              <a:t>Ask two groups to share one answer each, and push them to name actual classes and files.</a:t>
            </a:r>
          </a:p>
        </p:txBody>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original: Flappy Bird. Ask who has played it, and what they remember of how it plays.</a:t>
            </a:r>
          </a:p>
          <a:p>
            <a:r>
              <a:t>Today we build the parts that matter for the architecture, not the whole game.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9.png"/><Relationship Id="rId3" Type="http://schemas.openxmlformats.org/officeDocument/2006/relationships/notesSlide" Target="../notesSlides/notesSlide4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4" Type="http://schemas.openxmlformats.org/officeDocument/2006/relationships/image" Target="../media/image18.gif"/></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image" Target="../media/image1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hyperlink" Target="https://github.com/Metamate/gar-games/tree/main/02-flappy"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hyperlink" Target="https://drive.google.com/file/d/1dF02vMh7jL8SJ4cJV73_jCqaSsAXv2YO/view?usp=drive_link" TargetMode="External"/><Relationship Id="rId4" Type="http://schemas.openxmlformats.org/officeDocument/2006/relationships/hyperlink" Target="https://drive.google.com/file/d/1oInwutcgVN0gPDiQOLmi3gsFjW5-BjE8/view?usp=drive_link" TargetMode="External"/><Relationship Id="rId5" Type="http://schemas.openxmlformats.org/officeDocument/2006/relationships/image" Target="../media/image1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9.gif"/></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3"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hyperlink" Target="http://www.youtube.com/watch?v=HUgE9L7V4oY" TargetMode="External"/><Relationship Id="rId4" Type="http://schemas.openxmlformats.org/officeDocument/2006/relationships/image" Target="../media/image15.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hyperlink" Target="https://drive.google.com/file/d/1b8eepQAJjS6b1H4EDx3q2EABqdkQRRVd/view?usp=drive_link"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1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 Id="rId3" Type="http://schemas.openxmlformats.org/officeDocument/2006/relationships/image" Target="../media/image1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 Id="rId3" Type="http://schemas.openxmlformats.org/officeDocument/2006/relationships/hyperlink" Target="https://drive.google.com/file/d/1twwv4s9OW9u6HV0zb3UB_KtONCMTer0N/view?usp=drive_link" TargetMode="External"/><Relationship Id="rId4" Type="http://schemas.openxmlformats.org/officeDocument/2006/relationships/image" Target="../media/image2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 Id="rId4" Type="http://schemas.openxmlformats.org/officeDocument/2006/relationships/image" Target="../media/image2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 Id="rId3" Type="http://schemas.openxmlformats.org/officeDocument/2006/relationships/hyperlink" Target="https://docs.monogame.net/api/Microsoft.Xna.Framework.Graphics.SpriteBatch.html#Microsoft_Xna_Framework_Graphics_SpriteBatch_Draw_Microsoft_Xna_Framework_Graphics_Texture2D_Microsoft_Xna_Framework_Vector2_System_Nullable_Microsoft_Xna_Framework_Rectangle__Microsoft_Xna_Framework_Color_System_Single_Microsoft_Xna_Framework_Vector2_System_Single_Microsoft_Xna_Framework_Graphics_SpriteEffects_System_Single_" TargetMode="External"/><Relationship Id="rId4" Type="http://schemas.openxmlformats.org/officeDocument/2006/relationships/hyperlink" Target="https://docs.monogame.net/api/Microsoft.Xna.Framework.Graphics.SpriteEffects.html" TargetMode="External"/><Relationship Id="rId5" Type="http://schemas.openxmlformats.org/officeDocument/2006/relationships/image" Target="../media/image2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 Id="rId3" Type="http://schemas.openxmlformats.org/officeDocument/2006/relationships/image" Target="../media/image2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 Id="rId3" Type="http://schemas.openxmlformats.org/officeDocument/2006/relationships/image" Target="../media/image1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1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hyperlink" Target="https://drive.google.com/file/d/1WL5c1jFGq4ZBwqACP-6nO2RcUN0IbpRo/view?usp=drive_link" TargetMode="External"/><Relationship Id="rId4" Type="http://schemas.openxmlformats.org/officeDocument/2006/relationships/image" Target="../media/image24.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 Id="rId3" Type="http://schemas.openxmlformats.org/officeDocument/2006/relationships/image" Target="../media/image2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 Id="rId3" Type="http://schemas.openxmlformats.org/officeDocument/2006/relationships/image" Target="../media/image2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3" Type="http://schemas.openxmlformats.org/officeDocument/2006/relationships/hyperlink" Target="https://docs.monogame.net/api/Microsoft.Xna.Framework.Media.Song.html" TargetMode="External"/><Relationship Id="rId4" Type="http://schemas.openxmlformats.org/officeDocument/2006/relationships/hyperlink" Target="https://drive.google.com/file/d/1LATV-G9rwlnMwBQPITGsNNlvMTCOqBBC/view?usp=drive_link" TargetMode="External"/><Relationship Id="rId5" Type="http://schemas.openxmlformats.org/officeDocument/2006/relationships/hyperlink" Target="https://docs.monogame.net/api/Microsoft.Xna.Framework.Media.MediaPlayer.html#Microsoft_Xna_Framework_Media_MediaPlayer_Play_Microsoft_Xna_Framework_Media_Song_" TargetMode="External"/><Relationship Id="rId6" Type="http://schemas.openxmlformats.org/officeDocument/2006/relationships/hyperlink" Target="https://drive.google.com/file/d/13LKIw67rIX9Z5MYAqap7e8mKEqPh_G3K/view?usp=drive_link" TargetMode="External"/><Relationship Id="rId7" Type="http://schemas.openxmlformats.org/officeDocument/2006/relationships/hyperlink" Target="https://drive.google.com/file/d/14qt-upC_R4WkZOJkcJO0jjS4uEn1FHP7/view?usp=drive_link" TargetMode="External"/><Relationship Id="rId8" Type="http://schemas.openxmlformats.org/officeDocument/2006/relationships/hyperlink" Target="https://drive.google.com/file/d/17E7FcUNSMfXg2UaeD0_J8FyO1ymePxQj/view?usp=drive_link" TargetMode="External"/><Relationship Id="rId9" Type="http://schemas.openxmlformats.org/officeDocument/2006/relationships/hyperlink" Target="https://drive.google.com/file/d/1xY-B4cc7hAFLAlnMgw55KSW3gZfdD_xL/view?usp=drive_link"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 Id="rId3" Type="http://schemas.openxmlformats.org/officeDocument/2006/relationships/image" Target="../media/image10.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 Id="rId3" Type="http://schemas.openxmlformats.org/officeDocument/2006/relationships/image" Target="../media/image8.png"/><Relationship Id="rId4" Type="http://schemas.openxmlformats.org/officeDocument/2006/relationships/image" Target="../media/image7.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8.xml"/><Relationship Id="rId3" Type="http://schemas.openxmlformats.org/officeDocument/2006/relationships/image" Target="../media/image6.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02: Flappy Bird</a:t>
            </a:r>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195615"/>
            <a:ext cx="8520600" cy="572700"/>
          </a:xfrm>
        </p:spPr>
        <p:txBody>
          <a:bodyPr/>
          <a:lstStyle/>
          <a:p>
            <a:pPr indent="0" lvl="0" marL="0" rtl="0" algn="l">
              <a:spcBef>
                <a:spcPts val="0"/>
              </a:spcBef>
              <a:spcAft>
                <a:spcPts val="0"/>
              </a:spcAft>
              <a:buNone/>
            </a:pPr>
            <a:r>
              <a:rPr lang="en"/>
              <a:t>Flappy Bird</a:t>
            </a:r>
            <a:endParaRPr/>
          </a:p>
        </p:txBody>
      </p:sp>
      <p:pic>
        <p:nvPicPr>
          <p:cNvPr id="3" name="Picture 2" descr="flappy-bird.png"/>
          <p:cNvPicPr>
            <a:picLocks noChangeAspect="1"/>
          </p:cNvPicPr>
          <p:nvPr/>
        </p:nvPicPr>
        <p:blipFill>
          <a:blip r:embed="rId2"/>
          <a:stretch>
            <a:fillRect/>
          </a:stretch>
        </p:blipFill>
        <p:spPr>
          <a:xfrm>
            <a:off x="3540034" y="960120"/>
            <a:ext cx="2063931" cy="3657600"/>
          </a:xfrm>
          <a:prstGeom prst="rect">
            <a:avLst/>
          </a:prstGeom>
        </p:spPr>
      </p:pic>
      <p:sp>
        <p:nvSpPr>
          <p:cNvPr id="4" name="TextBox 3"/>
          <p:cNvSpPr txBox="1"/>
          <p:nvPr/>
        </p:nvSpPr>
        <p:spPr>
          <a:xfrm>
            <a:off x="457200" y="4736592"/>
            <a:ext cx="8229600" cy="274320"/>
          </a:xfrm>
          <a:prstGeom prst="rect">
            <a:avLst/>
          </a:prstGeom>
          <a:noFill/>
        </p:spPr>
        <p:txBody>
          <a:bodyPr wrap="square">
            <a:spAutoFit/>
          </a:bodyPr>
          <a:lstStyle/>
          <a:p>
            <a:pPr algn="ctr"/>
            <a:r>
              <a:rPr sz="900" b="0" i="0">
                <a:solidFill>
                  <a:srgbClr val="9AA3AB"/>
                </a:solidFill>
              </a:rPr>
              <a:t>Flappy Bird (dotGears, 2013). Screenshot © dotGears.</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46" name="Picture 46" descr="gif-flappy.gif"/>
          <p:cNvPicPr>
            <a:picLocks noChangeAspect="1"/>
          </p:cNvPicPr>
          <p:nvPr/>
        </p:nvPicPr>
        <p:blipFill>
          <a:blip r:embed="rId4"/>
          <a:stretch>
            <a:fillRect/>
          </a:stretch>
        </p:blipFill>
        <p:spPr>
          <a:xfrm>
            <a:off x="1566089" y="1322900"/>
            <a:ext cx="6011824" cy="3381651"/>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52" name="Google Shape;52;p11"/>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Game Architecture</a:t>
            </a:r>
            <a:endParaRPr/>
          </a:p>
          <a:p>
            <a:pPr indent="-330200" lvl="0" marL="457200" rtl="0" algn="l">
              <a:spcBef>
                <a:spcPts val="0"/>
              </a:spcBef>
              <a:spcAft>
                <a:spcPts val="0"/>
              </a:spcAft>
              <a:buSzPts val="1600"/>
              <a:buChar char="●"/>
            </a:pPr>
            <a:r>
              <a:rPr lang="en"/>
              <a:t>Class Libraries</a:t>
            </a:r>
            <a:endParaRPr/>
          </a:p>
          <a:p>
            <a:pPr indent="-330200" lvl="0" marL="457200" rtl="0" algn="l">
              <a:spcBef>
                <a:spcPts val="0"/>
              </a:spcBef>
              <a:spcAft>
                <a:spcPts val="0"/>
              </a:spcAft>
              <a:buSzPts val="1600"/>
              <a:buChar char="●"/>
            </a:pPr>
            <a:r>
              <a:rPr lang="en"/>
              <a:t>Images</a:t>
            </a:r>
            <a:endParaRPr/>
          </a:p>
          <a:p>
            <a:pPr indent="-330200" lvl="0" marL="457200" rtl="0" algn="l">
              <a:spcBef>
                <a:spcPts val="0"/>
              </a:spcBef>
              <a:spcAft>
                <a:spcPts val="0"/>
              </a:spcAft>
              <a:buSzPts val="1600"/>
              <a:buChar char="●"/>
            </a:pPr>
            <a:r>
              <a:rPr lang="en"/>
              <a:t>Infinite Scrolling</a:t>
            </a:r>
            <a:endParaRPr/>
          </a:p>
          <a:p>
            <a:pPr indent="-330200" lvl="0" marL="457200" rtl="0" algn="l">
              <a:spcBef>
                <a:spcPts val="0"/>
              </a:spcBef>
              <a:spcAft>
                <a:spcPts val="0"/>
              </a:spcAft>
              <a:buSzPts val="1600"/>
              <a:buChar char="●"/>
            </a:pPr>
            <a:r>
              <a:rPr lang="en"/>
              <a:t>Procedural Generation</a:t>
            </a:r>
            <a:endParaRPr/>
          </a:p>
          <a:p>
            <a:pPr indent="-330200" lvl="0" marL="457200" rtl="0" algn="l">
              <a:spcBef>
                <a:spcPts val="0"/>
              </a:spcBef>
              <a:spcAft>
                <a:spcPts val="0"/>
              </a:spcAft>
              <a:buSzPts val="1600"/>
              <a:buChar char="●"/>
            </a:pPr>
            <a:r>
              <a:rPr lang="en"/>
              <a:t>Interfaces</a:t>
            </a:r>
            <a:endParaRPr/>
          </a:p>
          <a:p>
            <a:pPr indent="-330200" lvl="0" marL="457200" rtl="0" algn="l">
              <a:spcBef>
                <a:spcPts val="0"/>
              </a:spcBef>
              <a:spcAft>
                <a:spcPts val="0"/>
              </a:spcAft>
              <a:buSzPts val="1600"/>
              <a:buChar char="●"/>
            </a:pPr>
            <a:r>
              <a:rPr lang="en"/>
              <a:t>State Machines</a:t>
            </a:r>
            <a:endParaRPr/>
          </a:p>
          <a:p>
            <a:pPr indent="-330200" lvl="0" marL="457200" rtl="0" algn="l">
              <a:spcBef>
                <a:spcPts val="0"/>
              </a:spcBef>
              <a:spcAft>
                <a:spcPts val="0"/>
              </a:spcAft>
              <a:buSzPts val="1600"/>
              <a:buChar char="●"/>
            </a:pPr>
            <a:r>
              <a:rPr lang="en"/>
              <a:t>Singleton Pattern</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7" st="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Game Architecture</a:t>
            </a:r>
            <a:endParaRPr/>
          </a:p>
        </p:txBody>
      </p:sp>
      <p:sp>
        <p:nvSpPr>
          <p:cNvPr id="58" name="Google Shape;58;p1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What is good software architecture?</a:t>
            </a:r>
            <a:endParaRPr/>
          </a:p>
          <a:p>
            <a:pPr indent="-317500" lvl="1" marL="914400" rtl="0" algn="l">
              <a:spcBef>
                <a:spcPts val="0"/>
              </a:spcBef>
              <a:spcAft>
                <a:spcPts val="0"/>
              </a:spcAft>
              <a:buSzPts val="1400"/>
              <a:buChar char="○"/>
            </a:pPr>
            <a:r>
              <a:rPr lang="en"/>
              <a:t>Change</a:t>
            </a:r>
            <a:endParaRPr/>
          </a:p>
          <a:p>
            <a:pPr indent="-317500" lvl="1" marL="914400" rtl="0" algn="l">
              <a:spcBef>
                <a:spcPts val="0"/>
              </a:spcBef>
              <a:spcAft>
                <a:spcPts val="0"/>
              </a:spcAft>
              <a:buSzPts val="1400"/>
              <a:buChar char="○"/>
            </a:pPr>
            <a:r>
              <a:rPr lang="en"/>
              <a:t>Decoupling</a:t>
            </a:r>
            <a:endParaRPr/>
          </a:p>
          <a:p>
            <a:pPr indent="-317500" lvl="1" marL="914400" rtl="0" algn="l">
              <a:spcBef>
                <a:spcPts val="0"/>
              </a:spcBef>
              <a:spcAft>
                <a:spcPts val="0"/>
              </a:spcAft>
              <a:buSzPts val="1400"/>
              <a:buChar char="○"/>
            </a:pPr>
            <a:r>
              <a:rPr lang="en"/>
              <a:t>Cost</a:t>
            </a:r>
            <a:endParaRPr/>
          </a:p>
          <a:p>
            <a:pPr indent="-317500" lvl="1" marL="914400" rtl="0" algn="l">
              <a:spcBef>
                <a:spcPts val="0"/>
              </a:spcBef>
              <a:spcAft>
                <a:spcPts val="0"/>
              </a:spcAft>
              <a:buSzPts val="1400"/>
              <a:buChar char="○"/>
            </a:pPr>
            <a:r>
              <a:rPr lang="en"/>
              <a:t>Performance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4" st="4"/>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 name="Shape 62"/>
        <p:cNvGrpSpPr/>
        <p:nvPr/>
      </p:nvGrpSpPr>
      <p:grpSpPr>
        <a:xfrm>
          <a:off x="0" y="0"/>
          <a:ext cx="0" cy="0"/>
          <a:chOff x="0" y="0"/>
          <a:chExt cx="0" cy="0"/>
        </a:xfrm>
      </p:grpSpPr>
      <p:pic>
        <p:nvPicPr>
          <p:cNvPr id="63" name="Google Shape;63;p13"/>
          <p:cNvPicPr preferRelativeResize="0"/>
          <p:nvPr/>
        </p:nvPicPr>
        <p:blipFill>
          <a:blip r:embed="rId3">
            <a:alphaModFix/>
          </a:blip>
          <a:stretch>
            <a:fillRect/>
          </a:stretch>
        </p:blipFill>
        <p:spPr>
          <a:xfrm>
            <a:off x="1267375" y="792336"/>
            <a:ext cx="6609249" cy="3558825"/>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 name="Shape 67"/>
        <p:cNvGrpSpPr/>
        <p:nvPr/>
      </p:nvGrpSpPr>
      <p:grpSpPr>
        <a:xfrm>
          <a:off x="0" y="0"/>
          <a:ext cx="0" cy="0"/>
          <a:chOff x="0" y="0"/>
          <a:chExt cx="0" cy="0"/>
        </a:xfrm>
      </p:grpSpPr>
      <p:sp>
        <p:nvSpPr>
          <p:cNvPr id="68" name="Google Shape;68;p1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Coupling &amp; Cohesion</a:t>
            </a:r>
            <a:endParaRPr/>
          </a:p>
        </p:txBody>
      </p:sp>
      <p:pic>
        <p:nvPicPr>
          <p:cNvPr id="69" name="Google Shape;69;p14"/>
          <p:cNvPicPr preferRelativeResize="0"/>
          <p:nvPr/>
        </p:nvPicPr>
        <p:blipFill>
          <a:blip r:embed="rId3">
            <a:alphaModFix/>
          </a:blip>
          <a:stretch>
            <a:fillRect/>
          </a:stretch>
        </p:blipFill>
        <p:spPr>
          <a:xfrm>
            <a:off x="2369400" y="1016050"/>
            <a:ext cx="4405200" cy="3836324"/>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3" name="Shape 73"/>
        <p:cNvGrpSpPr/>
        <p:nvPr/>
      </p:nvGrpSpPr>
      <p:grpSpPr>
        <a:xfrm>
          <a:off x="0" y="0"/>
          <a:ext cx="0" cy="0"/>
          <a:chOff x="0" y="0"/>
          <a:chExt cx="0" cy="0"/>
        </a:xfrm>
      </p:grpSpPr>
      <p:sp>
        <p:nvSpPr>
          <p:cNvPr id="74" name="Google Shape;74;p1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Design Patterns</a:t>
            </a:r>
            <a:endParaRPr/>
          </a:p>
        </p:txBody>
      </p:sp>
      <p:pic>
        <p:nvPicPr>
          <p:cNvPr id="75" name="Google Shape;75;p15"/>
          <p:cNvPicPr preferRelativeResize="0"/>
          <p:nvPr/>
        </p:nvPicPr>
        <p:blipFill>
          <a:blip r:embed="rId3">
            <a:alphaModFix/>
          </a:blip>
          <a:stretch>
            <a:fillRect/>
          </a:stretch>
        </p:blipFill>
        <p:spPr>
          <a:xfrm>
            <a:off x="1726622" y="1383898"/>
            <a:ext cx="5690752" cy="3203824"/>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 name="Shape 79"/>
        <p:cNvGrpSpPr/>
        <p:nvPr/>
      </p:nvGrpSpPr>
      <p:grpSpPr>
        <a:xfrm>
          <a:off x="0" y="0"/>
          <a:ext cx="0" cy="0"/>
          <a:chOff x="0" y="0"/>
          <a:chExt cx="0" cy="0"/>
        </a:xfrm>
      </p:grpSpPr>
      <p:sp>
        <p:nvSpPr>
          <p:cNvPr id="80" name="Google Shape;80;p1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81" name="Google Shape;81;p16"/>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All Source code for today’s game can be found here:</a:t>
            </a:r>
            <a:endParaRPr/>
          </a:p>
          <a:p>
            <a:pPr indent="-317500" lvl="1" marL="914400" rtl="0" algn="l">
              <a:spcBef>
                <a:spcPts val="0"/>
              </a:spcBef>
              <a:spcAft>
                <a:spcPts val="0"/>
              </a:spcAft>
              <a:buSzPts val="1400"/>
              <a:buChar char="○"/>
            </a:pPr>
            <a:r>
              <a:rPr lang="en" u="sng">
                <a:solidFill>
                  <a:schemeClr val="hlink"/>
                </a:solidFill>
                <a:hlinkClick r:id="rId3"/>
              </a:rPr>
              <a:t>github.com/Metamate/gar-games (folder 02-flappy)</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 name="Shape 85"/>
        <p:cNvGrpSpPr/>
        <p:nvPr/>
      </p:nvGrpSpPr>
      <p:grpSpPr>
        <a:xfrm>
          <a:off x="0" y="0"/>
          <a:ext cx="0" cy="0"/>
          <a:chOff x="0" y="0"/>
          <a:chExt cx="0" cy="0"/>
        </a:xfrm>
      </p:grpSpPr>
      <p:sp>
        <p:nvSpPr>
          <p:cNvPr id="86" name="Google Shape;86;p1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Class Library</a:t>
            </a:r>
            <a:endParaRPr/>
          </a:p>
        </p:txBody>
      </p:sp>
      <p:pic>
        <p:nvPicPr>
          <p:cNvPr id="87" name="Google Shape;87;p17"/>
          <p:cNvPicPr preferRelativeResize="0"/>
          <p:nvPr/>
        </p:nvPicPr>
        <p:blipFill>
          <a:blip r:embed="rId3">
            <a:alphaModFix/>
          </a:blip>
          <a:stretch>
            <a:fillRect/>
          </a:stretch>
        </p:blipFill>
        <p:spPr>
          <a:xfrm>
            <a:off x="270188" y="1400650"/>
            <a:ext cx="8603624" cy="2342200"/>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sp>
        <p:nvSpPr>
          <p:cNvPr id="92" name="Google Shape;92;p1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Class Library</a:t>
            </a:r>
            <a:endParaRPr/>
          </a:p>
        </p:txBody>
      </p:sp>
      <p:pic>
        <p:nvPicPr>
          <p:cNvPr id="93" name="Google Shape;93;p18"/>
          <p:cNvPicPr preferRelativeResize="0"/>
          <p:nvPr/>
        </p:nvPicPr>
        <p:blipFill>
          <a:blip r:embed="rId3">
            <a:alphaModFix/>
          </a:blip>
          <a:stretch>
            <a:fillRect/>
          </a:stretch>
        </p:blipFill>
        <p:spPr>
          <a:xfrm>
            <a:off x="252837" y="900688"/>
            <a:ext cx="8638324" cy="3342119"/>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 name="Shape 97"/>
        <p:cNvGrpSpPr/>
        <p:nvPr/>
      </p:nvGrpSpPr>
      <p:grpSpPr>
        <a:xfrm>
          <a:off x="0" y="0"/>
          <a:ext cx="0" cy="0"/>
          <a:chOff x="0" y="0"/>
          <a:chExt cx="0" cy="0"/>
        </a:xfrm>
      </p:grpSpPr>
      <p:sp>
        <p:nvSpPr>
          <p:cNvPr id="98" name="Google Shape;98;p1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-1: A Class Library</a:t>
            </a:r>
            <a:endParaRPr>
              <a:solidFill>
                <a:schemeClr val="accent5"/>
              </a:solidFill>
            </a:endParaRPr>
          </a:p>
        </p:txBody>
      </p:sp>
      <p:sp>
        <p:nvSpPr>
          <p:cNvPr id="99" name="Google Shape;99;p19"/>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move what every game needs into a class library, GMDCore.</a:t>
            </a:r>
            <a:endParaRPr/>
          </a:p>
          <a:p>
            <a:pPr indent="-330200" lvl="0" marL="457200" rtl="0" algn="l">
              <a:spcBef>
                <a:spcPts val="0"/>
              </a:spcBef>
              <a:spcAft>
                <a:spcPts val="0"/>
              </a:spcAft>
              <a:buSzPts val="1600"/>
              <a:buChar char="●"/>
            </a:pPr>
            <a:r>
              <a:rPr lang="en"/>
              <a:t>A Core class, derived from Game: the window, and the screen scaling from Pong.</a:t>
            </a:r>
            <a:endParaRPr/>
          </a:p>
        </p:txBody>
      </p:sp>
      <p:sp>
        <p:nvSpPr>
          <p:cNvPr id="100" name="Rounded Rectangle 99"/>
          <p:cNvSpPr/>
          <p:nvPr/>
        </p:nvSpPr>
        <p:spPr>
          <a:xfrm>
            <a:off x="914400" y="2103120"/>
            <a:ext cx="2926080" cy="91440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GMDCore</a:t>
            </a:r>
          </a:p>
          <a:p>
            <a:pPr algn="ctr"/>
            <a:r>
              <a:rPr sz="1400" b="0">
                <a:solidFill>
                  <a:srgbClr val="9AA3AB"/>
                </a:solidFill>
              </a:rPr>
              <a:t>Core : Game · window · scaling</a:t>
            </a:r>
          </a:p>
        </p:txBody>
      </p:sp>
      <p:sp>
        <p:nvSpPr>
          <p:cNvPr id="101" name="Rounded Rectangle 100"/>
          <p:cNvSpPr/>
          <p:nvPr/>
        </p:nvSpPr>
        <p:spPr>
          <a:xfrm>
            <a:off x="5303520" y="1737360"/>
            <a:ext cx="292608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Flappy</a:t>
            </a:r>
          </a:p>
        </p:txBody>
      </p:sp>
      <p:sp>
        <p:nvSpPr>
          <p:cNvPr id="102" name="Rounded Rectangle 101"/>
          <p:cNvSpPr/>
          <p:nvPr/>
        </p:nvSpPr>
        <p:spPr>
          <a:xfrm>
            <a:off x="5303520" y="2560320"/>
            <a:ext cx="292608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Snake, Sokoban, ...</a:t>
            </a:r>
          </a:p>
        </p:txBody>
      </p:sp>
      <p:cxnSp>
        <p:nvCxnSpPr>
          <p:cNvPr id="103" name="Connector 102"/>
          <p:cNvCxnSpPr/>
          <p:nvPr/>
        </p:nvCxnSpPr>
        <p:spPr>
          <a:xfrm flipH="1">
            <a:off x="3886200" y="2057400"/>
            <a:ext cx="1371600" cy="36576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104" name="TextBox 103"/>
          <p:cNvSpPr txBox="1"/>
          <p:nvPr/>
        </p:nvSpPr>
        <p:spPr>
          <a:xfrm>
            <a:off x="3703320" y="1764792"/>
            <a:ext cx="1737360" cy="274320"/>
          </a:xfrm>
          <a:prstGeom prst="rect">
            <a:avLst/>
          </a:prstGeom>
          <a:noFill/>
        </p:spPr>
        <p:txBody>
          <a:bodyPr wrap="square">
            <a:spAutoFit/>
          </a:bodyPr>
          <a:lstStyle/>
          <a:p>
            <a:pPr algn="ctr"/>
            <a:r>
              <a:rPr sz="1100" b="0" i="0">
                <a:solidFill>
                  <a:srgbClr val="9AA3AB"/>
                </a:solidFill>
              </a:rPr>
              <a:t>uses</a:t>
            </a:r>
          </a:p>
        </p:txBody>
      </p:sp>
      <p:cxnSp>
        <p:nvCxnSpPr>
          <p:cNvPr id="105" name="Connector 104"/>
          <p:cNvCxnSpPr/>
          <p:nvPr/>
        </p:nvCxnSpPr>
        <p:spPr>
          <a:xfrm flipH="1" flipV="1">
            <a:off x="3886200" y="2697480"/>
            <a:ext cx="1371600" cy="18288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3" st="1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4" st="1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5" st="1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6" st="1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7" st="1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 name="Shape 103"/>
        <p:cNvGrpSpPr/>
        <p:nvPr/>
      </p:nvGrpSpPr>
      <p:grpSpPr>
        <a:xfrm>
          <a:off x="0" y="0"/>
          <a:ext cx="0" cy="0"/>
          <a:chOff x="0" y="0"/>
          <a:chExt cx="0" cy="0"/>
        </a:xfrm>
      </p:grpSpPr>
      <p:sp>
        <p:nvSpPr>
          <p:cNvPr id="104" name="Google Shape;104;p2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0: A Game on the Library</a:t>
            </a:r>
            <a:endParaRPr>
              <a:solidFill>
                <a:schemeClr val="accent5"/>
              </a:solidFill>
            </a:endParaRPr>
          </a:p>
        </p:txBody>
      </p:sp>
      <p:sp>
        <p:nvSpPr>
          <p:cNvPr id="105" name="Google Shape;105;p20"/>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a new game, Flappy, whose Game1 derives from Core.</a:t>
            </a:r>
            <a:endParaRPr/>
          </a:p>
          <a:p>
            <a:pPr indent="-330200" lvl="0" marL="457200" rtl="0" algn="l">
              <a:spcBef>
                <a:spcPts val="0"/>
              </a:spcBef>
              <a:spcAft>
                <a:spcPts val="0"/>
              </a:spcAft>
              <a:buSzPts val="1600"/>
              <a:buChar char="●"/>
            </a:pPr>
            <a:r>
              <a:rPr lang="en"/>
              <a:t>512 × 288 virtual resolution in a 1280 × 720 window.</a:t>
            </a:r>
            <a:endParaRPr/>
          </a:p>
        </p:txBody>
      </p:sp>
      <p:pic>
        <p:nvPicPr>
          <p:cNvPr id="106" name="Picture 105" descr="f0.png"/>
          <p:cNvPicPr>
            <a:picLocks noChangeAspect="1"/>
          </p:cNvPicPr>
          <p:nvPr/>
        </p:nvPicPr>
        <p:blipFill>
          <a:blip r:embed="rId3"/>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9" st="9"/>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Images</a:t>
            </a:r>
            <a:endParaRPr/>
          </a:p>
        </p:txBody>
      </p:sp>
      <p:sp>
        <p:nvSpPr>
          <p:cNvPr id="111" name="Google Shape;111;p21"/>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Remember from Pong?</a:t>
            </a:r>
            <a:endParaRPr/>
          </a:p>
          <a:p>
            <a:pPr indent="-317500" lvl="1" marL="914400" rtl="0" algn="l">
              <a:spcBef>
                <a:spcPts val="0"/>
              </a:spcBef>
              <a:spcAft>
                <a:spcPts val="0"/>
              </a:spcAft>
              <a:buSzPts val="1400"/>
              <a:buChar char="○"/>
            </a:pPr>
            <a:r>
              <a:rPr lang="en"/>
              <a:t>Just a Texture2D!</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1">
                                            <p:txEl>
                                              <p:pRg end="1" st="1"/>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sp>
        <p:nvSpPr>
          <p:cNvPr id="116" name="Google Shape;116;p2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1: Drawing Images</a:t>
            </a:r>
            <a:endParaRPr>
              <a:solidFill>
                <a:schemeClr val="accent5"/>
              </a:solidFill>
            </a:endParaRPr>
          </a:p>
        </p:txBody>
      </p:sp>
      <p:sp>
        <p:nvSpPr>
          <p:cNvPr id="117" name="Google Shape;117;p22"/>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draw the background and the ground.</a:t>
            </a:r>
            <a:endParaRPr/>
          </a:p>
        </p:txBody>
      </p:sp>
      <p:pic>
        <p:nvPicPr>
          <p:cNvPr id="118" name="Picture 117" descr="f2.png"/>
          <p:cNvPicPr>
            <a:picLocks noChangeAspect="1"/>
          </p:cNvPicPr>
          <p:nvPr/>
        </p:nvPicPr>
        <p:blipFill>
          <a:blip r:embed="rId5"/>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7">
                                            <p:txEl>
                                              <p:pRg end="2" st="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2" name="Shape 122"/>
        <p:cNvGrpSpPr/>
        <p:nvPr/>
      </p:nvGrpSpPr>
      <p:grpSpPr>
        <a:xfrm>
          <a:off x="0" y="0"/>
          <a:ext cx="0" cy="0"/>
          <a:chOff x="0" y="0"/>
          <a:chExt cx="0" cy="0"/>
        </a:xfrm>
      </p:grpSpPr>
      <p:sp>
        <p:nvSpPr>
          <p:cNvPr id="123" name="Google Shape;123;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Parallax Scrolling</a:t>
            </a:r>
            <a:endParaRPr/>
          </a:p>
        </p:txBody>
      </p:sp>
      <p:pic>
        <p:nvPicPr>
          <p:cNvPr id="124" name="Google Shape;124;p23" title="Parallax_scroll.gif"/>
          <p:cNvPicPr preferRelativeResize="0"/>
          <p:nvPr/>
        </p:nvPicPr>
        <p:blipFill>
          <a:blip r:embed="rId3">
            <a:alphaModFix/>
          </a:blip>
          <a:stretch>
            <a:fillRect/>
          </a:stretch>
        </p:blipFill>
        <p:spPr>
          <a:xfrm>
            <a:off x="2123225" y="1637625"/>
            <a:ext cx="4897550" cy="3060975"/>
          </a:xfrm>
          <a:prstGeom prst="rect">
            <a:avLst/>
          </a:prstGeom>
          <a:noFill/>
          <a:ln>
            <a:noFill/>
          </a:ln>
        </p:spPr>
      </p:pic>
      <p:sp>
        <p:nvSpPr>
          <p:cNvPr id="125" name="Google Shape;125;p23"/>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Illusion of movement </a:t>
            </a:r>
            <a:r>
              <a:rPr lang="en"/>
              <a:t>given two frames of reference that are moving at different rates</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9" name="Shape 129"/>
        <p:cNvGrpSpPr/>
        <p:nvPr/>
      </p:nvGrpSpPr>
      <p:grpSpPr>
        <a:xfrm>
          <a:off x="0" y="0"/>
          <a:ext cx="0" cy="0"/>
          <a:chOff x="0" y="0"/>
          <a:chExt cx="0" cy="0"/>
        </a:xfrm>
      </p:grpSpPr>
      <p:sp>
        <p:nvSpPr>
          <p:cNvPr id="130" name="Google Shape;130;p2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2: Parallax Scrolling</a:t>
            </a:r>
            <a:endParaRPr>
              <a:solidFill>
                <a:schemeClr val="accent5"/>
              </a:solidFill>
            </a:endParaRPr>
          </a:p>
        </p:txBody>
      </p:sp>
      <p:sp>
        <p:nvSpPr>
          <p:cNvPr id="131" name="Google Shape;131;p24"/>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scroll them forever, the background slower than the ground.</a:t>
            </a:r>
            <a:endParaRPr/>
          </a:p>
          <a:p>
            <a:pPr indent="-330200" lvl="0" marL="457200" rtl="0" algn="l">
              <a:spcBef>
                <a:spcPts val="0"/>
              </a:spcBef>
              <a:spcAft>
                <a:spcPts val="0"/>
              </a:spcAft>
              <a:buSzPts val="1600"/>
              <a:buChar char="●"/>
            </a:pPr>
            <a:r>
              <a:rPr lang="en"/>
              <a:t>Looping points: background 413, ground 512. Try the % operator.</a:t>
            </a:r>
            <a:endParaRPr/>
          </a:p>
        </p:txBody>
      </p:sp>
      <p:pic>
        <p:nvPicPr>
          <p:cNvPr id="132" name="Picture 131" descr="f2.png"/>
          <p:cNvPicPr>
            <a:picLocks noChangeAspect="1"/>
          </p:cNvPicPr>
          <p:nvPr/>
        </p:nvPicPr>
        <p:blipFill>
          <a:blip r:embed="rId3"/>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6" st="6"/>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5" name="Shape 135"/>
        <p:cNvGrpSpPr/>
        <p:nvPr/>
      </p:nvGrpSpPr>
      <p:grpSpPr>
        <a:xfrm>
          <a:off x="0" y="0"/>
          <a:ext cx="0" cy="0"/>
          <a:chOff x="0" y="0"/>
          <a:chExt cx="0" cy="0"/>
        </a:xfrm>
      </p:grpSpPr>
      <p:sp>
        <p:nvSpPr>
          <p:cNvPr id="136" name="Google Shape;136;p2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Games are Illusions</a:t>
            </a:r>
            <a:endParaRPr/>
          </a:p>
        </p:txBody>
      </p:sp>
      <p:pic>
        <p:nvPicPr>
          <p:cNvPr descr="THE NEWER VERSION: https://youtu.be/xFdgkMpVzLo&#10;&#10;I'm so incredibly thankful to everyone who came on for this episode. This was my attempt at making an episode feel as important as the game i was covering. And while i will leave it to the viewers to decide if it was properly pulled off, it wouldnt have had any weight to it without the support of everyone who came on to help it feel that way. Here are links to all the contributors. If you enjoyed this episode, it would mean a lot to me if you checked them out and maybe let them know you appreciated their support as much as I did.&#10;&#10;The intro animator Michael Chin - https://www.youtube.com/user/MichaelChin1994&#10;&#10;Joey Ferris - https://www.youtube.com/user/TheFerrisofWheels&#10;&#10;Zeltik - https://www.youtube.com/channel/UCudx6plmpbs5WtWvsvu-EdQ&#10;&#10;HMK - https://www.youtube.com/user/HMK9CAPN&#10;&#10;Darrin Harr III from www.ZeldaInformer.com - https://www.youtube.com/user/ZeldaInformer&#10;&#10;Voiced by Brandon Acosta and written by Alex Trevino on behalf of www.ZeldaUniverse.com - https://www.youtube.com/user/ZeldaUniverseTV&#10;&#10;Also, you can follow me on twitter if you want screen shots of boundary break-esk stuff throughout the week!:&#10;https://twitter.com/BoundaryBreak&#10;&#10;Source for lower third:&#10;https://youtu.be/IXtr2C8SccQ&#10;&#10;By request of the guy who actually made the map for Haunted Wasteland (he was a very cool guy) Please check out www.VGmaps.com for more video game related maps!" id="137" name="Google Shape;137;p25" title="Boundary Break: Ocarina of Time (OLD - See Description for updated version)">
            <a:hlinkClick r:id="rId3"/>
          </p:cNvPr>
          <p:cNvPicPr preferRelativeResize="0"/>
          <p:nvPr/>
        </p:nvPicPr>
        <p:blipFill>
          <a:blip r:embed="rId4">
            <a:alphaModFix/>
          </a:blip>
          <a:stretch>
            <a:fillRect/>
          </a:stretch>
        </p:blipFill>
        <p:spPr>
          <a:xfrm>
            <a:off x="1907200" y="1456375"/>
            <a:ext cx="5259975" cy="2958725"/>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37"/>
                                        </p:tgtEl>
                                        <p:attrNameLst>
                                          <p:attrName>style.visibility</p:attrName>
                                        </p:attrNameLst>
                                      </p:cBhvr>
                                      <p:to>
                                        <p:strVal val="visible"/>
                                      </p:to>
                                    </p:set>
                                    <p:animEffect filter="fade" transition="in">
                                      <p:cBhvr>
                                        <p:cTn dur="1000"/>
                                        <p:tgtEl>
                                          <p:spTgt spid="137"/>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1" name="Shape 141"/>
        <p:cNvGrpSpPr/>
        <p:nvPr/>
      </p:nvGrpSpPr>
      <p:grpSpPr>
        <a:xfrm>
          <a:off x="0" y="0"/>
          <a:ext cx="0" cy="0"/>
          <a:chOff x="0" y="0"/>
          <a:chExt cx="0" cy="0"/>
        </a:xfrm>
      </p:grpSpPr>
      <p:sp>
        <p:nvSpPr>
          <p:cNvPr id="142" name="Google Shape;142;p2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3: The Bird and the Art Class</a:t>
            </a:r>
            <a:endParaRPr>
              <a:solidFill>
                <a:schemeClr val="accent5"/>
              </a:solidFill>
            </a:endParaRPr>
          </a:p>
        </p:txBody>
      </p:sp>
      <p:sp>
        <p:nvSpPr>
          <p:cNvPr id="143" name="Google Shape;143;p26"/>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a Bird class with Update and Draw. But how does it get its texture?</a:t>
            </a:r>
            <a:endParaRPr/>
          </a:p>
        </p:txBody>
      </p:sp>
      <p:sp>
        <p:nvSpPr>
          <p:cNvPr id="144" name="Rounded Rectangle 143"/>
          <p:cNvSpPr/>
          <p:nvPr/>
        </p:nvSpPr>
        <p:spPr>
          <a:xfrm>
            <a:off x="411480" y="1463040"/>
            <a:ext cx="1965960" cy="11430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A static field in Game1</a:t>
            </a:r>
          </a:p>
          <a:p>
            <a:pPr algn="ctr"/>
            <a:r>
              <a:rPr sz="1200" b="0">
                <a:solidFill>
                  <a:srgbClr val="9AA3AB"/>
                </a:solidFill>
              </a:rPr>
              <a:t>breaks encapsulation,</a:t>
            </a:r>
          </a:p>
          <a:p>
            <a:pPr algn="ctr"/>
            <a:r>
              <a:rPr sz="1200" b="0">
                <a:solidFill>
                  <a:srgbClr val="9AA3AB"/>
                </a:solidFill>
              </a:rPr>
              <a:t>Game1 grows</a:t>
            </a:r>
          </a:p>
        </p:txBody>
      </p:sp>
      <p:sp>
        <p:nvSpPr>
          <p:cNvPr id="145" name="Rounded Rectangle 144"/>
          <p:cNvSpPr/>
          <p:nvPr/>
        </p:nvSpPr>
        <p:spPr>
          <a:xfrm>
            <a:off x="2514600" y="1463040"/>
            <a:ext cx="1965960" cy="11430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Pass it in</a:t>
            </a:r>
          </a:p>
          <a:p>
            <a:pPr algn="ctr"/>
            <a:r>
              <a:rPr sz="1200" b="0">
                <a:solidFill>
                  <a:srgbClr val="9AA3AB"/>
                </a:solidFill>
              </a:rPr>
              <a:t>tedious for</a:t>
            </a:r>
          </a:p>
          <a:p>
            <a:pPr algn="ctr"/>
            <a:r>
              <a:rPr sz="1200" b="0">
                <a:solidFill>
                  <a:srgbClr val="9AA3AB"/>
                </a:solidFill>
              </a:rPr>
              <a:t>every new entity</a:t>
            </a:r>
          </a:p>
        </p:txBody>
      </p:sp>
      <p:sp>
        <p:nvSpPr>
          <p:cNvPr id="146" name="Rounded Rectangle 145"/>
          <p:cNvSpPr/>
          <p:nvPr/>
        </p:nvSpPr>
        <p:spPr>
          <a:xfrm>
            <a:off x="4617720" y="1463040"/>
            <a:ext cx="1965960" cy="11430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A static ContentManager</a:t>
            </a:r>
          </a:p>
          <a:p>
            <a:pPr algn="ctr"/>
            <a:r>
              <a:rPr sz="1200" b="0">
                <a:solidFill>
                  <a:srgbClr val="9AA3AB"/>
                </a:solidFill>
              </a:rPr>
              <a:t>everything can</a:t>
            </a:r>
          </a:p>
          <a:p>
            <a:pPr algn="ctr"/>
            <a:r>
              <a:rPr sz="1200" b="0">
                <a:solidFill>
                  <a:srgbClr val="9AA3AB"/>
                </a:solidFill>
              </a:rPr>
              <a:t>load anything</a:t>
            </a:r>
          </a:p>
        </p:txBody>
      </p:sp>
      <p:sp>
        <p:nvSpPr>
          <p:cNvPr id="147" name="Rounded Rectangle 146"/>
          <p:cNvSpPr/>
          <p:nvPr/>
        </p:nvSpPr>
        <p:spPr>
          <a:xfrm>
            <a:off x="6720840" y="1463040"/>
            <a:ext cx="1965960" cy="114300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A static Art class</a:t>
            </a:r>
          </a:p>
          <a:p>
            <a:pPr algn="ctr"/>
            <a:r>
              <a:rPr sz="1200" b="0">
                <a:solidFill>
                  <a:srgbClr val="9AA3AB"/>
                </a:solidFill>
              </a:rPr>
              <a:t>one place</a:t>
            </a:r>
          </a:p>
          <a:p>
            <a:pPr algn="ctr"/>
            <a:r>
              <a:rPr sz="1200" b="0">
                <a:solidFill>
                  <a:srgbClr val="9AA3AB"/>
                </a:solidFill>
              </a:rPr>
              <a:t>for every asset</a:t>
            </a:r>
          </a:p>
        </p:txBody>
      </p:sp>
      <p:sp>
        <p:nvSpPr>
          <p:cNvPr id="148" name="TextBox 147"/>
          <p:cNvSpPr txBox="1"/>
          <p:nvPr/>
        </p:nvSpPr>
        <p:spPr>
          <a:xfrm>
            <a:off x="457200" y="2926080"/>
            <a:ext cx="8229600" cy="731520"/>
          </a:xfrm>
          <a:prstGeom prst="rect">
            <a:avLst/>
          </a:prstGeom>
          <a:noFill/>
        </p:spPr>
        <p:txBody>
          <a:bodyPr wrap="square">
            <a:spAutoFit/>
          </a:bodyPr>
          <a:lstStyle/>
          <a:p>
            <a:pPr algn="ctr"/>
            <a:r>
              <a:rPr sz="1500" b="1" i="0">
                <a:solidFill>
                  <a:srgbClr val="DEE2E6"/>
                </a:solidFill>
              </a:rPr>
              <a:t>Which would you pick? We go with Art, and move the background and ground into it too.</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3" st="1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sp>
        <p:nvSpPr>
          <p:cNvPr id="148" name="Google Shape;148;p2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4: Gravity</a:t>
            </a:r>
            <a:endParaRPr>
              <a:solidFill>
                <a:schemeClr val="accent5"/>
              </a:solidFill>
            </a:endParaRPr>
          </a:p>
        </p:txBody>
      </p:sp>
      <p:sp>
        <p:nvSpPr>
          <p:cNvPr id="149" name="Google Shape;149;p27"/>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gravity. A velocity that grows every frame, scaled by delta time.</a:t>
            </a:r>
            <a:endParaRPr/>
          </a:p>
        </p:txBody>
      </p:sp>
      <p:pic>
        <p:nvPicPr>
          <p:cNvPr id="150" name="Picture 149" descr="f3.png"/>
          <p:cNvPicPr>
            <a:picLocks noChangeAspect="1"/>
          </p:cNvPicPr>
          <p:nvPr/>
        </p:nvPicPr>
        <p:blipFill>
          <a:blip r:embed="rId3"/>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9">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9">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9">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9">
                                            <p:txEl>
                                              <p:pRg end="3" st="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 name="Shape 153"/>
        <p:cNvGrpSpPr/>
        <p:nvPr/>
      </p:nvGrpSpPr>
      <p:grpSpPr>
        <a:xfrm>
          <a:off x="0" y="0"/>
          <a:ext cx="0" cy="0"/>
          <a:chOff x="0" y="0"/>
          <a:chExt cx="0" cy="0"/>
        </a:xfrm>
      </p:grpSpPr>
      <p:sp>
        <p:nvSpPr>
          <p:cNvPr id="154" name="Google Shape;154;p2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5: An Input Manager</a:t>
            </a:r>
            <a:endParaRPr>
              <a:solidFill>
                <a:schemeClr val="accent5"/>
              </a:solidFill>
            </a:endParaRPr>
          </a:p>
        </p:txBody>
      </p:sp>
      <p:sp>
        <p:nvSpPr>
          <p:cNvPr id="155" name="Google Shape;155;p28"/>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flap on Space or a click, with input classes in GMDCore.</a:t>
            </a:r>
            <a:endParaRPr/>
          </a:p>
        </p:txBody>
      </p:sp>
      <p:sp>
        <p:nvSpPr>
          <p:cNvPr id="156" name="Rounded Rectangle 155"/>
          <p:cNvSpPr/>
          <p:nvPr/>
        </p:nvSpPr>
        <p:spPr>
          <a:xfrm>
            <a:off x="3108960" y="1417320"/>
            <a:ext cx="2926080" cy="64008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InputManager</a:t>
            </a:r>
          </a:p>
          <a:p>
            <a:pPr algn="ctr"/>
            <a:r>
              <a:rPr sz="1300" b="0">
                <a:solidFill>
                  <a:srgbClr val="9AA3AB"/>
                </a:solidFill>
              </a:rPr>
              <a:t>updated by Core, every frame</a:t>
            </a:r>
          </a:p>
        </p:txBody>
      </p:sp>
      <p:sp>
        <p:nvSpPr>
          <p:cNvPr id="157" name="Rounded Rectangle 156"/>
          <p:cNvSpPr/>
          <p:nvPr/>
        </p:nvSpPr>
        <p:spPr>
          <a:xfrm>
            <a:off x="914400" y="2560320"/>
            <a:ext cx="3291840" cy="8229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KeyboardInfo</a:t>
            </a:r>
          </a:p>
          <a:p>
            <a:pPr algn="ctr"/>
            <a:r>
              <a:rPr sz="1300" b="0">
                <a:solidFill>
                  <a:srgbClr val="9AA3AB"/>
                </a:solidFill>
              </a:rPr>
              <a:t>IsKeyDown · WasKeyJustPressed</a:t>
            </a:r>
          </a:p>
        </p:txBody>
      </p:sp>
      <p:sp>
        <p:nvSpPr>
          <p:cNvPr id="158" name="Rounded Rectangle 157"/>
          <p:cNvSpPr/>
          <p:nvPr/>
        </p:nvSpPr>
        <p:spPr>
          <a:xfrm>
            <a:off x="4937760" y="2560320"/>
            <a:ext cx="3291840" cy="8229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MouseInfo</a:t>
            </a:r>
          </a:p>
          <a:p>
            <a:pPr algn="ctr"/>
            <a:r>
              <a:rPr sz="1300" b="0">
                <a:solidFill>
                  <a:srgbClr val="9AA3AB"/>
                </a:solidFill>
              </a:rPr>
              <a:t>Position · WasLeftButtonJustPressed</a:t>
            </a:r>
          </a:p>
        </p:txBody>
      </p:sp>
      <p:cxnSp>
        <p:nvCxnSpPr>
          <p:cNvPr id="159" name="Connector 158"/>
          <p:cNvCxnSpPr/>
          <p:nvPr/>
        </p:nvCxnSpPr>
        <p:spPr>
          <a:xfrm flipH="1">
            <a:off x="2926080" y="2075688"/>
            <a:ext cx="914400" cy="46634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cxnSp>
        <p:nvCxnSpPr>
          <p:cNvPr id="160" name="Connector 159"/>
          <p:cNvCxnSpPr/>
          <p:nvPr/>
        </p:nvCxnSpPr>
        <p:spPr>
          <a:xfrm>
            <a:off x="5303520" y="2075688"/>
            <a:ext cx="914400" cy="46634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161" name="TextBox 160"/>
          <p:cNvSpPr txBox="1"/>
          <p:nvPr/>
        </p:nvSpPr>
        <p:spPr>
          <a:xfrm>
            <a:off x="914400" y="3566160"/>
            <a:ext cx="7315200" cy="365760"/>
          </a:xfrm>
          <a:prstGeom prst="rect">
            <a:avLst/>
          </a:prstGeom>
          <a:noFill/>
        </p:spPr>
        <p:txBody>
          <a:bodyPr wrap="square">
            <a:spAutoFit/>
          </a:bodyPr>
          <a:lstStyle/>
          <a:p>
            <a:pPr algn="ctr"/>
            <a:r>
              <a:rPr sz="1300" b="0" i="0">
                <a:solidFill>
                  <a:srgbClr val="9AA3AB"/>
                </a:solidFill>
              </a:rPr>
              <a:t>A flap sets the vertical velocity to an upward jump force. Remember: y points down.</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3" st="1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Procedural Generation</a:t>
            </a:r>
            <a:endParaRPr/>
          </a:p>
        </p:txBody>
      </p:sp>
      <p:pic>
        <p:nvPicPr>
          <p:cNvPr id="161" name="Google Shape;161;p29"/>
          <p:cNvPicPr preferRelativeResize="0"/>
          <p:nvPr/>
        </p:nvPicPr>
        <p:blipFill>
          <a:blip r:embed="rId3">
            <a:alphaModFix/>
          </a:blip>
          <a:stretch>
            <a:fillRect/>
          </a:stretch>
        </p:blipFill>
        <p:spPr>
          <a:xfrm>
            <a:off x="1527738" y="954840"/>
            <a:ext cx="6088525" cy="4070387"/>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3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6: Spawning on a Timer</a:t>
            </a:r>
            <a:endParaRPr>
              <a:solidFill>
                <a:schemeClr val="accent5"/>
              </a:solidFill>
            </a:endParaRPr>
          </a:p>
        </p:txBody>
      </p:sp>
      <p:sp>
        <p:nvSpPr>
          <p:cNvPr id="167" name="Google Shape;167;p30"/>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pipes that spawn on a timer at random heights, and scroll left.</a:t>
            </a:r>
            <a:endParaRPr/>
          </a:p>
          <a:p>
            <a:pPr indent="-330200" lvl="0" marL="457200" rtl="0" algn="l">
              <a:spcBef>
                <a:spcPts val="0"/>
              </a:spcBef>
              <a:spcAft>
                <a:spcPts val="0"/>
              </a:spcAft>
              <a:buSzPts val="1600"/>
              <a:buChar char="●"/>
            </a:pPr>
            <a:r>
              <a:rPr lang="en"/>
              <a:t>A Pipe class, a spawn timer, and a list of pipes.</a:t>
            </a:r>
            <a:endParaRPr/>
          </a:p>
        </p:txBody>
      </p:sp>
      <p:pic>
        <p:nvPicPr>
          <p:cNvPr id="168" name="Picture 167" descr="f6.png"/>
          <p:cNvPicPr>
            <a:picLocks noChangeAspect="1"/>
          </p:cNvPicPr>
          <p:nvPr/>
        </p:nvPicPr>
        <p:blipFill>
          <a:blip r:embed="rId4"/>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Picture 172" descr="flappy_zones.png"/>
          <p:cNvPicPr>
            <a:picLocks noChangeAspect="1"/>
          </p:cNvPicPr>
          <p:nvPr/>
        </p:nvPicPr>
        <p:blipFill>
          <a:blip r:embed="rId4"/>
          <a:stretch>
            <a:fillRect/>
          </a:stretch>
        </p:blipFill>
        <p:spPr>
          <a:xfrm>
            <a:off x="1521325" y="332167"/>
            <a:ext cx="6101351" cy="4479166"/>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6" name="Shape 176"/>
        <p:cNvGrpSpPr/>
        <p:nvPr/>
      </p:nvGrpSpPr>
      <p:grpSpPr>
        <a:xfrm>
          <a:off x="0" y="0"/>
          <a:ext cx="0" cy="0"/>
          <a:chOff x="0" y="0"/>
          <a:chExt cx="0" cy="0"/>
        </a:xfrm>
      </p:grpSpPr>
      <p:sp>
        <p:nvSpPr>
          <p:cNvPr id="177" name="Google Shape;177;p3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7: A Drifting Gap</a:t>
            </a:r>
            <a:endParaRPr>
              <a:solidFill>
                <a:schemeClr val="accent5"/>
              </a:solidFill>
            </a:endParaRPr>
          </a:p>
        </p:txBody>
      </p:sp>
      <p:sp>
        <p:nvSpPr>
          <p:cNvPr id="178" name="Google Shape;178;p32"/>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pipes in pairs with a gap, the gap drifting smoothly up and down.</a:t>
            </a:r>
            <a:endParaRPr/>
          </a:p>
          <a:p>
            <a:pPr indent="-330200" lvl="0" marL="457200" rtl="0" algn="l">
              <a:spcBef>
                <a:spcPts val="0"/>
              </a:spcBef>
              <a:spcAft>
                <a:spcPts val="0"/>
              </a:spcAft>
              <a:buSzPts val="1600"/>
              <a:buChar char="●"/>
            </a:pPr>
            <a:r>
              <a:rPr lang="en"/>
              <a:t>A PipePair wraps two pipes; pairs that leave the screen are removed.</a:t>
            </a:r>
            <a:endParaRPr/>
          </a:p>
        </p:txBody>
      </p:sp>
      <p:pic>
        <p:nvPicPr>
          <p:cNvPr id="179" name="Picture 178" descr="f7.png"/>
          <p:cNvPicPr>
            <a:picLocks noChangeAspect="1"/>
          </p:cNvPicPr>
          <p:nvPr/>
        </p:nvPicPr>
        <p:blipFill>
          <a:blip r:embed="rId5"/>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3" st="1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4" st="1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5" st="1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6" st="1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7" st="1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8" st="18"/>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2" name="Shape 182"/>
        <p:cNvGrpSpPr/>
        <p:nvPr/>
      </p:nvGrpSpPr>
      <p:grpSpPr>
        <a:xfrm>
          <a:off x="0" y="0"/>
          <a:ext cx="0" cy="0"/>
          <a:chOff x="0" y="0"/>
          <a:chExt cx="0" cy="0"/>
        </a:xfrm>
      </p:grpSpPr>
      <p:sp>
        <p:nvSpPr>
          <p:cNvPr id="183" name="Google Shape;183;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Collisions</a:t>
            </a:r>
            <a:endParaRPr/>
          </a:p>
        </p:txBody>
      </p:sp>
      <p:sp>
        <p:nvSpPr>
          <p:cNvPr id="184" name="Google Shape;184;p33"/>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How can we do collision detection?</a:t>
            </a:r>
            <a:endParaRPr/>
          </a:p>
          <a:p>
            <a:pPr indent="-317500" lvl="1" marL="914400" rtl="0" algn="l">
              <a:spcBef>
                <a:spcPts val="0"/>
              </a:spcBef>
              <a:spcAft>
                <a:spcPts val="0"/>
              </a:spcAft>
              <a:buSzPts val="1400"/>
              <a:buChar char="○"/>
            </a:pPr>
            <a:r>
              <a:rPr lang="en"/>
              <a:t>AABB, as in Pong</a:t>
            </a:r>
            <a:endParaRPr/>
          </a:p>
          <a:p>
            <a:pPr indent="0" lvl="0" marL="0" rtl="0" algn="l">
              <a:spcBef>
                <a:spcPts val="1200"/>
              </a:spcBef>
              <a:spcAft>
                <a:spcPts val="0"/>
              </a:spcAft>
              <a:buNone/>
            </a:pPr>
            <a:r>
              <a:rPr/>
              <a:t/>
            </a:r>
            <a:endParaRPr/>
          </a:p>
          <a:p>
            <a:pPr indent="0" lvl="0" marL="0" rtl="0" algn="l">
              <a:spcBef>
                <a:spcPts val="1200"/>
              </a:spcBef>
              <a:spcAft>
                <a:spcPts val="1200"/>
              </a:spcAft>
              <a:buNone/>
            </a:pPr>
            <a:r>
              <a:rPr/>
              <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3" st="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8" name="Shape 188"/>
        <p:cNvGrpSpPr/>
        <p:nvPr/>
      </p:nvGrpSpPr>
      <p:grpSpPr>
        <a:xfrm>
          <a:off x="0" y="0"/>
          <a:ext cx="0" cy="0"/>
          <a:chOff x="0" y="0"/>
          <a:chExt cx="0" cy="0"/>
        </a:xfrm>
      </p:grpSpPr>
      <p:sp>
        <p:nvSpPr>
          <p:cNvPr id="189" name="Google Shape;189;p3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8: Hitboxes</a:t>
            </a:r>
            <a:endParaRPr>
              <a:solidFill>
                <a:schemeClr val="accent5"/>
              </a:solidFill>
            </a:endParaRPr>
          </a:p>
        </p:txBody>
      </p:sp>
      <p:sp>
        <p:nvSpPr>
          <p:cNvPr id="190" name="Google Shape;190;p34"/>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the game stops when the bird hits a pipe, the ground or the ceiling.</a:t>
            </a:r>
            <a:endParaRPr/>
          </a:p>
          <a:p>
            <a:pPr indent="-330200" lvl="0" marL="457200" rtl="0" algn="l">
              <a:spcBef>
                <a:spcPts val="0"/>
              </a:spcBef>
              <a:spcAft>
                <a:spcPts val="0"/>
              </a:spcAft>
              <a:buSzPts val="1600"/>
              <a:buChar char="●"/>
            </a:pPr>
            <a:r>
              <a:rPr lang="en"/>
              <a:t>Can you make the collisions a little more forgiving?</a:t>
            </a:r>
            <a:endParaRPr/>
          </a:p>
        </p:txBody>
      </p:sp>
      <p:pic>
        <p:nvPicPr>
          <p:cNvPr id="191" name="Picture 190" descr="f8.png"/>
          <p:cNvPicPr>
            <a:picLocks noChangeAspect="1"/>
          </p:cNvPicPr>
          <p:nvPr/>
        </p:nvPicPr>
        <p:blipFill>
          <a:blip r:embed="rId3"/>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7" st="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4" name="Shape 194"/>
        <p:cNvGrpSpPr/>
        <p:nvPr/>
      </p:nvGrpSpPr>
      <p:grpSpPr>
        <a:xfrm>
          <a:off x="0" y="0"/>
          <a:ext cx="0" cy="0"/>
          <a:chOff x="0" y="0"/>
          <a:chExt cx="0" cy="0"/>
        </a:xfrm>
      </p:grpSpPr>
      <p:sp>
        <p:nvSpPr>
          <p:cNvPr id="195" name="Google Shape;195;p3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State</a:t>
            </a:r>
            <a:endParaRPr/>
          </a:p>
        </p:txBody>
      </p:sp>
      <p:sp>
        <p:nvSpPr>
          <p:cNvPr id="196" name="Google Shape;196;p3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Do you remember how game state was handled in the Pong game?</a:t>
            </a:r>
            <a:endParaRPr/>
          </a:p>
          <a:p>
            <a:pPr indent="-317500" lvl="1" marL="914400" rtl="0" algn="l">
              <a:spcBef>
                <a:spcPts val="0"/>
              </a:spcBef>
              <a:spcAft>
                <a:spcPts val="0"/>
              </a:spcAft>
              <a:buSzPts val="1400"/>
              <a:buChar char="○"/>
            </a:pPr>
            <a:r>
              <a:rPr lang="en"/>
              <a:t>Why is this potentially “problematic”?</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6">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6">
                                            <p:txEl>
                                              <p:pRg end="1" st="1"/>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0" name="Shape 200"/>
        <p:cNvGrpSpPr/>
        <p:nvPr/>
      </p:nvGrpSpPr>
      <p:grpSpPr>
        <a:xfrm>
          <a:off x="0" y="0"/>
          <a:ext cx="0" cy="0"/>
          <a:chOff x="0" y="0"/>
          <a:chExt cx="0" cy="0"/>
        </a:xfrm>
      </p:grpSpPr>
      <p:sp>
        <p:nvSpPr>
          <p:cNvPr id="201" name="Google Shape;201;p3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Flappy Bird State Machine</a:t>
            </a:r>
            <a:endParaRPr/>
          </a:p>
        </p:txBody>
      </p:sp>
      <p:pic>
        <p:nvPicPr>
          <p:cNvPr id="202" name="Google Shape;202;p36"/>
          <p:cNvPicPr preferRelativeResize="0"/>
          <p:nvPr/>
        </p:nvPicPr>
        <p:blipFill>
          <a:blip r:embed="rId3">
            <a:alphaModFix/>
          </a:blip>
          <a:stretch>
            <a:fillRect/>
          </a:stretch>
        </p:blipFill>
        <p:spPr>
          <a:xfrm>
            <a:off x="152400" y="1441590"/>
            <a:ext cx="8839200" cy="3271330"/>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6" name="Shape 206"/>
        <p:cNvGrpSpPr/>
        <p:nvPr/>
      </p:nvGrpSpPr>
      <p:grpSpPr>
        <a:xfrm>
          <a:off x="0" y="0"/>
          <a:ext cx="0" cy="0"/>
          <a:chOff x="0" y="0"/>
          <a:chExt cx="0" cy="0"/>
        </a:xfrm>
      </p:grpSpPr>
      <p:pic>
        <p:nvPicPr>
          <p:cNvPr id="207" name="Google Shape;207;p37"/>
          <p:cNvPicPr preferRelativeResize="0"/>
          <p:nvPr/>
        </p:nvPicPr>
        <p:blipFill>
          <a:blip r:embed="rId3">
            <a:alphaModFix/>
          </a:blip>
          <a:stretch>
            <a:fillRect/>
          </a:stretch>
        </p:blipFill>
        <p:spPr>
          <a:xfrm>
            <a:off x="2261863" y="152400"/>
            <a:ext cx="4620269" cy="4838699"/>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1" name="Shape 211"/>
        <p:cNvGrpSpPr/>
        <p:nvPr/>
      </p:nvGrpSpPr>
      <p:grpSpPr>
        <a:xfrm>
          <a:off x="0" y="0"/>
          <a:ext cx="0" cy="0"/>
          <a:chOff x="0" y="0"/>
          <a:chExt cx="0" cy="0"/>
        </a:xfrm>
      </p:grpSpPr>
      <p:sp>
        <p:nvSpPr>
          <p:cNvPr id="212" name="Google Shape;212;p3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Interfaces</a:t>
            </a:r>
            <a:endParaRPr/>
          </a:p>
        </p:txBody>
      </p:sp>
      <p:sp>
        <p:nvSpPr>
          <p:cNvPr id="213" name="Google Shape;213;p38"/>
          <p:cNvSpPr txBox="1"/>
          <p:nvPr>
            <p:ph idx="2" type="body"/>
          </p:nvPr>
        </p:nvSpPr>
        <p:spPr>
          <a:xfrm>
            <a:off x="4832400" y="886075"/>
            <a:ext cx="3999900" cy="37146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class</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PlayState</a:t>
            </a:r>
            <a:r>
              <a:rPr lang="en" sz="1000">
                <a:solidFill>
                  <a:srgbClr val="CCCCCC"/>
                </a:solidFill>
                <a:highlight>
                  <a:srgbClr val="1F1F1F"/>
                </a:highlight>
                <a:latin typeface="Consolas"/>
                <a:ea typeface="Consolas"/>
                <a:cs typeface="Consolas"/>
                <a:sym typeface="Consolas"/>
              </a:rPr>
              <a:t> : </a:t>
            </a:r>
            <a:r>
              <a:rPr lang="en" sz="1000">
                <a:solidFill>
                  <a:srgbClr val="4EC9B0"/>
                </a:solidFill>
                <a:highlight>
                  <a:srgbClr val="1F1F1F"/>
                </a:highlight>
                <a:latin typeface="Consolas"/>
                <a:ea typeface="Consolas"/>
                <a:cs typeface="Consolas"/>
                <a:sym typeface="Consolas"/>
              </a:rPr>
              <a:t>IState</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Enter</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Exit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Update</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Draw</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
        <p:nvSpPr>
          <p:cNvPr id="214" name="Google Shape;214;p38"/>
          <p:cNvSpPr txBox="1"/>
          <p:nvPr>
            <p:ph idx="2" type="body"/>
          </p:nvPr>
        </p:nvSpPr>
        <p:spPr>
          <a:xfrm>
            <a:off x="311700" y="886075"/>
            <a:ext cx="3999900" cy="17970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interface</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IState</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Enter</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Exit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Update</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Draw</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4"/>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8" name="Shape 218"/>
        <p:cNvGrpSpPr/>
        <p:nvPr/>
      </p:nvGrpSpPr>
      <p:grpSpPr>
        <a:xfrm>
          <a:off x="0" y="0"/>
          <a:ext cx="0" cy="0"/>
          <a:chOff x="0" y="0"/>
          <a:chExt cx="0" cy="0"/>
        </a:xfrm>
      </p:grpSpPr>
      <p:sp>
        <p:nvSpPr>
          <p:cNvPr id="219" name="Google Shape;219;p39"/>
          <p:cNvSpPr txBox="1"/>
          <p:nvPr>
            <p:ph idx="2" type="body"/>
          </p:nvPr>
        </p:nvSpPr>
        <p:spPr>
          <a:xfrm>
            <a:off x="2231700" y="201900"/>
            <a:ext cx="4680600" cy="47397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class</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StateMachine</a:t>
            </a:r>
            <a:r>
              <a:rPr lang="en" sz="800">
                <a:solidFill>
                  <a:srgbClr val="CCCCCC"/>
                </a:solidFill>
                <a:highlight>
                  <a:srgbClr val="1F1F1F"/>
                </a:highlight>
                <a:latin typeface="Consolas"/>
                <a:ea typeface="Consolas"/>
                <a:cs typeface="Consolas"/>
                <a:sym typeface="Consolas"/>
              </a:rPr>
              <a:t>(</a:t>
            </a:r>
            <a:r>
              <a:rPr lang="en" sz="800">
                <a:solidFill>
                  <a:srgbClr val="4EC9B0"/>
                </a:solidFill>
                <a:highlight>
                  <a:srgbClr val="1F1F1F"/>
                </a:highlight>
                <a:latin typeface="Consolas"/>
                <a:ea typeface="Consolas"/>
                <a:cs typeface="Consolas"/>
                <a:sym typeface="Consolas"/>
              </a:rPr>
              <a:t>Game1</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game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private</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IState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TitleState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TitleState</a:t>
            </a:r>
            <a:r>
              <a:rPr lang="en" sz="800">
                <a:solidFill>
                  <a:srgbClr val="CCCCCC"/>
                </a:solidFill>
                <a:highlight>
                  <a:srgbClr val="1F1F1F"/>
                </a:highlight>
                <a:latin typeface="Consolas"/>
                <a:ea typeface="Consolas"/>
                <a:cs typeface="Consolas"/>
                <a:sym typeface="Consolas"/>
              </a:rPr>
              <a:t> { </a:t>
            </a:r>
            <a:r>
              <a:rPr lang="en" sz="800">
                <a:solidFill>
                  <a:srgbClr val="569CD6"/>
                </a:solidFill>
                <a:highlight>
                  <a:srgbClr val="1F1F1F"/>
                </a:highlight>
                <a:latin typeface="Consolas"/>
                <a:ea typeface="Consolas"/>
                <a:cs typeface="Consolas"/>
                <a:sym typeface="Consolas"/>
              </a:rPr>
              <a:t>get</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private</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set</a:t>
            </a:r>
            <a:r>
              <a:rPr lang="en" sz="800">
                <a:solidFill>
                  <a:srgbClr val="CCCCCC"/>
                </a:solidFill>
                <a:highlight>
                  <a:srgbClr val="1F1F1F"/>
                </a:highlight>
                <a:latin typeface="Consolas"/>
                <a:ea typeface="Consolas"/>
                <a:cs typeface="Consolas"/>
                <a:sym typeface="Consolas"/>
              </a:rPr>
              <a:t>; } </a:t>
            </a:r>
            <a:r>
              <a:rPr lang="en" sz="800">
                <a:solidFill>
                  <a:srgbClr val="D4D4D4"/>
                </a:solidFill>
                <a:highlight>
                  <a:srgbClr val="1F1F1F"/>
                </a:highlight>
                <a:latin typeface="Consolas"/>
                <a:ea typeface="Consolas"/>
                <a:cs typeface="Consolas"/>
                <a:sym typeface="Consolas"/>
              </a:rPr>
              <a:t>=</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new</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TitleState</a:t>
            </a:r>
            <a:r>
              <a:rPr lang="en" sz="800">
                <a:solidFill>
                  <a:srgbClr val="CCCCCC"/>
                </a:solidFill>
                <a:highlight>
                  <a:srgbClr val="1F1F1F"/>
                </a:highlight>
                <a:latin typeface="Consolas"/>
                <a:ea typeface="Consolas"/>
                <a:cs typeface="Consolas"/>
                <a:sym typeface="Consolas"/>
              </a:rPr>
              <a:t>(</a:t>
            </a:r>
            <a:r>
              <a:rPr lang="en" sz="800">
                <a:solidFill>
                  <a:srgbClr val="9CDCFE"/>
                </a:solidFill>
                <a:highlight>
                  <a:srgbClr val="1F1F1F"/>
                </a:highlight>
                <a:latin typeface="Consolas"/>
                <a:ea typeface="Consolas"/>
                <a:cs typeface="Consolas"/>
                <a:sym typeface="Consolas"/>
              </a:rPr>
              <a:t>game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PlayState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PlayState</a:t>
            </a:r>
            <a:r>
              <a:rPr lang="en" sz="800">
                <a:solidFill>
                  <a:srgbClr val="CCCCCC"/>
                </a:solidFill>
                <a:highlight>
                  <a:srgbClr val="1F1F1F"/>
                </a:highlight>
                <a:latin typeface="Consolas"/>
                <a:ea typeface="Consolas"/>
                <a:cs typeface="Consolas"/>
                <a:sym typeface="Consolas"/>
              </a:rPr>
              <a:t> { </a:t>
            </a:r>
            <a:r>
              <a:rPr lang="en" sz="800">
                <a:solidFill>
                  <a:srgbClr val="569CD6"/>
                </a:solidFill>
                <a:highlight>
                  <a:srgbClr val="1F1F1F"/>
                </a:highlight>
                <a:latin typeface="Consolas"/>
                <a:ea typeface="Consolas"/>
                <a:cs typeface="Consolas"/>
                <a:sym typeface="Consolas"/>
              </a:rPr>
              <a:t>get</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private</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set</a:t>
            </a:r>
            <a:r>
              <a:rPr lang="en" sz="800">
                <a:solidFill>
                  <a:srgbClr val="CCCCCC"/>
                </a:solidFill>
                <a:highlight>
                  <a:srgbClr val="1F1F1F"/>
                </a:highlight>
                <a:latin typeface="Consolas"/>
                <a:ea typeface="Consolas"/>
                <a:cs typeface="Consolas"/>
                <a:sym typeface="Consolas"/>
              </a:rPr>
              <a:t>; } </a:t>
            </a:r>
            <a:r>
              <a:rPr lang="en" sz="800">
                <a:solidFill>
                  <a:srgbClr val="D4D4D4"/>
                </a:solidFill>
                <a:highlight>
                  <a:srgbClr val="1F1F1F"/>
                </a:highlight>
                <a:latin typeface="Consolas"/>
                <a:ea typeface="Consolas"/>
                <a:cs typeface="Consolas"/>
                <a:sym typeface="Consolas"/>
              </a:rPr>
              <a:t>=</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new</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PlayState</a:t>
            </a:r>
            <a:r>
              <a:rPr lang="en" sz="800">
                <a:solidFill>
                  <a:srgbClr val="CCCCCC"/>
                </a:solidFill>
                <a:highlight>
                  <a:srgbClr val="1F1F1F"/>
                </a:highlight>
                <a:latin typeface="Consolas"/>
                <a:ea typeface="Consolas"/>
                <a:cs typeface="Consolas"/>
                <a:sym typeface="Consolas"/>
              </a:rPr>
              <a:t>(</a:t>
            </a:r>
            <a:r>
              <a:rPr lang="en" sz="800">
                <a:solidFill>
                  <a:srgbClr val="9CDCFE"/>
                </a:solidFill>
                <a:highlight>
                  <a:srgbClr val="1F1F1F"/>
                </a:highlight>
                <a:latin typeface="Consolas"/>
                <a:ea typeface="Consolas"/>
                <a:cs typeface="Consolas"/>
                <a:sym typeface="Consolas"/>
              </a:rPr>
              <a:t>game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void</a:t>
            </a:r>
            <a:r>
              <a:rPr lang="en" sz="800">
                <a:solidFill>
                  <a:srgbClr val="CCCCCC"/>
                </a:solidFill>
                <a:highlight>
                  <a:srgbClr val="1F1F1F"/>
                </a:highlight>
                <a:latin typeface="Consolas"/>
                <a:ea typeface="Consolas"/>
                <a:cs typeface="Consolas"/>
                <a:sym typeface="Consolas"/>
              </a:rPr>
              <a:t> </a:t>
            </a:r>
            <a:r>
              <a:rPr lang="en" sz="800">
                <a:solidFill>
                  <a:srgbClr val="DCDCAA"/>
                </a:solidFill>
                <a:highlight>
                  <a:srgbClr val="1F1F1F"/>
                </a:highlight>
                <a:latin typeface="Consolas"/>
                <a:ea typeface="Consolas"/>
                <a:cs typeface="Consolas"/>
                <a:sym typeface="Consolas"/>
              </a:rPr>
              <a:t>ChangeState</a:t>
            </a:r>
            <a:r>
              <a:rPr lang="en" sz="800">
                <a:solidFill>
                  <a:srgbClr val="CCCCCC"/>
                </a:solidFill>
                <a:highlight>
                  <a:srgbClr val="1F1F1F"/>
                </a:highlight>
                <a:latin typeface="Consolas"/>
                <a:ea typeface="Consolas"/>
                <a:cs typeface="Consolas"/>
                <a:sym typeface="Consolas"/>
              </a:rPr>
              <a:t>(</a:t>
            </a:r>
            <a:r>
              <a:rPr lang="en" sz="800">
                <a:solidFill>
                  <a:srgbClr val="4EC9B0"/>
                </a:solidFill>
                <a:highlight>
                  <a:srgbClr val="1F1F1F"/>
                </a:highlight>
                <a:latin typeface="Consolas"/>
                <a:ea typeface="Consolas"/>
                <a:cs typeface="Consolas"/>
                <a:sym typeface="Consolas"/>
              </a:rPr>
              <a:t>IState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newState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D4D4D4"/>
                </a:solidFill>
                <a:highlight>
                  <a:srgbClr val="1F1F1F"/>
                </a:highlight>
                <a:latin typeface="Consolas"/>
                <a:ea typeface="Consolas"/>
                <a:cs typeface="Consolas"/>
                <a:sym typeface="Consolas"/>
              </a:rPr>
              <a:t>?.</a:t>
            </a:r>
            <a:r>
              <a:rPr lang="en" sz="800">
                <a:solidFill>
                  <a:srgbClr val="DCDCAA"/>
                </a:solidFill>
                <a:highlight>
                  <a:srgbClr val="1F1F1F"/>
                </a:highlight>
                <a:latin typeface="Consolas"/>
                <a:ea typeface="Consolas"/>
                <a:cs typeface="Consolas"/>
                <a:sym typeface="Consolas"/>
              </a:rPr>
              <a:t>Exit</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CCCCCC"/>
                </a:solidFill>
                <a:highlight>
                  <a:srgbClr val="1F1F1F"/>
                </a:highlight>
                <a:latin typeface="Consolas"/>
                <a:ea typeface="Consolas"/>
                <a:cs typeface="Consolas"/>
                <a:sym typeface="Consolas"/>
              </a:rPr>
              <a:t> </a:t>
            </a:r>
            <a:r>
              <a:rPr lang="en" sz="800">
                <a:solidFill>
                  <a:srgbClr val="D4D4D4"/>
                </a:solidFill>
                <a:highlight>
                  <a:srgbClr val="1F1F1F"/>
                </a:highlight>
                <a:latin typeface="Consolas"/>
                <a:ea typeface="Consolas"/>
                <a:cs typeface="Consolas"/>
                <a:sym typeface="Consolas"/>
              </a:rPr>
              <a:t>=</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newState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D4D4D4"/>
                </a:solidFill>
                <a:highlight>
                  <a:srgbClr val="1F1F1F"/>
                </a:highlight>
                <a:latin typeface="Consolas"/>
                <a:ea typeface="Consolas"/>
                <a:cs typeface="Consolas"/>
                <a:sym typeface="Consolas"/>
              </a:rPr>
              <a:t>.</a:t>
            </a:r>
            <a:r>
              <a:rPr lang="en" sz="800">
                <a:solidFill>
                  <a:srgbClr val="DCDCAA"/>
                </a:solidFill>
                <a:highlight>
                  <a:srgbClr val="1F1F1F"/>
                </a:highlight>
                <a:latin typeface="Consolas"/>
                <a:ea typeface="Consolas"/>
                <a:cs typeface="Consolas"/>
                <a:sym typeface="Consolas"/>
              </a:rPr>
              <a:t>Enter</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void</a:t>
            </a:r>
            <a:r>
              <a:rPr lang="en" sz="800">
                <a:solidFill>
                  <a:srgbClr val="CCCCCC"/>
                </a:solidFill>
                <a:highlight>
                  <a:srgbClr val="1F1F1F"/>
                </a:highlight>
                <a:latin typeface="Consolas"/>
                <a:ea typeface="Consolas"/>
                <a:cs typeface="Consolas"/>
                <a:sym typeface="Consolas"/>
              </a:rPr>
              <a:t> </a:t>
            </a:r>
            <a:r>
              <a:rPr lang="en" sz="800">
                <a:solidFill>
                  <a:srgbClr val="DCDCAA"/>
                </a:solidFill>
                <a:highlight>
                  <a:srgbClr val="1F1F1F"/>
                </a:highlight>
                <a:latin typeface="Consolas"/>
                <a:ea typeface="Consolas"/>
                <a:cs typeface="Consolas"/>
                <a:sym typeface="Consolas"/>
              </a:rPr>
              <a:t>Update</a:t>
            </a:r>
            <a:r>
              <a:rPr lang="en" sz="800">
                <a:solidFill>
                  <a:srgbClr val="CCCCCC"/>
                </a:solidFill>
                <a:highlight>
                  <a:srgbClr val="1F1F1F"/>
                </a:highlight>
                <a:latin typeface="Consolas"/>
                <a:ea typeface="Consolas"/>
                <a:cs typeface="Consolas"/>
                <a:sym typeface="Consolas"/>
              </a:rPr>
              <a:t>(</a:t>
            </a:r>
            <a:r>
              <a:rPr lang="en" sz="800">
                <a:solidFill>
                  <a:srgbClr val="4EC9B0"/>
                </a:solidFill>
                <a:highlight>
                  <a:srgbClr val="1F1F1F"/>
                </a:highlight>
                <a:latin typeface="Consolas"/>
                <a:ea typeface="Consolas"/>
                <a:cs typeface="Consolas"/>
                <a:sym typeface="Consolas"/>
              </a:rPr>
              <a:t>GameTime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gameTime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D4D4D4"/>
                </a:solidFill>
                <a:highlight>
                  <a:srgbClr val="1F1F1F"/>
                </a:highlight>
                <a:latin typeface="Consolas"/>
                <a:ea typeface="Consolas"/>
                <a:cs typeface="Consolas"/>
                <a:sym typeface="Consolas"/>
              </a:rPr>
              <a:t>?.</a:t>
            </a:r>
            <a:r>
              <a:rPr lang="en" sz="800">
                <a:solidFill>
                  <a:srgbClr val="DCDCAA"/>
                </a:solidFill>
                <a:highlight>
                  <a:srgbClr val="1F1F1F"/>
                </a:highlight>
                <a:latin typeface="Consolas"/>
                <a:ea typeface="Consolas"/>
                <a:cs typeface="Consolas"/>
                <a:sym typeface="Consolas"/>
              </a:rPr>
              <a:t>Update</a:t>
            </a:r>
            <a:r>
              <a:rPr lang="en" sz="800">
                <a:solidFill>
                  <a:srgbClr val="CCCCCC"/>
                </a:solidFill>
                <a:highlight>
                  <a:srgbClr val="1F1F1F"/>
                </a:highlight>
                <a:latin typeface="Consolas"/>
                <a:ea typeface="Consolas"/>
                <a:cs typeface="Consolas"/>
                <a:sym typeface="Consolas"/>
              </a:rPr>
              <a:t>(</a:t>
            </a:r>
            <a:r>
              <a:rPr lang="en" sz="800">
                <a:solidFill>
                  <a:srgbClr val="9CDCFE"/>
                </a:solidFill>
                <a:highlight>
                  <a:srgbClr val="1F1F1F"/>
                </a:highlight>
                <a:latin typeface="Consolas"/>
                <a:ea typeface="Consolas"/>
                <a:cs typeface="Consolas"/>
                <a:sym typeface="Consolas"/>
              </a:rPr>
              <a:t>gameTime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void</a:t>
            </a:r>
            <a:r>
              <a:rPr lang="en" sz="800">
                <a:solidFill>
                  <a:srgbClr val="CCCCCC"/>
                </a:solidFill>
                <a:highlight>
                  <a:srgbClr val="1F1F1F"/>
                </a:highlight>
                <a:latin typeface="Consolas"/>
                <a:ea typeface="Consolas"/>
                <a:cs typeface="Consolas"/>
                <a:sym typeface="Consolas"/>
              </a:rPr>
              <a:t> </a:t>
            </a:r>
            <a:r>
              <a:rPr lang="en" sz="800">
                <a:solidFill>
                  <a:srgbClr val="DCDCAA"/>
                </a:solidFill>
                <a:highlight>
                  <a:srgbClr val="1F1F1F"/>
                </a:highlight>
                <a:latin typeface="Consolas"/>
                <a:ea typeface="Consolas"/>
                <a:cs typeface="Consolas"/>
                <a:sym typeface="Consolas"/>
              </a:rPr>
              <a:t>Draw</a:t>
            </a:r>
            <a:r>
              <a:rPr lang="en" sz="800">
                <a:solidFill>
                  <a:srgbClr val="CCCCCC"/>
                </a:solidFill>
                <a:highlight>
                  <a:srgbClr val="1F1F1F"/>
                </a:highlight>
                <a:latin typeface="Consolas"/>
                <a:ea typeface="Consolas"/>
                <a:cs typeface="Consolas"/>
                <a:sym typeface="Consolas"/>
              </a:rPr>
              <a:t>(</a:t>
            </a:r>
            <a:r>
              <a:rPr lang="en" sz="800">
                <a:solidFill>
                  <a:srgbClr val="4EC9B0"/>
                </a:solidFill>
                <a:highlight>
                  <a:srgbClr val="1F1F1F"/>
                </a:highlight>
                <a:latin typeface="Consolas"/>
                <a:ea typeface="Consolas"/>
                <a:cs typeface="Consolas"/>
                <a:sym typeface="Consolas"/>
              </a:rPr>
              <a:t>SpriteBatch</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spriteBatch</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D4D4D4"/>
                </a:solidFill>
                <a:highlight>
                  <a:srgbClr val="1F1F1F"/>
                </a:highlight>
                <a:latin typeface="Consolas"/>
                <a:ea typeface="Consolas"/>
                <a:cs typeface="Consolas"/>
                <a:sym typeface="Consolas"/>
              </a:rPr>
              <a:t>?.</a:t>
            </a:r>
            <a:r>
              <a:rPr lang="en" sz="800">
                <a:solidFill>
                  <a:srgbClr val="DCDCAA"/>
                </a:solidFill>
                <a:highlight>
                  <a:srgbClr val="1F1F1F"/>
                </a:highlight>
                <a:latin typeface="Consolas"/>
                <a:ea typeface="Consolas"/>
                <a:cs typeface="Consolas"/>
                <a:sym typeface="Consolas"/>
              </a:rPr>
              <a:t>Draw</a:t>
            </a:r>
            <a:r>
              <a:rPr lang="en" sz="800">
                <a:solidFill>
                  <a:srgbClr val="CCCCCC"/>
                </a:solidFill>
                <a:highlight>
                  <a:srgbClr val="1F1F1F"/>
                </a:highlight>
                <a:latin typeface="Consolas"/>
                <a:ea typeface="Consolas"/>
                <a:cs typeface="Consolas"/>
                <a:sym typeface="Consolas"/>
              </a:rPr>
              <a:t>(</a:t>
            </a:r>
            <a:r>
              <a:rPr lang="en" sz="800">
                <a:solidFill>
                  <a:srgbClr val="9CDCFE"/>
                </a:solidFill>
                <a:highlight>
                  <a:srgbClr val="1F1F1F"/>
                </a:highlight>
                <a:latin typeface="Consolas"/>
                <a:ea typeface="Consolas"/>
                <a:cs typeface="Consolas"/>
                <a:sym typeface="Consolas"/>
              </a:rPr>
              <a:t>spriteBatch</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a:t>
            </a:r>
            <a:endParaRPr sz="500">
              <a:solidFill>
                <a:srgbClr val="569CD6"/>
              </a:solidFill>
              <a:highlight>
                <a:srgbClr val="1F1F1F"/>
              </a:highlight>
              <a:latin typeface="Consolas"/>
              <a:ea typeface="Consolas"/>
              <a:cs typeface="Consolas"/>
              <a:sym typeface="Consolas"/>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3" name="Shape 223"/>
        <p:cNvGrpSpPr/>
        <p:nvPr/>
      </p:nvGrpSpPr>
      <p:grpSpPr>
        <a:xfrm>
          <a:off x="0" y="0"/>
          <a:ext cx="0" cy="0"/>
          <a:chOff x="0" y="0"/>
          <a:chExt cx="0" cy="0"/>
        </a:xfrm>
      </p:grpSpPr>
      <p:sp>
        <p:nvSpPr>
          <p:cNvPr id="224" name="Google Shape;224;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9: A State Machine</a:t>
            </a:r>
            <a:endParaRPr>
              <a:solidFill>
                <a:schemeClr val="accent5"/>
              </a:solidFill>
            </a:endParaRPr>
          </a:p>
        </p:txBody>
      </p:sp>
      <p:sp>
        <p:nvSpPr>
          <p:cNvPr id="225" name="Google Shape;225;p40"/>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an IState interface, a state machine, a title state and a play state.</a:t>
            </a:r>
            <a:endParaRPr/>
          </a:p>
          <a:p>
            <a:pPr indent="-330200" lvl="0" marL="457200" rtl="0" algn="l">
              <a:spcBef>
                <a:spcPts val="0"/>
              </a:spcBef>
              <a:spcAft>
                <a:spcPts val="0"/>
              </a:spcAft>
              <a:buSzPts val="1600"/>
              <a:buChar char="●"/>
            </a:pPr>
            <a:r>
              <a:rPr lang="en"/>
              <a:t>Most of Game1’s gameplay code moves into the play state.</a:t>
            </a:r>
            <a:endParaRPr/>
          </a:p>
        </p:txBody>
      </p:sp>
      <p:pic>
        <p:nvPicPr>
          <p:cNvPr id="226" name="Picture 225" descr="f9.png"/>
          <p:cNvPicPr>
            <a:picLocks noChangeAspect="1"/>
          </p:cNvPicPr>
          <p:nvPr/>
        </p:nvPicPr>
        <p:blipFill>
          <a:blip r:embed="rId4"/>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3" st="1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4" st="1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5" st="1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6" st="1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7" st="1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8" st="18"/>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9" name="Shape 229"/>
        <p:cNvGrpSpPr/>
        <p:nvPr/>
      </p:nvGrpSpPr>
      <p:grpSpPr>
        <a:xfrm>
          <a:off x="0" y="0"/>
          <a:ext cx="0" cy="0"/>
          <a:chOff x="0" y="0"/>
          <a:chExt cx="0" cy="0"/>
        </a:xfrm>
      </p:grpSpPr>
      <p:sp>
        <p:nvSpPr>
          <p:cNvPr id="230" name="Google Shape;230;p4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10: Passing Data Between States</a:t>
            </a:r>
            <a:endParaRPr>
              <a:solidFill>
                <a:schemeClr val="accent5"/>
              </a:solidFill>
            </a:endParaRPr>
          </a:p>
        </p:txBody>
      </p:sp>
      <p:sp>
        <p:nvSpPr>
          <p:cNvPr id="231" name="Google Shape;231;p41"/>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a point for every pipe pair passed, and a score state at the end.</a:t>
            </a:r>
            <a:endParaRPr/>
          </a:p>
          <a:p>
            <a:pPr indent="-330200" lvl="0" marL="457200" rtl="0" algn="l">
              <a:spcBef>
                <a:spcPts val="0"/>
              </a:spcBef>
              <a:spcAft>
                <a:spcPts val="0"/>
              </a:spcAft>
              <a:buSzPts val="1600"/>
              <a:buChar char="●"/>
            </a:pPr>
            <a:r>
              <a:rPr lang="en"/>
              <a:t>How does the score state get the score?</a:t>
            </a:r>
            <a:endParaRPr/>
          </a:p>
        </p:txBody>
      </p:sp>
      <p:pic>
        <p:nvPicPr>
          <p:cNvPr id="232" name="Picture 231" descr="f10.png"/>
          <p:cNvPicPr>
            <a:picLocks noChangeAspect="1"/>
          </p:cNvPicPr>
          <p:nvPr/>
        </p:nvPicPr>
        <p:blipFill>
          <a:blip r:embed="rId3"/>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9" st="9"/>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5" name="Shape 235"/>
        <p:cNvGrpSpPr/>
        <p:nvPr/>
      </p:nvGrpSpPr>
      <p:grpSpPr>
        <a:xfrm>
          <a:off x="0" y="0"/>
          <a:ext cx="0" cy="0"/>
          <a:chOff x="0" y="0"/>
          <a:chExt cx="0" cy="0"/>
        </a:xfrm>
      </p:grpSpPr>
      <p:sp>
        <p:nvSpPr>
          <p:cNvPr id="236" name="Google Shape;236;p4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11: A Countdown State</a:t>
            </a:r>
            <a:endParaRPr>
              <a:solidFill>
                <a:schemeClr val="accent5"/>
              </a:solidFill>
            </a:endParaRPr>
          </a:p>
        </p:txBody>
      </p:sp>
      <p:sp>
        <p:nvSpPr>
          <p:cNvPr id="237" name="Google Shape;237;p42"/>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a countdown from 3 between the title (or the score) and play.</a:t>
            </a:r>
            <a:endParaRPr/>
          </a:p>
        </p:txBody>
      </p:sp>
      <p:pic>
        <p:nvPicPr>
          <p:cNvPr id="238" name="Picture 237" descr="f11.png"/>
          <p:cNvPicPr>
            <a:picLocks noChangeAspect="1"/>
          </p:cNvPicPr>
          <p:nvPr/>
        </p:nvPicPr>
        <p:blipFill>
          <a:blip r:embed="rId3"/>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6" st="6"/>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1" name="Shape 241"/>
        <p:cNvGrpSpPr/>
        <p:nvPr/>
      </p:nvGrpSpPr>
      <p:grpSpPr>
        <a:xfrm>
          <a:off x="0" y="0"/>
          <a:ext cx="0" cy="0"/>
          <a:chOff x="0" y="0"/>
          <a:chExt cx="0" cy="0"/>
        </a:xfrm>
      </p:grpSpPr>
      <p:sp>
        <p:nvSpPr>
          <p:cNvPr id="242" name="Google Shape;242;p4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12: Audio as a Singleton</a:t>
            </a:r>
            <a:endParaRPr>
              <a:solidFill>
                <a:schemeClr val="accent5"/>
              </a:solidFill>
            </a:endParaRPr>
          </a:p>
        </p:txBody>
      </p:sp>
      <p:sp>
        <p:nvSpPr>
          <p:cNvPr id="243" name="Google Shape;243;p43"/>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music, and sounds for flap, hurt and score.</a:t>
            </a:r>
            <a:endParaRPr/>
          </a:p>
          <a:p>
            <a:pPr indent="-330200" lvl="0" marL="457200" rtl="0" algn="l">
              <a:spcBef>
                <a:spcPts val="0"/>
              </a:spcBef>
              <a:spcAft>
                <a:spcPts val="0"/>
              </a:spcAft>
              <a:buSzPts val="1600"/>
              <a:buChar char="●"/>
            </a:pPr>
            <a:r>
              <a:rPr lang="en"/>
              <a:t>In an Audio class, made a Singleton: Audio.Instance.PlayFlap()</a:t>
            </a:r>
            <a:endParaRPr/>
          </a:p>
        </p:txBody>
      </p:sp>
      <p:sp>
        <p:nvSpPr>
          <p:cNvPr id="244" name="Rounded Rectangle 243"/>
          <p:cNvSpPr/>
          <p:nvPr/>
        </p:nvSpPr>
        <p:spPr>
          <a:xfrm>
            <a:off x="1828800" y="2103120"/>
            <a:ext cx="5486400" cy="10058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Song + MediaPlayer.Play: the music</a:t>
            </a:r>
          </a:p>
          <a:p>
            <a:pPr algn="ctr"/>
            <a:r>
              <a:rPr sz="1400" b="0">
                <a:solidFill>
                  <a:srgbClr val="9AA3AB"/>
                </a:solidFill>
              </a:rPr>
              <a:t>SoundEffect: flap, hurt (+ explosion), score</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8" st="8"/>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7" name="Shape 247"/>
        <p:cNvGrpSpPr/>
        <p:nvPr/>
      </p:nvGrpSpPr>
      <p:grpSpPr>
        <a:xfrm>
          <a:off x="0" y="0"/>
          <a:ext cx="0" cy="0"/>
          <a:chOff x="0" y="0"/>
          <a:chExt cx="0" cy="0"/>
        </a:xfrm>
      </p:grpSpPr>
      <p:sp>
        <p:nvSpPr>
          <p:cNvPr id="248" name="Google Shape;248;p4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You Made it (Again)!</a:t>
            </a:r>
            <a:endParaRPr/>
          </a:p>
        </p:txBody>
      </p:sp>
      <p:sp>
        <p:nvSpPr>
          <p:cNvPr id="249" name="Google Shape;249;p4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Congratulations! You now have your very own working Flappy Bird Game made with MonoGame.</a:t>
            </a:r>
            <a:endParaRPr/>
          </a:p>
        </p:txBody>
      </p:sp>
      <p:pic>
        <p:nvPicPr>
          <p:cNvPr id="250" name="Google Shape;250;p44"/>
          <p:cNvPicPr preferRelativeResize="0"/>
          <p:nvPr/>
        </p:nvPicPr>
        <p:blipFill>
          <a:blip r:embed="rId3">
            <a:alphaModFix/>
          </a:blip>
          <a:stretch>
            <a:fillRect/>
          </a:stretch>
        </p:blipFill>
        <p:spPr>
          <a:xfrm>
            <a:off x="1066538" y="2195848"/>
            <a:ext cx="7010925" cy="1403500"/>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4" name="Shape 254"/>
        <p:cNvGrpSpPr/>
        <p:nvPr/>
      </p:nvGrpSpPr>
      <p:grpSpPr>
        <a:xfrm>
          <a:off x="0" y="0"/>
          <a:ext cx="0" cy="0"/>
          <a:chOff x="0" y="0"/>
          <a:chExt cx="0" cy="0"/>
        </a:xfrm>
      </p:grpSpPr>
      <p:sp>
        <p:nvSpPr>
          <p:cNvPr id="255" name="Google Shape;255;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i="1" lang="en"/>
              <a:t>“Ensure that only one instance of the singleton class ever exists</a:t>
            </a:r>
            <a:endParaRPr i="1"/>
          </a:p>
          <a:p>
            <a:pPr indent="0" lvl="0" marL="0" rtl="0" algn="l">
              <a:spcBef>
                <a:spcPts val="1200"/>
              </a:spcBef>
              <a:spcAft>
                <a:spcPts val="0"/>
              </a:spcAft>
              <a:buNone/>
            </a:pPr>
            <a:r>
              <a:rPr b="1" i="1" lang="en">
                <a:latin typeface="Roboto"/>
                <a:ea typeface="Roboto"/>
                <a:cs typeface="Roboto"/>
                <a:sym typeface="Roboto"/>
              </a:rPr>
              <a:t>and</a:t>
            </a:r>
            <a:r>
              <a:rPr i="1" lang="en"/>
              <a:t> provide global access to that instance.”</a:t>
            </a:r>
            <a:endParaRPr i="1"/>
          </a:p>
          <a:p>
            <a:pPr indent="-330200" lvl="0" marL="457200" rtl="0" algn="l">
              <a:spcBef>
                <a:spcPts val="1200"/>
              </a:spcBef>
              <a:spcAft>
                <a:spcPts val="0"/>
              </a:spcAft>
              <a:buClr>
                <a:schemeClr val="lt1"/>
              </a:buClr>
              <a:buSzPts val="1600"/>
              <a:buChar char="-"/>
            </a:pPr>
            <a:r>
              <a:rPr i="1" lang="en">
                <a:solidFill>
                  <a:schemeClr val="lt1"/>
                </a:solidFill>
              </a:rPr>
              <a:t>Gang of Four, Design Patterns</a:t>
            </a:r>
            <a:endParaRPr i="1">
              <a:solidFill>
                <a:schemeClr val="lt1"/>
              </a:solidFill>
            </a:endParaRPr>
          </a:p>
        </p:txBody>
      </p:sp>
      <p:sp>
        <p:nvSpPr>
          <p:cNvPr id="256" name="Google Shape;256;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Singleton Pattern: Problem</a:t>
            </a:r>
            <a:endParaRPr/>
          </a:p>
        </p:txBody>
      </p:sp>
      <p:pic>
        <p:nvPicPr>
          <p:cNvPr id="257" name="Google Shape;257;p45"/>
          <p:cNvPicPr preferRelativeResize="0"/>
          <p:nvPr/>
        </p:nvPicPr>
        <p:blipFill>
          <a:blip r:embed="rId3">
            <a:alphaModFix/>
          </a:blip>
          <a:stretch>
            <a:fillRect/>
          </a:stretch>
        </p:blipFill>
        <p:spPr>
          <a:xfrm>
            <a:off x="485450" y="2438100"/>
            <a:ext cx="3642878" cy="2276775"/>
          </a:xfrm>
          <a:prstGeom prst="rect">
            <a:avLst/>
          </a:prstGeom>
          <a:noFill/>
          <a:ln>
            <a:noFill/>
          </a:ln>
        </p:spPr>
      </p:pic>
      <p:pic>
        <p:nvPicPr>
          <p:cNvPr id="258" name="Google Shape;258;p45"/>
          <p:cNvPicPr preferRelativeResize="0"/>
          <p:nvPr/>
        </p:nvPicPr>
        <p:blipFill>
          <a:blip r:embed="rId4">
            <a:alphaModFix/>
          </a:blip>
          <a:stretch>
            <a:fillRect/>
          </a:stretch>
        </p:blipFill>
        <p:spPr>
          <a:xfrm>
            <a:off x="4304675" y="2438100"/>
            <a:ext cx="4553575" cy="2276775"/>
          </a:xfrm>
          <a:prstGeom prst="rect">
            <a:avLst/>
          </a:prstGeom>
          <a:noFill/>
          <a:ln>
            <a:noFill/>
          </a:ln>
        </p:spPr>
      </p:pic>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2" name="Shape 262"/>
        <p:cNvGrpSpPr/>
        <p:nvPr/>
      </p:nvGrpSpPr>
      <p:grpSpPr>
        <a:xfrm>
          <a:off x="0" y="0"/>
          <a:ext cx="0" cy="0"/>
          <a:chOff x="0" y="0"/>
          <a:chExt cx="0" cy="0"/>
        </a:xfrm>
      </p:grpSpPr>
      <p:sp>
        <p:nvSpPr>
          <p:cNvPr id="263" name="Google Shape;263;p4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Singleton Pattern: Solution</a:t>
            </a:r>
            <a:endParaRPr/>
          </a:p>
        </p:txBody>
      </p:sp>
      <p:sp>
        <p:nvSpPr>
          <p:cNvPr id="264" name="Google Shape;264;p46"/>
          <p:cNvSpPr txBox="1"/>
          <p:nvPr>
            <p:ph idx="2" type="body"/>
          </p:nvPr>
        </p:nvSpPr>
        <p:spPr>
          <a:xfrm>
            <a:off x="4433925" y="1353675"/>
            <a:ext cx="3999900" cy="30048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class</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Singleton</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static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Singleton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_instance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static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Singleton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Instance</a:t>
            </a:r>
            <a:endParaRPr sz="1000">
              <a:solidFill>
                <a:srgbClr val="9CDCFE"/>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get</a:t>
            </a:r>
            <a:endParaRPr sz="1000">
              <a:solidFill>
                <a:srgbClr val="569CD6"/>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_instance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Singleton</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return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_instance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pic>
        <p:nvPicPr>
          <p:cNvPr id="265" name="Google Shape;265;p46"/>
          <p:cNvPicPr preferRelativeResize="0"/>
          <p:nvPr/>
        </p:nvPicPr>
        <p:blipFill>
          <a:blip r:embed="rId3">
            <a:alphaModFix/>
          </a:blip>
          <a:stretch>
            <a:fillRect/>
          </a:stretch>
        </p:blipFill>
        <p:spPr>
          <a:xfrm>
            <a:off x="160900" y="1463690"/>
            <a:ext cx="4129126" cy="2784759"/>
          </a:xfrm>
          <a:prstGeom prst="rect">
            <a:avLst/>
          </a:prstGeom>
          <a:noFill/>
          <a:ln>
            <a:noFill/>
          </a:ln>
        </p:spPr>
      </p:pic>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9" name="Shape 269"/>
        <p:cNvGrpSpPr/>
        <p:nvPr/>
      </p:nvGrpSpPr>
      <p:grpSpPr>
        <a:xfrm>
          <a:off x="0" y="0"/>
          <a:ext cx="0" cy="0"/>
          <a:chOff x="0" y="0"/>
          <a:chExt cx="0" cy="0"/>
        </a:xfrm>
      </p:grpSpPr>
      <p:sp>
        <p:nvSpPr>
          <p:cNvPr id="270" name="Google Shape;270;p47"/>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i="1" lang="en"/>
              <a:t>“Friends don’t let friends create singletons”</a:t>
            </a:r>
            <a:endParaRPr i="1"/>
          </a:p>
          <a:p>
            <a:pPr indent="-317500" lvl="0" marL="457200" rtl="0" algn="l">
              <a:spcBef>
                <a:spcPts val="1200"/>
              </a:spcBef>
              <a:spcAft>
                <a:spcPts val="0"/>
              </a:spcAft>
              <a:buClr>
                <a:schemeClr val="lt1"/>
              </a:buClr>
              <a:buSzPts val="1400"/>
              <a:buChar char="-"/>
            </a:pPr>
            <a:r>
              <a:rPr i="1" lang="en" sz="1400">
                <a:solidFill>
                  <a:schemeClr val="lt1"/>
                </a:solidFill>
              </a:rPr>
              <a:t>Robert Nystrom, “Game Programming Patterns”</a:t>
            </a:r>
            <a:endParaRPr i="1" sz="1400">
              <a:solidFill>
                <a:schemeClr val="lt1"/>
              </a:solidFill>
            </a:endParaRPr>
          </a:p>
        </p:txBody>
      </p:sp>
      <p:sp>
        <p:nvSpPr>
          <p:cNvPr id="271" name="Google Shape;271;p4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Singleton Pattern: Usage</a:t>
            </a:r>
            <a:endParaRP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63" name="Google Shape;263;p4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Singleton in Flappy Bird</a:t>
            </a:r>
            <a:endParaRPr/>
          </a:p>
        </p:txBody>
      </p:sp>
      <p:sp>
        <p:nvSpPr>
          <p:cNvPr id="243" name="Google Shape;243;p43"/>
          <p:cNvSpPr txBox="1"/>
          <p:nvPr>
            <p:ph idx="1" type="body"/>
          </p:nvPr>
        </p:nvSpPr>
        <p:spPr>
          <a:xfrm>
            <a:off x="311700" y="1152475"/>
            <a:ext cx="3900000" cy="34000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Audio is a Singleton: one object, reached through Audio.Instance</a:t>
            </a:r>
            <a:endParaRPr/>
          </a:p>
          <a:p>
            <a:pPr indent="-330200" lvl="0" marL="457200" rtl="0" algn="l">
              <a:spcBef>
                <a:spcPts val="0"/>
              </a:spcBef>
              <a:spcAft>
                <a:spcPts val="0"/>
              </a:spcAft>
              <a:buSzPts val="1600"/>
              <a:buChar char="●"/>
            </a:pPr>
            <a:r>
              <a:rPr lang="en"/>
              <a:t>Art is a static class</a:t>
            </a:r>
            <a:endParaRPr/>
          </a:p>
          <a:p>
            <a:pPr indent="-330200" lvl="0" marL="457200" rtl="0" algn="l">
              <a:spcBef>
                <a:spcPts val="0"/>
              </a:spcBef>
              <a:spcAft>
                <a:spcPts val="0"/>
              </a:spcAft>
              <a:buSzPts val="1600"/>
              <a:buChar char="●"/>
            </a:pPr>
            <a:r>
              <a:rPr lang="en"/>
              <a:t>Both give global access</a:t>
            </a:r>
            <a:endParaRPr/>
          </a:p>
          <a:p>
            <a:pPr indent="-330200" lvl="0" marL="457200" rtl="0" algn="l">
              <a:spcBef>
                <a:spcPts val="0"/>
              </a:spcBef>
              <a:spcAft>
                <a:spcPts val="0"/>
              </a:spcAft>
              <a:buSzPts val="1600"/>
              <a:buChar char="●"/>
            </a:pPr>
            <a:r>
              <a:rPr lang="en"/>
              <a:t>But Audio is an object</a:t>
            </a:r>
            <a:endParaRPr/>
          </a:p>
          <a:p>
            <a:pPr indent="-317500" lvl="1" marL="914400" rtl="0" algn="l">
              <a:spcBef>
                <a:spcPts val="0"/>
              </a:spcBef>
              <a:spcAft>
                <a:spcPts val="0"/>
              </a:spcAft>
              <a:buSzPts val="1400"/>
              <a:buChar char="○"/>
            </a:pPr>
            <a:r>
              <a:rPr lang="en"/>
              <a:t>It could implement an interface or be passed as a parameter</a:t>
            </a:r>
            <a:endParaRPr/>
          </a:p>
          <a:p>
            <a:pPr indent="-317500" lvl="1" marL="914400" rtl="0" algn="l">
              <a:spcBef>
                <a:spcPts val="0"/>
              </a:spcBef>
              <a:spcAft>
                <a:spcPts val="0"/>
              </a:spcAft>
              <a:buSzPts val="1400"/>
              <a:buChar char="○"/>
            </a:pPr>
            <a:r>
              <a:rPr lang="en"/>
              <a:t>Pokemon builds on this with a Service Locator</a:t>
            </a:r>
            <a:endParaRPr/>
          </a:p>
          <a:p>
            <a:pPr indent="-330200" lvl="0" marL="457200" rtl="0" algn="l">
              <a:spcBef>
                <a:spcPts val="0"/>
              </a:spcBef>
              <a:spcAft>
                <a:spcPts val="0"/>
              </a:spcAft>
              <a:buSzPts val="1600"/>
              <a:buChar char="●"/>
            </a:pPr>
            <a:r>
              <a:rPr lang="en"/>
              <a:t>Step: Flappy12</a:t>
            </a:r>
            <a:endParaRPr/>
          </a:p>
        </p:txBody>
      </p:sp>
      <p:sp>
        <p:nvSpPr>
          <p:cNvPr id="264" name="Google Shape;264;p46"/>
          <p:cNvSpPr txBox="1"/>
          <p:nvPr>
            <p:ph idx="2" type="body"/>
          </p:nvPr>
        </p:nvSpPr>
        <p:spPr>
          <a:xfrm>
            <a:off x="4500000" y="1152475"/>
            <a:ext cx="440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public class Audio</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public static Audio Instance { get;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 new Audio();</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private Audio() {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public void PlayFlap() =&gt; _flap.Play();</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 PlayMusic, PlayScore, PlayCrash...</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Anywhere in the game</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Audio.Instance.PlayFlap();</a:t>
            </a:r>
            <a:endParaRPr sz="1000">
              <a:solidFill>
                <a:srgbClr val="4EC9B0"/>
              </a:solidFill>
              <a:highlight>
                <a:srgbClr val="1F1F1F"/>
              </a:highlight>
              <a:latin typeface="Consolas"/>
              <a:ea typeface="Consolas"/>
              <a:cs typeface="Consolas"/>
              <a:sym typeface="Consolas"/>
            </a:endParaRP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Check Yourself</a:t>
            </a:r>
            <a:endParaRPr/>
          </a:p>
        </p:txBody>
      </p:sp>
      <p:sp>
        <p:nvSpPr>
          <p:cNvPr id="3" name="Text Placeholder 2"/>
          <p:cNvSpPr>
            <a:spLocks noGrp="1"/>
          </p:cNvSpPr>
          <p:nvPr>
            <p:ph type="body" idx="1"/>
          </p:nvPr>
        </p:nvSpPr>
        <p:spPr>
          <a:xfrm>
            <a:off x="311700" y="885950"/>
            <a:ext cx="8520600" cy="1335024"/>
          </a:xfrm>
        </p:spPr>
        <p:txBody>
          <a:bodyPr/>
          <a:lstStyle/>
          <a:p>
            <a:pPr indent="-330200" lvl="0" marL="457200" rtl="0" algn="l">
              <a:spcBef>
                <a:spcPts val="0"/>
              </a:spcBef>
              <a:spcAft>
                <a:spcPts val="0"/>
              </a:spcAft>
              <a:buSzPts val="1600"/>
              <a:buChar char="●"/>
            </a:pPr>
            <a:r>
              <a:rPr lang="en"/>
              <a:t>What problem does a state machine solve compared to a string or enum field?</a:t>
            </a:r>
            <a:endParaRPr/>
          </a:p>
          <a:p>
            <a:pPr indent="-330200" lvl="0" marL="457200" rtl="0" algn="l">
              <a:spcBef>
                <a:spcPts val="0"/>
              </a:spcBef>
              <a:spcAft>
                <a:spcPts val="0"/>
              </a:spcAft>
              <a:buSzPts val="1600"/>
              <a:buChar char="●"/>
            </a:pPr>
            <a:r>
              <a:rPr lang="en"/>
              <a:t>What happens if you forget to call Exit() when switching state?</a:t>
            </a:r>
            <a:endParaRPr/>
          </a:p>
          <a:p>
            <a:pPr indent="-330200" lvl="0" marL="457200" rtl="0" algn="l">
              <a:spcBef>
                <a:spcPts val="0"/>
              </a:spcBef>
              <a:spcAft>
                <a:spcPts val="0"/>
              </a:spcAft>
              <a:buSzPts val="1600"/>
              <a:buChar char="●"/>
            </a:pPr>
            <a:r>
              <a:rPr lang="en"/>
              <a:t>Why is Singleton considered an anti-pattern by many game programmers?</a:t>
            </a:r>
            <a:endParaRPr/>
          </a:p>
        </p:txBody>
      </p:sp>
      <p:sp>
        <p:nvSpPr>
          <p:cNvPr id="4" name="TextBox 3"/>
          <p:cNvSpPr txBox="1"/>
          <p:nvPr/>
        </p:nvSpPr>
        <p:spPr>
          <a:xfrm>
            <a:off x="457200" y="2798064"/>
            <a:ext cx="8229600" cy="457200"/>
          </a:xfrm>
          <a:prstGeom prst="rect">
            <a:avLst/>
          </a:prstGeom>
          <a:noFill/>
        </p:spPr>
        <p:txBody>
          <a:bodyPr wrap="square">
            <a:spAutoFit/>
          </a:bodyPr>
          <a:lstStyle/>
          <a:p>
            <a:pPr algn="ctr"/>
            <a:r>
              <a:rPr sz="1400" b="0" i="0">
                <a:solidFill>
                  <a:srgbClr val="9AA3AB"/>
                </a:solidFill>
              </a:rPr>
              <a:t>The answers, and more questions, are on the course site.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Apply It to Your Project</a:t>
            </a:r>
            <a:endParaRPr/>
          </a:p>
        </p:txBody>
      </p:sp>
      <p:sp>
        <p:nvSpPr>
          <p:cNvPr id="58" name="Google Shape;58;p1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Which code in your game could another game reuse?</a:t>
            </a:r>
            <a:endParaRPr/>
          </a:p>
          <a:p>
            <a:pPr indent="-317500" lvl="1" marL="914400" rtl="0" algn="l">
              <a:spcBef>
                <a:spcPts val="0"/>
              </a:spcBef>
              <a:spcAft>
                <a:spcPts val="0"/>
              </a:spcAft>
              <a:buSzPts val="1400"/>
              <a:buChar char="○"/>
            </a:pPr>
            <a:r>
              <a:rPr lang="en"/>
              <a:t>That belongs in a class library, like GMDCore</a:t>
            </a:r>
            <a:endParaRPr/>
          </a:p>
          <a:p>
            <a:pPr indent="-330200" lvl="0" marL="457200" rtl="0" algn="l">
              <a:spcBef>
                <a:spcPts val="0"/>
              </a:spcBef>
              <a:spcAft>
                <a:spcPts val="0"/>
              </a:spcAft>
              <a:buSzPts val="1600"/>
              <a:buChar char="●"/>
            </a:pPr>
            <a:r>
              <a:rPr lang="en"/>
              <a:t>Which states does your game have? Draw them as a state diagram</a:t>
            </a:r>
            <a:endParaRPr/>
          </a:p>
          <a:p>
            <a:pPr indent="-330200" lvl="0" marL="457200" rtl="0" algn="l">
              <a:spcBef>
                <a:spcPts val="0"/>
              </a:spcBef>
              <a:spcAft>
                <a:spcPts val="0"/>
              </a:spcAft>
              <a:buSzPts val="1600"/>
              <a:buChar char="●"/>
            </a:pPr>
            <a:r>
              <a:rPr lang="en"/>
              <a:t>Is anything in your game global? Does it need to be?</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