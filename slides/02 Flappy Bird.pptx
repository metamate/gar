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54"/>
    <p:sldId id="298" r:id="rId57"/>
    <p:sldId id="296" r:id="rId55"/>
    <p:sldId id="297" r:id="rId56"/>
  </p:sldIdLst>
  <p:sldSz cy="5143500" cx="9144000"/>
  <p:notesSz cx="6858000" cy="9144000"/>
  <p:embeddedFontLst>
    <p:embeddedFont>
      <p:font typeface="Roboto"/>
      <p:regular r:id="rId45"/>
      <p:bold r:id="rId46"/>
      <p:italic r:id="rId47"/>
      <p:boldItalic r:id="rId48"/>
    </p:embeddedFont>
    <p:embeddedFont>
      <p:font typeface="VT323"/>
      <p:regular r:id="rId49"/>
    </p:embeddedFont>
    <p:embeddedFont>
      <p:font typeface="Roboto Light"/>
      <p:regular r:id="rId50"/>
      <p:bold r:id="rId51"/>
      <p:italic r:id="rId52"/>
      <p:boldItalic r:id="rId5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font" Target="fonts/Roboto-regular.fntdata"/><Relationship Id="rId46" Type="http://schemas.openxmlformats.org/officeDocument/2006/relationships/font" Target="fonts/Roboto-bold.fntdata"/><Relationship Id="rId47" Type="http://schemas.openxmlformats.org/officeDocument/2006/relationships/font" Target="fonts/Roboto-italic.fntdata"/><Relationship Id="rId48" Type="http://schemas.openxmlformats.org/officeDocument/2006/relationships/font" Target="fonts/Roboto-boldItalic.fntdata"/><Relationship Id="rId49" Type="http://schemas.openxmlformats.org/officeDocument/2006/relationships/font" Target="fonts/VT323-regular.fntdata"/><Relationship Id="rId50" Type="http://schemas.openxmlformats.org/officeDocument/2006/relationships/font" Target="fonts/RobotoLight-regular.fntdata"/><Relationship Id="rId51" Type="http://schemas.openxmlformats.org/officeDocument/2006/relationships/font" Target="fonts/RobotoLight-bold.fntdata"/><Relationship Id="rId52" Type="http://schemas.openxmlformats.org/officeDocument/2006/relationships/font" Target="fonts/RobotoLight-italic.fntdata"/><Relationship Id="rId53" Type="http://schemas.openxmlformats.org/officeDocument/2006/relationships/font" Target="fonts/RobotoLight-boldItalic.fntdata"/><Relationship Id="rId54" Type="http://schemas.openxmlformats.org/officeDocument/2006/relationships/slide" Target="slides/slide40.xml"/><Relationship Id="rId55" Type="http://schemas.openxmlformats.org/officeDocument/2006/relationships/slide" Target="slides/slide42.xml"/><Relationship Id="rId56" Type="http://schemas.openxmlformats.org/officeDocument/2006/relationships/slide" Target="slides/slide43.xml"/><Relationship Id="rId5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Flappy Bird. The main topic: organizing a growing game.</a:t>
            </a:r>
          </a:p>
          <a:p>
            <a:r>
              <a:t>Start by playing the finished game, Flappy12,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3a203257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3a203257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Flappy12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93cde934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93cde9348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organizing a game as it grows. A class library for what every game needs, and a state machine for the game’s modes.</a:t>
            </a:r>
          </a:p>
          <a:p>
            <a:r>
              <a:t>Every topic has a section on the course site.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9c2e5de9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9c2e5de9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what makes software architecture good? Collect answers, then land on the four on the slide.</a:t>
            </a:r>
          </a:p>
          <a:p>
            <a:r>
              <a:t>The one to remember: good architecture makes change cheap.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9c2e5de9e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9c2e5de9e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cycle of a change: understand the problem, learn the code, write the solution, clean up. Architecture shortens the “learn the code” step.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c9c2e5de9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c9c2e5de9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Coupling: how much parts depend on each other (want low). Cohesion: how much a part’s own code belongs together (want high).</a:t>
            </a:r>
          </a:p>
          <a:p>
            <a:r>
              <a:t>Ask: which picture would you rather change?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c9c2e5de9e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c9c2e5de9e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Named, reusable solutions to recurring design problems. A shared vocabulary: “make it a state machine” says a lot in four words.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g3c83a20325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 name="Google Shape;78;g3c83a20325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gar-games/02-flappy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g3c83da3f63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 name="Google Shape;84;g3c83da3f63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Pong copied everything into one project. Code every game needs (window, scaling, input) belongs in a library that every game references.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83da3f632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83da3f632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shape we’re building: GMDCore, referenced by each game. It grows through the course.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g3c79d334e7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 name="Google Shape;96;g3c79d334e7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create GMDCore with a Core class that derives from Game and owns the window and screen scaling.</a:t>
            </a:r>
          </a:p>
          <a:p>
            <a:r>
              <a:t>Full instructions are on the course site; students work from there. Walk round while they work.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3c83da3f632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3c83da3f632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new game from the gar-starter template whose Game1 derives from Core. The window should look like the screenshot.</a:t>
            </a:r>
          </a:p>
          <a:p>
            <a:r>
              <a:t>Full instructions are on the course site; students work from there. Walk round while they work.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c83da3f632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c83da3f632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image is just a Texture2D, like Pong’s white pixel, but loaded from a file.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c83da3f632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c83da3f632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draw the background and the ground.</a:t>
            </a:r>
          </a:p>
          <a:p>
            <a:r>
              <a:t>Full instructions are on the course site; students work from there. Walk round while they work.</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c83a203257_0_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c83a203257_0_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Things further away move slower. Two layers at two speeds are enough to feel depth.</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3c79d334e77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3c79d334e77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scroll both layers forever, at different speeds.</a:t>
            </a:r>
          </a:p>
          <a:p>
            <a:r>
              <a:t>Hint: the looping points (413 and 512) and the % operator.</a:t>
            </a:r>
          </a:p>
          <a:p>
            <a:r>
              <a:t>Full instructions are on the course site; students work from there. Walk round while they work.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393cde93488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393cde93488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bird never moves forward: the world scrolls past it. Games fake whatever they can get away with.</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c79d334e77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0" name="Google Shape;140;g3c79d334e77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before revealing the answer: how does the Bird get its texture? Let them argue for each box.</a:t>
            </a:r>
          </a:p>
          <a:p>
            <a:r>
              <a:t>We pick a static Art class: one place for every asset. Its cost: it’s global. We come back to that with Singleton.</a:t>
            </a:r>
          </a:p>
          <a:p>
            <a:r>
              <a:t>Full instructions are on the course site; students work from there. Walk round while they work.</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c79d334e77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c79d334e77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velocity grows every frame; position follows velocity; both scaled by delta time.</a:t>
            </a:r>
          </a:p>
          <a:p>
            <a:r>
              <a:t>Full instructions are on the course site; students work from there. Walk round while they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79d334e77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79d334e77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Walk through the diagram: Core updates the InputManager every frame; games ask it for keys and the mouse.</a:t>
            </a:r>
          </a:p>
          <a:p>
            <a:r>
              <a:t>A flap sets the vertical velocity upwards. Remind them: y points down.</a:t>
            </a:r>
          </a:p>
          <a:p>
            <a:r>
              <a:t>Full instructions are on the course site; students work from there. Walk round while they work.</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85d5bb073_2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85d5bb073_2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Content made by rules instead of by hand. Here: where each pipe gap goes. Walk through the figure’s quantities.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79d334e77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79d334e77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spawn pipes on a timer, scroll them left.</a:t>
            </a:r>
          </a:p>
          <a:p>
            <a:r>
              <a:t>Full instructions are on the course site; students work from there. Walk round while they work.</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g3c85d5bb073_2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g3c85d5bb073_2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Pipes spawn off-screen on the right (the spawn zone) and are removed after they leave on the left (the dead zone). The player only ever sees the middle.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79d334e77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79d334e77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pairs with a gap that drifts smoothly; remove pairs that leave the screen.</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85d5bb073_2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85d5bb073_2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Same AABB as Pong. Ask: how could collisions be more forgiving? Answer: a slightly smaller hitbox than the sprite.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c79d334e77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7" name="Google Shape;187;g3c79d334e77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stop on hitting a pipe, the ground or the ceiling.</a:t>
            </a:r>
          </a:p>
          <a:p>
            <a:r>
              <a:t>Full instructions are on the course site; students work from there. Walk round while they work.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85d5bb073_2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85d5bb073_2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how did Pong handle its modes? A string. Why is that fragile? Typos, and an if-chain in every method.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85d5bb073_2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85d5bb073_2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game’s states and what moves between them. Each state is a class with the same four methods.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85d5bb073_1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85d5bb073_1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life of a state: Enter once, Update and Draw every frame, Exit once. Enter resets, Exit cleans up.</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cde93488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cde93488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IState is the contract: every state has Enter, Exit, Update and Draw. The machine only knows the interface.</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c85d5bb073_2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7" name="Google Shape;217;g3c85d5bb073_2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StateMachine: ChangeState calls Exit on the old state and Enter on the new one. Update and Draw go to the current state.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79d334e77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79d334e77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IState, a StateMachine, a title state and a play state.</a:t>
            </a:r>
          </a:p>
          <a:p>
            <a:r>
              <a:t>Full instructions are on the course site; students work from there. Walk round while they work.</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79d334e77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79d334e77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point per pipe pair, and a score state. Ask the question on the slide: the score state needs the score; pass it in when changing state.</a:t>
            </a:r>
          </a:p>
          <a:p>
            <a:r>
              <a:t>Full instructions are on the course site; students work from there. Walk round while they work.</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85d5bb073_2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85d5bb073_2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countdown state between the title (or score) and play.</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c79d334e77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c79d334e77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music and three sounds, in an Audio class made a Singleton. Next: is that a good idea?</a:t>
            </a:r>
          </a:p>
          <a:p>
            <a:r>
              <a:t>Full instructions are on the course site; students work from there. Walk round while they work.</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g3c79d334e77_0_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6" name="Google Shape;246;g3c79d334e77_0_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whole game works. Now the design question we skipped: global access.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1" name="Shape 251"/>
        <p:cNvGrpSpPr/>
        <p:nvPr/>
      </p:nvGrpSpPr>
      <p:grpSpPr>
        <a:xfrm>
          <a:off x="0" y="0"/>
          <a:ext cx="0" cy="0"/>
          <a:chOff x="0" y="0"/>
          <a:chExt cx="0" cy="0"/>
        </a:xfrm>
      </p:grpSpPr>
      <p:sp>
        <p:nvSpPr>
          <p:cNvPr id="252" name="Google Shape;252;g3c9c670f03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3" name="Google Shape;253;g3c9c670f03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Gang of Four’s definition: one instance, and global access to it. The cartoons: everyone reaching for the same object.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cbde5d7b56_0_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1" name="Google Shape;261;g3cbde5d7b56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classic implementation. Note: simple, but not thread safe; fine for our games.</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cbde5d7b56_0_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8" name="Google Shape;268;g3cbde5d7b56_0_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Nystrom’s warning. Ask: why? Answer: global state, hidden dependencies, hard to replace in a test.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problem does a state machine solve compared to a string or enum field?</a:t>
            </a:r>
          </a:p>
          <a:p>
            <a:r>
              <a:t>A: Each state's behaviour is in one place instead of spread across if-chains. You can add a state without editing the others, and Enter/Exit give reliable places for setup and cleanup.</a:t>
            </a:r>
          </a:p>
          <a:p/>
          <a:p>
            <a:r>
              <a:t>Q: What happens if you forget to call Exit() when switching state?</a:t>
            </a:r>
          </a:p>
          <a:p>
            <a:r>
              <a:t>A: Anything the old state set up is never cleaned up: music keeps playing, event subscriptions stay alive, timers keep running.</a:t>
            </a:r>
          </a:p>
          <a:p/>
          <a:p>
            <a:r>
              <a:t>Q: Why is Singleton considered an anti-pattern by many game programmers?</a:t>
            </a:r>
          </a:p>
          <a:p>
            <a:r>
              <a:t>A: It is global state in disguise. It hides dependencies, couples code together and makes testing and reasoning harder, and the "exactly one instance" guarantee is rarely needed.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Art is a static class, Audio a Singleton. Both global; but Audio is an object, so it could implement an interface. Pokemon builds on that with a Service Locator.</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Start from the gar-starter template. First milestone by session 04: groups, a concept, a repository, the link on itslearning.</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Push for concrete classes and files, not intentions.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4" Type="http://schemas.openxmlformats.org/officeDocument/2006/relationships/image" Target="../media/image18.g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Metamate/gar-games/tree/main/02-flap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rive.google.com/file/d/1dF02vMh7jL8SJ4cJV73_jCqaSsAXv2YO/view?usp=drive_link" TargetMode="External"/><Relationship Id="rId4" Type="http://schemas.openxmlformats.org/officeDocument/2006/relationships/hyperlink" Target="https://drive.google.com/file/d/1oInwutcgVN0gPDiQOLmi3gsFjW5-BjE8/view?usp=drive_link" TargetMode="Externa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www.youtube.com/watch?v=HUgE9L7V4oY" TargetMode="External"/><Relationship Id="rId4" Type="http://schemas.openxmlformats.org/officeDocument/2006/relationships/image" Target="../media/image1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hyperlink" Target="https://drive.google.com/file/d/1b8eepQAJjS6b1H4EDx3q2EABqdkQRRVd/view?usp=drive_link"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rive.google.com/file/d/1twwv4s9OW9u6HV0zb3UB_KtONCMTer0N/view?usp=drive_link" TargetMode="External"/><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4"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hyperlink" Target="https://docs.monogame.net/api/Microsoft.Xna.Framework.Graphics.SpriteBatch.html#Microsoft_Xna_Framework_Graphics_SpriteBatch_Draw_Microsoft_Xna_Framework_Graphics_Texture2D_Microsoft_Xna_Framework_Vector2_System_Nullable_Microsoft_Xna_Framework_Rectangle__Microsoft_Xna_Framework_Color_System_Single_Microsoft_Xna_Framework_Vector2_System_Single_Microsoft_Xna_Framework_Graphics_SpriteEffects_System_Single_" TargetMode="External"/><Relationship Id="rId4" Type="http://schemas.openxmlformats.org/officeDocument/2006/relationships/hyperlink" Target="https://docs.monogame.net/api/Microsoft.Xna.Framework.Graphics.SpriteEffects.html" TargetMode="External"/><Relationship Id="rId5"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hyperlink" Target="https://drive.google.com/file/d/1WL5c1jFGq4ZBwqACP-6nO2RcUN0IbpRo/view?usp=drive_link" TargetMode="External"/><Relationship Id="rId4"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docs.monogame.net/api/Microsoft.Xna.Framework.Media.Song.html" TargetMode="External"/><Relationship Id="rId4" Type="http://schemas.openxmlformats.org/officeDocument/2006/relationships/hyperlink" Target="https://drive.google.com/file/d/1LATV-G9rwlnMwBQPITGsNNlvMTCOqBBC/view?usp=drive_link" TargetMode="External"/><Relationship Id="rId5" Type="http://schemas.openxmlformats.org/officeDocument/2006/relationships/hyperlink" Target="https://docs.monogame.net/api/Microsoft.Xna.Framework.Media.MediaPlayer.html#Microsoft_Xna_Framework_Media_MediaPlayer_Play_Microsoft_Xna_Framework_Media_Song_" TargetMode="External"/><Relationship Id="rId6" Type="http://schemas.openxmlformats.org/officeDocument/2006/relationships/hyperlink" Target="https://drive.google.com/file/d/13LKIw67rIX9Z5MYAqap7e8mKEqPh_G3K/view?usp=drive_link" TargetMode="External"/><Relationship Id="rId7" Type="http://schemas.openxmlformats.org/officeDocument/2006/relationships/hyperlink" Target="https://drive.google.com/file/d/14qt-upC_R4WkZOJkcJO0jjS4uEn1FHP7/view?usp=drive_link" TargetMode="External"/><Relationship Id="rId8" Type="http://schemas.openxmlformats.org/officeDocument/2006/relationships/hyperlink" Target="https://drive.google.com/file/d/17E7FcUNSMfXg2UaeD0_J8FyO1ymePxQj/view?usp=drive_link" TargetMode="External"/><Relationship Id="rId9" Type="http://schemas.openxmlformats.org/officeDocument/2006/relationships/hyperlink" Target="https://drive.google.com/file/d/1xY-B4cc7hAFLAlnMgw55KSW3gZfdD_xL/view?usp=drive_link"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8.png"/><Relationship Id="rId4" Type="http://schemas.openxmlformats.org/officeDocument/2006/relationships/image" Target="../media/image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02: Flappy Bird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flappy.gif"/>
          <p:cNvPicPr>
            <a:picLocks noChangeAspect="1"/>
          </p:cNvPicPr>
          <p:nvPr/>
        </p:nvPicPr>
        <p:blipFill>
          <a:blip r:embed="rId4"/>
          <a:stretch>
            <a:fillRect/>
          </a:stretch>
        </p:blipFill>
        <p:spPr>
          <a:xfrm>
            <a:off x="1566089" y="1322900"/>
            <a:ext cx="6011824" cy="338165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Class Libraries</a:t>
            </a:r>
            <a:endParaRPr/>
          </a:p>
          <a:p>
            <a:pPr indent="-330200" lvl="0" marL="457200" rtl="0" algn="l">
              <a:spcBef>
                <a:spcPts val="0"/>
              </a:spcBef>
              <a:spcAft>
                <a:spcPts val="0"/>
              </a:spcAft>
              <a:buSzPts val="1600"/>
              <a:buChar char="●"/>
            </a:pPr>
            <a:r>
              <a:rPr lang="en"/>
              <a:t>Images</a:t>
            </a:r>
            <a:endParaRPr/>
          </a:p>
          <a:p>
            <a:pPr indent="-330200" lvl="0" marL="457200" rtl="0" algn="l">
              <a:spcBef>
                <a:spcPts val="0"/>
              </a:spcBef>
              <a:spcAft>
                <a:spcPts val="0"/>
              </a:spcAft>
              <a:buSzPts val="1600"/>
              <a:buChar char="●"/>
            </a:pPr>
            <a:r>
              <a:rPr lang="en"/>
              <a:t>Infinite Scrolling</a:t>
            </a:r>
            <a:endParaRPr/>
          </a:p>
          <a:p>
            <a:pPr indent="-330200" lvl="0" marL="457200" rtl="0" algn="l">
              <a:spcBef>
                <a:spcPts val="0"/>
              </a:spcBef>
              <a:spcAft>
                <a:spcPts val="0"/>
              </a:spcAft>
              <a:buSzPts val="1600"/>
              <a:buChar char="●"/>
            </a:pPr>
            <a:r>
              <a:rPr lang="en"/>
              <a:t>Procedural Generation</a:t>
            </a:r>
            <a:endParaRPr/>
          </a:p>
          <a:p>
            <a:pPr indent="-330200" lvl="0" marL="457200" rtl="0" algn="l">
              <a:spcBef>
                <a:spcPts val="0"/>
              </a:spcBef>
              <a:spcAft>
                <a:spcPts val="0"/>
              </a:spcAft>
              <a:buSzPts val="1600"/>
              <a:buChar char="●"/>
            </a:pPr>
            <a:r>
              <a:rPr lang="en"/>
              <a:t>Interfaces</a:t>
            </a:r>
            <a:endParaRPr/>
          </a:p>
          <a:p>
            <a:pPr indent="-330200" lvl="0" marL="457200" rtl="0" algn="l">
              <a:spcBef>
                <a:spcPts val="0"/>
              </a:spcBef>
              <a:spcAft>
                <a:spcPts val="0"/>
              </a:spcAft>
              <a:buSzPts val="1600"/>
              <a:buChar char="●"/>
            </a:pPr>
            <a:r>
              <a:rPr lang="en"/>
              <a:t>State Machines</a:t>
            </a:r>
            <a:endParaRPr/>
          </a:p>
          <a:p>
            <a:pPr indent="-330200" lvl="0" marL="457200" rtl="0" algn="l">
              <a:spcBef>
                <a:spcPts val="0"/>
              </a:spcBef>
              <a:spcAft>
                <a:spcPts val="0"/>
              </a:spcAft>
              <a:buSzPts val="1600"/>
              <a:buChar char="●"/>
            </a:pPr>
            <a:r>
              <a:rPr lang="en"/>
              <a:t>Singleton Pattern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Architecture</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is good software architecture?</a:t>
            </a:r>
            <a:endParaRPr/>
          </a:p>
          <a:p>
            <a:pPr indent="-317500" lvl="1" marL="914400" rtl="0" algn="l">
              <a:spcBef>
                <a:spcPts val="0"/>
              </a:spcBef>
              <a:spcAft>
                <a:spcPts val="0"/>
              </a:spcAft>
              <a:buSzPts val="1400"/>
              <a:buChar char="○"/>
            </a:pPr>
            <a:r>
              <a:rPr lang="en"/>
              <a:t>Change</a:t>
            </a:r>
            <a:endParaRPr/>
          </a:p>
          <a:p>
            <a:pPr indent="-317500" lvl="1" marL="914400" rtl="0" algn="l">
              <a:spcBef>
                <a:spcPts val="0"/>
              </a:spcBef>
              <a:spcAft>
                <a:spcPts val="0"/>
              </a:spcAft>
              <a:buSzPts val="1400"/>
              <a:buChar char="○"/>
            </a:pPr>
            <a:r>
              <a:rPr lang="en"/>
              <a:t>Decoupling</a:t>
            </a:r>
            <a:endParaRPr/>
          </a:p>
          <a:p>
            <a:pPr indent="-317500" lvl="1" marL="914400" rtl="0" algn="l">
              <a:spcBef>
                <a:spcPts val="0"/>
              </a:spcBef>
              <a:spcAft>
                <a:spcPts val="0"/>
              </a:spcAft>
              <a:buSzPts val="1400"/>
              <a:buChar char="○"/>
            </a:pPr>
            <a:r>
              <a:rPr lang="en"/>
              <a:t>Cost</a:t>
            </a:r>
            <a:endParaRPr/>
          </a:p>
          <a:p>
            <a:pPr indent="-317500" lvl="1" marL="914400" rtl="0" algn="l">
              <a:spcBef>
                <a:spcPts val="0"/>
              </a:spcBef>
              <a:spcAft>
                <a:spcPts val="0"/>
              </a:spcAft>
              <a:buSzPts val="1400"/>
              <a:buChar char="○"/>
            </a:pPr>
            <a:r>
              <a:rPr lang="en"/>
              <a:t>Performance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pic>
        <p:nvPicPr>
          <p:cNvPr id="63" name="Google Shape;63;p13"/>
          <p:cNvPicPr preferRelativeResize="0"/>
          <p:nvPr/>
        </p:nvPicPr>
        <p:blipFill>
          <a:blip r:embed="rId3">
            <a:alphaModFix/>
          </a:blip>
          <a:stretch>
            <a:fillRect/>
          </a:stretch>
        </p:blipFill>
        <p:spPr>
          <a:xfrm>
            <a:off x="1267375" y="792336"/>
            <a:ext cx="6609249" cy="355882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Coupling &amp; Cohesion</a:t>
            </a:r>
            <a:endParaRPr/>
          </a:p>
        </p:txBody>
      </p:sp>
      <p:pic>
        <p:nvPicPr>
          <p:cNvPr id="69" name="Google Shape;69;p14"/>
          <p:cNvPicPr preferRelativeResize="0"/>
          <p:nvPr/>
        </p:nvPicPr>
        <p:blipFill>
          <a:blip r:embed="rId3">
            <a:alphaModFix/>
          </a:blip>
          <a:stretch>
            <a:fillRect/>
          </a:stretch>
        </p:blipFill>
        <p:spPr>
          <a:xfrm>
            <a:off x="2369400" y="1016050"/>
            <a:ext cx="4405200" cy="38363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Design Patterns</a:t>
            </a:r>
            <a:endParaRPr/>
          </a:p>
        </p:txBody>
      </p:sp>
      <p:pic>
        <p:nvPicPr>
          <p:cNvPr id="75" name="Google Shape;75;p15"/>
          <p:cNvPicPr preferRelativeResize="0"/>
          <p:nvPr/>
        </p:nvPicPr>
        <p:blipFill>
          <a:blip r:embed="rId3">
            <a:alphaModFix/>
          </a:blip>
          <a:stretch>
            <a:fillRect/>
          </a:stretch>
        </p:blipFill>
        <p:spPr>
          <a:xfrm>
            <a:off x="1726622" y="1383898"/>
            <a:ext cx="5690752" cy="3203824"/>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81" name="Google Shape;81;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github.com/Metamate/gar-games (folder 02-flappy)</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87" name="Google Shape;87;p17"/>
          <p:cNvPicPr preferRelativeResize="0"/>
          <p:nvPr/>
        </p:nvPicPr>
        <p:blipFill>
          <a:blip r:embed="rId3">
            <a:alphaModFix/>
          </a:blip>
          <a:stretch>
            <a:fillRect/>
          </a:stretch>
        </p:blipFill>
        <p:spPr>
          <a:xfrm>
            <a:off x="270188" y="1400650"/>
            <a:ext cx="8603624" cy="23422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Class Library</a:t>
            </a:r>
            <a:endParaRPr/>
          </a:p>
        </p:txBody>
      </p:sp>
      <p:pic>
        <p:nvPicPr>
          <p:cNvPr id="93" name="Google Shape;93;p18"/>
          <p:cNvPicPr preferRelativeResize="0"/>
          <p:nvPr/>
        </p:nvPicPr>
        <p:blipFill>
          <a:blip r:embed="rId3">
            <a:alphaModFix/>
          </a:blip>
          <a:stretch>
            <a:fillRect/>
          </a:stretch>
        </p:blipFill>
        <p:spPr>
          <a:xfrm>
            <a:off x="252837" y="900688"/>
            <a:ext cx="8638324" cy="334211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A Class Library</a:t>
            </a:r>
            <a:endParaRPr>
              <a:solidFill>
                <a:schemeClr val="accent5"/>
              </a:solidFill>
            </a:endParaRPr>
          </a:p>
        </p:txBody>
      </p:sp>
      <p:sp>
        <p:nvSpPr>
          <p:cNvPr id="99" name="Google Shape;99;p19"/>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move what every game needs into a class library, GMDCore.</a:t>
            </a:r>
            <a:endParaRPr/>
          </a:p>
          <a:p>
            <a:pPr indent="-330200" lvl="0" marL="457200" rtl="0" algn="l">
              <a:spcBef>
                <a:spcPts val="0"/>
              </a:spcBef>
              <a:spcAft>
                <a:spcPts val="0"/>
              </a:spcAft>
              <a:buSzPts val="1600"/>
              <a:buChar char="●"/>
            </a:pPr>
            <a:r>
              <a:rPr lang="en"/>
              <a:t>A Core class, derived from Game: the window, and the screen scaling from Pong.</a:t>
            </a:r>
            <a:endParaRPr/>
          </a:p>
        </p:txBody>
      </p:sp>
      <p:sp>
        <p:nvSpPr>
          <p:cNvPr id="100" name="Rounded Rectangle 99"/>
          <p:cNvSpPr/>
          <p:nvPr/>
        </p:nvSpPr>
        <p:spPr>
          <a:xfrm>
            <a:off x="914400" y="2103120"/>
            <a:ext cx="292608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GMDCore</a:t>
            </a:r>
          </a:p>
          <a:p>
            <a:pPr algn="ctr"/>
            <a:r>
              <a:rPr sz="1400" b="0">
                <a:solidFill>
                  <a:srgbClr val="9AA3AB"/>
                </a:solidFill>
              </a:rPr>
              <a:t>Core : Game · window · scaling</a:t>
            </a:r>
          </a:p>
        </p:txBody>
      </p:sp>
      <p:sp>
        <p:nvSpPr>
          <p:cNvPr id="101" name="Rounded Rectangle 100"/>
          <p:cNvSpPr/>
          <p:nvPr/>
        </p:nvSpPr>
        <p:spPr>
          <a:xfrm>
            <a:off x="5303520" y="173736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Flappy</a:t>
            </a:r>
          </a:p>
        </p:txBody>
      </p:sp>
      <p:sp>
        <p:nvSpPr>
          <p:cNvPr id="102" name="Rounded Rectangle 101"/>
          <p:cNvSpPr/>
          <p:nvPr/>
        </p:nvSpPr>
        <p:spPr>
          <a:xfrm>
            <a:off x="5303520" y="2560320"/>
            <a:ext cx="29260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Snake, Sokoban, ...</a:t>
            </a:r>
          </a:p>
        </p:txBody>
      </p:sp>
      <p:cxnSp>
        <p:nvCxnSpPr>
          <p:cNvPr id="103" name="Connector 102"/>
          <p:cNvCxnSpPr/>
          <p:nvPr/>
        </p:nvCxnSpPr>
        <p:spPr>
          <a:xfrm flipH="1">
            <a:off x="3886200" y="2057400"/>
            <a:ext cx="1371600" cy="36576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p:cNvSpPr txBox="1"/>
          <p:nvPr/>
        </p:nvSpPr>
        <p:spPr>
          <a:xfrm>
            <a:off x="3703320" y="1764792"/>
            <a:ext cx="1737360" cy="274320"/>
          </a:xfrm>
          <a:prstGeom prst="rect">
            <a:avLst/>
          </a:prstGeom>
          <a:noFill/>
        </p:spPr>
        <p:txBody>
          <a:bodyPr wrap="square">
            <a:spAutoFit/>
          </a:bodyPr>
          <a:lstStyle/>
          <a:p>
            <a:pPr algn="ctr"/>
            <a:r>
              <a:rPr sz="1100" b="0" i="0">
                <a:solidFill>
                  <a:srgbClr val="9AA3AB"/>
                </a:solidFill>
              </a:rPr>
              <a:t>uses</a:t>
            </a:r>
          </a:p>
        </p:txBody>
      </p:sp>
      <p:cxnSp>
        <p:nvCxnSpPr>
          <p:cNvPr id="105" name="Connector 104"/>
          <p:cNvCxnSpPr/>
          <p:nvPr/>
        </p:nvCxnSpPr>
        <p:spPr>
          <a:xfrm flipH="1" flipV="1">
            <a:off x="3886200" y="2697480"/>
            <a:ext cx="1371600" cy="18288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xEl>
                                              <p:pRg end="17" st="1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sp>
        <p:nvSpPr>
          <p:cNvPr id="104" name="Google Shape;104;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0: A Game on the Library</a:t>
            </a:r>
            <a:endParaRPr>
              <a:solidFill>
                <a:schemeClr val="accent5"/>
              </a:solidFill>
            </a:endParaRPr>
          </a:p>
        </p:txBody>
      </p:sp>
      <p:sp>
        <p:nvSpPr>
          <p:cNvPr id="105" name="Google Shape;105;p2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new game, Flappy, whose Game1 derives from Core.</a:t>
            </a:r>
            <a:endParaRPr/>
          </a:p>
          <a:p>
            <a:pPr indent="-330200" lvl="0" marL="457200" rtl="0" algn="l">
              <a:spcBef>
                <a:spcPts val="0"/>
              </a:spcBef>
              <a:spcAft>
                <a:spcPts val="0"/>
              </a:spcAft>
              <a:buSzPts val="1600"/>
              <a:buChar char="●"/>
            </a:pPr>
            <a:r>
              <a:rPr lang="en"/>
              <a:t>512 × 288 virtual resolution in a 1280 × 720 window.</a:t>
            </a:r>
            <a:endParaRPr/>
          </a:p>
        </p:txBody>
      </p:sp>
      <p:pic>
        <p:nvPicPr>
          <p:cNvPr id="106" name="Picture 105" descr="f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5">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Images</a:t>
            </a:r>
            <a:endParaRPr/>
          </a:p>
        </p:txBody>
      </p:sp>
      <p:sp>
        <p:nvSpPr>
          <p:cNvPr id="111" name="Google Shape;111;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Remember from last week?</a:t>
            </a:r>
            <a:endParaRPr/>
          </a:p>
          <a:p>
            <a:pPr indent="-317500" lvl="1" marL="914400" rtl="0" algn="l">
              <a:spcBef>
                <a:spcPts val="0"/>
              </a:spcBef>
              <a:spcAft>
                <a:spcPts val="0"/>
              </a:spcAft>
              <a:buSzPts val="1400"/>
              <a:buChar char="○"/>
            </a:pPr>
            <a:r>
              <a:rPr lang="en"/>
              <a:t>Just a Texture2D!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1">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 Drawing Images</a:t>
            </a:r>
            <a:endParaRPr>
              <a:solidFill>
                <a:schemeClr val="accent5"/>
              </a:solidFill>
            </a:endParaRPr>
          </a:p>
        </p:txBody>
      </p:sp>
      <p:sp>
        <p:nvSpPr>
          <p:cNvPr id="117" name="Google Shape;117;p2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draw the background and the ground.</a:t>
            </a:r>
            <a:endParaRPr/>
          </a:p>
        </p:txBody>
      </p:sp>
      <p:pic>
        <p:nvPicPr>
          <p:cNvPr id="118" name="Picture 117" descr="f2.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7">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Parallax Scrolling</a:t>
            </a:r>
            <a:endParaRPr/>
          </a:p>
        </p:txBody>
      </p:sp>
      <p:pic>
        <p:nvPicPr>
          <p:cNvPr id="124" name="Google Shape;124;p23" title="Parallax_scroll.gif"/>
          <p:cNvPicPr preferRelativeResize="0"/>
          <p:nvPr/>
        </p:nvPicPr>
        <p:blipFill>
          <a:blip r:embed="rId3">
            <a:alphaModFix/>
          </a:blip>
          <a:stretch>
            <a:fillRect/>
          </a:stretch>
        </p:blipFill>
        <p:spPr>
          <a:xfrm>
            <a:off x="2123225" y="1637625"/>
            <a:ext cx="4897550" cy="3060975"/>
          </a:xfrm>
          <a:prstGeom prst="rect">
            <a:avLst/>
          </a:prstGeom>
          <a:noFill/>
          <a:ln>
            <a:noFill/>
          </a:ln>
        </p:spPr>
      </p:pic>
      <p:sp>
        <p:nvSpPr>
          <p:cNvPr id="125" name="Google Shape;125;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Illusion of movement </a:t>
            </a:r>
            <a:r>
              <a:rPr lang="en"/>
              <a:t>given two frames of reference that are moving at different rates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2: Parallax Scrolling</a:t>
            </a:r>
            <a:endParaRPr>
              <a:solidFill>
                <a:schemeClr val="accent5"/>
              </a:solidFill>
            </a:endParaRPr>
          </a:p>
        </p:txBody>
      </p:sp>
      <p:sp>
        <p:nvSpPr>
          <p:cNvPr id="131" name="Google Shape;131;p2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scroll them forever, the background slower than the ground.</a:t>
            </a:r>
            <a:endParaRPr/>
          </a:p>
          <a:p>
            <a:pPr indent="-330200" lvl="0" marL="457200" rtl="0" algn="l">
              <a:spcBef>
                <a:spcPts val="0"/>
              </a:spcBef>
              <a:spcAft>
                <a:spcPts val="0"/>
              </a:spcAft>
              <a:buSzPts val="1600"/>
              <a:buChar char="●"/>
            </a:pPr>
            <a:r>
              <a:rPr lang="en"/>
              <a:t>Looping points: background 413, ground 512. Try the % operator.</a:t>
            </a:r>
            <a:endParaRPr/>
          </a:p>
        </p:txBody>
      </p:sp>
      <p:pic>
        <p:nvPicPr>
          <p:cNvPr id="132" name="Picture 131" descr="f2.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1">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sp>
        <p:nvSpPr>
          <p:cNvPr id="136" name="Google Shape;136;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Games are Illusions</a:t>
            </a:r>
            <a:endParaRPr/>
          </a:p>
        </p:txBody>
      </p:sp>
      <p:pic>
        <p:nvPicPr>
          <p:cNvPr descr="THE NEWER VERSION: https://youtu.be/xFdgkMpVzLo&#10;&#10;I'm so incredibly thankful to everyone who came on for this episode. This was my attempt at making an episode feel as important as the game i was covering. And while i will leave it to the viewers to decide if it was properly pulled off, it wouldnt have had any weight to it without the support of everyone who came on to help it feel that way. Here are links to all the contributors. If you enjoyed this episode, it would mean a lot to me if you checked them out and maybe let them know you appreciated their support as much as I did.&#10;&#10;The intro animator Michael Chin - https://www.youtube.com/user/MichaelChin1994&#10;&#10;Joey Ferris - https://www.youtube.com/user/TheFerrisofWheels&#10;&#10;Zeltik - https://www.youtube.com/channel/UCudx6plmpbs5WtWvsvu-EdQ&#10;&#10;HMK - https://www.youtube.com/user/HMK9CAPN&#10;&#10;Darrin Harr III from www.ZeldaInformer.com - https://www.youtube.com/user/ZeldaInformer&#10;&#10;Voiced by Brandon Acosta and written by Alex Trevino on behalf of www.ZeldaUniverse.com - https://www.youtube.com/user/ZeldaUniverseTV&#10;&#10;Also, you can follow me on twitter if you want screen shots of boundary break-esk stuff throughout the week!:&#10;https://twitter.com/BoundaryBreak&#10;&#10;Source for lower third:&#10;https://youtu.be/IXtr2C8SccQ&#10;&#10;By request of the guy who actually made the map for Haunted Wasteland (he was a very cool guy) Please check out www.VGmaps.com for more video game related maps!" id="137" name="Google Shape;137;p25" title="Boundary Break: Ocarina of Time (OLD - See Description for updated version)">
            <a:hlinkClick r:id="rId3"/>
          </p:cNvPr>
          <p:cNvPicPr preferRelativeResize="0"/>
          <p:nvPr/>
        </p:nvPicPr>
        <p:blipFill>
          <a:blip r:embed="rId4">
            <a:alphaModFix/>
          </a:blip>
          <a:stretch>
            <a:fillRect/>
          </a:stretch>
        </p:blipFill>
        <p:spPr>
          <a:xfrm>
            <a:off x="1907200" y="1456375"/>
            <a:ext cx="5259975" cy="2958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7"/>
                                        </p:tgtEl>
                                        <p:attrNameLst>
                                          <p:attrName>style.visibility</p:attrName>
                                        </p:attrNameLst>
                                      </p:cBhvr>
                                      <p:to>
                                        <p:strVal val="visible"/>
                                      </p:to>
                                    </p:set>
                                    <p:animEffect filter="fade" transition="in">
                                      <p:cBhvr>
                                        <p:cTn dur="1000"/>
                                        <p:tgtEl>
                                          <p:spTgt spid="1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3: The Bird and the Art Class</a:t>
            </a:r>
            <a:endParaRPr>
              <a:solidFill>
                <a:schemeClr val="accent5"/>
              </a:solidFill>
            </a:endParaRPr>
          </a:p>
        </p:txBody>
      </p:sp>
      <p:sp>
        <p:nvSpPr>
          <p:cNvPr id="143" name="Google Shape;143;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Bird class with Update and Draw. But how does it get its texture?</a:t>
            </a:r>
            <a:endParaRPr/>
          </a:p>
        </p:txBody>
      </p:sp>
      <p:sp>
        <p:nvSpPr>
          <p:cNvPr id="144" name="Rounded Rectangle 143"/>
          <p:cNvSpPr/>
          <p:nvPr/>
        </p:nvSpPr>
        <p:spPr>
          <a:xfrm>
            <a:off x="41148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field in Game1</a:t>
            </a:r>
          </a:p>
          <a:p>
            <a:pPr algn="ctr"/>
            <a:r>
              <a:rPr sz="1200" b="0">
                <a:solidFill>
                  <a:srgbClr val="9AA3AB"/>
                </a:solidFill>
              </a:rPr>
              <a:t>breaks encapsulation,</a:t>
            </a:r>
          </a:p>
          <a:p>
            <a:pPr algn="ctr"/>
            <a:r>
              <a:rPr sz="1200" b="0">
                <a:solidFill>
                  <a:srgbClr val="9AA3AB"/>
                </a:solidFill>
              </a:rPr>
              <a:t>Game1 grows</a:t>
            </a:r>
          </a:p>
        </p:txBody>
      </p:sp>
      <p:sp>
        <p:nvSpPr>
          <p:cNvPr id="145" name="Rounded Rectangle 144"/>
          <p:cNvSpPr/>
          <p:nvPr/>
        </p:nvSpPr>
        <p:spPr>
          <a:xfrm>
            <a:off x="251460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Pass it in</a:t>
            </a:r>
          </a:p>
          <a:p>
            <a:pPr algn="ctr"/>
            <a:r>
              <a:rPr sz="1200" b="0">
                <a:solidFill>
                  <a:srgbClr val="9AA3AB"/>
                </a:solidFill>
              </a:rPr>
              <a:t>tedious for</a:t>
            </a:r>
          </a:p>
          <a:p>
            <a:pPr algn="ctr"/>
            <a:r>
              <a:rPr sz="1200" b="0">
                <a:solidFill>
                  <a:srgbClr val="9AA3AB"/>
                </a:solidFill>
              </a:rPr>
              <a:t>every new entity</a:t>
            </a:r>
          </a:p>
        </p:txBody>
      </p:sp>
      <p:sp>
        <p:nvSpPr>
          <p:cNvPr id="146" name="Rounded Rectangle 145"/>
          <p:cNvSpPr/>
          <p:nvPr/>
        </p:nvSpPr>
        <p:spPr>
          <a:xfrm>
            <a:off x="4617720" y="1463040"/>
            <a:ext cx="1965960"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ContentManager</a:t>
            </a:r>
          </a:p>
          <a:p>
            <a:pPr algn="ctr"/>
            <a:r>
              <a:rPr sz="1200" b="0">
                <a:solidFill>
                  <a:srgbClr val="9AA3AB"/>
                </a:solidFill>
              </a:rPr>
              <a:t>everything can</a:t>
            </a:r>
          </a:p>
          <a:p>
            <a:pPr algn="ctr"/>
            <a:r>
              <a:rPr sz="1200" b="0">
                <a:solidFill>
                  <a:srgbClr val="9AA3AB"/>
                </a:solidFill>
              </a:rPr>
              <a:t>load anything</a:t>
            </a:r>
          </a:p>
        </p:txBody>
      </p:sp>
      <p:sp>
        <p:nvSpPr>
          <p:cNvPr id="147" name="Rounded Rectangle 146"/>
          <p:cNvSpPr/>
          <p:nvPr/>
        </p:nvSpPr>
        <p:spPr>
          <a:xfrm>
            <a:off x="6720840" y="1463040"/>
            <a:ext cx="1965960"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A static Art class</a:t>
            </a:r>
          </a:p>
          <a:p>
            <a:pPr algn="ctr"/>
            <a:r>
              <a:rPr sz="1200" b="0">
                <a:solidFill>
                  <a:srgbClr val="9AA3AB"/>
                </a:solidFill>
              </a:rPr>
              <a:t>one place</a:t>
            </a:r>
          </a:p>
          <a:p>
            <a:pPr algn="ctr"/>
            <a:r>
              <a:rPr sz="1200" b="0">
                <a:solidFill>
                  <a:srgbClr val="9AA3AB"/>
                </a:solidFill>
              </a:rPr>
              <a:t>for every asset</a:t>
            </a:r>
          </a:p>
        </p:txBody>
      </p:sp>
      <p:sp>
        <p:nvSpPr>
          <p:cNvPr id="148" name="TextBox 147"/>
          <p:cNvSpPr txBox="1"/>
          <p:nvPr/>
        </p:nvSpPr>
        <p:spPr>
          <a:xfrm>
            <a:off x="457200" y="2926080"/>
            <a:ext cx="8229600" cy="731520"/>
          </a:xfrm>
          <a:prstGeom prst="rect">
            <a:avLst/>
          </a:prstGeom>
          <a:noFill/>
        </p:spPr>
        <p:txBody>
          <a:bodyPr wrap="square">
            <a:spAutoFit/>
          </a:bodyPr>
          <a:lstStyle/>
          <a:p>
            <a:pPr algn="ctr"/>
            <a:r>
              <a:rPr sz="1500" b="1" i="0">
                <a:solidFill>
                  <a:srgbClr val="DEE2E6"/>
                </a:solidFill>
              </a:rPr>
              <a:t>Which would you pick? We go with Art, and move the background and ground into it too.</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3">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4: Gravity</a:t>
            </a:r>
            <a:endParaRPr>
              <a:solidFill>
                <a:schemeClr val="accent5"/>
              </a:solidFill>
            </a:endParaRPr>
          </a:p>
        </p:txBody>
      </p:sp>
      <p:sp>
        <p:nvSpPr>
          <p:cNvPr id="149" name="Google Shape;149;p2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gravity. A velocity that grows every frame, scaled by delta time.</a:t>
            </a:r>
            <a:endParaRPr/>
          </a:p>
        </p:txBody>
      </p:sp>
      <p:pic>
        <p:nvPicPr>
          <p:cNvPr id="150" name="Picture 149" descr="f3.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9">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5: An Input Manager</a:t>
            </a:r>
            <a:endParaRPr>
              <a:solidFill>
                <a:schemeClr val="accent5"/>
              </a:solidFill>
            </a:endParaRPr>
          </a:p>
        </p:txBody>
      </p:sp>
      <p:sp>
        <p:nvSpPr>
          <p:cNvPr id="155" name="Google Shape;155;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flap on Space or a click, with input classes in GMDCore.</a:t>
            </a:r>
            <a:endParaRPr/>
          </a:p>
        </p:txBody>
      </p:sp>
      <p:sp>
        <p:nvSpPr>
          <p:cNvPr id="156" name="Rounded Rectangle 155"/>
          <p:cNvSpPr/>
          <p:nvPr/>
        </p:nvSpPr>
        <p:spPr>
          <a:xfrm>
            <a:off x="3108960" y="1417320"/>
            <a:ext cx="292608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InputManager</a:t>
            </a:r>
          </a:p>
          <a:p>
            <a:pPr algn="ctr"/>
            <a:r>
              <a:rPr sz="1300" b="0">
                <a:solidFill>
                  <a:srgbClr val="9AA3AB"/>
                </a:solidFill>
              </a:rPr>
              <a:t>updated by Core, every frame</a:t>
            </a:r>
          </a:p>
        </p:txBody>
      </p:sp>
      <p:sp>
        <p:nvSpPr>
          <p:cNvPr id="157" name="Rounded Rectangle 156"/>
          <p:cNvSpPr/>
          <p:nvPr/>
        </p:nvSpPr>
        <p:spPr>
          <a:xfrm>
            <a:off x="91440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KeyboardInfo</a:t>
            </a:r>
          </a:p>
          <a:p>
            <a:pPr algn="ctr"/>
            <a:r>
              <a:rPr sz="1300" b="0">
                <a:solidFill>
                  <a:srgbClr val="9AA3AB"/>
                </a:solidFill>
              </a:rPr>
              <a:t>IsKeyDown · WasKeyJustPressed</a:t>
            </a:r>
          </a:p>
        </p:txBody>
      </p:sp>
      <p:sp>
        <p:nvSpPr>
          <p:cNvPr id="158" name="Rounded Rectangle 157"/>
          <p:cNvSpPr/>
          <p:nvPr/>
        </p:nvSpPr>
        <p:spPr>
          <a:xfrm>
            <a:off x="4937760" y="2560320"/>
            <a:ext cx="3291840"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MouseInfo</a:t>
            </a:r>
          </a:p>
          <a:p>
            <a:pPr algn="ctr"/>
            <a:r>
              <a:rPr sz="1300" b="0">
                <a:solidFill>
                  <a:srgbClr val="9AA3AB"/>
                </a:solidFill>
              </a:rPr>
              <a:t>Position · WasLeftButtonJustPressed</a:t>
            </a:r>
          </a:p>
        </p:txBody>
      </p:sp>
      <p:cxnSp>
        <p:nvCxnSpPr>
          <p:cNvPr id="159" name="Connector 158"/>
          <p:cNvCxnSpPr/>
          <p:nvPr/>
        </p:nvCxnSpPr>
        <p:spPr>
          <a:xfrm flipH="1">
            <a:off x="292608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303520" y="2075688"/>
            <a:ext cx="914400" cy="4663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914400" y="3566160"/>
            <a:ext cx="7315200" cy="365760"/>
          </a:xfrm>
          <a:prstGeom prst="rect">
            <a:avLst/>
          </a:prstGeom>
          <a:noFill/>
        </p:spPr>
        <p:txBody>
          <a:bodyPr wrap="square">
            <a:spAutoFit/>
          </a:bodyPr>
          <a:lstStyle/>
          <a:p>
            <a:pPr algn="ctr"/>
            <a:r>
              <a:rPr sz="1300" b="0" i="0">
                <a:solidFill>
                  <a:srgbClr val="9AA3AB"/>
                </a:solidFill>
              </a:rPr>
              <a:t>A flap sets the vertical velocity to an upward jump force. Remember: y points down.</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5">
                                            <p:txEl>
                                              <p:pRg end="13" st="1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Generation</a:t>
            </a:r>
            <a:endParaRPr/>
          </a:p>
        </p:txBody>
      </p:sp>
      <p:pic>
        <p:nvPicPr>
          <p:cNvPr id="161" name="Google Shape;161;p29"/>
          <p:cNvPicPr preferRelativeResize="0"/>
          <p:nvPr/>
        </p:nvPicPr>
        <p:blipFill>
          <a:blip r:embed="rId3">
            <a:alphaModFix/>
          </a:blip>
          <a:stretch>
            <a:fillRect/>
          </a:stretch>
        </p:blipFill>
        <p:spPr>
          <a:xfrm>
            <a:off x="1527738" y="954840"/>
            <a:ext cx="6088525" cy="4070387"/>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6: Spawning on a Timer</a:t>
            </a:r>
            <a:endParaRPr>
              <a:solidFill>
                <a:schemeClr val="accent5"/>
              </a:solidFill>
            </a:endParaRPr>
          </a:p>
        </p:txBody>
      </p:sp>
      <p:sp>
        <p:nvSpPr>
          <p:cNvPr id="167" name="Google Shape;167;p3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pipes that spawn on a timer at random heights, and scroll left.</a:t>
            </a:r>
            <a:endParaRPr/>
          </a:p>
          <a:p>
            <a:pPr indent="-330200" lvl="0" marL="457200" rtl="0" algn="l">
              <a:spcBef>
                <a:spcPts val="0"/>
              </a:spcBef>
              <a:spcAft>
                <a:spcPts val="0"/>
              </a:spcAft>
              <a:buSzPts val="1600"/>
              <a:buChar char="●"/>
            </a:pPr>
            <a:r>
              <a:rPr lang="en"/>
              <a:t>A Pipe class, a spawn timer, and a list of pipes.</a:t>
            </a:r>
            <a:endParaRPr/>
          </a:p>
        </p:txBody>
      </p:sp>
      <p:pic>
        <p:nvPicPr>
          <p:cNvPr id="168" name="Picture 167" descr="f6.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Picture 172" descr="flappy_zones.png"/>
          <p:cNvPicPr>
            <a:picLocks noChangeAspect="1"/>
          </p:cNvPicPr>
          <p:nvPr/>
        </p:nvPicPr>
        <p:blipFill>
          <a:blip r:embed="rId4"/>
          <a:stretch>
            <a:fillRect/>
          </a:stretch>
        </p:blipFill>
        <p:spPr>
          <a:xfrm>
            <a:off x="1521325" y="332167"/>
            <a:ext cx="6101351" cy="447916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7: A Drifting Gap</a:t>
            </a:r>
            <a:endParaRPr>
              <a:solidFill>
                <a:schemeClr val="accent5"/>
              </a:solidFill>
            </a:endParaRPr>
          </a:p>
        </p:txBody>
      </p:sp>
      <p:sp>
        <p:nvSpPr>
          <p:cNvPr id="178" name="Google Shape;178;p32"/>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pipes in pairs with a gap, the gap drifting smoothly up and down.</a:t>
            </a:r>
            <a:endParaRPr/>
          </a:p>
          <a:p>
            <a:pPr indent="-330200" lvl="0" marL="457200" rtl="0" algn="l">
              <a:spcBef>
                <a:spcPts val="0"/>
              </a:spcBef>
              <a:spcAft>
                <a:spcPts val="0"/>
              </a:spcAft>
              <a:buSzPts val="1600"/>
              <a:buChar char="●"/>
            </a:pPr>
            <a:r>
              <a:rPr lang="en"/>
              <a:t>A PipePair wraps two pipes; pairs that leave the screen are removed.</a:t>
            </a:r>
            <a:endParaRPr/>
          </a:p>
        </p:txBody>
      </p:sp>
      <p:pic>
        <p:nvPicPr>
          <p:cNvPr id="179" name="Picture 178" descr="f7.png"/>
          <p:cNvPicPr>
            <a:picLocks noChangeAspect="1"/>
          </p:cNvPicPr>
          <p:nvPr/>
        </p:nvPicPr>
        <p:blipFill>
          <a:blip r:embed="rId5"/>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8">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Collisions</a:t>
            </a:r>
            <a:endParaRPr/>
          </a:p>
        </p:txBody>
      </p:sp>
      <p:sp>
        <p:nvSpPr>
          <p:cNvPr id="184" name="Google Shape;184;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How can we do collision detection?</a:t>
            </a:r>
            <a:endParaRPr/>
          </a:p>
          <a:p>
            <a:pPr indent="-317500" lvl="1" marL="914400" rtl="0" algn="l">
              <a:spcBef>
                <a:spcPts val="0"/>
              </a:spcBef>
              <a:spcAft>
                <a:spcPts val="0"/>
              </a:spcAft>
              <a:buSzPts val="1400"/>
              <a:buChar char="○"/>
            </a:pPr>
            <a:r>
              <a:rPr lang="en"/>
              <a:t>AABB - same as last week!</a:t>
            </a:r>
            <a:endParaRPr/>
          </a:p>
          <a:p>
            <a:pPr indent="0" lvl="0" marL="0" rtl="0" algn="l">
              <a:spcBef>
                <a:spcPts val="1200"/>
              </a:spcBef>
              <a:spcAft>
                <a:spcPts val="0"/>
              </a:spcAft>
              <a:buNone/>
            </a:pPr>
            <a:r>
              <a:rPr/>
              <a:t/>
            </a:r>
            <a:endParaRPr/>
          </a:p>
          <a:p>
            <a:pPr indent="0" lvl="0" marL="0" rtl="0" algn="l">
              <a:spcBef>
                <a:spcPts val="1200"/>
              </a:spcBef>
              <a:spcAft>
                <a:spcPts val="1200"/>
              </a:spcAft>
              <a:buNone/>
            </a:pPr>
            <a:r>
              <a:rPr/>
              <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 name="Shape 188"/>
        <p:cNvGrpSpPr/>
        <p:nvPr/>
      </p:nvGrpSpPr>
      <p:grpSpPr>
        <a:xfrm>
          <a:off x="0" y="0"/>
          <a:ext cx="0" cy="0"/>
          <a:chOff x="0" y="0"/>
          <a:chExt cx="0" cy="0"/>
        </a:xfrm>
      </p:grpSpPr>
      <p:sp>
        <p:nvSpPr>
          <p:cNvPr id="189" name="Google Shape;18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8: Hitboxes</a:t>
            </a:r>
            <a:endParaRPr>
              <a:solidFill>
                <a:schemeClr val="accent5"/>
              </a:solidFill>
            </a:endParaRPr>
          </a:p>
        </p:txBody>
      </p:sp>
      <p:sp>
        <p:nvSpPr>
          <p:cNvPr id="190" name="Google Shape;190;p34"/>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the game stops when the bird hits a pipe, the ground or the ceiling.</a:t>
            </a:r>
            <a:endParaRPr/>
          </a:p>
          <a:p>
            <a:pPr indent="-330200" lvl="0" marL="457200" rtl="0" algn="l">
              <a:spcBef>
                <a:spcPts val="0"/>
              </a:spcBef>
              <a:spcAft>
                <a:spcPts val="0"/>
              </a:spcAft>
              <a:buSzPts val="1600"/>
              <a:buChar char="●"/>
            </a:pPr>
            <a:r>
              <a:rPr lang="en"/>
              <a:t>Can you make the collisions a little more forgiving?</a:t>
            </a:r>
            <a:endParaRPr/>
          </a:p>
        </p:txBody>
      </p:sp>
      <p:pic>
        <p:nvPicPr>
          <p:cNvPr id="191" name="Picture 190" descr="f8.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State</a:t>
            </a:r>
            <a:endParaRPr/>
          </a:p>
        </p:txBody>
      </p:sp>
      <p:sp>
        <p:nvSpPr>
          <p:cNvPr id="196" name="Google Shape;196;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Do you remember how game state was handled in the Pong game?</a:t>
            </a:r>
            <a:endParaRPr/>
          </a:p>
          <a:p>
            <a:pPr indent="-317500" lvl="1" marL="914400" rtl="0" algn="l">
              <a:spcBef>
                <a:spcPts val="0"/>
              </a:spcBef>
              <a:spcAft>
                <a:spcPts val="0"/>
              </a:spcAft>
              <a:buSzPts val="1400"/>
              <a:buChar char="○"/>
            </a:pPr>
            <a:r>
              <a:rPr lang="en"/>
              <a:t>Why is this potentially “problematic”?</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Flappy Bird State Machine</a:t>
            </a:r>
            <a:endParaRPr/>
          </a:p>
        </p:txBody>
      </p:sp>
      <p:pic>
        <p:nvPicPr>
          <p:cNvPr id="202" name="Google Shape;202;p36"/>
          <p:cNvPicPr preferRelativeResize="0"/>
          <p:nvPr/>
        </p:nvPicPr>
        <p:blipFill>
          <a:blip r:embed="rId3">
            <a:alphaModFix/>
          </a:blip>
          <a:stretch>
            <a:fillRect/>
          </a:stretch>
        </p:blipFill>
        <p:spPr>
          <a:xfrm>
            <a:off x="152400" y="1441590"/>
            <a:ext cx="8839200" cy="327133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pic>
        <p:nvPicPr>
          <p:cNvPr id="207" name="Google Shape;207;p37"/>
          <p:cNvPicPr preferRelativeResize="0"/>
          <p:nvPr/>
        </p:nvPicPr>
        <p:blipFill>
          <a:blip r:embed="rId3">
            <a:alphaModFix/>
          </a:blip>
          <a:stretch>
            <a:fillRect/>
          </a:stretch>
        </p:blipFill>
        <p:spPr>
          <a:xfrm>
            <a:off x="2261863" y="152400"/>
            <a:ext cx="4620269" cy="4838699"/>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Interfaces</a:t>
            </a:r>
            <a:endParaRPr/>
          </a:p>
        </p:txBody>
      </p:sp>
      <p:sp>
        <p:nvSpPr>
          <p:cNvPr id="213" name="Google Shape;213;p38"/>
          <p:cNvSpPr txBox="1"/>
          <p:nvPr>
            <p:ph idx="2" type="body"/>
          </p:nvPr>
        </p:nvSpPr>
        <p:spPr>
          <a:xfrm>
            <a:off x="4832400" y="886075"/>
            <a:ext cx="3999900" cy="37146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PlayState</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14" name="Google Shape;214;p38"/>
          <p:cNvSpPr txBox="1"/>
          <p:nvPr>
            <p:ph idx="2" type="body"/>
          </p:nvPr>
        </p:nvSpPr>
        <p:spPr>
          <a:xfrm>
            <a:off x="311700" y="886075"/>
            <a:ext cx="3999900" cy="1797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IState</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Enter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39"/>
          <p:cNvSpPr txBox="1"/>
          <p:nvPr>
            <p:ph idx="2" type="body"/>
          </p:nvPr>
        </p:nvSpPr>
        <p:spPr>
          <a:xfrm>
            <a:off x="2231700" y="201900"/>
            <a:ext cx="4680600" cy="47397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class</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StateMachine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Game1</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TitleState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 { </a:t>
            </a:r>
            <a:r>
              <a:rPr lang="en" sz="800">
                <a:solidFill>
                  <a:srgbClr val="569CD6"/>
                </a:solidFill>
                <a:highlight>
                  <a:srgbClr val="1F1F1F"/>
                </a:highlight>
                <a:latin typeface="Consolas"/>
                <a:ea typeface="Consolas"/>
                <a:cs typeface="Consolas"/>
                <a:sym typeface="Consolas"/>
              </a:rPr>
              <a:t>get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private</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set</a:t>
            </a:r>
            <a:r>
              <a:rPr lang="en" sz="800">
                <a:solidFill>
                  <a:srgbClr val="CCCCCC"/>
                </a:solidFill>
                <a:highlight>
                  <a:srgbClr val="1F1F1F"/>
                </a:highlight>
                <a:latin typeface="Consolas"/>
                <a:ea typeface="Consolas"/>
                <a:cs typeface="Consolas"/>
                <a:sym typeface="Consolas"/>
              </a:rPr>
              <a:t>; }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new</a:t>
            </a:r>
            <a:r>
              <a:rPr lang="en" sz="800">
                <a:solidFill>
                  <a:srgbClr val="CCCCCC"/>
                </a:solidFill>
                <a:highlight>
                  <a:srgbClr val="1F1F1F"/>
                </a:highlight>
                <a:latin typeface="Consolas"/>
                <a:ea typeface="Consolas"/>
                <a:cs typeface="Consolas"/>
                <a:sym typeface="Consolas"/>
              </a:rPr>
              <a:t> </a:t>
            </a:r>
            <a:r>
              <a:rPr lang="en" sz="800">
                <a:solidFill>
                  <a:srgbClr val="4EC9B0"/>
                </a:solidFill>
                <a:highlight>
                  <a:srgbClr val="1F1F1F"/>
                </a:highlight>
                <a:latin typeface="Consolas"/>
                <a:ea typeface="Consolas"/>
                <a:cs typeface="Consolas"/>
                <a:sym typeface="Consolas"/>
              </a:rPr>
              <a:t>PlayState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ChangeState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IState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Exit</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CCCCCC"/>
                </a:solidFill>
                <a:highlight>
                  <a:srgbClr val="1F1F1F"/>
                </a:highlight>
                <a:latin typeface="Consolas"/>
                <a:ea typeface="Consolas"/>
                <a:cs typeface="Consolas"/>
                <a:sym typeface="Consolas"/>
              </a:rPr>
              <a:t> </a:t>
            </a:r>
            <a:r>
              <a:rPr lang="en" sz="800">
                <a:solidFill>
                  <a:srgbClr val="D4D4D4"/>
                </a:solidFill>
                <a:highlight>
                  <a:srgbClr val="1F1F1F"/>
                </a:highlight>
                <a:latin typeface="Consolas"/>
                <a:ea typeface="Consolas"/>
                <a:cs typeface="Consolas"/>
                <a:sym typeface="Consolas"/>
              </a:rPr>
              <a:t>=</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newState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Enter</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Update</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gameTime</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public</a:t>
            </a:r>
            <a:r>
              <a:rPr lang="en" sz="800">
                <a:solidFill>
                  <a:srgbClr val="CCCCCC"/>
                </a:solidFill>
                <a:highlight>
                  <a:srgbClr val="1F1F1F"/>
                </a:highlight>
                <a:latin typeface="Consolas"/>
                <a:ea typeface="Consolas"/>
                <a:cs typeface="Consolas"/>
                <a:sym typeface="Consolas"/>
              </a:rPr>
              <a:t> </a:t>
            </a:r>
            <a:r>
              <a:rPr lang="en" sz="800">
                <a:solidFill>
                  <a:srgbClr val="569CD6"/>
                </a:solidFill>
                <a:highlight>
                  <a:srgbClr val="1F1F1F"/>
                </a:highlight>
                <a:latin typeface="Consolas"/>
                <a:ea typeface="Consolas"/>
                <a:cs typeface="Consolas"/>
                <a:sym typeface="Consolas"/>
              </a:rPr>
              <a:t>void</a:t>
            </a:r>
            <a:r>
              <a:rPr lang="en" sz="800">
                <a:solidFill>
                  <a:srgbClr val="CCCCCC"/>
                </a:solidFill>
                <a:highlight>
                  <a:srgbClr val="1F1F1F"/>
                </a:highlight>
                <a:latin typeface="Consolas"/>
                <a:ea typeface="Consolas"/>
                <a:cs typeface="Consolas"/>
                <a:sym typeface="Consolas"/>
              </a:rPr>
              <a:t> </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4EC9B0"/>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r>
              <a:rPr lang="en" sz="800">
                <a:solidFill>
                  <a:srgbClr val="9CDCFE"/>
                </a:solidFill>
                <a:highlight>
                  <a:srgbClr val="1F1F1F"/>
                </a:highlight>
                <a:latin typeface="Consolas"/>
                <a:ea typeface="Consolas"/>
                <a:cs typeface="Consolas"/>
                <a:sym typeface="Consolas"/>
              </a:rPr>
              <a:t>_currentState</a:t>
            </a:r>
            <a:r>
              <a:rPr lang="en" sz="800">
                <a:solidFill>
                  <a:srgbClr val="D4D4D4"/>
                </a:solidFill>
                <a:highlight>
                  <a:srgbClr val="1F1F1F"/>
                </a:highlight>
                <a:latin typeface="Consolas"/>
                <a:ea typeface="Consolas"/>
                <a:cs typeface="Consolas"/>
                <a:sym typeface="Consolas"/>
              </a:rPr>
              <a:t>?.</a:t>
            </a:r>
            <a:r>
              <a:rPr lang="en" sz="800">
                <a:solidFill>
                  <a:srgbClr val="DCDCAA"/>
                </a:solidFill>
                <a:highlight>
                  <a:srgbClr val="1F1F1F"/>
                </a:highlight>
                <a:latin typeface="Consolas"/>
                <a:ea typeface="Consolas"/>
                <a:cs typeface="Consolas"/>
                <a:sym typeface="Consolas"/>
              </a:rPr>
              <a:t>Draw</a:t>
            </a:r>
            <a:r>
              <a:rPr lang="en" sz="800">
                <a:solidFill>
                  <a:srgbClr val="CCCCCC"/>
                </a:solidFill>
                <a:highlight>
                  <a:srgbClr val="1F1F1F"/>
                </a:highlight>
                <a:latin typeface="Consolas"/>
                <a:ea typeface="Consolas"/>
                <a:cs typeface="Consolas"/>
                <a:sym typeface="Consolas"/>
              </a:rPr>
              <a:t>(</a:t>
            </a:r>
            <a:r>
              <a:rPr lang="en" sz="800">
                <a:solidFill>
                  <a:srgbClr val="9CDCFE"/>
                </a:solidFill>
                <a:highlight>
                  <a:srgbClr val="1F1F1F"/>
                </a:highlight>
                <a:latin typeface="Consolas"/>
                <a:ea typeface="Consolas"/>
                <a:cs typeface="Consolas"/>
                <a:sym typeface="Consolas"/>
              </a:rPr>
              <a:t>spriteBatch</a:t>
            </a:r>
            <a:r>
              <a:rPr lang="en" sz="800">
                <a:solidFill>
                  <a:srgbClr val="CCCCCC"/>
                </a:solidFill>
                <a:highlight>
                  <a:srgbClr val="1F1F1F"/>
                </a:highlight>
                <a:latin typeface="Consolas"/>
                <a:ea typeface="Consolas"/>
                <a:cs typeface="Consolas"/>
                <a:sym typeface="Consolas"/>
              </a:rPr>
              <a:t>);</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    }</a:t>
            </a:r>
            <a:endParaRPr sz="8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800">
                <a:solidFill>
                  <a:srgbClr val="CCCCCC"/>
                </a:solidFill>
                <a:highlight>
                  <a:srgbClr val="1F1F1F"/>
                </a:highlight>
                <a:latin typeface="Consolas"/>
                <a:ea typeface="Consolas"/>
                <a:cs typeface="Consolas"/>
                <a:sym typeface="Consolas"/>
              </a:rPr>
              <a:t>}</a:t>
            </a:r>
            <a:endParaRPr sz="500">
              <a:solidFill>
                <a:srgbClr val="569CD6"/>
              </a:solidFill>
              <a:highlight>
                <a:srgbClr val="1F1F1F"/>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9: A State Machine</a:t>
            </a:r>
            <a:endParaRPr>
              <a:solidFill>
                <a:schemeClr val="accent5"/>
              </a:solidFill>
            </a:endParaRPr>
          </a:p>
        </p:txBody>
      </p:sp>
      <p:sp>
        <p:nvSpPr>
          <p:cNvPr id="225" name="Google Shape;225;p40"/>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an IState interface, a state machine, a title state and a play state.</a:t>
            </a:r>
            <a:endParaRPr/>
          </a:p>
          <a:p>
            <a:pPr indent="-330200" lvl="0" marL="457200" rtl="0" algn="l">
              <a:spcBef>
                <a:spcPts val="0"/>
              </a:spcBef>
              <a:spcAft>
                <a:spcPts val="0"/>
              </a:spcAft>
              <a:buSzPts val="1600"/>
              <a:buChar char="●"/>
            </a:pPr>
            <a:r>
              <a:rPr lang="en"/>
              <a:t>Most of Game1’s gameplay code moves into the play state.</a:t>
            </a:r>
            <a:endParaRPr/>
          </a:p>
        </p:txBody>
      </p:sp>
      <p:pic>
        <p:nvPicPr>
          <p:cNvPr id="226" name="Picture 225" descr="f9.png"/>
          <p:cNvPicPr>
            <a:picLocks noChangeAspect="1"/>
          </p:cNvPicPr>
          <p:nvPr/>
        </p:nvPicPr>
        <p:blipFill>
          <a:blip r:embed="rId4"/>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2" st="1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3" st="1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4" st="1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5" st="1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6" st="1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7" st="1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xEl>
                                              <p:pRg end="18" st="1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10: Passing Data Between States</a:t>
            </a:r>
            <a:endParaRPr>
              <a:solidFill>
                <a:schemeClr val="accent5"/>
              </a:solidFill>
            </a:endParaRPr>
          </a:p>
        </p:txBody>
      </p:sp>
      <p:sp>
        <p:nvSpPr>
          <p:cNvPr id="231" name="Google Shape;231;p41"/>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point for every pipe pair passed, and a score state at the end.</a:t>
            </a:r>
            <a:endParaRPr/>
          </a:p>
          <a:p>
            <a:pPr indent="-330200" lvl="0" marL="457200" rtl="0" algn="l">
              <a:spcBef>
                <a:spcPts val="0"/>
              </a:spcBef>
              <a:spcAft>
                <a:spcPts val="0"/>
              </a:spcAft>
              <a:buSzPts val="1600"/>
              <a:buChar char="●"/>
            </a:pPr>
            <a:r>
              <a:rPr lang="en"/>
              <a:t>How does the score state get the score?</a:t>
            </a:r>
            <a:endParaRPr/>
          </a:p>
        </p:txBody>
      </p:sp>
      <p:pic>
        <p:nvPicPr>
          <p:cNvPr id="232" name="Picture 231" descr="f10.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1">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11: A Countdown State</a:t>
            </a:r>
            <a:endParaRPr>
              <a:solidFill>
                <a:schemeClr val="accent5"/>
              </a:solidFill>
            </a:endParaRPr>
          </a:p>
        </p:txBody>
      </p:sp>
      <p:sp>
        <p:nvSpPr>
          <p:cNvPr id="237" name="Google Shape;237;p42"/>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a countdown from 3 between the title (or the score) and play.</a:t>
            </a:r>
            <a:endParaRPr/>
          </a:p>
        </p:txBody>
      </p:sp>
      <p:pic>
        <p:nvPicPr>
          <p:cNvPr id="238" name="Picture 237" descr="f11.png"/>
          <p:cNvPicPr>
            <a:picLocks noChangeAspect="1"/>
          </p:cNvPicPr>
          <p:nvPr/>
        </p:nvPicPr>
        <p:blipFill>
          <a:blip r:embed="rId3"/>
          <a:stretch>
            <a:fillRect/>
          </a:stretch>
        </p:blipFill>
        <p:spPr>
          <a:xfrm>
            <a:off x="2377440" y="2148840"/>
            <a:ext cx="4389120" cy="2468880"/>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Flappy 12: Audio as a Singleton</a:t>
            </a:r>
            <a:endParaRPr>
              <a:solidFill>
                <a:schemeClr val="accent5"/>
              </a:solidFill>
            </a:endParaRPr>
          </a:p>
        </p:txBody>
      </p:sp>
      <p:sp>
        <p:nvSpPr>
          <p:cNvPr id="243" name="Google Shape;243;p43"/>
          <p:cNvSpPr txBox="1"/>
          <p:nvPr>
            <p:ph idx="1" type="body"/>
          </p:nvPr>
        </p:nvSpPr>
        <p:spPr>
          <a:xfrm>
            <a:off x="311700" y="885950"/>
            <a:ext cx="8520600" cy="90525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Goal: music, and sounds for flap, hurt and score.</a:t>
            </a:r>
            <a:endParaRPr/>
          </a:p>
          <a:p>
            <a:pPr indent="-330200" lvl="0" marL="457200" rtl="0" algn="l">
              <a:spcBef>
                <a:spcPts val="0"/>
              </a:spcBef>
              <a:spcAft>
                <a:spcPts val="0"/>
              </a:spcAft>
              <a:buSzPts val="1600"/>
              <a:buChar char="●"/>
            </a:pPr>
            <a:r>
              <a:rPr lang="en"/>
              <a:t>In an Audio class, made a Singleton: Audio.Instance.PlayFlap()</a:t>
            </a:r>
            <a:endParaRPr/>
          </a:p>
        </p:txBody>
      </p:sp>
      <p:sp>
        <p:nvSpPr>
          <p:cNvPr id="244" name="Rounded Rectangle 243"/>
          <p:cNvSpPr/>
          <p:nvPr/>
        </p:nvSpPr>
        <p:spPr>
          <a:xfrm>
            <a:off x="1828800" y="2103120"/>
            <a:ext cx="548640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Song + MediaPlayer.Play: the music</a:t>
            </a:r>
          </a:p>
          <a:p>
            <a:pPr algn="ctr"/>
            <a:r>
              <a:rPr sz="1400" b="0">
                <a:solidFill>
                  <a:srgbClr val="9AA3AB"/>
                </a:solidFill>
              </a:rPr>
              <a:t>SoundEffect: flap, hurt (+ explosion), score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3">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 (Again)!</a:t>
            </a:r>
            <a:endParaRPr/>
          </a:p>
        </p:txBody>
      </p:sp>
      <p:sp>
        <p:nvSpPr>
          <p:cNvPr id="249" name="Google Shape;249;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Flappy Bird Game made with MonoGame.</a:t>
            </a:r>
            <a:endParaRPr/>
          </a:p>
        </p:txBody>
      </p:sp>
      <p:pic>
        <p:nvPicPr>
          <p:cNvPr id="250" name="Google Shape;250;p44"/>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4" name="Shape 254"/>
        <p:cNvGrpSpPr/>
        <p:nvPr/>
      </p:nvGrpSpPr>
      <p:grpSpPr>
        <a:xfrm>
          <a:off x="0" y="0"/>
          <a:ext cx="0" cy="0"/>
          <a:chOff x="0" y="0"/>
          <a:chExt cx="0" cy="0"/>
        </a:xfrm>
      </p:grpSpPr>
      <p:sp>
        <p:nvSpPr>
          <p:cNvPr id="255" name="Google Shape;255;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“Ensure that only one instance of the singleton class ever exists</a:t>
            </a:r>
            <a:endParaRPr i="1"/>
          </a:p>
          <a:p>
            <a:pPr indent="0" lvl="0" marL="0" rtl="0" algn="l">
              <a:spcBef>
                <a:spcPts val="1200"/>
              </a:spcBef>
              <a:spcAft>
                <a:spcPts val="0"/>
              </a:spcAft>
              <a:buNone/>
            </a:pPr>
            <a:r>
              <a:rPr b="1" i="1" lang="en">
                <a:latin typeface="Roboto"/>
                <a:ea typeface="Roboto"/>
                <a:cs typeface="Roboto"/>
                <a:sym typeface="Roboto"/>
              </a:rPr>
              <a:t>and</a:t>
            </a:r>
            <a:r>
              <a:rPr i="1" lang="en"/>
              <a:t> provide global access to that instance.”</a:t>
            </a:r>
            <a:endParaRPr i="1"/>
          </a:p>
          <a:p>
            <a:pPr indent="-330200" lvl="0" marL="457200" rtl="0" algn="l">
              <a:spcBef>
                <a:spcPts val="1200"/>
              </a:spcBef>
              <a:spcAft>
                <a:spcPts val="0"/>
              </a:spcAft>
              <a:buClr>
                <a:schemeClr val="lt1"/>
              </a:buClr>
              <a:buSzPts val="1600"/>
              <a:buChar char="-"/>
            </a:pPr>
            <a:r>
              <a:rPr i="1" lang="en">
                <a:solidFill>
                  <a:schemeClr val="lt1"/>
                </a:solidFill>
              </a:rPr>
              <a:t>Gang of Four, Design Patterns</a:t>
            </a:r>
            <a:endParaRPr i="1">
              <a:solidFill>
                <a:schemeClr val="lt1"/>
              </a:solidFill>
            </a:endParaRPr>
          </a:p>
        </p:txBody>
      </p:sp>
      <p:sp>
        <p:nvSpPr>
          <p:cNvPr id="256" name="Google Shape;256;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Problem</a:t>
            </a:r>
            <a:endParaRPr/>
          </a:p>
        </p:txBody>
      </p:sp>
      <p:pic>
        <p:nvPicPr>
          <p:cNvPr id="257" name="Google Shape;257;p45"/>
          <p:cNvPicPr preferRelativeResize="0"/>
          <p:nvPr/>
        </p:nvPicPr>
        <p:blipFill>
          <a:blip r:embed="rId3">
            <a:alphaModFix/>
          </a:blip>
          <a:stretch>
            <a:fillRect/>
          </a:stretch>
        </p:blipFill>
        <p:spPr>
          <a:xfrm>
            <a:off x="485450" y="2438100"/>
            <a:ext cx="3642878" cy="2276775"/>
          </a:xfrm>
          <a:prstGeom prst="rect">
            <a:avLst/>
          </a:prstGeom>
          <a:noFill/>
          <a:ln>
            <a:noFill/>
          </a:ln>
        </p:spPr>
      </p:pic>
      <p:pic>
        <p:nvPicPr>
          <p:cNvPr id="258" name="Google Shape;258;p45"/>
          <p:cNvPicPr preferRelativeResize="0"/>
          <p:nvPr/>
        </p:nvPicPr>
        <p:blipFill>
          <a:blip r:embed="rId4">
            <a:alphaModFix/>
          </a:blip>
          <a:stretch>
            <a:fillRect/>
          </a:stretch>
        </p:blipFill>
        <p:spPr>
          <a:xfrm>
            <a:off x="4304675" y="2438100"/>
            <a:ext cx="4553575" cy="22767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Solution</a:t>
            </a:r>
            <a:endParaRPr/>
          </a:p>
        </p:txBody>
      </p:sp>
      <p:sp>
        <p:nvSpPr>
          <p:cNvPr id="264" name="Google Shape;264;p46"/>
          <p:cNvSpPr txBox="1"/>
          <p:nvPr>
            <p:ph idx="2" type="body"/>
          </p:nvPr>
        </p:nvSpPr>
        <p:spPr>
          <a:xfrm>
            <a:off x="4433925" y="1353675"/>
            <a:ext cx="3999900" cy="3004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Instance</a:t>
            </a:r>
            <a:endParaRPr sz="1000">
              <a:solidFill>
                <a:srgbClr val="9CDCFE"/>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get</a:t>
            </a:r>
            <a:endParaRPr sz="1000">
              <a:solidFill>
                <a:srgbClr val="569CD6"/>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Singleton</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_instance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5" name="Google Shape;265;p46"/>
          <p:cNvPicPr preferRelativeResize="0"/>
          <p:nvPr/>
        </p:nvPicPr>
        <p:blipFill>
          <a:blip r:embed="rId3">
            <a:alphaModFix/>
          </a:blip>
          <a:stretch>
            <a:fillRect/>
          </a:stretch>
        </p:blipFill>
        <p:spPr>
          <a:xfrm>
            <a:off x="160900" y="1463690"/>
            <a:ext cx="4129126" cy="2784759"/>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9" name="Shape 269"/>
        <p:cNvGrpSpPr/>
        <p:nvPr/>
      </p:nvGrpSpPr>
      <p:grpSpPr>
        <a:xfrm>
          <a:off x="0" y="0"/>
          <a:ext cx="0" cy="0"/>
          <a:chOff x="0" y="0"/>
          <a:chExt cx="0" cy="0"/>
        </a:xfrm>
      </p:grpSpPr>
      <p:sp>
        <p:nvSpPr>
          <p:cNvPr id="270" name="Google Shape;270;p4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t>“Friends don’t let friends create singletons”</a:t>
            </a:r>
            <a:endParaRPr i="1"/>
          </a:p>
          <a:p>
            <a:pPr indent="-317500" lvl="0" marL="457200" rtl="0" algn="l">
              <a:spcBef>
                <a:spcPts val="1200"/>
              </a:spcBef>
              <a:spcAft>
                <a:spcPts val="0"/>
              </a:spcAft>
              <a:buClr>
                <a:schemeClr val="lt1"/>
              </a:buClr>
              <a:buSzPts val="1400"/>
              <a:buChar char="-"/>
            </a:pPr>
            <a:r>
              <a:rPr i="1" lang="en" sz="1400">
                <a:solidFill>
                  <a:schemeClr val="lt1"/>
                </a:solidFill>
              </a:rPr>
              <a:t>Robert Nystrom, “Game Programming Patterns”</a:t>
            </a:r>
            <a:endParaRPr i="1" sz="1400">
              <a:solidFill>
                <a:schemeClr val="lt1"/>
              </a:solidFill>
            </a:endParaRPr>
          </a:p>
        </p:txBody>
      </p:sp>
      <p:sp>
        <p:nvSpPr>
          <p:cNvPr id="271" name="Google Shape;271;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Pattern: Usage</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63" name="Google Shape;263;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Singleton in Flappy Bird</a:t>
            </a:r>
            <a:endParaRPr/>
          </a:p>
        </p:txBody>
      </p:sp>
      <p:sp>
        <p:nvSpPr>
          <p:cNvPr id="243" name="Google Shape;243;p43"/>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Audio is a Singleton: one object, reached through Audio.Instance</a:t>
            </a:r>
            <a:endParaRPr/>
          </a:p>
          <a:p>
            <a:pPr indent="-330200" lvl="0" marL="457200" rtl="0" algn="l">
              <a:spcBef>
                <a:spcPts val="0"/>
              </a:spcBef>
              <a:spcAft>
                <a:spcPts val="0"/>
              </a:spcAft>
              <a:buSzPts val="1600"/>
              <a:buChar char="●"/>
            </a:pPr>
            <a:r>
              <a:rPr lang="en"/>
              <a:t>Art is a static class</a:t>
            </a:r>
            <a:endParaRPr/>
          </a:p>
          <a:p>
            <a:pPr indent="-330200" lvl="0" marL="457200" rtl="0" algn="l">
              <a:spcBef>
                <a:spcPts val="0"/>
              </a:spcBef>
              <a:spcAft>
                <a:spcPts val="0"/>
              </a:spcAft>
              <a:buSzPts val="1600"/>
              <a:buChar char="●"/>
            </a:pPr>
            <a:r>
              <a:rPr lang="en"/>
              <a:t>Both give global access</a:t>
            </a:r>
            <a:endParaRPr/>
          </a:p>
          <a:p>
            <a:pPr indent="-330200" lvl="0" marL="457200" rtl="0" algn="l">
              <a:spcBef>
                <a:spcPts val="0"/>
              </a:spcBef>
              <a:spcAft>
                <a:spcPts val="0"/>
              </a:spcAft>
              <a:buSzPts val="1600"/>
              <a:buChar char="●"/>
            </a:pPr>
            <a:r>
              <a:rPr lang="en"/>
              <a:t>But Audio is an object</a:t>
            </a:r>
            <a:endParaRPr/>
          </a:p>
          <a:p>
            <a:pPr indent="-317500" lvl="1" marL="914400" rtl="0" algn="l">
              <a:spcBef>
                <a:spcPts val="0"/>
              </a:spcBef>
              <a:spcAft>
                <a:spcPts val="0"/>
              </a:spcAft>
              <a:buSzPts val="1400"/>
              <a:buChar char="○"/>
            </a:pPr>
            <a:r>
              <a:rPr lang="en"/>
              <a:t>It could implement an interface or be passed as a parameter</a:t>
            </a:r>
            <a:endParaRPr/>
          </a:p>
          <a:p>
            <a:pPr indent="-317500" lvl="1" marL="914400" rtl="0" algn="l">
              <a:spcBef>
                <a:spcPts val="0"/>
              </a:spcBef>
              <a:spcAft>
                <a:spcPts val="0"/>
              </a:spcAft>
              <a:buSzPts val="1400"/>
              <a:buChar char="○"/>
            </a:pPr>
            <a:r>
              <a:rPr lang="en"/>
              <a:t>Pokemon builds on this with a Service Locator</a:t>
            </a:r>
            <a:endParaRPr/>
          </a:p>
          <a:p>
            <a:pPr indent="-330200" lvl="0" marL="457200" rtl="0" algn="l">
              <a:spcBef>
                <a:spcPts val="0"/>
              </a:spcBef>
              <a:spcAft>
                <a:spcPts val="0"/>
              </a:spcAft>
              <a:buSzPts val="1600"/>
              <a:buChar char="●"/>
            </a:pPr>
            <a:r>
              <a:rPr lang="en"/>
              <a:t>Step: Flappy12</a:t>
            </a:r>
            <a:endParaRPr/>
          </a:p>
        </p:txBody>
      </p:sp>
      <p:sp>
        <p:nvSpPr>
          <p:cNvPr id="264" name="Google Shape;264;p46"/>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public class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static Audio Instance { get;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new Audio();</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private Audio() {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public void PlayFlap() =&gt; _flap.Play();</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 PlayMusic, PlayScore, PlayCrash...</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Anywhere in the game</a:t>
            </a:r>
            <a:endParaRPr sz="1000">
              <a:solidFill>
                <a:srgbClr val="4EC9B0"/>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Audio.Instance.PlayFlap();</a:t>
            </a:r>
            <a:endParaRPr sz="1000">
              <a:solidFill>
                <a:srgbClr val="4EC9B0"/>
              </a:solidFill>
              <a:highlight>
                <a:srgbClr val="1F1F1F"/>
              </a:highlight>
              <a:latin typeface="Consolas"/>
              <a:ea typeface="Consolas"/>
              <a:cs typeface="Consolas"/>
              <a:sym typeface="Consolas"/>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What problem does a state machine solve compared to a string or enum field?</a:t>
            </a:r>
            <a:endParaRPr/>
          </a:p>
          <a:p>
            <a:pPr indent="-330200" lvl="0" marL="457200" rtl="0" algn="l">
              <a:spcBef>
                <a:spcPts val="0"/>
              </a:spcBef>
              <a:spcAft>
                <a:spcPts val="0"/>
              </a:spcAft>
              <a:buSzPts val="1600"/>
              <a:buChar char="●"/>
            </a:pPr>
            <a:r>
              <a:rPr lang="en"/>
              <a:t>What happens if you forget to call Exit() when switching state?</a:t>
            </a:r>
            <a:endParaRPr/>
          </a:p>
          <a:p>
            <a:pPr indent="-330200" lvl="0" marL="457200" rtl="0" algn="l">
              <a:spcBef>
                <a:spcPts val="0"/>
              </a:spcBef>
              <a:spcAft>
                <a:spcPts val="0"/>
              </a:spcAft>
              <a:buSzPts val="1600"/>
              <a:buChar char="●"/>
            </a:pPr>
            <a:r>
              <a:rPr lang="en"/>
              <a:t>Why is Singleton considered an anti-pattern by many game programmers?</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code in your game could another game reuse?</a:t>
            </a:r>
            <a:endParaRPr/>
          </a:p>
          <a:p>
            <a:pPr indent="-317500" lvl="1" marL="914400" rtl="0" algn="l">
              <a:spcBef>
                <a:spcPts val="0"/>
              </a:spcBef>
              <a:spcAft>
                <a:spcPts val="0"/>
              </a:spcAft>
              <a:buSzPts val="1400"/>
              <a:buChar char="○"/>
            </a:pPr>
            <a:r>
              <a:rPr lang="en"/>
              <a:t>That belongs in a class library, like GMDCore</a:t>
            </a:r>
            <a:endParaRPr/>
          </a:p>
          <a:p>
            <a:pPr indent="-330200" lvl="0" marL="457200" rtl="0" algn="l">
              <a:spcBef>
                <a:spcPts val="0"/>
              </a:spcBef>
              <a:spcAft>
                <a:spcPts val="0"/>
              </a:spcAft>
              <a:buSzPts val="1600"/>
              <a:buChar char="●"/>
            </a:pPr>
            <a:r>
              <a:rPr lang="en"/>
              <a:t>Which states does your game have? Draw them as a state diagram</a:t>
            </a:r>
            <a:endParaRPr/>
          </a:p>
          <a:p>
            <a:pPr indent="-330200" lvl="0" marL="457200" rtl="0" algn="l">
              <a:spcBef>
                <a:spcPts val="0"/>
              </a:spcBef>
              <a:spcAft>
                <a:spcPts val="0"/>
              </a:spcAft>
              <a:buSzPts val="1600"/>
              <a:buChar char="●"/>
            </a:pPr>
            <a:r>
              <a:rPr lang="en"/>
              <a:t>Is anything in your game global? Does it need to be?</a:t>
            </a:r>
            <a:endParaRP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Course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the gar-starter template on GitHub</a:t>
            </a:r>
            <a:endParaRPr/>
          </a:p>
          <a:p>
            <a:pPr indent="-317500" lvl="1" marL="914400" rtl="0" algn="l">
              <a:spcBef>
                <a:spcPts val="0"/>
              </a:spcBef>
              <a:spcAft>
                <a:spcPts val="0"/>
              </a:spcAft>
              <a:buSzPts val="1400"/>
              <a:buChar char="○"/>
            </a:pPr>
            <a:r>
              <a:rPr lang="en"/>
              <a:t>“Use this template”: an empty game with the content builder</a:t>
            </a:r>
            <a:endParaRPr/>
          </a:p>
          <a:p>
            <a:pPr indent="-330200" lvl="0" marL="457200" rtl="0" algn="l">
              <a:spcBef>
                <a:spcPts val="0"/>
              </a:spcBef>
              <a:spcAft>
                <a:spcPts val="0"/>
              </a:spcAft>
              <a:buSzPts val="1600"/>
              <a:buChar char="●"/>
            </a:pPr>
            <a:r>
              <a:rPr lang="en"/>
              <a:t>First milestone, by session 04</a:t>
            </a:r>
            <a:endParaRPr/>
          </a:p>
          <a:p>
            <a:pPr indent="-317500" lvl="1" marL="914400" rtl="0" algn="l">
              <a:spcBef>
                <a:spcPts val="0"/>
              </a:spcBef>
              <a:spcAft>
                <a:spcPts val="0"/>
              </a:spcAft>
              <a:buSzPts val="1400"/>
              <a:buChar char="○"/>
            </a:pPr>
            <a:r>
              <a:rPr lang="en"/>
              <a:t>Groups formed, game concept written, repository created and link uploaded to itslearning</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