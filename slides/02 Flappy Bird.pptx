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9" r:id="rId58"/>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54"/>
    <p:sldId id="298" r:id="rId57"/>
    <p:sldId id="296" r:id="rId55"/>
    <p:sldId id="297" r:id="rId56"/>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 Id="rId54" Type="http://schemas.openxmlformats.org/officeDocument/2006/relationships/slide" Target="slides/slide41.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2.xml"/><Relationship Id="rId5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Flappy Bird. The main topic: organizing a growing game.</a:t>
            </a:r>
          </a:p>
          <a:p>
            <a:r>
              <a:t>Start by playing the finished game, Flappy12,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Flappy12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organizing a game as it grows. A class library for what every game needs, and a state machine for the game’s modes.</a:t>
            </a:r>
          </a:p>
          <a:p>
            <a:r>
              <a:t>Every topic has a section on the course site.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what makes software architecture good? Collect answers, then land on the four on the slide.</a:t>
            </a:r>
          </a:p>
          <a:p>
            <a:r>
              <a:t>The one to remember: good architecture makes change cheap.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cycle of a change: understand the problem, learn the code, write the solution, clean up. Architecture shortens the “learn the code” step.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Coupling: how much parts depend on each other (want low). Cohesion: how much a part’s own code belongs together (want high).</a:t>
            </a:r>
          </a:p>
          <a:p>
            <a:r>
              <a:t>Ask: which picture would you rather change?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Named, reusable solutions to recurring design problems. A shared vocabulary: “make it a state machine” says a lot in four words.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gar-games/02-flappy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Pong copied everything into one project. Code every game needs (window, scaling, input) belongs in a library that every game references.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shape we’re building: GMDCore, referenced by each game. It grows through the course.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repository from gar-starter, which comes with an empty GMDCore library. They write a Core class in it that derives from Game and owns the window and screen scaling.</a:t>
            </a:r>
          </a:p>
          <a:p>
            <a:r>
              <a:t>Before they code, ask: where is the library connected to the game, and which way does the reference point? Answer: the ProjectReference in the game’s .csproj; the game knows the library, never the other way round. So nothing in Core may mention Flappy.</a:t>
            </a:r>
          </a:p>
          <a:p>
            <a:r>
              <a:t>Full instructions are on the course site; students work from there. Walk round while they work.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Game1 derives from Core. The window should look like the screenshot.</a:t>
            </a:r>
          </a:p>
          <a:p>
            <a:r>
              <a:t>Full instructions are on the course site; students work from there. Walk round while they work.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image is just a Texture2D, like Pong’s white pixel, but loaded from a file.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c83da3f632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c83da3f632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draw the background and the ground.</a:t>
            </a:r>
          </a:p>
          <a:p>
            <a:r>
              <a:t>Full instructions are on the course site; students work from there. Walk round while they work.</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Things further away move slower. Two layers at two speeds are enough to feel depth.</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scroll both layers forever, at different speeds.</a:t>
            </a:r>
          </a:p>
          <a:p>
            <a:r>
              <a:t>Hint: the looping points (413 and 512) and the % operator.</a:t>
            </a:r>
          </a:p>
          <a:p>
            <a:r>
              <a:t>Full instructions are on the course site; students work from there. Walk round while they work.</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bird never moves forward: the world scrolls past it. Games fake whatever they can get away with.</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before revealing the answer: how does the Bird get its texture? Let them argue for each box.</a:t>
            </a:r>
          </a:p>
          <a:p>
            <a:r>
              <a:t>We pick a static Art class: one place for every asset. Its cost: it’s global. We come back to that with Singleton.</a:t>
            </a:r>
          </a:p>
          <a:p>
            <a:r>
              <a:t>Full instructions are on the course site; students work from there. Walk round while they work.</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velocity grows every frame; position follows velocity; both scaled by delta time.</a:t>
            </a:r>
          </a:p>
          <a:p>
            <a:r>
              <a:t>Full instructions are on the course site; students work from there. Walk round while they work.</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Walk through the diagram: Core updates the InputManager every frame; games ask it for keys and the mouse.</a:t>
            </a:r>
          </a:p>
          <a:p>
            <a:r>
              <a:t>A flap sets the vertical velocity upwards. Remind them: y points down.</a:t>
            </a:r>
          </a:p>
          <a:p>
            <a:r>
              <a:t>Full instructions are on the course site; students work from there. Walk round while they work.</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Content made by rules instead of by hand. Here: where each pipe gap goes. Walk through the figure’s quantities.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c79d334e77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c79d334e77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spawn pipes on a timer, scroll them left.</a:t>
            </a:r>
          </a:p>
          <a:p>
            <a:r>
              <a:t>Full instructions are on the course site; students work from there. Walk round while they work.</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Pipes spawn off-screen on the right (the spawn zone) and are removed after they leave on the left (the dead zone). The player only ever sees the middle.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pairs with a gap that drifts smoothly; remove pairs that leave the screen.</a:t>
            </a:r>
          </a:p>
          <a:p>
            <a:r>
              <a:t>Full instructions are on the course site; students work from there. Walk round while they work.</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Same AABB as Pong. Ask: how could collisions be more forgiving? Answer: a slightly smaller hitbox than the sprite.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stop on hitting a pipe, the ground or the ceiling.</a:t>
            </a:r>
          </a:p>
          <a:p>
            <a:r>
              <a:t>Full instructions are on the course site; students work from there. Walk round while they work.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how did Pong handle its modes? A string. Why is that fragile? Typos, and an if-chain in every method.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game’s states and what moves between them. Each state is a class with the same four methods.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life of a state: Enter once, Update and Draw every frame, Exit once. Enter resets, Exit cleans up.</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IState is the contract: every state has Enter, Exit, Update and Draw. The machine only knows the interface.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StateMachine: ChangeState calls Exit on the old state and Enter on the new one. Update and Draw go to the current state.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IState, a StateMachine, a title state and a play state.</a:t>
            </a:r>
          </a:p>
          <a:p>
            <a:r>
              <a:t>Full instructions are on the course site; students work from there. Walk round while they work.</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79d334e77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79d334e77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point per pipe pair, and a score state. Ask the question on the slide: the score state needs the score; pass it in when changing state.</a:t>
            </a:r>
          </a:p>
          <a:p>
            <a:r>
              <a:t>Full instructions are on the course site; students work from there. Walk round while they work.</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countdown state between the title (or score) and play.</a:t>
            </a:r>
          </a:p>
          <a:p>
            <a:r>
              <a:t>Full instructions are on the course site; students work from there. Walk round while they work.</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music and three sounds, in an Audio class made a Singleton. Next: is that a good idea?</a:t>
            </a:r>
          </a:p>
          <a:p>
            <a:r>
              <a:t>Full instructions are on the course site; students work from there. Walk round while they work.</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whole game works. Now the design question we skipped: global access.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Gang of Four’s definition: one instance, and global access to it. The cartoons: everyone reaching for the same object.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classic implementation. Note: simple, but not thread safe; fine for our games.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Nystrom’s warning. Ask: why? Answer: global state, hidden dependencies, hard to replace in a test.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problem does a state machine solve compared to a string or enum field?</a:t>
            </a:r>
          </a:p>
          <a:p>
            <a:r>
              <a:t>A: Each state's behaviour is in one place instead of spread across if-chains. You can add a state without editing the others, and Enter/Exit give reliable places for setup and cleanup.</a:t>
            </a:r>
          </a:p>
          <a:p/>
          <a:p>
            <a:r>
              <a:t>Q: What happens if you forget to call Exit() when switching state?</a:t>
            </a:r>
          </a:p>
          <a:p>
            <a:r>
              <a:t>A: Anything the old state set up is never cleaned up: music keeps playing, event subscriptions stay alive, timers keep running.</a:t>
            </a:r>
          </a:p>
          <a:p/>
          <a:p>
            <a:r>
              <a:t>Q: Why is Singleton considered an anti-pattern by many game programmers?</a:t>
            </a:r>
          </a:p>
          <a:p>
            <a:r>
              <a:t>A: It is global state. It hides dependencies, couples code together and makes testing and reasoning harder, and games rarely need the "exactly one instance" guarantee.</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Art is a static class, Audio a Singleton. Both global; but Audio is an object, so it could implement an interface. Pokemon builds on that with a Service Locator.</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Start from the gar-starter template. First milestone by session 04: groups, a concept, a repository, the link on itslearning.</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Flappy Bird. Ask who has played it, and what they remember of how it plays.</a:t>
            </a:r>
          </a:p>
          <a:p>
            <a:r>
              <a:t>Today we build the parts that matter for the architecture, not the whole game.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4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4" Type="http://schemas.openxmlformats.org/officeDocument/2006/relationships/image" Target="../media/image18.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ar-games/tree/main/02-flapp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s://drive.google.com/file/d/1dF02vMh7jL8SJ4cJV73_jCqaSsAXv2YO/view?usp=drive_link" TargetMode="External"/><Relationship Id="rId4" Type="http://schemas.openxmlformats.org/officeDocument/2006/relationships/hyperlink" Target="https://drive.google.com/file/d/1oInwutcgVN0gPDiQOLmi3gsFjW5-BjE8/view?usp=drive_link" TargetMode="External"/><Relationship Id="rId5"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s://drive.google.com/file/d/1twwv4s9OW9u6HV0zb3UB_KtONCMTer0N/view?usp=drive_link" TargetMode="External"/><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4"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 Id="rId5"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2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Flappy Bird</a:t>
            </a:r>
            <a:endParaRPr/>
          </a:p>
        </p:txBody>
      </p:sp>
      <p:pic>
        <p:nvPicPr>
          <p:cNvPr id="3" name="Picture 2" descr="flappy-bird.png"/>
          <p:cNvPicPr>
            <a:picLocks noChangeAspect="1"/>
          </p:cNvPicPr>
          <p:nvPr/>
        </p:nvPicPr>
        <p:blipFill>
          <a:blip r:embed="rId2"/>
          <a:stretch>
            <a:fillRect/>
          </a:stretch>
        </p:blipFill>
        <p:spPr>
          <a:xfrm>
            <a:off x="3540034" y="960120"/>
            <a:ext cx="2063931"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Flappy Bird (dotGears, 2013). Screenshot © dotGears.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flappy.gif"/>
          <p:cNvPicPr>
            <a:picLocks noChangeAspect="1"/>
          </p:cNvPicPr>
          <p:nvPr/>
        </p:nvPicPr>
        <p:blipFill>
          <a:blip r:embed="rId4"/>
          <a:stretch>
            <a:fillRect/>
          </a:stretch>
        </p:blipFill>
        <p:spPr>
          <a:xfrm>
            <a:off x="1566089" y="1322900"/>
            <a:ext cx="6011824" cy="338165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Infinite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github.com/Metamate/gar-games (folder 02-flappy)</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A Class Library</a:t>
            </a:r>
            <a:endParaRPr>
              <a:solidFill>
                <a:schemeClr val="accent5"/>
              </a:solidFill>
            </a:endParaRPr>
          </a:p>
        </p:txBody>
      </p:sp>
      <p:sp>
        <p:nvSpPr>
          <p:cNvPr id="99" name="Google Shape;99;p19"/>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move what every game needs into a class library, GMDCore.</a:t>
            </a:r>
            <a:endParaRPr/>
          </a:p>
          <a:p>
            <a:pPr indent="-330200" lvl="0" marL="457200" rtl="0" algn="l">
              <a:spcBef>
                <a:spcPts val="0"/>
              </a:spcBef>
              <a:spcAft>
                <a:spcPts val="0"/>
              </a:spcAft>
              <a:buSzPts val="1600"/>
              <a:buChar char="●"/>
            </a:pPr>
            <a:r>
              <a:rPr lang="en"/>
              <a:t>A Core class, derived from Game: the window, and the screen scaling from Pong.</a:t>
            </a:r>
            <a:endParaRPr/>
          </a:p>
        </p:txBody>
      </p:sp>
      <p:sp>
        <p:nvSpPr>
          <p:cNvPr id="100" name="Rounded Rectangle 99"/>
          <p:cNvSpPr/>
          <p:nvPr/>
        </p:nvSpPr>
        <p:spPr>
          <a:xfrm>
            <a:off x="914400" y="2103120"/>
            <a:ext cx="292608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GMDCore</a:t>
            </a:r>
          </a:p>
          <a:p>
            <a:pPr algn="ctr"/>
            <a:r>
              <a:rPr sz="1400" b="0">
                <a:solidFill>
                  <a:srgbClr val="9AA3AB"/>
                </a:solidFill>
              </a:rPr>
              <a:t>Core : Game · window · scaling</a:t>
            </a:r>
          </a:p>
        </p:txBody>
      </p:sp>
      <p:sp>
        <p:nvSpPr>
          <p:cNvPr id="101" name="Rounded Rectangle 100"/>
          <p:cNvSpPr/>
          <p:nvPr/>
        </p:nvSpPr>
        <p:spPr>
          <a:xfrm>
            <a:off x="5303520" y="173736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Flappy</a:t>
            </a:r>
          </a:p>
        </p:txBody>
      </p:sp>
      <p:sp>
        <p:nvSpPr>
          <p:cNvPr id="102" name="Rounded Rectangle 101"/>
          <p:cNvSpPr/>
          <p:nvPr/>
        </p:nvSpPr>
        <p:spPr>
          <a:xfrm>
            <a:off x="5303520" y="256032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Snake, Sokoban, ...</a:t>
            </a:r>
          </a:p>
        </p:txBody>
      </p:sp>
      <p:cxnSp>
        <p:nvCxnSpPr>
          <p:cNvPr id="103" name="Connector 102"/>
          <p:cNvCxnSpPr/>
          <p:nvPr/>
        </p:nvCxnSpPr>
        <p:spPr>
          <a:xfrm flipH="1">
            <a:off x="3886200" y="2057400"/>
            <a:ext cx="1371600" cy="36576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3703320" y="1764792"/>
            <a:ext cx="1737360" cy="274320"/>
          </a:xfrm>
          <a:prstGeom prst="rect">
            <a:avLst/>
          </a:prstGeom>
          <a:noFill/>
        </p:spPr>
        <p:txBody>
          <a:bodyPr wrap="square">
            <a:spAutoFit/>
          </a:bodyPr>
          <a:lstStyle/>
          <a:p>
            <a:pPr algn="ctr"/>
            <a:r>
              <a:rPr sz="1100" b="0" i="0">
                <a:solidFill>
                  <a:srgbClr val="9AA3AB"/>
                </a:solidFill>
              </a:rPr>
              <a:t>uses</a:t>
            </a:r>
          </a:p>
        </p:txBody>
      </p:sp>
      <p:cxnSp>
        <p:nvCxnSpPr>
          <p:cNvPr id="105" name="Connector 104"/>
          <p:cNvCxnSpPr/>
          <p:nvPr/>
        </p:nvCxnSpPr>
        <p:spPr>
          <a:xfrm flipH="1" flipV="1">
            <a:off x="3886200" y="2697480"/>
            <a:ext cx="1371600" cy="18288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A Game on the Library</a:t>
            </a:r>
            <a:endParaRPr>
              <a:solidFill>
                <a:schemeClr val="accent5"/>
              </a:solidFill>
            </a:endParaRPr>
          </a:p>
        </p:txBody>
      </p:sp>
      <p:sp>
        <p:nvSpPr>
          <p:cNvPr id="105" name="Google Shape;105;p2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new game, Flappy, whose Game1 derives from Core.</a:t>
            </a:r>
            <a:endParaRPr/>
          </a:p>
          <a:p>
            <a:pPr indent="-330200" lvl="0" marL="457200" rtl="0" algn="l">
              <a:spcBef>
                <a:spcPts val="0"/>
              </a:spcBef>
              <a:spcAft>
                <a:spcPts val="0"/>
              </a:spcAft>
              <a:buSzPts val="1600"/>
              <a:buChar char="●"/>
            </a:pPr>
            <a:r>
              <a:rPr lang="en"/>
              <a:t>512 × 288 virtual resolution in a 1280 × 720 window.</a:t>
            </a:r>
            <a:endParaRPr/>
          </a:p>
        </p:txBody>
      </p:sp>
      <p:pic>
        <p:nvPicPr>
          <p:cNvPr id="106" name="Picture 105" descr="f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last week?</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Drawing Images</a:t>
            </a:r>
            <a:endParaRPr>
              <a:solidFill>
                <a:schemeClr val="accent5"/>
              </a:solidFill>
            </a:endParaRPr>
          </a:p>
        </p:txBody>
      </p:sp>
      <p:sp>
        <p:nvSpPr>
          <p:cNvPr id="117" name="Google Shape;117;p2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draw the background and the ground.</a:t>
            </a:r>
            <a:endParaRPr/>
          </a:p>
        </p:txBody>
      </p:sp>
      <p:pic>
        <p:nvPicPr>
          <p:cNvPr id="118" name="Picture 117" descr="f2.png"/>
          <p:cNvPicPr>
            <a:picLocks noChangeAspect="1"/>
          </p:cNvPicPr>
          <p:nvPr/>
        </p:nvPicPr>
        <p:blipFill>
          <a:blip r:embed="rId5"/>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2: Parallax Scrolling</a:t>
            </a:r>
            <a:endParaRPr>
              <a:solidFill>
                <a:schemeClr val="accent5"/>
              </a:solidFill>
            </a:endParaRPr>
          </a:p>
        </p:txBody>
      </p:sp>
      <p:sp>
        <p:nvSpPr>
          <p:cNvPr id="131" name="Google Shape;131;p2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scroll them forever, the background slower than the ground.</a:t>
            </a:r>
            <a:endParaRPr/>
          </a:p>
          <a:p>
            <a:pPr indent="-330200" lvl="0" marL="457200" rtl="0" algn="l">
              <a:spcBef>
                <a:spcPts val="0"/>
              </a:spcBef>
              <a:spcAft>
                <a:spcPts val="0"/>
              </a:spcAft>
              <a:buSzPts val="1600"/>
              <a:buChar char="●"/>
            </a:pPr>
            <a:r>
              <a:rPr lang="en"/>
              <a:t>Looping points: background 413, ground 512. Try the % operator.</a:t>
            </a:r>
            <a:endParaRPr/>
          </a:p>
        </p:txBody>
      </p:sp>
      <p:pic>
        <p:nvPicPr>
          <p:cNvPr id="132" name="Picture 131" descr="f2.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The Bird and the Art Class</a:t>
            </a:r>
            <a:endParaRPr>
              <a:solidFill>
                <a:schemeClr val="accent5"/>
              </a:solidFill>
            </a:endParaRPr>
          </a:p>
        </p:txBody>
      </p:sp>
      <p:sp>
        <p:nvSpPr>
          <p:cNvPr id="143" name="Google Shape;143;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Bird class with Update and Draw. But how does it get its texture?</a:t>
            </a:r>
            <a:endParaRPr/>
          </a:p>
        </p:txBody>
      </p:sp>
      <p:sp>
        <p:nvSpPr>
          <p:cNvPr id="144" name="Rounded Rectangle 143"/>
          <p:cNvSpPr/>
          <p:nvPr/>
        </p:nvSpPr>
        <p:spPr>
          <a:xfrm>
            <a:off x="41148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field in Game1</a:t>
            </a:r>
          </a:p>
          <a:p>
            <a:pPr algn="ctr"/>
            <a:r>
              <a:rPr sz="1200" b="0">
                <a:solidFill>
                  <a:srgbClr val="9AA3AB"/>
                </a:solidFill>
              </a:rPr>
              <a:t>breaks encapsulation,</a:t>
            </a:r>
          </a:p>
          <a:p>
            <a:pPr algn="ctr"/>
            <a:r>
              <a:rPr sz="1200" b="0">
                <a:solidFill>
                  <a:srgbClr val="9AA3AB"/>
                </a:solidFill>
              </a:rPr>
              <a:t>Game1 grows</a:t>
            </a:r>
          </a:p>
        </p:txBody>
      </p:sp>
      <p:sp>
        <p:nvSpPr>
          <p:cNvPr id="145" name="Rounded Rectangle 144"/>
          <p:cNvSpPr/>
          <p:nvPr/>
        </p:nvSpPr>
        <p:spPr>
          <a:xfrm>
            <a:off x="251460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Pass it in</a:t>
            </a:r>
          </a:p>
          <a:p>
            <a:pPr algn="ctr"/>
            <a:r>
              <a:rPr sz="1200" b="0">
                <a:solidFill>
                  <a:srgbClr val="9AA3AB"/>
                </a:solidFill>
              </a:rPr>
              <a:t>tedious for</a:t>
            </a:r>
          </a:p>
          <a:p>
            <a:pPr algn="ctr"/>
            <a:r>
              <a:rPr sz="1200" b="0">
                <a:solidFill>
                  <a:srgbClr val="9AA3AB"/>
                </a:solidFill>
              </a:rPr>
              <a:t>every new entity</a:t>
            </a:r>
          </a:p>
        </p:txBody>
      </p:sp>
      <p:sp>
        <p:nvSpPr>
          <p:cNvPr id="146" name="Rounded Rectangle 145"/>
          <p:cNvSpPr/>
          <p:nvPr/>
        </p:nvSpPr>
        <p:spPr>
          <a:xfrm>
            <a:off x="461772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ContentManager</a:t>
            </a:r>
          </a:p>
          <a:p>
            <a:pPr algn="ctr"/>
            <a:r>
              <a:rPr sz="1200" b="0">
                <a:solidFill>
                  <a:srgbClr val="9AA3AB"/>
                </a:solidFill>
              </a:rPr>
              <a:t>everything can</a:t>
            </a:r>
          </a:p>
          <a:p>
            <a:pPr algn="ctr"/>
            <a:r>
              <a:rPr sz="1200" b="0">
                <a:solidFill>
                  <a:srgbClr val="9AA3AB"/>
                </a:solidFill>
              </a:rPr>
              <a:t>load anything</a:t>
            </a:r>
          </a:p>
        </p:txBody>
      </p:sp>
      <p:sp>
        <p:nvSpPr>
          <p:cNvPr id="147" name="Rounded Rectangle 146"/>
          <p:cNvSpPr/>
          <p:nvPr/>
        </p:nvSpPr>
        <p:spPr>
          <a:xfrm>
            <a:off x="6720840" y="1463040"/>
            <a:ext cx="1965960"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Art class</a:t>
            </a:r>
          </a:p>
          <a:p>
            <a:pPr algn="ctr"/>
            <a:r>
              <a:rPr sz="1200" b="0">
                <a:solidFill>
                  <a:srgbClr val="9AA3AB"/>
                </a:solidFill>
              </a:rPr>
              <a:t>one place</a:t>
            </a:r>
          </a:p>
          <a:p>
            <a:pPr algn="ctr"/>
            <a:r>
              <a:rPr sz="1200" b="0">
                <a:solidFill>
                  <a:srgbClr val="9AA3AB"/>
                </a:solidFill>
              </a:rPr>
              <a:t>for every asset</a:t>
            </a:r>
          </a:p>
        </p:txBody>
      </p:sp>
      <p:sp>
        <p:nvSpPr>
          <p:cNvPr id="148" name="TextBox 147"/>
          <p:cNvSpPr txBox="1"/>
          <p:nvPr/>
        </p:nvSpPr>
        <p:spPr>
          <a:xfrm>
            <a:off x="457200" y="2926080"/>
            <a:ext cx="8229600" cy="731520"/>
          </a:xfrm>
          <a:prstGeom prst="rect">
            <a:avLst/>
          </a:prstGeom>
          <a:noFill/>
        </p:spPr>
        <p:txBody>
          <a:bodyPr wrap="square">
            <a:spAutoFit/>
          </a:bodyPr>
          <a:lstStyle/>
          <a:p>
            <a:pPr algn="ctr"/>
            <a:r>
              <a:rPr sz="1500" b="1" i="0">
                <a:solidFill>
                  <a:srgbClr val="DEE2E6"/>
                </a:solidFill>
              </a:rPr>
              <a:t>Which would you pick? We go with Art, and move the background and ground into it too.</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gravity. A velocity that grows every frame, scaled by delta time.</a:t>
            </a:r>
            <a:endParaRPr/>
          </a:p>
        </p:txBody>
      </p:sp>
      <p:pic>
        <p:nvPicPr>
          <p:cNvPr id="150" name="Picture 149" descr="f3.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An Input Manager</a:t>
            </a:r>
            <a:endParaRPr>
              <a:solidFill>
                <a:schemeClr val="accent5"/>
              </a:solidFill>
            </a:endParaRPr>
          </a:p>
        </p:txBody>
      </p:sp>
      <p:sp>
        <p:nvSpPr>
          <p:cNvPr id="155" name="Google Shape;155;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flap on Space or a click, with input classes in GMDCore.</a:t>
            </a:r>
            <a:endParaRPr/>
          </a:p>
        </p:txBody>
      </p:sp>
      <p:sp>
        <p:nvSpPr>
          <p:cNvPr id="156" name="Rounded Rectangle 155"/>
          <p:cNvSpPr/>
          <p:nvPr/>
        </p:nvSpPr>
        <p:spPr>
          <a:xfrm>
            <a:off x="3108960" y="1417320"/>
            <a:ext cx="292608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InputManager</a:t>
            </a:r>
          </a:p>
          <a:p>
            <a:pPr algn="ctr"/>
            <a:r>
              <a:rPr sz="1300" b="0">
                <a:solidFill>
                  <a:srgbClr val="9AA3AB"/>
                </a:solidFill>
              </a:rPr>
              <a:t>updated by Core, every frame</a:t>
            </a:r>
          </a:p>
        </p:txBody>
      </p:sp>
      <p:sp>
        <p:nvSpPr>
          <p:cNvPr id="157" name="Rounded Rectangle 156"/>
          <p:cNvSpPr/>
          <p:nvPr/>
        </p:nvSpPr>
        <p:spPr>
          <a:xfrm>
            <a:off x="91440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KeyboardInfo</a:t>
            </a:r>
          </a:p>
          <a:p>
            <a:pPr algn="ctr"/>
            <a:r>
              <a:rPr sz="1300" b="0">
                <a:solidFill>
                  <a:srgbClr val="9AA3AB"/>
                </a:solidFill>
              </a:rPr>
              <a:t>IsKeyDown · WasKeyJustPressed</a:t>
            </a:r>
          </a:p>
        </p:txBody>
      </p:sp>
      <p:sp>
        <p:nvSpPr>
          <p:cNvPr id="158" name="Rounded Rectangle 157"/>
          <p:cNvSpPr/>
          <p:nvPr/>
        </p:nvSpPr>
        <p:spPr>
          <a:xfrm>
            <a:off x="493776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MouseInfo</a:t>
            </a:r>
          </a:p>
          <a:p>
            <a:pPr algn="ctr"/>
            <a:r>
              <a:rPr sz="1300" b="0">
                <a:solidFill>
                  <a:srgbClr val="9AA3AB"/>
                </a:solidFill>
              </a:rPr>
              <a:t>Position · WasLeftButtonJustPressed</a:t>
            </a:r>
          </a:p>
        </p:txBody>
      </p:sp>
      <p:cxnSp>
        <p:nvCxnSpPr>
          <p:cNvPr id="159" name="Connector 158"/>
          <p:cNvCxnSpPr/>
          <p:nvPr/>
        </p:nvCxnSpPr>
        <p:spPr>
          <a:xfrm flipH="1">
            <a:off x="292608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30352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1" name="TextBox 160"/>
          <p:cNvSpPr txBox="1"/>
          <p:nvPr/>
        </p:nvSpPr>
        <p:spPr>
          <a:xfrm>
            <a:off x="914400" y="3566160"/>
            <a:ext cx="7315200" cy="365760"/>
          </a:xfrm>
          <a:prstGeom prst="rect">
            <a:avLst/>
          </a:prstGeom>
          <a:noFill/>
        </p:spPr>
        <p:txBody>
          <a:bodyPr wrap="square">
            <a:spAutoFit/>
          </a:bodyPr>
          <a:lstStyle/>
          <a:p>
            <a:pPr algn="ctr"/>
            <a:r>
              <a:rPr sz="1300" b="0" i="0">
                <a:solidFill>
                  <a:srgbClr val="9AA3AB"/>
                </a:solidFill>
              </a:rPr>
              <a:t>A flap sets the vertical velocity to an upward jump force. Remember: y points down.</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6: Spawning on a Timer</a:t>
            </a:r>
            <a:endParaRPr>
              <a:solidFill>
                <a:schemeClr val="accent5"/>
              </a:solidFill>
            </a:endParaRPr>
          </a:p>
        </p:txBody>
      </p:sp>
      <p:sp>
        <p:nvSpPr>
          <p:cNvPr id="167" name="Google Shape;167;p3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pipes that spawn on a timer at random heights, and scroll left.</a:t>
            </a:r>
            <a:endParaRPr/>
          </a:p>
          <a:p>
            <a:pPr indent="-330200" lvl="0" marL="457200" rtl="0" algn="l">
              <a:spcBef>
                <a:spcPts val="0"/>
              </a:spcBef>
              <a:spcAft>
                <a:spcPts val="0"/>
              </a:spcAft>
              <a:buSzPts val="1600"/>
              <a:buChar char="●"/>
            </a:pPr>
            <a:r>
              <a:rPr lang="en"/>
              <a:t>A Pipe class, a spawn timer, and a list of pipes.</a:t>
            </a:r>
            <a:endParaRPr/>
          </a:p>
        </p:txBody>
      </p:sp>
      <p:pic>
        <p:nvPicPr>
          <p:cNvPr id="168" name="Picture 167" descr="f6.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Picture 172" descr="flappy_zones.png"/>
          <p:cNvPicPr>
            <a:picLocks noChangeAspect="1"/>
          </p:cNvPicPr>
          <p:nvPr/>
        </p:nvPicPr>
        <p:blipFill>
          <a:blip r:embed="rId4"/>
          <a:stretch>
            <a:fillRect/>
          </a:stretch>
        </p:blipFill>
        <p:spPr>
          <a:xfrm>
            <a:off x="1521325" y="332167"/>
            <a:ext cx="6101351" cy="447916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7: A Drifting Gap</a:t>
            </a:r>
            <a:endParaRPr>
              <a:solidFill>
                <a:schemeClr val="accent5"/>
              </a:solidFill>
            </a:endParaRPr>
          </a:p>
        </p:txBody>
      </p:sp>
      <p:sp>
        <p:nvSpPr>
          <p:cNvPr id="178" name="Google Shape;178;p32"/>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pipes in pairs with a gap, the gap drifting smoothly up and down.</a:t>
            </a:r>
            <a:endParaRPr/>
          </a:p>
          <a:p>
            <a:pPr indent="-330200" lvl="0" marL="457200" rtl="0" algn="l">
              <a:spcBef>
                <a:spcPts val="0"/>
              </a:spcBef>
              <a:spcAft>
                <a:spcPts val="0"/>
              </a:spcAft>
              <a:buSzPts val="1600"/>
              <a:buChar char="●"/>
            </a:pPr>
            <a:r>
              <a:rPr lang="en"/>
              <a:t>A PipePair wraps two pipes; pairs that leave the screen are removed.</a:t>
            </a:r>
            <a:endParaRPr/>
          </a:p>
        </p:txBody>
      </p:sp>
      <p:pic>
        <p:nvPicPr>
          <p:cNvPr id="179" name="Picture 178" descr="f7.png"/>
          <p:cNvPicPr>
            <a:picLocks noChangeAspect="1"/>
          </p:cNvPicPr>
          <p:nvPr/>
        </p:nvPicPr>
        <p:blipFill>
          <a:blip r:embed="rId5"/>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 same as last week!</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Hitboxes</a:t>
            </a:r>
            <a:endParaRPr>
              <a:solidFill>
                <a:schemeClr val="accent5"/>
              </a:solidFill>
            </a:endParaRPr>
          </a:p>
        </p:txBody>
      </p:sp>
      <p:sp>
        <p:nvSpPr>
          <p:cNvPr id="190" name="Google Shape;190;p3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the game stops when the bird hits a pipe, the ground or the ceiling.</a:t>
            </a:r>
            <a:endParaRPr/>
          </a:p>
          <a:p>
            <a:pPr indent="-330200" lvl="0" marL="457200" rtl="0" algn="l">
              <a:spcBef>
                <a:spcPts val="0"/>
              </a:spcBef>
              <a:spcAft>
                <a:spcPts val="0"/>
              </a:spcAft>
              <a:buSzPts val="1600"/>
              <a:buChar char="●"/>
            </a:pPr>
            <a:r>
              <a:rPr lang="en"/>
              <a:t>Can you make the collisions a little more forgiving?</a:t>
            </a:r>
            <a:endParaRPr/>
          </a:p>
        </p:txBody>
      </p:sp>
      <p:pic>
        <p:nvPicPr>
          <p:cNvPr id="191" name="Picture 190" descr="f8.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A State Machine</a:t>
            </a:r>
            <a:endParaRPr>
              <a:solidFill>
                <a:schemeClr val="accent5"/>
              </a:solidFill>
            </a:endParaRPr>
          </a:p>
        </p:txBody>
      </p:sp>
      <p:sp>
        <p:nvSpPr>
          <p:cNvPr id="225" name="Google Shape;225;p4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an IState interface, a state machine, a title state and a play state.</a:t>
            </a:r>
            <a:endParaRPr/>
          </a:p>
          <a:p>
            <a:pPr indent="-330200" lvl="0" marL="457200" rtl="0" algn="l">
              <a:spcBef>
                <a:spcPts val="0"/>
              </a:spcBef>
              <a:spcAft>
                <a:spcPts val="0"/>
              </a:spcAft>
              <a:buSzPts val="1600"/>
              <a:buChar char="●"/>
            </a:pPr>
            <a:r>
              <a:rPr lang="en"/>
              <a:t>Most of Game1’s gameplay code moves into the play state.</a:t>
            </a:r>
            <a:endParaRPr/>
          </a:p>
        </p:txBody>
      </p:sp>
      <p:pic>
        <p:nvPicPr>
          <p:cNvPr id="226" name="Picture 225" descr="f9.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10: Passing Data Between States</a:t>
            </a:r>
            <a:endParaRPr>
              <a:solidFill>
                <a:schemeClr val="accent5"/>
              </a:solidFill>
            </a:endParaRPr>
          </a:p>
        </p:txBody>
      </p:sp>
      <p:sp>
        <p:nvSpPr>
          <p:cNvPr id="231" name="Google Shape;231;p41"/>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point for every pipe pair passed, and a score state at the end.</a:t>
            </a:r>
            <a:endParaRPr/>
          </a:p>
          <a:p>
            <a:pPr indent="-330200" lvl="0" marL="457200" rtl="0" algn="l">
              <a:spcBef>
                <a:spcPts val="0"/>
              </a:spcBef>
              <a:spcAft>
                <a:spcPts val="0"/>
              </a:spcAft>
              <a:buSzPts val="1600"/>
              <a:buChar char="●"/>
            </a:pPr>
            <a:r>
              <a:rPr lang="en"/>
              <a:t>How does the score state get the score?</a:t>
            </a:r>
            <a:endParaRPr/>
          </a:p>
        </p:txBody>
      </p:sp>
      <p:pic>
        <p:nvPicPr>
          <p:cNvPr id="232" name="Picture 231" descr="f1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11: A Countdown State</a:t>
            </a:r>
            <a:endParaRPr>
              <a:solidFill>
                <a:schemeClr val="accent5"/>
              </a:solidFill>
            </a:endParaRPr>
          </a:p>
        </p:txBody>
      </p:sp>
      <p:sp>
        <p:nvSpPr>
          <p:cNvPr id="237" name="Google Shape;237;p4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countdown from 3 between the title (or the score) and play.</a:t>
            </a:r>
            <a:endParaRPr/>
          </a:p>
        </p:txBody>
      </p:sp>
      <p:pic>
        <p:nvPicPr>
          <p:cNvPr id="238" name="Picture 237" descr="f11.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 as a Singleton</a:t>
            </a:r>
            <a:endParaRPr>
              <a:solidFill>
                <a:schemeClr val="accent5"/>
              </a:solidFill>
            </a:endParaRPr>
          </a:p>
        </p:txBody>
      </p:sp>
      <p:sp>
        <p:nvSpPr>
          <p:cNvPr id="243" name="Google Shape;243;p43"/>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music, and sounds for flap, hurt and score.</a:t>
            </a:r>
            <a:endParaRPr/>
          </a:p>
          <a:p>
            <a:pPr indent="-330200" lvl="0" marL="457200" rtl="0" algn="l">
              <a:spcBef>
                <a:spcPts val="0"/>
              </a:spcBef>
              <a:spcAft>
                <a:spcPts val="0"/>
              </a:spcAft>
              <a:buSzPts val="1600"/>
              <a:buChar char="●"/>
            </a:pPr>
            <a:r>
              <a:rPr lang="en"/>
              <a:t>In an Audio class, made a Singleton: Audio.Instance.PlayFlap()</a:t>
            </a:r>
            <a:endParaRPr/>
          </a:p>
        </p:txBody>
      </p:sp>
      <p:sp>
        <p:nvSpPr>
          <p:cNvPr id="244" name="Rounded Rectangle 243"/>
          <p:cNvSpPr/>
          <p:nvPr/>
        </p:nvSpPr>
        <p:spPr>
          <a:xfrm>
            <a:off x="1828800" y="2103120"/>
            <a:ext cx="548640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Song + MediaPlayer.Play: the music</a:t>
            </a:r>
          </a:p>
          <a:p>
            <a:pPr algn="ctr"/>
            <a:r>
              <a:rPr sz="1400" b="0">
                <a:solidFill>
                  <a:srgbClr val="9AA3AB"/>
                </a:solidFill>
              </a:rPr>
              <a:t>SoundEffect: flap, hurt (+ explosion), score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in Flappy Bird</a:t>
            </a:r>
            <a:endParaRPr/>
          </a:p>
        </p:txBody>
      </p:sp>
      <p:sp>
        <p:nvSpPr>
          <p:cNvPr id="243" name="Google Shape;243;p43"/>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Audio is a Singleton: one object, reached through Audio.Instance</a:t>
            </a:r>
            <a:endParaRPr/>
          </a:p>
          <a:p>
            <a:pPr indent="-330200" lvl="0" marL="457200" rtl="0" algn="l">
              <a:spcBef>
                <a:spcPts val="0"/>
              </a:spcBef>
              <a:spcAft>
                <a:spcPts val="0"/>
              </a:spcAft>
              <a:buSzPts val="1600"/>
              <a:buChar char="●"/>
            </a:pPr>
            <a:r>
              <a:rPr lang="en"/>
              <a:t>Art is a static class</a:t>
            </a:r>
            <a:endParaRPr/>
          </a:p>
          <a:p>
            <a:pPr indent="-330200" lvl="0" marL="457200" rtl="0" algn="l">
              <a:spcBef>
                <a:spcPts val="0"/>
              </a:spcBef>
              <a:spcAft>
                <a:spcPts val="0"/>
              </a:spcAft>
              <a:buSzPts val="1600"/>
              <a:buChar char="●"/>
            </a:pPr>
            <a:r>
              <a:rPr lang="en"/>
              <a:t>Both give global access</a:t>
            </a:r>
            <a:endParaRPr/>
          </a:p>
          <a:p>
            <a:pPr indent="-330200" lvl="0" marL="457200" rtl="0" algn="l">
              <a:spcBef>
                <a:spcPts val="0"/>
              </a:spcBef>
              <a:spcAft>
                <a:spcPts val="0"/>
              </a:spcAft>
              <a:buSzPts val="1600"/>
              <a:buChar char="●"/>
            </a:pPr>
            <a:r>
              <a:rPr lang="en"/>
              <a:t>But Audio is an object</a:t>
            </a:r>
            <a:endParaRPr/>
          </a:p>
          <a:p>
            <a:pPr indent="-317500" lvl="1" marL="914400" rtl="0" algn="l">
              <a:spcBef>
                <a:spcPts val="0"/>
              </a:spcBef>
              <a:spcAft>
                <a:spcPts val="0"/>
              </a:spcAft>
              <a:buSzPts val="1400"/>
              <a:buChar char="○"/>
            </a:pPr>
            <a:r>
              <a:rPr lang="en"/>
              <a:t>It could implement an interface or be passed as a parameter</a:t>
            </a:r>
            <a:endParaRPr/>
          </a:p>
          <a:p>
            <a:pPr indent="-317500" lvl="1" marL="914400" rtl="0" algn="l">
              <a:spcBef>
                <a:spcPts val="0"/>
              </a:spcBef>
              <a:spcAft>
                <a:spcPts val="0"/>
              </a:spcAft>
              <a:buSzPts val="1400"/>
              <a:buChar char="○"/>
            </a:pPr>
            <a:r>
              <a:rPr lang="en"/>
              <a:t>Pokemon builds on this with a Service Locator</a:t>
            </a:r>
            <a:endParaRPr/>
          </a:p>
          <a:p>
            <a:pPr indent="-330200" lvl="0" marL="457200" rtl="0" algn="l">
              <a:spcBef>
                <a:spcPts val="0"/>
              </a:spcBef>
              <a:spcAft>
                <a:spcPts val="0"/>
              </a:spcAft>
              <a:buSzPts val="1600"/>
              <a:buChar char="●"/>
            </a:pPr>
            <a:r>
              <a:rPr lang="en"/>
              <a:t>Step: Flappy12</a:t>
            </a:r>
            <a:endParaRPr/>
          </a:p>
        </p:txBody>
      </p:sp>
      <p:sp>
        <p:nvSpPr>
          <p:cNvPr id="264" name="Google Shape;264;p46"/>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public class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static Audio Instance { get;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new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private Audio() {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void PlayFlap() =&gt; _flap.Play();</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PlayMusic, PlayScore, PlayCrash...</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Anywhere in the game</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Audio.Instance.PlayFlap();</a:t>
            </a:r>
            <a:endParaRPr sz="1000">
              <a:solidFill>
                <a:srgbClr val="4EC9B0"/>
              </a:solidFill>
              <a:highlight>
                <a:srgbClr val="1F1F1F"/>
              </a:highlight>
              <a:latin typeface="Consolas"/>
              <a:ea typeface="Consolas"/>
              <a:cs typeface="Consolas"/>
              <a:sym typeface="Consolas"/>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problem does a state machine solve compared to a string or enum field?</a:t>
            </a:r>
            <a:endParaRPr/>
          </a:p>
          <a:p>
            <a:pPr indent="-330200" lvl="0" marL="457200" rtl="0" algn="l">
              <a:spcBef>
                <a:spcPts val="0"/>
              </a:spcBef>
              <a:spcAft>
                <a:spcPts val="0"/>
              </a:spcAft>
              <a:buSzPts val="1600"/>
              <a:buChar char="●"/>
            </a:pPr>
            <a:r>
              <a:rPr lang="en"/>
              <a:t>What happens if you forget to call Exit() when switching state?</a:t>
            </a:r>
            <a:endParaRPr/>
          </a:p>
          <a:p>
            <a:pPr indent="-330200" lvl="0" marL="457200" rtl="0" algn="l">
              <a:spcBef>
                <a:spcPts val="0"/>
              </a:spcBef>
              <a:spcAft>
                <a:spcPts val="0"/>
              </a:spcAft>
              <a:buSzPts val="1600"/>
              <a:buChar char="●"/>
            </a:pPr>
            <a:r>
              <a:rPr lang="en"/>
              <a:t>Why is Singleton considered an anti-pattern by many game programmers?</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code in your game could another game reuse?</a:t>
            </a:r>
            <a:endParaRPr/>
          </a:p>
          <a:p>
            <a:pPr indent="-317500" lvl="1" marL="914400" rtl="0" algn="l">
              <a:spcBef>
                <a:spcPts val="0"/>
              </a:spcBef>
              <a:spcAft>
                <a:spcPts val="0"/>
              </a:spcAft>
              <a:buSzPts val="1400"/>
              <a:buChar char="○"/>
            </a:pPr>
            <a:r>
              <a:rPr lang="en"/>
              <a:t>That belongs in a class library, like GMDCore</a:t>
            </a:r>
            <a:endParaRPr/>
          </a:p>
          <a:p>
            <a:pPr indent="-330200" lvl="0" marL="457200" rtl="0" algn="l">
              <a:spcBef>
                <a:spcPts val="0"/>
              </a:spcBef>
              <a:spcAft>
                <a:spcPts val="0"/>
              </a:spcAft>
              <a:buSzPts val="1600"/>
              <a:buChar char="●"/>
            </a:pPr>
            <a:r>
              <a:rPr lang="en"/>
              <a:t>Which states does your game have? Draw them as a state diagram</a:t>
            </a:r>
            <a:endParaRPr/>
          </a:p>
          <a:p>
            <a:pPr indent="-330200" lvl="0" marL="457200" rtl="0" algn="l">
              <a:spcBef>
                <a:spcPts val="0"/>
              </a:spcBef>
              <a:spcAft>
                <a:spcPts val="0"/>
              </a:spcAft>
              <a:buSzPts val="1600"/>
              <a:buChar char="●"/>
            </a:pPr>
            <a:r>
              <a:rPr lang="en"/>
              <a:t>Is anything in your game global? Does it need to be?</a:t>
            </a:r>
            <a:endParaRP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the gar-starter template on GitHub</a:t>
            </a:r>
            <a:endParaRPr/>
          </a:p>
          <a:p>
            <a:pPr indent="-317500" lvl="1" marL="914400" rtl="0" algn="l">
              <a:spcBef>
                <a:spcPts val="0"/>
              </a:spcBef>
              <a:spcAft>
                <a:spcPts val="0"/>
              </a:spcAft>
              <a:buSzPts val="1400"/>
              <a:buChar char="○"/>
            </a:pPr>
            <a:r>
              <a:rPr lang="en"/>
              <a:t>“Use this template”: an empty game with the content builder</a:t>
            </a:r>
            <a:endParaRPr/>
          </a:p>
          <a:p>
            <a:pPr indent="-330200" lvl="0" marL="457200" rtl="0" algn="l">
              <a:spcBef>
                <a:spcPts val="0"/>
              </a:spcBef>
              <a:spcAft>
                <a:spcPts val="0"/>
              </a:spcAft>
              <a:buSzPts val="1600"/>
              <a:buChar char="●"/>
            </a:pPr>
            <a:r>
              <a:rPr lang="en"/>
              <a:t>First milestone, by session 04</a:t>
            </a:r>
            <a:endParaRPr/>
          </a:p>
          <a:p>
            <a:pPr indent="-317500" lvl="1" marL="914400" rtl="0" algn="l">
              <a:spcBef>
                <a:spcPts val="0"/>
              </a:spcBef>
              <a:spcAft>
                <a:spcPts val="0"/>
              </a:spcAft>
              <a:buSzPts val="1400"/>
              <a:buChar char="○"/>
            </a:pPr>
            <a:r>
              <a:rPr lang="en"/>
              <a:t>Groups formed, game concept written, repository created and link uploaded to itslearning</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