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26"/>
    <p:sldId id="265" r:id="rId15"/>
    <p:sldId id="266" r:id="rId16"/>
    <p:sldId id="268" r:id="rId27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  <p:embeddedFont>
      <p:font typeface="VT323"/>
      <p:regular r:id="rId55"/>
    </p:embeddedFont>
    <p:embeddedFont>
      <p:font typeface="Roboto Ligh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26" Type="http://schemas.openxmlformats.org/officeDocument/2006/relationships/slide" Target="slides/slide10.xml"/><Relationship Id="rId27" Type="http://schemas.openxmlformats.org/officeDocument/2006/relationships/slide" Target="slides/slide13.xml"/><Relationship Id="rId51" Type="http://schemas.openxmlformats.org/officeDocument/2006/relationships/font" Target="fonts/Roboto-regular.fntdata"/><Relationship Id="rId52" Type="http://schemas.openxmlformats.org/officeDocument/2006/relationships/font" Target="fonts/Roboto-bold.fntdata"/><Relationship Id="rId53" Type="http://schemas.openxmlformats.org/officeDocument/2006/relationships/font" Target="fonts/Roboto-italic.fntdata"/><Relationship Id="rId54" Type="http://schemas.openxmlformats.org/officeDocument/2006/relationships/font" Target="fonts/Roboto-boldItalic.fntdata"/><Relationship Id="rId55" Type="http://schemas.openxmlformats.org/officeDocument/2006/relationships/font" Target="fonts/VT323-regular.fntdata"/><Relationship Id="rId56" Type="http://schemas.openxmlformats.org/officeDocument/2006/relationships/font" Target="fonts/RobotoLight-regular.fntdata"/><Relationship Id="rId57" Type="http://schemas.openxmlformats.org/officeDocument/2006/relationships/font" Target="fonts/RobotoLight-bold.fntdata"/><Relationship Id="rId58" Type="http://schemas.openxmlformats.org/officeDocument/2006/relationships/font" Target="fonts/RobotoLight-italic.fntdata"/><Relationship Id="rId59" Type="http://schemas.openxmlformats.org/officeDocument/2006/relationships/font" Target="fonts/Roboto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 to Game Architecture. First the course: who we are, what you’ll build, how you’re assessed. Then Pong.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20e943c0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20e943c0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 short introduction: background, what I work on, how to reach me. Keep it to a minute.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32a60132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932a60132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Go round the room: name, study line, a game you’ve played a lot, and whether you’ve made a game before.</a:t>
            </a:r>
          </a:p>
          <a:p>
            <a:r>
              <a:t>Note who has made games before; they make good group anchors.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32a60132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32a60132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Ask: what do you hope to get out of this course? Write answers on the board and keep them for the last session.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32a60132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32a60132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Say: build a lot, and learn from what you build. Come to class, do the exercises, and bring your project along.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336b137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336b137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official course description. Underline the last sentence: it’s a software engineering course, in a game context.</a:t>
            </a:r>
          </a:p>
          <a:p>
            <a:r>
              <a:t>Games are the vehicle; architecture and patterns are the subject.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336b1372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336b1372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Each session has one main topic and a few patterns that go with it. The schedule lists both.</a:t>
            </a:r>
          </a:p>
          <a:p>
            <a:r>
              <a:t>All of it is on the course site; the recap page connects them at the end.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20e943c05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20e943c05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One classic game per session, in this order. Each game is small, but introduces one main idea.</a:t>
            </a:r>
          </a:p>
          <a:p>
            <a:r>
              <a:t>The schedule on the site lists each session’s topics.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20e943c0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20e943c0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Game Programming Patterns by Robert Nystrom, free at gameprogrammingpatterns.com. The main reading for the course.</a:t>
            </a:r>
          </a:p>
          <a:p>
            <a:r>
              <a:t>The site links the relevant chapter under Prepare for each session.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32a60132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32a60132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Groups of 1 to 3 make a small 2D game of their own, using the course’s patterns.</a:t>
            </a:r>
          </a:p>
          <a:p>
            <a:r>
              <a:t>Show the project page on the site. Dates and hand-ins come through itslearning.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32a60132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32a60132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Walk through the flow on the slide. The question pool is on the site.</a:t>
            </a:r>
          </a:p>
          <a:p>
            <a:r>
              <a:t>Say: your project is your exam material. Every session, ask where the day’s topic fits in your game.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session has the same rhythm: a short demo of one step, then a few minutes in pairs on it, and again.</a:t>
            </a:r>
          </a:p>
          <a:p>
            <a:r>
              <a:t>The exercises at the end are on the site, with full instructions.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site and show the schedule, the project page and the exam page. Then gar-games and the starter template.</a:t>
            </a:r>
          </a:p>
          <a:p>
            <a:r>
              <a:t>Then Pong.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hyperlink" Target="https://gameprogrammingpatterns.com/content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Intro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Jakob Trigger Knop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Cand.Scient. Comp. Science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E-mail:   jknr@via.dk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Office:   C03.01 (Horsens💀)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925" y="885950"/>
            <a:ext cx="1563065" cy="16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You?</a:t>
            </a:r>
            <a:endParaRPr/>
          </a:p>
        </p:txBody>
      </p:sp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650" y="1563194"/>
            <a:ext cx="4372700" cy="24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Expectations?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Expectations</a:t>
            </a:r>
            <a:endParaRPr/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Engaged students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who build cool stuff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and learn at the same time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Purpose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lt1"/>
                </a:solidFill>
              </a:rPr>
              <a:t>“The course introduces the student to engine-level game programming using a low-level game framework. The student learns by implementing classic video games, gaining direct control over essential systems like game loop, rendering, asset pipeline and game physics.</a:t>
            </a:r>
            <a:r>
              <a:rPr i="1" lang="en"/>
              <a:t> The purpose is to teach </a:t>
            </a:r>
            <a:r>
              <a:rPr i="1" lang="en">
                <a:solidFill>
                  <a:schemeClr val="accent1"/>
                </a:solidFill>
              </a:rPr>
              <a:t>software engineering in a game context</a:t>
            </a:r>
            <a:r>
              <a:rPr i="1" lang="en"/>
              <a:t>, including </a:t>
            </a:r>
            <a:r>
              <a:rPr i="1" lang="en">
                <a:solidFill>
                  <a:schemeClr val="accent1"/>
                </a:solidFill>
              </a:rPr>
              <a:t>architecture</a:t>
            </a:r>
            <a:r>
              <a:rPr i="1" lang="en"/>
              <a:t>, </a:t>
            </a:r>
            <a:r>
              <a:rPr i="1" lang="en">
                <a:solidFill>
                  <a:schemeClr val="accent1"/>
                </a:solidFill>
              </a:rPr>
              <a:t>design patterns</a:t>
            </a:r>
            <a:r>
              <a:rPr i="1" lang="en"/>
              <a:t>, decoupling, component systems and data-driven design.”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/>
              <a:t/>
            </a:r>
            <a:endParaRPr b="1" i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Detailed course description on itslearning</a:t>
            </a:r>
            <a:endParaRPr b="1" i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Topics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Architecture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Software Design Principles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Design Patterns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State, Observer, Command, Component, Singleton, Service Locator, Prototype, Object Pool, etc..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Loop &amp; Rendering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Input Handling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Asset Pipeline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Collision Detection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Physics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Tilemaps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Serialization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Data-Driven Design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Optimization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Games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885950"/>
            <a:ext cx="8520600" cy="474573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Flappy Bird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Snake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Sokoban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Pac-Man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Super Mario Bros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Legend of Zelda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Angry Birds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Plants vs. Zombies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Pokemon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Geometry Wars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Vampire Survivors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825" y="533775"/>
            <a:ext cx="3116351" cy="3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013800" y="4453575"/>
            <a:ext cx="31164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4"/>
              </a:rPr>
              <a:t>gameprogrammingpatterns.com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 Session Runs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One classic game, one main topic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Short demos, each followed by a try-it in pairs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Exercises at the end, from the course site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site has every topic in full: no need to copy slides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Project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885950"/>
            <a:ext cx="8520600" cy="167335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Build a small 2D game, in a group of 1–3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Organized with the course’s patterns and principles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the gar-starter template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requirements and milestones: the project page on the course site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885950"/>
            <a:ext cx="8520600" cy="905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Oral exam, 20 minutes: draw a question from a known pool.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Answer it with your own project: read, explain and change its code.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411480" y="201168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Draw a question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304288" y="235458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2560320" y="201168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Explain the idea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453127" y="235458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709159" y="201168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Show it in your project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6601967" y="235458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6857999" y="201168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Change the code live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480" y="301752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question pool is on the course 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Things Are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sessions, schedule, project and exam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gar-games: the code for every game, one step per concept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gar-starter: the template for your project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Game Programming Patterns: the book, free online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