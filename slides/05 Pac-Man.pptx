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5" r:id="rId40"/>
    <p:sldId id="257" r:id="rId7"/>
    <p:sldId id="258" r:id="rId8"/>
    <p:sldId id="259" r:id="rId9"/>
    <p:sldId id="297" r:id="rId56"/>
    <p:sldId id="298" r:id="rId57"/>
    <p:sldId id="299" r:id="rId58"/>
    <p:sldId id="319" r:id="rId36"/>
    <p:sldId id="300" r:id="rId59"/>
    <p:sldId id="301" r:id="rId60"/>
    <p:sldId id="302" r:id="rId61"/>
    <p:sldId id="303" r:id="rId62"/>
    <p:sldId id="318" r:id="rId37"/>
    <p:sldId id="304" r:id="rId63"/>
    <p:sldId id="305" r:id="rId64"/>
    <p:sldId id="306" r:id="rId65"/>
    <p:sldId id="307" r:id="rId66"/>
    <p:sldId id="317" r:id="rId38"/>
    <p:sldId id="308" r:id="rId67"/>
    <p:sldId id="309" r:id="rId68"/>
    <p:sldId id="310" r:id="rId69"/>
    <p:sldId id="316" r:id="rId39"/>
    <p:sldId id="311" r:id="rId70"/>
    <p:sldId id="312" r:id="rId71"/>
    <p:sldId id="313" r:id="rId72"/>
    <p:sldId id="280" r:id="rId30"/>
    <p:sldId id="292" r:id="rId42"/>
    <p:sldId id="293" r:id="rId52"/>
    <p:sldId id="314" r:id="rId41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27.xml"/><Relationship Id="rId36" Type="http://schemas.openxmlformats.org/officeDocument/2006/relationships/slide" Target="slides/slide9.xml"/><Relationship Id="rId37" Type="http://schemas.openxmlformats.org/officeDocument/2006/relationships/slide" Target="slides/slide14.xml"/><Relationship Id="rId38" Type="http://schemas.openxmlformats.org/officeDocument/2006/relationships/slide" Target="slides/slide19.xml"/><Relationship Id="rId39" Type="http://schemas.openxmlformats.org/officeDocument/2006/relationships/slide" Target="slides/slide23.xml"/><Relationship Id="rId40" Type="http://schemas.openxmlformats.org/officeDocument/2006/relationships/slide" Target="slides/slide2.xml"/><Relationship Id="rId41" Type="http://schemas.openxmlformats.org/officeDocument/2006/relationships/slide" Target="slides/slide30.xml"/><Relationship Id="rId42" Type="http://schemas.openxmlformats.org/officeDocument/2006/relationships/slide" Target="slides/slide28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9.xml"/><Relationship Id="rId53" Type="http://schemas.openxmlformats.org/officeDocument/2006/relationships/slide" Target="slides/slide31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3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18.xml"/><Relationship Id="rId67" Type="http://schemas.openxmlformats.org/officeDocument/2006/relationships/slide" Target="slides/slide20.xml"/><Relationship Id="rId68" Type="http://schemas.openxmlformats.org/officeDocument/2006/relationships/slide" Target="slides/slide21.xml"/><Relationship Id="rId69" Type="http://schemas.openxmlformats.org/officeDocument/2006/relationships/slide" Target="slides/slide22.xml"/><Relationship Id="rId70" Type="http://schemas.openxmlformats.org/officeDocument/2006/relationships/slide" Target="slides/slide24.xml"/><Relationship Id="rId71" Type="http://schemas.openxmlformats.org/officeDocument/2006/relationships/slide" Target="slides/slide25.xml"/><Relationship Id="rId72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Pac-Man. The main topic: behaviour that changes with the situation.</a:t>
            </a:r>
          </a:p>
          <a:p>
            <a:r>
              <a:t>Start by playing the finished game, Pacman4,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Pacman4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behaviour that changes with the situation, with the State pattern through the ghosts’ modes. Then Strategy for their targeting, and how the two differ.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gar-games/05-pac-man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Fruit and the tunnel: the questions are about where a rule belongs. Discuss answers before code.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diagram: in the house, then scatter and chase on a schedule; a power pellet frightens; touched means eaten, and the eyes go home.</a:t>
            </a:r>
          </a:p>
          <a:p>
            <a:r>
              <a:t>The rule at the bottom is all a ghost ever does. The mode only picks the target tile.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a sixth mode, a short pause when a ghost is eaten. Where do you change the code?</a:t>
            </a:r>
          </a:p>
          <a:p>
            <a:r>
              <a:t>Answer: every switch in six methods, and the compiler won’t tell you if you miss one.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gains: one place per mode, the same event handled differently per state, and Enter/Exit.</a:t>
            </a:r>
          </a:p>
          <a:p>
            <a:r>
              <a:t>And the proof: from Pacman1 to Pacman2, World didn’t change at all.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Chasing straight at Pac-Man, the ghosts line up behind him. Each ghost aims somewhere else, and together they trap him.</a:t>
            </a:r>
          </a:p>
          <a:p>
            <a:r>
              <a:t>Ask the question at the bottom before the next slide: where does each ghost’s targeting code go?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structure, different jobs. A state changes all the time and knows the next state; a strategy is chosen once, from outside.</a:t>
            </a:r>
          </a:p>
          <a:p>
            <a:r>
              <a:t>Together: the state decides whether to chase, the strategy how.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levels of state machine: the game’s (ready, play, dying, game over) and each ghost’s. The ghosts only update in play.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problems does the enum version of the ghost have?</a:t>
            </a:r>
          </a:p>
          <a:p>
            <a:r>
              <a:t>A: Every method switches over the mode, so one mode's behaviour is spread over many methods. Fields that belong to one mode exist in all of them, and adding a mode means finding and changing every switch.</a:t>
            </a:r>
          </a:p>
          <a:p/>
          <a:p>
            <a:r>
              <a:t>Q: In the State pattern, who decides when to change state?</a:t>
            </a:r>
          </a:p>
          <a:p>
            <a:r>
              <a:t>A: Usually the states themselves: a state knows which events end it, and which state comes next. The object that holds the state only forwards to it, and doesn't need to know which states exist.</a:t>
            </a:r>
          </a:p>
          <a:p/>
          <a:p>
            <a:r>
              <a:t>Q: What are Enter and Exit for?</a:t>
            </a:r>
          </a:p>
          <a:p>
            <a:r>
              <a:t>A: Setting up and cleaning up a state, in one place, whichever state came before or comes after. Here, FrightenedState.Enter turns the ghost around.</a:t>
            </a:r>
          </a:p>
          <a:p/>
          <a:p>
            <a:r>
              <a:t>Q: State and Strategy have the same structure. How do they differ?</a:t>
            </a:r>
          </a:p>
          <a:p>
            <a:r>
              <a:t>A: A state changes during the object's life, often chosen by the states themselves. A strategy is chosen from outside, usually once, and strategies don't know about each other.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text file again, like Sokoban. Point at the house, the door and the tunnel row.</a:t>
            </a:r>
          </a:p>
          <a:p>
            <a:r>
              <a:t>Rules apart from drawing again: Maze, PacMan and World are the game; the views draw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Actors move tile centre to tile centre and turn only at a centre. The only difference between Pac-Man and a ghost: ChooseDirection.</a:t>
            </a:r>
          </a:p>
          <a:p>
            <a:r>
              <a:t>Wanted is kept until he can turn: input buffering, as in Snake.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Pacman0.</a:t>
            </a:r>
          </a:p>
          <a:p>
            <a:r>
              <a:t>- press a direction just before a corner: he turns there</a:t>
            </a:r>
          </a:p>
          <a:p>
            <a:r>
              <a:t>- the tunnel on the middle row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Pacman1 does this with an enum and a switch in every method. It works; read one case together.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Pacman1.</a:t>
            </a:r>
          </a:p>
          <a:p>
            <a:r>
              <a:t>- find GhostMode and count the switches over it</a:t>
            </a:r>
          </a:p>
          <a:p>
            <a:r>
              <a:t>- the fields that only one mode uses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mode becomes a class; the ghost forwards to its current state. Flappy Bird did this for the whole game; now for one object in it.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about being frightened in one class, including its timer. Enter turns the ghost around; the state decides where to go next.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Pacman1 and Pacman2 side by side (a diff tool, or two editor panes), then run Pacman2.</a:t>
            </a:r>
          </a:p>
          <a:p>
            <a:r>
              <a:t>- the enum and its switches become GhostStates/</a:t>
            </a:r>
          </a:p>
          <a:p>
            <a:r>
              <a:t>- Ghost.cs gets much shorter</a:t>
            </a:r>
          </a:p>
          <a:p>
            <a:r>
              <a:t>- World.cs is unchanged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ghost gets an ITargetStrategy when it’s created. ChaseState asks the ghost’s strategy, and works for every ghost. A new personality is one class.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Pacman2 and Pacman3 side by side (a diff tool, or two editor panes), then run Pacman3.</a:t>
            </a:r>
          </a:p>
          <a:p>
            <a:r>
              <a:t>- Targeting/: one small class per ghost</a:t>
            </a:r>
          </a:p>
          <a:p>
            <a:r>
              <a:t>- World passes a strategy to each ghost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strategy is one method: perfect for a test. Inky’s target is invisible while playing, but a test can check it on paper.</a:t>
            </a:r>
          </a:p>
          <a:p>
            <a:r>
              <a:t>Work the numbers on the slide together.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Pacman4 for a full life, then run dotnet test in 05-pac-man and open TargetingTests.cs.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Pac-Man.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argument in World. Two ghosts that chase straight at Pac-Man end up in a line behind him, which is easy to escape.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one constant in FrightenedState. A FrozenState is one new class, and EatenState (or whatever state comes before it) changes to it. Compare with the seven switches.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seven (six switch statements and the Look switch expression), and nothing warns you about the ones you miss. Keep the count on the board for the next slides.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Pacman0 reads the maze at start-up, so a restart shows the change.</a:t>
            </a:r>
          </a:p>
          <a:p>
            <a:r>
              <a:t>The early press shows the buffered turn: he turns when he reaches the corner.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Pacman4. The new mode is the Frozen mode from the enum task, now as a state: ask them to compare the classes they changed with the seven switches. Test first for the new ghost.</a:t>
            </a:r>
          </a:p>
          <a:p>
            <a:r>
              <a:t>The fifth ghost (green) and a cherry are drawn in sprites.png but not in the XML: describing them is part of the exercise.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5-pacma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05: Pac-Man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Pac-Man</a:t>
            </a:r>
            <a:endParaRPr/>
          </a:p>
        </p:txBody>
      </p:sp>
      <p:pic>
        <p:nvPicPr>
          <p:cNvPr id="3" name="Picture 2" descr="pac-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600" y="960120"/>
            <a:ext cx="28448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Pac-Man (Namco, 1980). Image: Bandai Namco Entertainment America,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gif-pacma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1255" y="1531275"/>
            <a:ext cx="2941488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Behaviour that changes with the situation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Maze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With an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Strategy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vs.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the Ghosts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05-pac-man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(Pacman0 to Pacman4, and Pacman.Tests),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text file, like Sokoban’s levels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. dot   o power pellet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- house door   H inside the house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 Pac-Man   b p i c the ghosts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row open at both ends is a tunnel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Rules apart from drawing, as in Sokoban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Maze, PacMan, World: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MazeView, PacManView: the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walls are lines, not images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############################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#............##............#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#o####.#####.##.#####.####o#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######.##.###--###.##.######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.   #iHpHHc#   .      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Moving Through 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tile centre to tile centre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Turning only at a centre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Actor: shared by Pac-Man and the ghosts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They differ only in ChooseDirection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Wanted is kept until Pac-Man can turn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Input buffering, as in Snake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Press up before the corner: he turns there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Actor.Move, at a tile centre: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Heading = ChooseDirection(_target);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PacMan.cs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protected override Point ChooseDirection(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tile)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(Wanted != Direction.None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!Maze.BlocksPacMan(tile + Wanted))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Wanted;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(!Maze.BlocksPacMan(tile + Heading))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Heading;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Direction.None;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Maze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Pacman0: the maze, Pac-Man and the dots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Change the Maze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maze.txt: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Open a new tunnel, or move Pac-Man’s start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press a direction just before a corner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Five Ghost Modes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ghost is always in one of five modes. The mode decides where it heads.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36576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In the house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waits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468880" y="132588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Scatter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its corner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2468880" y="233172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Pac-Man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846320" y="182880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Frightened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blue, random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713232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Eaten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eyes go home</a:t>
            </a:r>
          </a:p>
        </p:txBody>
      </p:sp>
      <p:cxnSp>
        <p:nvCxnSpPr>
          <p:cNvPr id="300" name="Connector 299"/>
          <p:cNvCxnSpPr/>
          <p:nvPr/>
        </p:nvCxnSpPr>
        <p:spPr>
          <a:xfrm flipV="1">
            <a:off x="1847088" y="1691640"/>
            <a:ext cx="60350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310896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329184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TextBox 302"/>
          <p:cNvSpPr txBox="1"/>
          <p:nvPr/>
        </p:nvSpPr>
        <p:spPr>
          <a:xfrm>
            <a:off x="342900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schedule</a:t>
            </a:r>
          </a:p>
        </p:txBody>
      </p:sp>
      <p:cxnSp>
        <p:nvCxnSpPr>
          <p:cNvPr id="304" name="Connector 303"/>
          <p:cNvCxnSpPr/>
          <p:nvPr/>
        </p:nvCxnSpPr>
        <p:spPr>
          <a:xfrm flipV="1">
            <a:off x="3950208" y="2331720"/>
            <a:ext cx="87782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3977639" y="2560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power pellet</a:t>
            </a:r>
          </a:p>
        </p:txBody>
      </p:sp>
      <p:cxnSp>
        <p:nvCxnSpPr>
          <p:cNvPr id="306" name="Connector 305"/>
          <p:cNvCxnSpPr/>
          <p:nvPr/>
        </p:nvCxnSpPr>
        <p:spPr>
          <a:xfrm>
            <a:off x="6510528" y="2148840"/>
            <a:ext cx="60350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6327648" y="1856232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touched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65760" y="3200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At each tile centre: never turn back, and take the direction closest to a target tile.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Ghosts With an Enum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GhostMode: InHouse, Scatter, Chase, Frightened, Eaten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 method switches over the mode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Update, ChooseDirection, OnPowerPellet, Touch, Look, SetMode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switch (Mode)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GhostMode.InHouse: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_houseTimer += deltaSeconds;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(_houseTimer &lt; _releaseDelay)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Move(HouseSpeed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(!Maze.IsInHouse(Tile))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SetMode(ScheduledMode());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GhostMode.Scatter: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GhostMode.Chase: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// Frightened, Eaten…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Problems With the Enum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sixth mode: a short pause when a ghost is eaten. What do you change?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Update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1810512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ChooseDirection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3209544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OnPowerPellet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608576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Touch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6007608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Look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740664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SetMode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411480" y="2240280"/>
            <a:ext cx="8321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Every switch, and nothing tells you if you miss one.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Fields that belong to one mode live in the ghost all the time.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Pong’s string-based game state, all over again.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Ghosts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Pacman1: four ghosts, their modes as an enum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Frozen Mode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Pacman1, add Frozen to GhostMode: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eaten ghost stands still for a second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Don’t finish it. Count the switches you would have to change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“Allow an object to alter its behavior when its internal state changes.”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mode becomes a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InHouseState, ScatterState, ChaseState, FrightenedState, EatenState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ghost forwards to its current 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Flappy Bird did this for the game; now for an object in it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ChangeState(GhostState state)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State?.Exit(this);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 = state;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State.Enter(this);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State.Update(this,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OnPowerPellet()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State.OnPowerPellet(this);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TouchResult Touch()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State.OnTouch(this);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State: Frightened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Everything about being frightened, in one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Including its own timer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Enter: turn around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 decides the transitions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Time’s up: back to the schedule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Touched: eaten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FrightenedState : GhostState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private float _elapsed;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Enter(Ghost ghost)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ghost.Reverse();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Update(Ghost ghost, 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+= dt;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ghost.Move(Speed * 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if (_elapsed &gt;= 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ghost.ChangeState(ghost.ScheduledState());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TouchResult OnTouch(Ghost ghost)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ghost.ChangeState(new EatenState());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TouchResult.GhostEaten;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Changed?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states decide the transitions; the ghost only forwards to its state.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One place per mode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read a state on its own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Same event, different handling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power pellet: frightened,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over, or ignored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Enter and Exit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and clean up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one place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Pacman1 → Pacman2: World didn’t change at all.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 → Pacman2: from an enum to state classes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Same Change, With States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frightened ghosts last 3 seconds instead of 6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files did it take?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would a FrozenState go, and what would change?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Four Personalities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personalities, so the ghosts trap Pac-Man instead of lining up behind him.</a:t>
            </a:r>
            <a:endParaRPr/>
          </a:p>
        </p:txBody>
      </p:sp>
      <p:pic>
        <p:nvPicPr>
          <p:cNvPr id="295" name="Picture 294" descr="ghost_blin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417320"/>
            <a:ext cx="822960" cy="822960"/>
          </a:xfrm>
          <a:prstGeom prst="rect">
            <a:avLst/>
          </a:prstGeom>
        </p:spPr>
      </p:pic>
      <p:sp>
        <p:nvSpPr>
          <p:cNvPr id="296" name="Rounded Rectangle 295"/>
          <p:cNvSpPr/>
          <p:nvPr/>
        </p:nvSpPr>
        <p:spPr>
          <a:xfrm>
            <a:off x="502920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Blinky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Pac-Man’s tile</a:t>
            </a:r>
          </a:p>
        </p:txBody>
      </p:sp>
      <p:pic>
        <p:nvPicPr>
          <p:cNvPr id="297" name="Picture 296" descr="ghost_pink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59" y="1417320"/>
            <a:ext cx="822960" cy="822960"/>
          </a:xfrm>
          <a:prstGeom prst="rect">
            <a:avLst/>
          </a:prstGeom>
        </p:spPr>
      </p:pic>
      <p:sp>
        <p:nvSpPr>
          <p:cNvPr id="298" name="Rounded Rectangle 297"/>
          <p:cNvSpPr/>
          <p:nvPr/>
        </p:nvSpPr>
        <p:spPr>
          <a:xfrm>
            <a:off x="260603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4 tiles ahead of him</a:t>
            </a:r>
          </a:p>
        </p:txBody>
      </p:sp>
      <p:pic>
        <p:nvPicPr>
          <p:cNvPr id="299" name="Picture 298" descr="ghost_ink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79" y="1417320"/>
            <a:ext cx="822960" cy="822960"/>
          </a:xfrm>
          <a:prstGeom prst="rect">
            <a:avLst/>
          </a:prstGeom>
        </p:spPr>
      </p:pic>
      <p:sp>
        <p:nvSpPr>
          <p:cNvPr id="300" name="Rounded Rectangle 299"/>
          <p:cNvSpPr/>
          <p:nvPr/>
        </p:nvSpPr>
        <p:spPr>
          <a:xfrm>
            <a:off x="470915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 ahead, doubled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from Blinky</a:t>
            </a:r>
          </a:p>
        </p:txBody>
      </p:sp>
      <p:pic>
        <p:nvPicPr>
          <p:cNvPr id="301" name="Picture 300" descr="ghost_cly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199" y="1417320"/>
            <a:ext cx="822960" cy="822960"/>
          </a:xfrm>
          <a:prstGeom prst="rect">
            <a:avLst/>
          </a:prstGeom>
        </p:spPr>
      </p:pic>
      <p:sp>
        <p:nvSpPr>
          <p:cNvPr id="302" name="Rounded Rectangle 301"/>
          <p:cNvSpPr/>
          <p:nvPr/>
        </p:nvSpPr>
        <p:spPr>
          <a:xfrm>
            <a:off x="681227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Clyde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Pac-Man, until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close: then his corner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Where does the targeting code go, so every ghost can have its own?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Strategy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“Define a family of algorithms, encapsulate each one, and make them interchangeable.”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ghost gets its strategy when it’s created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ChaseState asks the ghost’s strategy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works for every ghost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personality: one class, one line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interface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ChooseTarget(Ghost ghost, World world);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Pinky: four tiles ahead of Pac-Man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AmbushAhead :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Point ChooseTarget(Ghost g, World w)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Point facing = w.PacMan.Facing;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w.PacMan.Tile +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new Point(facing.X * 4, facing.Y * 4);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World.cs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Pinky = new Ghost(..., new AmbushAhead());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Strategy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Pacman3: one targeting strategy per ghost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Swap a Personality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Pacman3’s World: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Clyde Blinky’s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how does the chase change?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vs. Strategy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structure (hold an interface, forward to it), used for different jobs.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State: the mode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by the states themselves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changes all the 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state knows the next state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Strategy: the targeting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from outside, once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changes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strategies don’t know each other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Together: the state decides whether to chase, the strategy how.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the Ghosts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strategy: one small class, one method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Put Pac-Man somewhere, check the target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Inky’s target is invisible when playing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checks it with numbers you can work out on paper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states: put a ghost in a state, make something happen, check the state after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small test maze, and a seeded Random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Inky_doubles_the_line_from_Blinky()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_world.PacMan.Place(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Point(5, 1), Direction.Right);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_world.Blinky.Place(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Point(3, 3), Direction.Left);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Two ahead of Pac-Man: (7, 1).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From Blinky: (+4, -2), doubled.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Point(11, -1),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TargetOf(_world.Inky));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levels of state machine: the game’s, and each ghost’s.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82296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</a:t>
            </a:r>
          </a:p>
        </p:txBody>
      </p:sp>
      <p:cxnSp>
        <p:nvCxnSpPr>
          <p:cNvPr id="296" name="Connector 295"/>
          <p:cNvCxnSpPr/>
          <p:nvPr/>
        </p:nvCxnSpPr>
        <p:spPr>
          <a:xfrm>
            <a:off x="248716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Rounded Rectangle 296"/>
          <p:cNvSpPr/>
          <p:nvPr/>
        </p:nvSpPr>
        <p:spPr>
          <a:xfrm>
            <a:off x="274320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4407407" y="173736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298"/>
          <p:cNvSpPr/>
          <p:nvPr/>
        </p:nvSpPr>
        <p:spPr>
          <a:xfrm>
            <a:off x="466344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Dying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632764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ounded Rectangle 300"/>
          <p:cNvSpPr/>
          <p:nvPr/>
        </p:nvSpPr>
        <p:spPr>
          <a:xfrm>
            <a:off x="658368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 or Game Over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2651760" y="2377440"/>
            <a:ext cx="384048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Each ghost: InHouse, Scatter, Chase, ...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updated only while the game is in Play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3749039" y="2057400"/>
            <a:ext cx="457201" cy="30175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While Pac-Man dies, the ghosts’ states simply pause.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Pac-Man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Pacman4 and Pacman.Tests: the whole game, and its tests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Pacman4,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frozen mode, for real: a FrozenState before EatenState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classes did you change? Compare with the seven switches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personality: a fifth ghost with its own strategy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its test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in the house also turn blue after a power pellet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does InHouseState need to remember?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Fruit: after 70 dots, a fruit appears below the house for ten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belong: World, Maze, or a class of its own?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Tunnel: ghosts slow down in the tunnel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 knows the ghost is in the tunnel, and which how fast to go?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does the enum version of the ghost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State pattern, who decides when to change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Enter and Exit for?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and Strategy have the same structure. How do they differ?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objects in your game have modes?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Flags, an enum, or state objects?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you switch over a mode in more than one method?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behaviour that differs per object, but never changes for one object?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a strategy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