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5" r:id="rId40"/>
    <p:sldId id="257" r:id="rId7"/>
    <p:sldId id="258" r:id="rId8"/>
    <p:sldId id="259" r:id="rId9"/>
    <p:sldId id="297" r:id="rId56"/>
    <p:sldId id="298" r:id="rId57"/>
    <p:sldId id="299" r:id="rId58"/>
    <p:sldId id="319" r:id="rId36"/>
    <p:sldId id="300" r:id="rId59"/>
    <p:sldId id="301" r:id="rId60"/>
    <p:sldId id="302" r:id="rId61"/>
    <p:sldId id="303" r:id="rId62"/>
    <p:sldId id="318" r:id="rId37"/>
    <p:sldId id="304" r:id="rId63"/>
    <p:sldId id="305" r:id="rId64"/>
    <p:sldId id="306" r:id="rId65"/>
    <p:sldId id="307" r:id="rId66"/>
    <p:sldId id="317" r:id="rId38"/>
    <p:sldId id="308" r:id="rId67"/>
    <p:sldId id="309" r:id="rId68"/>
    <p:sldId id="310" r:id="rId69"/>
    <p:sldId id="316" r:id="rId39"/>
    <p:sldId id="311" r:id="rId70"/>
    <p:sldId id="320" r:id="rId35"/>
    <p:sldId id="321" r:id="rId34"/>
    <p:sldId id="322" r:id="rId33"/>
    <p:sldId id="323" r:id="rId32"/>
    <p:sldId id="324" r:id="rId31"/>
    <p:sldId id="325" r:id="rId29"/>
    <p:sldId id="312" r:id="rId71"/>
    <p:sldId id="313" r:id="rId72"/>
    <p:sldId id="280" r:id="rId30"/>
    <p:sldId id="292" r:id="rId42"/>
    <p:sldId id="293" r:id="rId52"/>
    <p:sldId id="314"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29" Type="http://schemas.openxmlformats.org/officeDocument/2006/relationships/slide" Target="slides/slide37.xml"/><Relationship Id="rId30" Type="http://schemas.openxmlformats.org/officeDocument/2006/relationships/slide" Target="slides/slide27.xml"/><Relationship Id="rId31" Type="http://schemas.openxmlformats.org/officeDocument/2006/relationships/slide" Target="slides/slide36.xml"/><Relationship Id="rId32" Type="http://schemas.openxmlformats.org/officeDocument/2006/relationships/slide" Target="slides/slide35.xml"/><Relationship Id="rId33" Type="http://schemas.openxmlformats.org/officeDocument/2006/relationships/slide" Target="slides/slide34.xml"/><Relationship Id="rId34" Type="http://schemas.openxmlformats.org/officeDocument/2006/relationships/slide" Target="slides/slide33.xml"/><Relationship Id="rId35" Type="http://schemas.openxmlformats.org/officeDocument/2006/relationships/slide" Target="slides/slide32.xml"/><Relationship Id="rId36" Type="http://schemas.openxmlformats.org/officeDocument/2006/relationships/slide" Target="slides/slide9.xml"/><Relationship Id="rId37" Type="http://schemas.openxmlformats.org/officeDocument/2006/relationships/slide" Target="slides/slide14.xml"/><Relationship Id="rId38" Type="http://schemas.openxmlformats.org/officeDocument/2006/relationships/slide" Target="slides/slide19.xml"/><Relationship Id="rId39" Type="http://schemas.openxmlformats.org/officeDocument/2006/relationships/slide" Target="slides/slide23.xml"/><Relationship Id="rId40" Type="http://schemas.openxmlformats.org/officeDocument/2006/relationships/slide" Target="slides/slide2.xml"/><Relationship Id="rId41" Type="http://schemas.openxmlformats.org/officeDocument/2006/relationships/slide" Target="slides/slide30.xml"/><Relationship Id="rId42" Type="http://schemas.openxmlformats.org/officeDocument/2006/relationships/slide" Target="slides/slide28.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29.xml"/><Relationship Id="rId53" Type="http://schemas.openxmlformats.org/officeDocument/2006/relationships/slide" Target="slides/slide31.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8.xml"/><Relationship Id="rId59" Type="http://schemas.openxmlformats.org/officeDocument/2006/relationships/slide" Target="slides/slide10.xml"/><Relationship Id="rId60" Type="http://schemas.openxmlformats.org/officeDocument/2006/relationships/slide" Target="slides/slide11.xml"/><Relationship Id="rId61" Type="http://schemas.openxmlformats.org/officeDocument/2006/relationships/slide" Target="slides/slide12.xml"/><Relationship Id="rId62" Type="http://schemas.openxmlformats.org/officeDocument/2006/relationships/slide" Target="slides/slide13.xml"/><Relationship Id="rId63" Type="http://schemas.openxmlformats.org/officeDocument/2006/relationships/slide" Target="slides/slide15.xml"/><Relationship Id="rId64" Type="http://schemas.openxmlformats.org/officeDocument/2006/relationships/slide" Target="slides/slide16.xml"/><Relationship Id="rId65" Type="http://schemas.openxmlformats.org/officeDocument/2006/relationships/slide" Target="slides/slide17.xml"/><Relationship Id="rId66" Type="http://schemas.openxmlformats.org/officeDocument/2006/relationships/slide" Target="slides/slide18.xml"/><Relationship Id="rId67" Type="http://schemas.openxmlformats.org/officeDocument/2006/relationships/slide" Target="slides/slide20.xml"/><Relationship Id="rId68" Type="http://schemas.openxmlformats.org/officeDocument/2006/relationships/slide" Target="slides/slide21.xml"/><Relationship Id="rId69" Type="http://schemas.openxmlformats.org/officeDocument/2006/relationships/slide" Target="slides/slide22.xml"/><Relationship Id="rId70" Type="http://schemas.openxmlformats.org/officeDocument/2006/relationships/slide" Target="slides/slide24.xml"/><Relationship Id="rId71" Type="http://schemas.openxmlformats.org/officeDocument/2006/relationships/slide" Target="slides/slide25.xml"/><Relationship Id="rId72"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Pac-Man. The main topic: the State pattern.</a:t>
            </a:r>
          </a:p>
          <a:p>
            <a:r>
              <a:t>Start by playing the finished game, Pacman5,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Pacman5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the State pattern, which we use for the ghosts’ modes. Then Strategy for how each ghost picks its target, and how the two patterns differ. Then pathfinding with A*, as a second use of Strategy.</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gar-games/05-pac-man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One argument per ghost in World.</a:t>
            </a:r>
          </a:p>
          <a:p>
            <a:r>
              <a:t>Blinky alone becomes relentless. With all four, the ghosts bunch up in the same corridors, and the game gets harder and less interesting.</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Fruit and the tunnel: the questions are about where a rule belongs. Discuss answers before code.</a:t>
            </a:r>
          </a:p>
          <a:p>
            <a:r>
              <a:t>Breadth-first: the same loop with a plain queue. A test compares the two lengths; a counter shows A* looks at fewer tiles.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the diagram: in the house, then scatter and chase on a schedule; a power pellet frightens; touched means eaten, and the eyes go home.</a:t>
            </a:r>
          </a:p>
          <a:p>
            <a:r>
              <a:t>The rule at the bottom is all a ghost ever does. The mode only picks the target tile.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a sixth mode, a short pause when a ghost is eaten. Where do you change the code?</a:t>
            </a:r>
          </a:p>
          <a:p>
            <a:r>
              <a:t>Answer: every switch in six methods, and the compiler won’t tell you if you miss one.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gains: one place per mode, the same event handled differently per state, and Enter/Exit.</a:t>
            </a:r>
          </a:p>
          <a:p>
            <a:r>
              <a:t>And the proof: from Pacman1 to Pacman2, World didn’t change at all.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Chasing straight at Pac-Man, the ghosts line up behind him. Each ghost aims somewhere else, and together they trap him.</a:t>
            </a:r>
          </a:p>
          <a:p>
            <a:r>
              <a:t>Ask the question at the bottom before the next slide: where does each ghost’s targeting code go?</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structure, different jobs. A state changes all the time and knows the next state; a strategy is chosen once, from outside.</a:t>
            </a:r>
          </a:p>
          <a:p>
            <a:r>
              <a:t>Together: the state decides whether to chase, the strategy how.</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levels of state machine: the game’s (ready, play, dying, game over) and each ghost’s. The ghosts only update in play.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problems does the enum version of the ghost have?</a:t>
            </a:r>
          </a:p>
          <a:p>
            <a:r>
              <a:t>A: Every method switches over the mode, so one mode's behaviour is spread over many methods. Fields that belong to one mode exist in all of them, and adding a mode means finding and changing every switch.</a:t>
            </a:r>
          </a:p>
          <a:p/>
          <a:p>
            <a:r>
              <a:t>Q: In the State pattern, who decides when to change state?</a:t>
            </a:r>
          </a:p>
          <a:p>
            <a:r>
              <a:t>A: Usually the states themselves. A state knows which events end it, and which state comes next. The object that holds the state only forwards to it, and doesn't need to know which states exist.</a:t>
            </a:r>
          </a:p>
          <a:p/>
          <a:p>
            <a:r>
              <a:t>Q: What are Enter and Exit for?</a:t>
            </a:r>
          </a:p>
          <a:p>
            <a:r>
              <a:t>A: Setting up and cleaning up a state, in one place, whichever state came before or comes after. Here, FrightenedState.Enter turns the ghost around.</a:t>
            </a:r>
          </a:p>
          <a:p/>
          <a:p>
            <a:r>
              <a:t>Q: State and Strategy have the same structure. How do they differ?</a:t>
            </a:r>
          </a:p>
          <a:p>
            <a:r>
              <a:t>A: A state changes during the object's life, often chosen by the states themselves. A strategy is chosen from outside, usually once, and strategies don't know about each other.</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text file again, like Sokoban. Point at the house, the door and the tunnel row.</a:t>
            </a:r>
          </a:p>
          <a:p>
            <a:r>
              <a:t>Rules apart from drawing again: Maze, PacMan and World are the game; the views draw it.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Actors move tile centre to tile centre and turn only at a centre. The only difference between Pac-Man and a ghost: ChooseDirection.</a:t>
            </a:r>
          </a:p>
          <a:p>
            <a:r>
              <a:t>Wanted is kept until he can turn: input buffering, as in Snake.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Pacman0.</a:t>
            </a:r>
          </a:p>
          <a:p>
            <a:r>
              <a:t>- press a direction just before a corner: he turns there</a:t>
            </a:r>
          </a:p>
          <a:p>
            <a:r>
              <a:t>- the tunnel on the middle row</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Pacman1 does this with an enum and a switch in every method. It works; read one case together.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Pacman1.</a:t>
            </a:r>
          </a:p>
          <a:p>
            <a:r>
              <a:t>- find GhostMode and count the switches over it</a:t>
            </a:r>
          </a:p>
          <a:p>
            <a:r>
              <a:t>- the fields that only one mode uses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mode becomes a class; the ghost forwards to its current state. Flappy Bird did this for the whole game; now for one object in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Everything about being frightened in one class, including its timer. Enter turns the ghost around; the state decides where to go next.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Pacman1 and Pacman2 side by side (a diff tool, or two editor panes), then run Pacman2.</a:t>
            </a:r>
          </a:p>
          <a:p>
            <a:r>
              <a:t>- the enum and its switches become GhostStates/</a:t>
            </a:r>
          </a:p>
          <a:p>
            <a:r>
              <a:t>- Ghost.cs gets much shorter</a:t>
            </a:r>
          </a:p>
          <a:p>
            <a:r>
              <a:t>- World.cs is unchanged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ghost gets an ITargetStrategy when it’s created. ChaseState asks the ghost’s strategy, and works for every ghost. A new personality is one class.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Pacman2 and Pacman3 side by side (a diff tool, or two editor panes), then run Pacman3.</a:t>
            </a:r>
          </a:p>
          <a:p>
            <a:r>
              <a:t>- Targeting/: one small class per ghost</a:t>
            </a:r>
          </a:p>
          <a:p>
            <a:r>
              <a:t>- World passes a strategy to each ghost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strategy is one method: perfect for a test. Inky’s target is invisible while playing, but a test can check it on paper.</a:t>
            </a:r>
          </a:p>
          <a:p>
            <a:r>
              <a:t>Work the numbers on the slide together.</a:t>
            </a:r>
          </a:p>
          <a:p>
            <a:r>
              <a:t>PathfinderTests does the same for paths: count the steps on paper, and compare.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run Pacman5 for a full life, then run dotnet test in 05-pac-man and open TargetingTests.cs and PathfinderTests.cs.</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 is the ghost, T its target. Count both ways with them: left is 7 steps, right is 5.</a:t>
            </a:r>
          </a:p>
          <a:p>
            <a:r>
              <a:t>The arcade rule only compares straight-line distances from the two neighbouring tiles, so it goes left.</a:t>
            </a:r>
          </a:p>
          <a:p>
            <a:r>
              <a:t>This is fine for the chase, where wrong turns are part of the game. For the eyes going home it looks silly.</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Pac-Man. Ask who has played it, and what they remember of how it plays.</a:t>
            </a:r>
          </a:p>
          <a:p>
            <a:r>
              <a:t>Today we build the parts that matter for the architecture.</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One argument in World. Two ghosts that chase straight at Pac-Man end up in a line behind him, which is easy to escape.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Answer: one constant in FrightenedState. A FrozenState is one new class, and EatenState (or whatever state comes before it) changes to it. Compare with the seven switches.</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Answer: seven (six switch statements and the Look switch expression), and nothing warns you about the ones you miss. Keep the count on the board for the next slides.</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Pacman0 reads the maze at start-up, so a restart shows the change.</a:t>
            </a:r>
          </a:p>
          <a:p>
            <a:r>
              <a:t>The early press shows the buffered turn: he turns when he reaches the corner.</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 it on the board first: 0 on the ghost, 1 on its neighbours, 2 on theirs, never writing on a tile twice.</a:t>
            </a:r>
          </a:p>
          <a:p>
            <a:r>
              <a:t>T gets a 5. The outlined tiles are the path, found by walking back from T.</a:t>
            </a:r>
          </a:p>
          <a:p>
            <a:r>
              <a:t>Point at the numbers on the left and along the bottom: all of that work led away from the target.</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same search as before, with one change: a priority queue hands out the most promising tile.</a:t>
            </a:r>
          </a:p>
          <a:p>
            <a:r>
              <a:t>The estimate (the heuristic) is the distance with no walls: steps across plus steps up or down.</a:t>
            </a:r>
          </a:p>
          <a:p>
            <a:r>
              <a:t>The slide leaves out the loop over the neighbours; open Pathfinder.cs for the whole method.</a:t>
            </a:r>
          </a:p>
          <a:p>
            <a:r>
              <a:t>Ask: what goes wrong with the tunnel? Two tiles at its ends are one step apart, so Estimate also counts the way round.</a:t>
            </a:r>
          </a:p>
          <a:p>
            <a:r>
              <a:t>With an estimate of 0 everywhere, this is breadth-first search again.</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Strategy a second time, in the same game: ITargetStrategy for where, IRouteStrategy for which way.</a:t>
            </a:r>
          </a:p>
          <a:p>
            <a:r>
              <a:t>The chasing ghosts keep the arcade rule on purpose. Their wrong turns give the player room to escape.</a:t>
            </a:r>
          </a:p>
          <a:p>
            <a:r>
              <a:t>EatenState always uses ShortestPath, and lost a flag (_enteringHouse) because the search finds the door.</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Pacman3 and Pacman4 side by side, then run Pacman4.</a:t>
            </a:r>
          </a:p>
          <a:p>
            <a:r>
              <a:t>- Routing/: IRouteStrategy, NearestTile, ShortestPath, Pathfinder</a:t>
            </a:r>
          </a:p>
          <a:p>
            <a:r>
              <a:t>- Ghost.Closest moved into NearestTile</a:t>
            </a:r>
          </a:p>
          <a:p>
            <a:r>
              <a:t>- eat a ghost and watch the eyes go straight home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Pacman5. The new mode is the Frozen mode from the enum task, now as a state: ask them to compare the classes they changed with the seven switches. Test first for the new ghost.</a:t>
            </a:r>
          </a:p>
          <a:p>
            <a:r>
              <a:t>The fifth ghost (green) and a cherry are drawn in sprites.png but not in the XML: describing them is part of the exercise.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 Id="rId3" Type="http://schemas.openxmlformats.org/officeDocument/2006/relationships/notesSlide" Target="../notesSlides/notesSlide2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4" Type="http://schemas.openxmlformats.org/officeDocument/2006/relationships/image" Target="../media/image2.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5-pacma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05: Pac-Man</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Pac-Man</a:t>
            </a:r>
            <a:endParaRPr/>
          </a:p>
        </p:txBody>
      </p:sp>
      <p:pic>
        <p:nvPicPr>
          <p:cNvPr id="3" name="Picture 2" descr="pac-man.png"/>
          <p:cNvPicPr>
            <a:picLocks noChangeAspect="1"/>
          </p:cNvPicPr>
          <p:nvPr/>
        </p:nvPicPr>
        <p:blipFill>
          <a:blip r:embed="rId2"/>
          <a:stretch>
            <a:fillRect/>
          </a:stretch>
        </p:blipFill>
        <p:spPr>
          <a:xfrm>
            <a:off x="3149600" y="960120"/>
            <a:ext cx="2844800"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Pac-Man (Namco, 1980). Image: Bandai Namco Entertainment America, CC BY 3.0, via Wikimedia Commons.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pac-man.gif"/>
          <p:cNvPicPr>
            <a:picLocks noChangeAspect="1"/>
          </p:cNvPicPr>
          <p:nvPr/>
        </p:nvPicPr>
        <p:blipFill>
          <a:blip r:embed="rId4"/>
          <a:stretch>
            <a:fillRect/>
          </a:stretch>
        </p:blipFill>
        <p:spPr>
          <a:xfrm>
            <a:off x="3101255" y="1531275"/>
            <a:ext cx="2941488" cy="32566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The State pattern</a:t>
            </a:r>
            <a:endParaRPr/>
          </a:p>
          <a:p>
            <a:pPr indent="-330200" lvl="0" marL="457200" rtl="0" algn="l">
              <a:spcBef>
                <a:spcPts val="0"/>
              </a:spcBef>
              <a:spcAft>
                <a:spcPts val="0"/>
              </a:spcAft>
              <a:buSzPts val="1600"/>
              <a:buChar char="●"/>
            </a:pPr>
            <a:r>
              <a:rPr lang="en"/>
              <a:t>The Maze</a:t>
            </a:r>
            <a:endParaRPr/>
          </a:p>
          <a:p>
            <a:pPr indent="-330200" lvl="0" marL="457200" rtl="0" algn="l">
              <a:spcBef>
                <a:spcPts val="0"/>
              </a:spcBef>
              <a:spcAft>
                <a:spcPts val="0"/>
              </a:spcAft>
              <a:buSzPts val="1600"/>
              <a:buChar char="●"/>
            </a:pPr>
            <a:r>
              <a:rPr lang="en"/>
              <a:t>Ghosts With an Enum</a:t>
            </a:r>
            <a:endParaRPr/>
          </a:p>
          <a:p>
            <a:pPr indent="-330200" lvl="0" marL="457200" rtl="0" algn="l">
              <a:spcBef>
                <a:spcPts val="0"/>
              </a:spcBef>
              <a:spcAft>
                <a:spcPts val="0"/>
              </a:spcAft>
              <a:buSzPts val="1600"/>
              <a:buChar char="●"/>
            </a:pPr>
            <a:r>
              <a:rPr lang="en"/>
              <a:t>The State Pattern</a:t>
            </a:r>
            <a:endParaRPr/>
          </a:p>
          <a:p>
            <a:pPr indent="-330200" lvl="0" marL="457200" rtl="0" algn="l">
              <a:spcBef>
                <a:spcPts val="0"/>
              </a:spcBef>
              <a:spcAft>
                <a:spcPts val="0"/>
              </a:spcAft>
              <a:buSzPts val="1600"/>
              <a:buChar char="●"/>
            </a:pPr>
            <a:r>
              <a:rPr lang="en"/>
              <a:t>The Strategy Pattern</a:t>
            </a:r>
            <a:endParaRPr/>
          </a:p>
          <a:p>
            <a:pPr indent="-330200" lvl="0" marL="457200" rtl="0" algn="l">
              <a:spcBef>
                <a:spcPts val="0"/>
              </a:spcBef>
              <a:spcAft>
                <a:spcPts val="0"/>
              </a:spcAft>
              <a:buSzPts val="1600"/>
              <a:buChar char="●"/>
            </a:pPr>
            <a:r>
              <a:rPr lang="en"/>
              <a:t>State vs. Strategy</a:t>
            </a:r>
            <a:endParaRPr/>
          </a:p>
          <a:p>
            <a:pPr indent="-330200" lvl="0" marL="457200" rtl="0" algn="l">
              <a:spcBef>
                <a:spcPts val="0"/>
              </a:spcBef>
              <a:spcAft>
                <a:spcPts val="0"/>
              </a:spcAft>
              <a:buSzPts val="1600"/>
              <a:buChar char="●"/>
            </a:pPr>
            <a:r>
              <a:rPr lang="en"/>
              <a:t>Finding a Path</a:t>
            </a:r>
            <a:endParaRPr/>
          </a:p>
          <a:p>
            <a:pPr indent="-330200" lvl="0" marL="457200" rtl="0" algn="l">
              <a:spcBef>
                <a:spcPts val="0"/>
              </a:spcBef>
              <a:spcAft>
                <a:spcPts val="0"/>
              </a:spcAft>
              <a:buSzPts val="1600"/>
              <a:buChar char="●"/>
            </a:pPr>
            <a:r>
              <a:rPr lang="en"/>
              <a:t>Testing the Ghosts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05-pac-man</a:t>
            </a:r>
            <a:endParaRPr/>
          </a:p>
          <a:p>
            <a:pPr indent="-330200" lvl="0" marL="457200" rtl="0" algn="l">
              <a:spcBef>
                <a:spcPts val="0"/>
              </a:spcBef>
              <a:spcAft>
                <a:spcPts val="0"/>
              </a:spcAft>
              <a:buSzPts val="1600"/>
              <a:buChar char="●"/>
            </a:pPr>
            <a:r>
              <a:rPr lang="en"/>
              <a:t>Its README: the steps (Pacman0 to Pacman5, and Pacman.Tests),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Maze</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text file, like Sokoban’s levels</a:t>
            </a:r>
            <a:endParaRPr/>
          </a:p>
          <a:p>
            <a:pPr indent="-317500" lvl="1" marL="914400" rtl="0" algn="l">
              <a:buClr>
                <a:srgbClr val="6C757D"/>
              </a:buClr>
              <a:spcBef>
                <a:spcPts val="0"/>
              </a:spcBef>
              <a:spcAft>
                <a:spcPts val="0"/>
              </a:spcAft>
              <a:buSzPts val="1400"/>
              <a:buChar char="○"/>
            </a:pPr>
            <a:r>
              <a:rPr lang="en" sz="1400">
                <a:solidFill>
                  <a:srgbClr val="6C757D"/>
                </a:solidFill>
              </a:rPr>
              <a:t># wall   . dot   o power pellet</a:t>
            </a:r>
            <a:endParaRPr/>
          </a:p>
          <a:p>
            <a:pPr indent="-317500" lvl="1" marL="914400" rtl="0" algn="l">
              <a:buClr>
                <a:srgbClr val="6C757D"/>
              </a:buClr>
              <a:spcBef>
                <a:spcPts val="0"/>
              </a:spcBef>
              <a:spcAft>
                <a:spcPts val="0"/>
              </a:spcAft>
              <a:buSzPts val="1400"/>
              <a:buChar char="○"/>
            </a:pPr>
            <a:r>
              <a:rPr lang="en" sz="1400">
                <a:solidFill>
                  <a:srgbClr val="6C757D"/>
                </a:solidFill>
              </a:rPr>
              <a:t>- house door   H inside the house</a:t>
            </a:r>
            <a:endParaRPr/>
          </a:p>
          <a:p>
            <a:pPr indent="-317500" lvl="1" marL="914400" rtl="0" algn="l">
              <a:buClr>
                <a:srgbClr val="6C757D"/>
              </a:buClr>
              <a:spcBef>
                <a:spcPts val="0"/>
              </a:spcBef>
              <a:spcAft>
                <a:spcPts val="0"/>
              </a:spcAft>
              <a:buSzPts val="1400"/>
              <a:buChar char="○"/>
            </a:pPr>
            <a:r>
              <a:rPr lang="en" sz="1400">
                <a:solidFill>
                  <a:srgbClr val="6C757D"/>
                </a:solidFill>
              </a:rPr>
              <a:t>P Pac-Man   b p i c the ghosts</a:t>
            </a:r>
            <a:endParaRPr/>
          </a:p>
          <a:p>
            <a:pPr indent="-330200" lvl="0" marL="457200" rtl="0" algn="l">
              <a:buClr>
                <a:srgbClr val="DEE2E6"/>
              </a:buClr>
              <a:spcBef>
                <a:spcPts val="0"/>
              </a:spcBef>
              <a:spcAft>
                <a:spcPts val="0"/>
              </a:spcAft>
              <a:buSzPts val="1600"/>
              <a:buChar char="●"/>
            </a:pPr>
            <a:r>
              <a:rPr lang="en" sz="1600">
                <a:solidFill>
                  <a:srgbClr val="DEE2E6"/>
                </a:solidFill>
              </a:rPr>
              <a:t>A row open at both ends is a tunnel</a:t>
            </a:r>
            <a:endParaRPr/>
          </a:p>
          <a:p>
            <a:pPr indent="-330200" lvl="0" marL="457200" rtl="0" algn="l">
              <a:buClr>
                <a:srgbClr val="DEE2E6"/>
              </a:buClr>
              <a:spcBef>
                <a:spcPts val="0"/>
              </a:spcBef>
              <a:spcAft>
                <a:spcPts val="0"/>
              </a:spcAft>
              <a:buSzPts val="1600"/>
              <a:buChar char="●"/>
            </a:pPr>
            <a:r>
              <a:rPr lang="en" sz="1600">
                <a:solidFill>
                  <a:srgbClr val="DEE2E6"/>
                </a:solidFill>
              </a:rPr>
              <a:t>Rules apart from drawing, as in Sokoban</a:t>
            </a:r>
            <a:endParaRPr/>
          </a:p>
          <a:p>
            <a:pPr indent="-317500" lvl="1" marL="914400" rtl="0" algn="l">
              <a:buClr>
                <a:srgbClr val="6C757D"/>
              </a:buClr>
              <a:spcBef>
                <a:spcPts val="0"/>
              </a:spcBef>
              <a:spcAft>
                <a:spcPts val="0"/>
              </a:spcAft>
              <a:buSzPts val="1400"/>
              <a:buChar char="○"/>
            </a:pPr>
            <a:r>
              <a:rPr lang="en" sz="1400">
                <a:solidFill>
                  <a:srgbClr val="6C757D"/>
                </a:solidFill>
              </a:rPr>
              <a:t>Maze, PacMan, World: the game</a:t>
            </a:r>
            <a:endParaRPr/>
          </a:p>
          <a:p>
            <a:pPr indent="-317500" lvl="1" marL="914400" rtl="0" algn="l">
              <a:buClr>
                <a:srgbClr val="6C757D"/>
              </a:buClr>
              <a:spcBef>
                <a:spcPts val="0"/>
              </a:spcBef>
              <a:spcAft>
                <a:spcPts val="0"/>
              </a:spcAft>
              <a:buSzPts val="1400"/>
              <a:buChar char="○"/>
            </a:pPr>
            <a:r>
              <a:rPr lang="en" sz="1400">
                <a:solidFill>
                  <a:srgbClr val="6C757D"/>
                </a:solidFill>
              </a:rPr>
              <a:t>MazeView, PacManView: the drawing</a:t>
            </a:r>
            <a:endParaRPr/>
          </a:p>
          <a:p>
            <a:pPr indent="-330200" lvl="0" marL="457200" rtl="0" algn="l">
              <a:buClr>
                <a:srgbClr val="DEE2E6"/>
              </a:buClr>
              <a:spcBef>
                <a:spcPts val="0"/>
              </a:spcBef>
              <a:spcAft>
                <a:spcPts val="0"/>
              </a:spcAft>
              <a:buSzPts val="1600"/>
              <a:buChar char="●"/>
            </a:pPr>
            <a:r>
              <a:rPr lang="en" sz="1600">
                <a:solidFill>
                  <a:srgbClr val="DEE2E6"/>
                </a:solidFill>
              </a:rPr>
              <a:t>The walls are drawn as lines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#####.###.##.#HHHHHHHH#.##.###.#####</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.....##.#HiHpHHcH#.##.....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Moving Through the Maze</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From tile centre to tile centre</a:t>
            </a:r>
            <a:endParaRPr/>
          </a:p>
          <a:p>
            <a:pPr indent="-317500" lvl="1" marL="914400" rtl="0" algn="l">
              <a:buClr>
                <a:srgbClr val="6C757D"/>
              </a:buClr>
              <a:spcBef>
                <a:spcPts val="0"/>
              </a:spcBef>
              <a:spcAft>
                <a:spcPts val="0"/>
              </a:spcAft>
              <a:buSzPts val="1400"/>
              <a:buChar char="○"/>
            </a:pPr>
            <a:r>
              <a:rPr lang="en" sz="1400">
                <a:solidFill>
                  <a:srgbClr val="6C757D"/>
                </a:solidFill>
              </a:rPr>
              <a:t>Turning only at a centre</a:t>
            </a:r>
            <a:endParaRPr/>
          </a:p>
          <a:p>
            <a:pPr indent="-330200" lvl="0" marL="457200" rtl="0" algn="l">
              <a:buClr>
                <a:srgbClr val="DEE2E6"/>
              </a:buClr>
              <a:spcBef>
                <a:spcPts val="0"/>
              </a:spcBef>
              <a:spcAft>
                <a:spcPts val="0"/>
              </a:spcAft>
              <a:buSzPts val="1600"/>
              <a:buChar char="●"/>
            </a:pPr>
            <a:r>
              <a:rPr lang="en" sz="1600">
                <a:solidFill>
                  <a:srgbClr val="DEE2E6"/>
                </a:solidFill>
              </a:rPr>
              <a:t>Actor: shared by Pac-Man and the ghosts</a:t>
            </a:r>
            <a:endParaRPr/>
          </a:p>
          <a:p>
            <a:pPr indent="-317500" lvl="1" marL="914400" rtl="0" algn="l">
              <a:buClr>
                <a:srgbClr val="6C757D"/>
              </a:buClr>
              <a:spcBef>
                <a:spcPts val="0"/>
              </a:spcBef>
              <a:spcAft>
                <a:spcPts val="0"/>
              </a:spcAft>
              <a:buSzPts val="1400"/>
              <a:buChar char="○"/>
            </a:pPr>
            <a:r>
              <a:rPr lang="en" sz="1400">
                <a:solidFill>
                  <a:srgbClr val="6C757D"/>
                </a:solidFill>
              </a:rPr>
              <a:t>They differ only in ChooseDirection</a:t>
            </a:r>
            <a:endParaRPr/>
          </a:p>
          <a:p>
            <a:pPr indent="-330200" lvl="0" marL="457200" rtl="0" algn="l">
              <a:buClr>
                <a:srgbClr val="DEE2E6"/>
              </a:buClr>
              <a:spcBef>
                <a:spcPts val="0"/>
              </a:spcBef>
              <a:spcAft>
                <a:spcPts val="0"/>
              </a:spcAft>
              <a:buSzPts val="1600"/>
              <a:buChar char="●"/>
            </a:pPr>
            <a:r>
              <a:rPr lang="en" sz="1600">
                <a:solidFill>
                  <a:srgbClr val="DEE2E6"/>
                </a:solidFill>
              </a:rPr>
              <a:t>Wanted is kept until Pac-Man can turn</a:t>
            </a:r>
            <a:endParaRPr/>
          </a:p>
          <a:p>
            <a:pPr indent="-317500" lvl="1" marL="914400" rtl="0" algn="l">
              <a:buClr>
                <a:srgbClr val="6C757D"/>
              </a:buClr>
              <a:spcBef>
                <a:spcPts val="0"/>
              </a:spcBef>
              <a:spcAft>
                <a:spcPts val="0"/>
              </a:spcAft>
              <a:buSzPts val="1400"/>
              <a:buChar char="○"/>
            </a:pPr>
            <a:r>
              <a:rPr lang="en" sz="1400">
                <a:solidFill>
                  <a:srgbClr val="6C757D"/>
                </a:solidFill>
              </a:rPr>
              <a:t>Input buffering, as in Snake</a:t>
            </a:r>
            <a:endParaRPr/>
          </a:p>
          <a:p>
            <a:pPr indent="-317500" lvl="1" marL="914400" rtl="0" algn="l">
              <a:buClr>
                <a:srgbClr val="6C757D"/>
              </a:buClr>
              <a:spcBef>
                <a:spcPts val="0"/>
              </a:spcBef>
              <a:spcAft>
                <a:spcPts val="0"/>
              </a:spcAft>
              <a:buSzPts val="1400"/>
              <a:buChar char="○"/>
            </a:pPr>
            <a:r>
              <a:rPr lang="en" sz="1400">
                <a:solidFill>
                  <a:srgbClr val="6C757D"/>
                </a:solidFill>
              </a:rPr>
              <a:t>Press up before the corner: he turns there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Actor.Move, at a tile centre: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Heading = ChooseDirection(_target);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PacMan.cs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protected override Point ChooseDirection(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tile)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(Wanted != Direction.None &amp;&amp;</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!Maze.BlocksPacMan(tile + Wanted))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Wanted;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(!Maze.BlocksPacMan(tile + Heading))</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Heading;</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Direction.None;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Maze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Pacman0: the maze, Pac-Man and the dots</a:t>
            </a:r>
            <a:endParaRPr sz="18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Change the Maze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maze.txt:</a:t>
            </a:r>
            <a:endParaRPr/>
          </a:p>
          <a:p>
            <a:pPr indent="-330200" lvl="0" marL="457200" rtl="0" algn="l">
              <a:spcBef>
                <a:spcPts val="0"/>
              </a:spcBef>
              <a:spcAft>
                <a:spcPts val="0"/>
              </a:spcAft>
              <a:buSzPts val="1600"/>
              <a:buChar char="●"/>
            </a:pPr>
            <a:r>
              <a:rPr lang="en"/>
              <a:t>Open a new tunnel, or move Pac-Man’s start</a:t>
            </a:r>
            <a:endParaRPr/>
          </a:p>
          <a:p>
            <a:pPr indent="-330200" lvl="0" marL="457200" rtl="0" algn="l">
              <a:spcBef>
                <a:spcPts val="0"/>
              </a:spcBef>
              <a:spcAft>
                <a:spcPts val="0"/>
              </a:spcAft>
              <a:buSzPts val="1600"/>
              <a:buChar char="●"/>
            </a:pPr>
            <a:r>
              <a:rPr lang="en"/>
              <a:t>Then press a direction just before a corner</a:t>
            </a:r>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Five Ghost Modes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Every ghost is always in one of five modes. The mode decides where it heads.</a:t>
            </a:r>
            <a:endParaRPr/>
          </a:p>
        </p:txBody>
      </p:sp>
      <p:sp>
        <p:nvSpPr>
          <p:cNvPr id="295" name="Rounded Rectangle 294"/>
          <p:cNvSpPr/>
          <p:nvPr/>
        </p:nvSpPr>
        <p:spPr>
          <a:xfrm>
            <a:off x="365760" y="1828800"/>
            <a:ext cx="146304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In the house</a:t>
            </a:r>
          </a:p>
          <a:p>
            <a:pPr algn="ctr"/>
            <a:r>
              <a:rPr sz="1200" b="0">
                <a:solidFill>
                  <a:srgbClr val="9AA3AB"/>
                </a:solidFill>
              </a:rPr>
              <a:t>waits</a:t>
            </a:r>
          </a:p>
        </p:txBody>
      </p:sp>
      <p:sp>
        <p:nvSpPr>
          <p:cNvPr id="296" name="Rounded Rectangle 295"/>
          <p:cNvSpPr/>
          <p:nvPr/>
        </p:nvSpPr>
        <p:spPr>
          <a:xfrm>
            <a:off x="2468880" y="1325880"/>
            <a:ext cx="146304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Scatter</a:t>
            </a:r>
          </a:p>
          <a:p>
            <a:pPr algn="ctr"/>
            <a:r>
              <a:rPr sz="1200" b="0">
                <a:solidFill>
                  <a:srgbClr val="9AA3AB"/>
                </a:solidFill>
              </a:rPr>
              <a:t>its corner</a:t>
            </a:r>
          </a:p>
        </p:txBody>
      </p:sp>
      <p:sp>
        <p:nvSpPr>
          <p:cNvPr id="297" name="Rounded Rectangle 296"/>
          <p:cNvSpPr/>
          <p:nvPr/>
        </p:nvSpPr>
        <p:spPr>
          <a:xfrm>
            <a:off x="2468880" y="2331720"/>
            <a:ext cx="146304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Chase</a:t>
            </a:r>
          </a:p>
          <a:p>
            <a:pPr algn="ctr"/>
            <a:r>
              <a:rPr sz="1200" b="0">
                <a:solidFill>
                  <a:srgbClr val="9AA3AB"/>
                </a:solidFill>
              </a:rPr>
              <a:t>Pac-Man</a:t>
            </a:r>
          </a:p>
        </p:txBody>
      </p:sp>
      <p:sp>
        <p:nvSpPr>
          <p:cNvPr id="298" name="Rounded Rectangle 297"/>
          <p:cNvSpPr/>
          <p:nvPr/>
        </p:nvSpPr>
        <p:spPr>
          <a:xfrm>
            <a:off x="4846320" y="182880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Frightened</a:t>
            </a:r>
          </a:p>
          <a:p>
            <a:pPr algn="ctr"/>
            <a:r>
              <a:rPr sz="1200" b="0">
                <a:solidFill>
                  <a:srgbClr val="9AA3AB"/>
                </a:solidFill>
              </a:rPr>
              <a:t>blue, random</a:t>
            </a:r>
          </a:p>
        </p:txBody>
      </p:sp>
      <p:sp>
        <p:nvSpPr>
          <p:cNvPr id="299" name="Rounded Rectangle 298"/>
          <p:cNvSpPr/>
          <p:nvPr/>
        </p:nvSpPr>
        <p:spPr>
          <a:xfrm>
            <a:off x="7132320" y="1828800"/>
            <a:ext cx="146304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Eaten</a:t>
            </a:r>
          </a:p>
          <a:p>
            <a:pPr algn="ctr"/>
            <a:r>
              <a:rPr sz="1200" b="0">
                <a:solidFill>
                  <a:srgbClr val="9AA3AB"/>
                </a:solidFill>
              </a:rPr>
              <a:t>eyes go home</a:t>
            </a:r>
          </a:p>
        </p:txBody>
      </p:sp>
      <p:cxnSp>
        <p:nvCxnSpPr>
          <p:cNvPr id="300" name="Connector 299"/>
          <p:cNvCxnSpPr/>
          <p:nvPr/>
        </p:nvCxnSpPr>
        <p:spPr>
          <a:xfrm flipV="1">
            <a:off x="1847088" y="1691640"/>
            <a:ext cx="603504" cy="32004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3108960" y="1984248"/>
            <a:ext cx="0" cy="32918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flipV="1">
            <a:off x="3291840" y="1984248"/>
            <a:ext cx="0" cy="32918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3" name="TextBox 302"/>
          <p:cNvSpPr txBox="1"/>
          <p:nvPr/>
        </p:nvSpPr>
        <p:spPr>
          <a:xfrm>
            <a:off x="3429000" y="2011680"/>
            <a:ext cx="1097280" cy="274320"/>
          </a:xfrm>
          <a:prstGeom prst="rect">
            <a:avLst/>
          </a:prstGeom>
          <a:noFill/>
        </p:spPr>
        <p:txBody>
          <a:bodyPr wrap="square">
            <a:spAutoFit/>
          </a:bodyPr>
          <a:lstStyle/>
          <a:p>
            <a:pPr algn="l"/>
            <a:r>
              <a:rPr sz="1100" b="0" i="0">
                <a:solidFill>
                  <a:srgbClr val="9AA3AB"/>
                </a:solidFill>
              </a:rPr>
              <a:t>schedule</a:t>
            </a:r>
          </a:p>
        </p:txBody>
      </p:sp>
      <p:cxnSp>
        <p:nvCxnSpPr>
          <p:cNvPr id="304" name="Connector 303"/>
          <p:cNvCxnSpPr/>
          <p:nvPr/>
        </p:nvCxnSpPr>
        <p:spPr>
          <a:xfrm flipV="1">
            <a:off x="3950208" y="2331720"/>
            <a:ext cx="877824" cy="32004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5" name="TextBox 304"/>
          <p:cNvSpPr txBox="1"/>
          <p:nvPr/>
        </p:nvSpPr>
        <p:spPr>
          <a:xfrm>
            <a:off x="3977639" y="2560320"/>
            <a:ext cx="1097280" cy="274320"/>
          </a:xfrm>
          <a:prstGeom prst="rect">
            <a:avLst/>
          </a:prstGeom>
          <a:noFill/>
        </p:spPr>
        <p:txBody>
          <a:bodyPr wrap="square">
            <a:spAutoFit/>
          </a:bodyPr>
          <a:lstStyle/>
          <a:p>
            <a:pPr algn="l"/>
            <a:r>
              <a:rPr sz="1100" b="0" i="0">
                <a:solidFill>
                  <a:srgbClr val="9AA3AB"/>
                </a:solidFill>
              </a:rPr>
              <a:t>power pellet</a:t>
            </a:r>
          </a:p>
        </p:txBody>
      </p:sp>
      <p:cxnSp>
        <p:nvCxnSpPr>
          <p:cNvPr id="306" name="Connector 305"/>
          <p:cNvCxnSpPr/>
          <p:nvPr/>
        </p:nvCxnSpPr>
        <p:spPr>
          <a:xfrm>
            <a:off x="6510528" y="2148840"/>
            <a:ext cx="60350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7" name="TextBox 306"/>
          <p:cNvSpPr txBox="1"/>
          <p:nvPr/>
        </p:nvSpPr>
        <p:spPr>
          <a:xfrm>
            <a:off x="6327648" y="1856232"/>
            <a:ext cx="969264" cy="274320"/>
          </a:xfrm>
          <a:prstGeom prst="rect">
            <a:avLst/>
          </a:prstGeom>
          <a:noFill/>
        </p:spPr>
        <p:txBody>
          <a:bodyPr wrap="square">
            <a:spAutoFit/>
          </a:bodyPr>
          <a:lstStyle/>
          <a:p>
            <a:pPr algn="ctr"/>
            <a:r>
              <a:rPr sz="1100" b="0" i="0">
                <a:solidFill>
                  <a:srgbClr val="9AA3AB"/>
                </a:solidFill>
              </a:rPr>
              <a:t>touched</a:t>
            </a:r>
          </a:p>
        </p:txBody>
      </p:sp>
      <p:sp>
        <p:nvSpPr>
          <p:cNvPr id="308" name="TextBox 307"/>
          <p:cNvSpPr txBox="1"/>
          <p:nvPr/>
        </p:nvSpPr>
        <p:spPr>
          <a:xfrm>
            <a:off x="365760" y="3200400"/>
            <a:ext cx="8229600" cy="548640"/>
          </a:xfrm>
          <a:prstGeom prst="rect">
            <a:avLst/>
          </a:prstGeom>
          <a:noFill/>
        </p:spPr>
        <p:txBody>
          <a:bodyPr wrap="square">
            <a:spAutoFit/>
          </a:bodyPr>
          <a:lstStyle/>
          <a:p>
            <a:pPr algn="ctr"/>
            <a:r>
              <a:rPr sz="1500" b="1" i="0">
                <a:solidFill>
                  <a:srgbClr val="DEE2E6"/>
                </a:solidFill>
              </a:rPr>
              <a:t>At each tile centre: never turn back, and take the direction closest to a target tile.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Ghosts With an Enum</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GhostMode: InHouse, Scatter, Chase, Frightened, Eaten</a:t>
            </a:r>
            <a:endParaRPr/>
          </a:p>
          <a:p>
            <a:pPr indent="-330200" lvl="0" marL="457200" rtl="0" algn="l">
              <a:buClr>
                <a:srgbClr val="DEE2E6"/>
              </a:buClr>
              <a:spcBef>
                <a:spcPts val="0"/>
              </a:spcBef>
              <a:spcAft>
                <a:spcPts val="0"/>
              </a:spcAft>
              <a:buSzPts val="1600"/>
              <a:buChar char="●"/>
            </a:pPr>
            <a:r>
              <a:rPr lang="en" sz="1600">
                <a:solidFill>
                  <a:srgbClr val="DEE2E6"/>
                </a:solidFill>
              </a:rPr>
              <a:t>Every method switches over the mode</a:t>
            </a:r>
            <a:endParaRPr/>
          </a:p>
          <a:p>
            <a:pPr indent="-317500" lvl="1" marL="914400" rtl="0" algn="l">
              <a:buClr>
                <a:srgbClr val="6C757D"/>
              </a:buClr>
              <a:spcBef>
                <a:spcPts val="0"/>
              </a:spcBef>
              <a:spcAft>
                <a:spcPts val="0"/>
              </a:spcAft>
              <a:buSzPts val="1400"/>
              <a:buChar char="○"/>
            </a:pPr>
            <a:r>
              <a:rPr lang="en" sz="1400">
                <a:solidFill>
                  <a:srgbClr val="6C757D"/>
                </a:solidFill>
              </a:rPr>
              <a:t>Update, ChooseDirection, OnPowerPellet, Touch, Look, SetMode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Update(float 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switch (Mode)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case GhostMode.InHouse: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_houseTimer += 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(_houseTimer &lt; _releaseDelay)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Move(HouseSpeed * 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(!Maze.IsInHouse(Tile))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SetMode(ScheduledMode());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break;</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case GhostMode.Scatter: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case GhostMode.Chase: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Move(Speed * 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break;</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Frightened, Eaten…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Problems With the Enum</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sixth mode: a short pause when a ghost is eaten. What do you change?</a:t>
            </a:r>
            <a:endParaRPr/>
          </a:p>
        </p:txBody>
      </p:sp>
      <p:sp>
        <p:nvSpPr>
          <p:cNvPr id="295" name="Rounded Rectangle 294"/>
          <p:cNvSpPr/>
          <p:nvPr/>
        </p:nvSpPr>
        <p:spPr>
          <a:xfrm>
            <a:off x="411480" y="1463040"/>
            <a:ext cx="128016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switch in</a:t>
            </a:r>
          </a:p>
          <a:p>
            <a:pPr algn="ctr"/>
            <a:r>
              <a:rPr sz="1100" b="0">
                <a:solidFill>
                  <a:srgbClr val="9AA3AB"/>
                </a:solidFill>
              </a:rPr>
              <a:t>Update</a:t>
            </a:r>
          </a:p>
        </p:txBody>
      </p:sp>
      <p:sp>
        <p:nvSpPr>
          <p:cNvPr id="296" name="Rounded Rectangle 295"/>
          <p:cNvSpPr/>
          <p:nvPr/>
        </p:nvSpPr>
        <p:spPr>
          <a:xfrm>
            <a:off x="1810512" y="1463040"/>
            <a:ext cx="128016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switch in</a:t>
            </a:r>
          </a:p>
          <a:p>
            <a:pPr algn="ctr"/>
            <a:r>
              <a:rPr sz="1100" b="0">
                <a:solidFill>
                  <a:srgbClr val="9AA3AB"/>
                </a:solidFill>
              </a:rPr>
              <a:t>ChooseDirection</a:t>
            </a:r>
          </a:p>
        </p:txBody>
      </p:sp>
      <p:sp>
        <p:nvSpPr>
          <p:cNvPr id="297" name="Rounded Rectangle 296"/>
          <p:cNvSpPr/>
          <p:nvPr/>
        </p:nvSpPr>
        <p:spPr>
          <a:xfrm>
            <a:off x="3209544" y="1463040"/>
            <a:ext cx="128016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switch in</a:t>
            </a:r>
          </a:p>
          <a:p>
            <a:pPr algn="ctr"/>
            <a:r>
              <a:rPr sz="1100" b="0">
                <a:solidFill>
                  <a:srgbClr val="9AA3AB"/>
                </a:solidFill>
              </a:rPr>
              <a:t>OnPowerPellet</a:t>
            </a:r>
          </a:p>
        </p:txBody>
      </p:sp>
      <p:sp>
        <p:nvSpPr>
          <p:cNvPr id="298" name="Rounded Rectangle 297"/>
          <p:cNvSpPr/>
          <p:nvPr/>
        </p:nvSpPr>
        <p:spPr>
          <a:xfrm>
            <a:off x="4608576" y="1463040"/>
            <a:ext cx="128016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switch in</a:t>
            </a:r>
          </a:p>
          <a:p>
            <a:pPr algn="ctr"/>
            <a:r>
              <a:rPr sz="1100" b="0">
                <a:solidFill>
                  <a:srgbClr val="9AA3AB"/>
                </a:solidFill>
              </a:rPr>
              <a:t>Touch</a:t>
            </a:r>
          </a:p>
        </p:txBody>
      </p:sp>
      <p:sp>
        <p:nvSpPr>
          <p:cNvPr id="299" name="Rounded Rectangle 298"/>
          <p:cNvSpPr/>
          <p:nvPr/>
        </p:nvSpPr>
        <p:spPr>
          <a:xfrm>
            <a:off x="6007608" y="1463040"/>
            <a:ext cx="128016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switch in</a:t>
            </a:r>
          </a:p>
          <a:p>
            <a:pPr algn="ctr"/>
            <a:r>
              <a:rPr sz="1100" b="0">
                <a:solidFill>
                  <a:srgbClr val="9AA3AB"/>
                </a:solidFill>
              </a:rPr>
              <a:t>Look</a:t>
            </a:r>
          </a:p>
        </p:txBody>
      </p:sp>
      <p:sp>
        <p:nvSpPr>
          <p:cNvPr id="300" name="Rounded Rectangle 299"/>
          <p:cNvSpPr/>
          <p:nvPr/>
        </p:nvSpPr>
        <p:spPr>
          <a:xfrm>
            <a:off x="7406640" y="1463040"/>
            <a:ext cx="128016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switch in</a:t>
            </a:r>
          </a:p>
          <a:p>
            <a:pPr algn="ctr"/>
            <a:r>
              <a:rPr sz="1100" b="0">
                <a:solidFill>
                  <a:srgbClr val="9AA3AB"/>
                </a:solidFill>
              </a:rPr>
              <a:t>SetMode</a:t>
            </a:r>
          </a:p>
        </p:txBody>
      </p:sp>
      <p:sp>
        <p:nvSpPr>
          <p:cNvPr id="301" name="TextBox 300"/>
          <p:cNvSpPr txBox="1"/>
          <p:nvPr/>
        </p:nvSpPr>
        <p:spPr>
          <a:xfrm>
            <a:off x="411480" y="2240280"/>
            <a:ext cx="8321040" cy="1097280"/>
          </a:xfrm>
          <a:prstGeom prst="rect">
            <a:avLst/>
          </a:prstGeom>
          <a:noFill/>
        </p:spPr>
        <p:txBody>
          <a:bodyPr wrap="square">
            <a:spAutoFit/>
          </a:bodyPr>
          <a:lstStyle/>
          <a:p>
            <a:pPr algn="ctr"/>
            <a:r>
              <a:rPr sz="1500" b="0" i="0">
                <a:solidFill>
                  <a:srgbClr val="9AA3AB"/>
                </a:solidFill>
              </a:rPr>
              <a:t>Every switch, and nothing tells you if you miss one.</a:t>
            </a:r>
          </a:p>
          <a:p>
            <a:pPr algn="ctr"/>
            <a:r>
              <a:rPr sz="1500" b="0" i="0">
                <a:solidFill>
                  <a:srgbClr val="9AA3AB"/>
                </a:solidFill>
              </a:rPr>
              <a:t>Fields that belong to one mode live in the ghost all the time.</a:t>
            </a:r>
          </a:p>
          <a:p>
            <a:pPr algn="ctr"/>
            <a:r>
              <a:rPr sz="1500" b="0" i="0">
                <a:solidFill>
                  <a:srgbClr val="9AA3AB"/>
                </a:solidFill>
              </a:rPr>
              <a:t>Pong’s string-based game state, all over again.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Ghosts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Pacman1: four ghosts, their modes as an enum</a:t>
            </a:r>
            <a:endParaRPr sz="18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Frozen Mode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Pacman1, add Frozen to GhostMode:</a:t>
            </a:r>
            <a:endParaRPr/>
          </a:p>
          <a:p>
            <a:pPr indent="-330200" lvl="0" marL="457200" rtl="0" algn="l">
              <a:spcBef>
                <a:spcPts val="0"/>
              </a:spcBef>
              <a:spcAft>
                <a:spcPts val="0"/>
              </a:spcAft>
              <a:buSzPts val="1600"/>
              <a:buChar char="●"/>
            </a:pPr>
            <a:r>
              <a:rPr lang="en"/>
              <a:t>an eaten ghost stands still for a second first</a:t>
            </a:r>
            <a:endParaRPr/>
          </a:p>
          <a:p>
            <a:pPr indent="-330200" lvl="0" marL="457200" rtl="0" algn="l">
              <a:spcBef>
                <a:spcPts val="0"/>
              </a:spcBef>
              <a:spcAft>
                <a:spcPts val="0"/>
              </a:spcAft>
              <a:buSzPts val="1600"/>
              <a:buChar char="●"/>
            </a:pPr>
            <a:r>
              <a:rPr lang="en"/>
              <a:t>Don’t finish it. Count the switches you would have to change</a:t>
            </a:r>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State Pattern</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“Allow an object to alter its behavior when its internal state changes.”</a:t>
            </a:r>
            <a:endParaRPr/>
          </a:p>
          <a:p>
            <a:pPr indent="-330200" lvl="0" marL="457200" rtl="0" algn="l">
              <a:buClr>
                <a:srgbClr val="DEE2E6"/>
              </a:buClr>
              <a:spcBef>
                <a:spcPts val="0"/>
              </a:spcBef>
              <a:spcAft>
                <a:spcPts val="0"/>
              </a:spcAft>
              <a:buSzPts val="1600"/>
              <a:buChar char="●"/>
            </a:pPr>
            <a:r>
              <a:rPr lang="en" sz="1600">
                <a:solidFill>
                  <a:srgbClr val="DEE2E6"/>
                </a:solidFill>
              </a:rPr>
              <a:t>Each mode becomes a class</a:t>
            </a:r>
            <a:endParaRPr/>
          </a:p>
          <a:p>
            <a:pPr indent="-317500" lvl="1" marL="914400" rtl="0" algn="l">
              <a:buClr>
                <a:srgbClr val="6C757D"/>
              </a:buClr>
              <a:spcBef>
                <a:spcPts val="0"/>
              </a:spcBef>
              <a:spcAft>
                <a:spcPts val="0"/>
              </a:spcAft>
              <a:buSzPts val="1400"/>
              <a:buChar char="○"/>
            </a:pPr>
            <a:r>
              <a:rPr lang="en" sz="1400">
                <a:solidFill>
                  <a:srgbClr val="6C757D"/>
                </a:solidFill>
              </a:rPr>
              <a:t>InHouseState, ScatterState, ChaseState, FrightenedState, EatenState</a:t>
            </a:r>
            <a:endParaRPr/>
          </a:p>
          <a:p>
            <a:pPr indent="-330200" lvl="0" marL="457200" rtl="0" algn="l">
              <a:buClr>
                <a:srgbClr val="DEE2E6"/>
              </a:buClr>
              <a:spcBef>
                <a:spcPts val="0"/>
              </a:spcBef>
              <a:spcAft>
                <a:spcPts val="0"/>
              </a:spcAft>
              <a:buSzPts val="1600"/>
              <a:buChar char="●"/>
            </a:pPr>
            <a:r>
              <a:rPr lang="en" sz="1600">
                <a:solidFill>
                  <a:srgbClr val="DEE2E6"/>
                </a:solidFill>
              </a:rPr>
              <a:t>The ghost forwards to its current state</a:t>
            </a:r>
            <a:endParaRPr/>
          </a:p>
          <a:p>
            <a:pPr indent="-330200" lvl="0" marL="457200" rtl="0" algn="l">
              <a:buClr>
                <a:srgbClr val="DEE2E6"/>
              </a:buClr>
              <a:spcBef>
                <a:spcPts val="0"/>
              </a:spcBef>
              <a:spcAft>
                <a:spcPts val="0"/>
              </a:spcAft>
              <a:buSzPts val="1600"/>
              <a:buChar char="●"/>
            </a:pPr>
            <a:r>
              <a:rPr lang="en" sz="1600">
                <a:solidFill>
                  <a:srgbClr val="DEE2E6"/>
                </a:solidFill>
              </a:rPr>
              <a:t>Flappy Bird did this for the game; now for an object in it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ChangeState(GhostState state)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State?.Exit(this);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State = state;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State.Enter(this);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Update(float deltaSeconds)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State.Update(this, 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OnPowerPellet()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State.OnPowerPellet(this);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TouchResult Touch()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State.OnTouch(this);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State: Frightened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Everything about being frightened, in one class</a:t>
            </a:r>
            <a:endParaRPr/>
          </a:p>
          <a:p>
            <a:pPr indent="-317500" lvl="1" marL="914400" rtl="0" algn="l">
              <a:buClr>
                <a:srgbClr val="6C757D"/>
              </a:buClr>
              <a:spcBef>
                <a:spcPts val="0"/>
              </a:spcBef>
              <a:spcAft>
                <a:spcPts val="0"/>
              </a:spcAft>
              <a:buSzPts val="1400"/>
              <a:buChar char="○"/>
            </a:pPr>
            <a:r>
              <a:rPr lang="en" sz="1400">
                <a:solidFill>
                  <a:srgbClr val="6C757D"/>
                </a:solidFill>
              </a:rPr>
              <a:t>Including its own timer</a:t>
            </a:r>
            <a:endParaRPr/>
          </a:p>
          <a:p>
            <a:pPr indent="-330200" lvl="0" marL="457200" rtl="0" algn="l">
              <a:buClr>
                <a:srgbClr val="DEE2E6"/>
              </a:buClr>
              <a:spcBef>
                <a:spcPts val="0"/>
              </a:spcBef>
              <a:spcAft>
                <a:spcPts val="0"/>
              </a:spcAft>
              <a:buSzPts val="1600"/>
              <a:buChar char="●"/>
            </a:pPr>
            <a:r>
              <a:rPr lang="en" sz="1600">
                <a:solidFill>
                  <a:srgbClr val="DEE2E6"/>
                </a:solidFill>
              </a:rPr>
              <a:t>Enter: turn around</a:t>
            </a:r>
            <a:endParaRPr/>
          </a:p>
          <a:p>
            <a:pPr indent="-330200" lvl="0" marL="457200" rtl="0" algn="l">
              <a:buClr>
                <a:srgbClr val="DEE2E6"/>
              </a:buClr>
              <a:spcBef>
                <a:spcPts val="0"/>
              </a:spcBef>
              <a:spcAft>
                <a:spcPts val="0"/>
              </a:spcAft>
              <a:buSzPts val="1600"/>
              <a:buChar char="●"/>
            </a:pPr>
            <a:r>
              <a:rPr lang="en" sz="1600">
                <a:solidFill>
                  <a:srgbClr val="DEE2E6"/>
                </a:solidFill>
              </a:rPr>
              <a:t>The state decides the transitions</a:t>
            </a:r>
            <a:endParaRPr/>
          </a:p>
          <a:p>
            <a:pPr indent="-317500" lvl="1" marL="914400" rtl="0" algn="l">
              <a:buClr>
                <a:srgbClr val="6C757D"/>
              </a:buClr>
              <a:spcBef>
                <a:spcPts val="0"/>
              </a:spcBef>
              <a:spcAft>
                <a:spcPts val="0"/>
              </a:spcAft>
              <a:buSzPts val="1400"/>
              <a:buChar char="○"/>
            </a:pPr>
            <a:r>
              <a:rPr lang="en" sz="1400">
                <a:solidFill>
                  <a:srgbClr val="6C757D"/>
                </a:solidFill>
              </a:rPr>
              <a:t>Time’s up: back to the schedule</a:t>
            </a:r>
            <a:endParaRPr/>
          </a:p>
          <a:p>
            <a:pPr indent="-317500" lvl="1" marL="914400" rtl="0" algn="l">
              <a:buClr>
                <a:srgbClr val="6C757D"/>
              </a:buClr>
              <a:spcBef>
                <a:spcPts val="0"/>
              </a:spcBef>
              <a:spcAft>
                <a:spcPts val="0"/>
              </a:spcAft>
              <a:buSzPts val="1400"/>
              <a:buChar char="○"/>
            </a:pPr>
            <a:r>
              <a:rPr lang="en" sz="1400">
                <a:solidFill>
                  <a:srgbClr val="6C757D"/>
                </a:solidFill>
              </a:rPr>
              <a:t>Touched: eaten</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class FrightenedState : GhostState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private float _elapsed;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override void Enter(Ghost ghost)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ghost.Reverse();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override void Update(Ghost ghost, float dt)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_elapsed += dt;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ghost.Move(Speed * dt);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(_elapsed &gt;= 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ghost.ChangeState(ghost.ScheduledState());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override TouchResult OnTouch(Ghost ghost)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ghost.ChangeState(new EatenState());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TouchResult.GhostEaten;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What Changed?</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states decide the transitions; the ghost only forwards to its state.</a:t>
            </a:r>
            <a:endParaRPr/>
          </a:p>
        </p:txBody>
      </p:sp>
      <p:sp>
        <p:nvSpPr>
          <p:cNvPr id="295" name="Rounded Rectangle 294"/>
          <p:cNvSpPr/>
          <p:nvPr/>
        </p:nvSpPr>
        <p:spPr>
          <a:xfrm>
            <a:off x="411480" y="1463040"/>
            <a:ext cx="26517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One place per mode</a:t>
            </a:r>
          </a:p>
          <a:p>
            <a:pPr algn="ctr"/>
            <a:r>
              <a:rPr sz="1300" b="0">
                <a:solidFill>
                  <a:srgbClr val="9AA3AB"/>
                </a:solidFill>
              </a:rPr>
              <a:t>read a state on its own</a:t>
            </a:r>
          </a:p>
        </p:txBody>
      </p:sp>
      <p:sp>
        <p:nvSpPr>
          <p:cNvPr id="296" name="Rounded Rectangle 295"/>
          <p:cNvSpPr/>
          <p:nvPr/>
        </p:nvSpPr>
        <p:spPr>
          <a:xfrm>
            <a:off x="3246120" y="1463040"/>
            <a:ext cx="26517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Same event, different handling</a:t>
            </a:r>
          </a:p>
          <a:p>
            <a:pPr algn="ctr"/>
            <a:r>
              <a:rPr sz="1300" b="0">
                <a:solidFill>
                  <a:srgbClr val="9AA3AB"/>
                </a:solidFill>
              </a:rPr>
              <a:t>a power pellet: frightened,</a:t>
            </a:r>
          </a:p>
          <a:p>
            <a:pPr algn="ctr"/>
            <a:r>
              <a:rPr sz="1300" b="0">
                <a:solidFill>
                  <a:srgbClr val="9AA3AB"/>
                </a:solidFill>
              </a:rPr>
              <a:t>start over, or ignored</a:t>
            </a:r>
          </a:p>
        </p:txBody>
      </p:sp>
      <p:sp>
        <p:nvSpPr>
          <p:cNvPr id="297" name="Rounded Rectangle 296"/>
          <p:cNvSpPr/>
          <p:nvPr/>
        </p:nvSpPr>
        <p:spPr>
          <a:xfrm>
            <a:off x="6080760" y="1463040"/>
            <a:ext cx="26517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Enter and Exit</a:t>
            </a:r>
          </a:p>
          <a:p>
            <a:pPr algn="ctr"/>
            <a:r>
              <a:rPr sz="1300" b="0">
                <a:solidFill>
                  <a:srgbClr val="9AA3AB"/>
                </a:solidFill>
              </a:rPr>
              <a:t>start and clean up</a:t>
            </a:r>
          </a:p>
          <a:p>
            <a:pPr algn="ctr"/>
            <a:r>
              <a:rPr sz="1300" b="0">
                <a:solidFill>
                  <a:srgbClr val="9AA3AB"/>
                </a:solidFill>
              </a:rPr>
              <a:t>in one place</a:t>
            </a:r>
          </a:p>
        </p:txBody>
      </p:sp>
      <p:sp>
        <p:nvSpPr>
          <p:cNvPr id="298" name="TextBox 297"/>
          <p:cNvSpPr txBox="1"/>
          <p:nvPr/>
        </p:nvSpPr>
        <p:spPr>
          <a:xfrm>
            <a:off x="411480" y="2834640"/>
            <a:ext cx="8321040" cy="365760"/>
          </a:xfrm>
          <a:prstGeom prst="rect">
            <a:avLst/>
          </a:prstGeom>
          <a:noFill/>
        </p:spPr>
        <p:txBody>
          <a:bodyPr wrap="square">
            <a:spAutoFit/>
          </a:bodyPr>
          <a:lstStyle/>
          <a:p>
            <a:pPr algn="ctr"/>
            <a:r>
              <a:rPr sz="1400" b="0" i="0">
                <a:solidFill>
                  <a:srgbClr val="9AA3AB"/>
                </a:solidFill>
              </a:rPr>
              <a:t>Pacman1 → Pacman2: World didn’t change at 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State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Pacman1 → Pacman2: from an enum to state classes</a:t>
            </a:r>
            <a:endParaRPr sz="18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Same Change, With States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Pacman2:</a:t>
            </a:r>
            <a:endParaRPr/>
          </a:p>
          <a:p>
            <a:pPr indent="-330200" lvl="0" marL="457200" rtl="0" algn="l">
              <a:spcBef>
                <a:spcPts val="0"/>
              </a:spcBef>
              <a:spcAft>
                <a:spcPts val="0"/>
              </a:spcAft>
              <a:buSzPts val="1600"/>
              <a:buChar char="●"/>
            </a:pPr>
            <a:r>
              <a:rPr lang="en"/>
              <a:t>Make frightened ghosts last 3 seconds instead of 6</a:t>
            </a:r>
            <a:endParaRPr/>
          </a:p>
          <a:p>
            <a:pPr indent="-330200" lvl="0" marL="457200" rtl="0" algn="l">
              <a:spcBef>
                <a:spcPts val="0"/>
              </a:spcBef>
              <a:spcAft>
                <a:spcPts val="0"/>
              </a:spcAft>
              <a:buSzPts val="1600"/>
              <a:buChar char="●"/>
            </a:pPr>
            <a:r>
              <a:rPr lang="en"/>
              <a:t>How many files did it take?</a:t>
            </a:r>
            <a:endParaRPr/>
          </a:p>
          <a:p>
            <a:pPr indent="-330200" lvl="0" marL="457200" rtl="0" algn="l">
              <a:spcBef>
                <a:spcPts val="0"/>
              </a:spcBef>
              <a:spcAft>
                <a:spcPts val="0"/>
              </a:spcAft>
              <a:buSzPts val="1600"/>
              <a:buChar char="●"/>
            </a:pPr>
            <a:r>
              <a:rPr lang="en"/>
              <a:t>Where would a FrozenState go, and what would change?</a:t>
            </a:r>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Four Personalities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Four personalities, so the ghosts trap Pac-Man instead of lining up behind him.</a:t>
            </a:r>
            <a:endParaRPr/>
          </a:p>
        </p:txBody>
      </p:sp>
      <p:pic>
        <p:nvPicPr>
          <p:cNvPr id="295" name="Picture 303" descr="ghost0.png"/>
          <p:cNvPicPr>
            <a:picLocks noChangeAspect="1"/>
          </p:cNvPicPr>
          <p:nvPr/>
        </p:nvPicPr>
        <p:blipFill>
          <a:blip r:embed="rId7"/>
          <a:stretch>
            <a:fillRect/>
          </a:stretch>
        </p:blipFill>
        <p:spPr>
          <a:xfrm>
            <a:off x="1005840" y="1417320"/>
            <a:ext cx="822960" cy="822960"/>
          </a:xfrm>
          <a:prstGeom prst="rect">
            <a:avLst/>
          </a:prstGeom>
        </p:spPr>
      </p:pic>
      <p:sp>
        <p:nvSpPr>
          <p:cNvPr id="296" name="Rounded Rectangle 295"/>
          <p:cNvSpPr/>
          <p:nvPr/>
        </p:nvSpPr>
        <p:spPr>
          <a:xfrm>
            <a:off x="502920" y="2331720"/>
            <a:ext cx="18288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Blinky</a:t>
            </a:r>
          </a:p>
          <a:p>
            <a:pPr algn="ctr"/>
            <a:r>
              <a:rPr sz="1300" b="0">
                <a:solidFill>
                  <a:srgbClr val="9AA3AB"/>
                </a:solidFill>
              </a:rPr>
              <a:t>Pac-Man’s tile</a:t>
            </a:r>
          </a:p>
        </p:txBody>
      </p:sp>
      <p:pic>
        <p:nvPicPr>
          <p:cNvPr id="297" name="Picture 303" descr="ghost1.png"/>
          <p:cNvPicPr>
            <a:picLocks noChangeAspect="1"/>
          </p:cNvPicPr>
          <p:nvPr/>
        </p:nvPicPr>
        <p:blipFill>
          <a:blip r:embed="rId8"/>
          <a:stretch>
            <a:fillRect/>
          </a:stretch>
        </p:blipFill>
        <p:spPr>
          <a:xfrm>
            <a:off x="3108959" y="1417320"/>
            <a:ext cx="822960" cy="822960"/>
          </a:xfrm>
          <a:prstGeom prst="rect">
            <a:avLst/>
          </a:prstGeom>
        </p:spPr>
      </p:pic>
      <p:sp>
        <p:nvSpPr>
          <p:cNvPr id="298" name="Rounded Rectangle 297"/>
          <p:cNvSpPr/>
          <p:nvPr/>
        </p:nvSpPr>
        <p:spPr>
          <a:xfrm>
            <a:off x="2606039" y="2331720"/>
            <a:ext cx="18288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Pinky</a:t>
            </a:r>
          </a:p>
          <a:p>
            <a:pPr algn="ctr"/>
            <a:r>
              <a:rPr sz="1300" b="0">
                <a:solidFill>
                  <a:srgbClr val="9AA3AB"/>
                </a:solidFill>
              </a:rPr>
              <a:t>4 tiles ahead of him</a:t>
            </a:r>
          </a:p>
        </p:txBody>
      </p:sp>
      <p:pic>
        <p:nvPicPr>
          <p:cNvPr id="299" name="Picture 303" descr="ghost2.png"/>
          <p:cNvPicPr>
            <a:picLocks noChangeAspect="1"/>
          </p:cNvPicPr>
          <p:nvPr/>
        </p:nvPicPr>
        <p:blipFill>
          <a:blip r:embed="rId9"/>
          <a:stretch>
            <a:fillRect/>
          </a:stretch>
        </p:blipFill>
        <p:spPr>
          <a:xfrm>
            <a:off x="5212079" y="1417320"/>
            <a:ext cx="822960" cy="822960"/>
          </a:xfrm>
          <a:prstGeom prst="rect">
            <a:avLst/>
          </a:prstGeom>
        </p:spPr>
      </p:pic>
      <p:sp>
        <p:nvSpPr>
          <p:cNvPr id="300" name="Rounded Rectangle 299"/>
          <p:cNvSpPr/>
          <p:nvPr/>
        </p:nvSpPr>
        <p:spPr>
          <a:xfrm>
            <a:off x="4709159" y="2331720"/>
            <a:ext cx="18288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Inky</a:t>
            </a:r>
          </a:p>
          <a:p>
            <a:pPr algn="ctr"/>
            <a:r>
              <a:rPr sz="1300" b="0">
                <a:solidFill>
                  <a:srgbClr val="9AA3AB"/>
                </a:solidFill>
              </a:rPr>
              <a:t>2 ahead, doubled</a:t>
            </a:r>
          </a:p>
          <a:p>
            <a:pPr algn="ctr"/>
            <a:r>
              <a:rPr sz="1300" b="0">
                <a:solidFill>
                  <a:srgbClr val="9AA3AB"/>
                </a:solidFill>
              </a:rPr>
              <a:t>from Blinky</a:t>
            </a:r>
          </a:p>
        </p:txBody>
      </p:sp>
      <p:pic>
        <p:nvPicPr>
          <p:cNvPr id="301" name="Picture 303" descr="ghost3.png"/>
          <p:cNvPicPr>
            <a:picLocks noChangeAspect="1"/>
          </p:cNvPicPr>
          <p:nvPr/>
        </p:nvPicPr>
        <p:blipFill>
          <a:blip r:embed="rId10"/>
          <a:stretch>
            <a:fillRect/>
          </a:stretch>
        </p:blipFill>
        <p:spPr>
          <a:xfrm>
            <a:off x="7315199" y="1417320"/>
            <a:ext cx="822960" cy="822960"/>
          </a:xfrm>
          <a:prstGeom prst="rect">
            <a:avLst/>
          </a:prstGeom>
        </p:spPr>
      </p:pic>
      <p:sp>
        <p:nvSpPr>
          <p:cNvPr id="302" name="Rounded Rectangle 301"/>
          <p:cNvSpPr/>
          <p:nvPr/>
        </p:nvSpPr>
        <p:spPr>
          <a:xfrm>
            <a:off x="6812279" y="2331720"/>
            <a:ext cx="18288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Clyde</a:t>
            </a:r>
          </a:p>
          <a:p>
            <a:pPr algn="ctr"/>
            <a:r>
              <a:rPr sz="1300" b="0">
                <a:solidFill>
                  <a:srgbClr val="9AA3AB"/>
                </a:solidFill>
              </a:rPr>
              <a:t>Pac-Man, until</a:t>
            </a:r>
          </a:p>
          <a:p>
            <a:pPr algn="ctr"/>
            <a:r>
              <a:rPr sz="1300" b="0">
                <a:solidFill>
                  <a:srgbClr val="9AA3AB"/>
                </a:solidFill>
              </a:rPr>
              <a:t>close: then his corner</a:t>
            </a:r>
          </a:p>
        </p:txBody>
      </p:sp>
      <p:sp>
        <p:nvSpPr>
          <p:cNvPr id="303" name="TextBox 302"/>
          <p:cNvSpPr txBox="1"/>
          <p:nvPr/>
        </p:nvSpPr>
        <p:spPr>
          <a:xfrm>
            <a:off x="457200" y="3520440"/>
            <a:ext cx="8229600" cy="731520"/>
          </a:xfrm>
          <a:prstGeom prst="rect">
            <a:avLst/>
          </a:prstGeom>
          <a:noFill/>
        </p:spPr>
        <p:txBody>
          <a:bodyPr wrap="square">
            <a:spAutoFit/>
          </a:bodyPr>
          <a:lstStyle/>
          <a:p>
            <a:pPr algn="ctr"/>
            <a:r>
              <a:rPr sz="1600" b="1" i="0">
                <a:solidFill>
                  <a:srgbClr val="DEE2E6"/>
                </a:solidFill>
              </a:rPr>
              <a:t>Where does the targeting code go, so every ghost can have its own?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Strategy Pattern</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“Define a family of algorithms, encapsulate each one, and make them interchangeable.”</a:t>
            </a:r>
            <a:endParaRPr/>
          </a:p>
          <a:p>
            <a:pPr indent="-330200" lvl="0" marL="457200" rtl="0" algn="l">
              <a:buClr>
                <a:srgbClr val="DEE2E6"/>
              </a:buClr>
              <a:spcBef>
                <a:spcPts val="0"/>
              </a:spcBef>
              <a:spcAft>
                <a:spcPts val="0"/>
              </a:spcAft>
              <a:buSzPts val="1600"/>
              <a:buChar char="●"/>
            </a:pPr>
            <a:r>
              <a:rPr lang="en" sz="1600">
                <a:solidFill>
                  <a:srgbClr val="DEE2E6"/>
                </a:solidFill>
              </a:rPr>
              <a:t>Each ghost gets its strategy when it’s created</a:t>
            </a:r>
            <a:endParaRPr/>
          </a:p>
          <a:p>
            <a:pPr indent="-330200" lvl="0" marL="457200" rtl="0" algn="l">
              <a:buClr>
                <a:srgbClr val="DEE2E6"/>
              </a:buClr>
              <a:spcBef>
                <a:spcPts val="0"/>
              </a:spcBef>
              <a:spcAft>
                <a:spcPts val="0"/>
              </a:spcAft>
              <a:buSzPts val="1600"/>
              <a:buChar char="●"/>
            </a:pPr>
            <a:r>
              <a:rPr lang="en" sz="1600">
                <a:solidFill>
                  <a:srgbClr val="DEE2E6"/>
                </a:solidFill>
              </a:rPr>
              <a:t>ChaseState asks the ghost’s strategy</a:t>
            </a:r>
            <a:endParaRPr/>
          </a:p>
          <a:p>
            <a:pPr indent="-317500" lvl="1" marL="914400" rtl="0" algn="l">
              <a:buClr>
                <a:srgbClr val="6C757D"/>
              </a:buClr>
              <a:spcBef>
                <a:spcPts val="0"/>
              </a:spcBef>
              <a:spcAft>
                <a:spcPts val="0"/>
              </a:spcAft>
              <a:buSzPts val="1400"/>
              <a:buChar char="○"/>
            </a:pPr>
            <a:r>
              <a:rPr lang="en" sz="1400">
                <a:solidFill>
                  <a:srgbClr val="6C757D"/>
                </a:solidFill>
              </a:rPr>
              <a:t>It works for every ghost</a:t>
            </a:r>
            <a:endParaRPr/>
          </a:p>
          <a:p>
            <a:pPr indent="-330200" lvl="0" marL="457200" rtl="0" algn="l">
              <a:buClr>
                <a:srgbClr val="DEE2E6"/>
              </a:buClr>
              <a:spcBef>
                <a:spcPts val="0"/>
              </a:spcBef>
              <a:spcAft>
                <a:spcPts val="0"/>
              </a:spcAft>
              <a:buSzPts val="1600"/>
              <a:buChar char="●"/>
            </a:pPr>
            <a:r>
              <a:rPr lang="en" sz="1600">
                <a:solidFill>
                  <a:srgbClr val="DEE2E6"/>
                </a:solidFill>
              </a:rPr>
              <a:t>A new personality: one class, one line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interface ITargetStrategy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ChooseTarget(Ghost ghost, World world);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Pinky: four tiles ahead of Pac-Man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class AmbushAhead : ITargetStrategy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Point ChooseTarget(Ghost g, World w)</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facing = w.PacMan.Facing;</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w.PacMan.Tile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Point(facing.X * 4, facing.Y * 4);</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World.cs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Pinky = new Ghost(..., new AmbushAhead());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Strategy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Pacman3: one targeting strategy per ghost</a:t>
            </a:r>
            <a:endParaRPr sz="180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Swap a Personality</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Pacman3’s World:</a:t>
            </a:r>
            <a:endParaRPr/>
          </a:p>
          <a:p>
            <a:pPr indent="-330200" lvl="0" marL="457200" rtl="0" algn="l">
              <a:spcBef>
                <a:spcPts val="0"/>
              </a:spcBef>
              <a:spcAft>
                <a:spcPts val="0"/>
              </a:spcAft>
              <a:buSzPts val="1600"/>
              <a:buChar char="●"/>
            </a:pPr>
            <a:r>
              <a:rPr lang="en"/>
              <a:t>Give Clyde Blinky’s strategy</a:t>
            </a:r>
            <a:endParaRPr/>
          </a:p>
          <a:p>
            <a:pPr indent="-330200" lvl="0" marL="457200" rtl="0" algn="l">
              <a:spcBef>
                <a:spcPts val="0"/>
              </a:spcBef>
              <a:spcAft>
                <a:spcPts val="0"/>
              </a:spcAft>
              <a:buSzPts val="1600"/>
              <a:buChar char="●"/>
            </a:pPr>
            <a:r>
              <a:rPr lang="en"/>
              <a:t>Play: how does the chase change?</a:t>
            </a:r>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State vs. Strategy</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same structure (hold an interface, forward to it), used for different jobs.</a:t>
            </a:r>
            <a:endParaRPr/>
          </a:p>
        </p:txBody>
      </p:sp>
      <p:sp>
        <p:nvSpPr>
          <p:cNvPr id="295" name="Rounded Rectangle 294"/>
          <p:cNvSpPr/>
          <p:nvPr/>
        </p:nvSpPr>
        <p:spPr>
          <a:xfrm>
            <a:off x="548640" y="1417320"/>
            <a:ext cx="3749039" cy="15544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State: the mode</a:t>
            </a:r>
          </a:p>
          <a:p>
            <a:pPr algn="ctr"/>
            <a:r>
              <a:rPr sz="1400" b="0">
                <a:solidFill>
                  <a:srgbClr val="9AA3AB"/>
                </a:solidFill>
              </a:rPr>
              <a:t>chosen by the states themselves</a:t>
            </a:r>
          </a:p>
          <a:p>
            <a:pPr algn="ctr"/>
            <a:r>
              <a:rPr sz="1400" b="0">
                <a:solidFill>
                  <a:srgbClr val="9AA3AB"/>
                </a:solidFill>
              </a:rPr>
              <a:t>changes all the time</a:t>
            </a:r>
          </a:p>
          <a:p>
            <a:pPr algn="ctr"/>
            <a:r>
              <a:rPr sz="1400" b="0">
                <a:solidFill>
                  <a:srgbClr val="9AA3AB"/>
                </a:solidFill>
              </a:rPr>
              <a:t>a state knows the next state</a:t>
            </a:r>
          </a:p>
        </p:txBody>
      </p:sp>
      <p:sp>
        <p:nvSpPr>
          <p:cNvPr id="296" name="Rounded Rectangle 295"/>
          <p:cNvSpPr/>
          <p:nvPr/>
        </p:nvSpPr>
        <p:spPr>
          <a:xfrm>
            <a:off x="4846320" y="1417320"/>
            <a:ext cx="3749039" cy="15544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Strategy: the targeting</a:t>
            </a:r>
          </a:p>
          <a:p>
            <a:pPr algn="ctr"/>
            <a:r>
              <a:rPr sz="1400" b="0">
                <a:solidFill>
                  <a:srgbClr val="9AA3AB"/>
                </a:solidFill>
              </a:rPr>
              <a:t>chosen from outside, once</a:t>
            </a:r>
          </a:p>
          <a:p>
            <a:pPr algn="ctr"/>
            <a:r>
              <a:rPr sz="1400" b="0">
                <a:solidFill>
                  <a:srgbClr val="9AA3AB"/>
                </a:solidFill>
              </a:rPr>
              <a:t>never changes</a:t>
            </a:r>
          </a:p>
          <a:p>
            <a:pPr algn="ctr"/>
            <a:r>
              <a:rPr sz="1400" b="0">
                <a:solidFill>
                  <a:srgbClr val="9AA3AB"/>
                </a:solidFill>
              </a:rPr>
              <a:t>strategies don’t know each other</a:t>
            </a:r>
          </a:p>
        </p:txBody>
      </p:sp>
      <p:sp>
        <p:nvSpPr>
          <p:cNvPr id="297" name="TextBox 296"/>
          <p:cNvSpPr txBox="1"/>
          <p:nvPr/>
        </p:nvSpPr>
        <p:spPr>
          <a:xfrm>
            <a:off x="457200" y="3246120"/>
            <a:ext cx="8229600" cy="731520"/>
          </a:xfrm>
          <a:prstGeom prst="rect">
            <a:avLst/>
          </a:prstGeom>
          <a:noFill/>
        </p:spPr>
        <p:txBody>
          <a:bodyPr wrap="square">
            <a:spAutoFit/>
          </a:bodyPr>
          <a:lstStyle/>
          <a:p>
            <a:pPr algn="ctr"/>
            <a:r>
              <a:rPr sz="1600" b="1" i="0">
                <a:solidFill>
                  <a:srgbClr val="DEE2E6"/>
                </a:solidFill>
              </a:rPr>
              <a:t>The state decides whether to chase, and the strategy decides how.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Testing the Ghosts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strategy: one small class, one method</a:t>
            </a:r>
            <a:endParaRPr/>
          </a:p>
          <a:p>
            <a:pPr indent="-317500" lvl="1" marL="914400" rtl="0" algn="l">
              <a:buClr>
                <a:srgbClr val="6C757D"/>
              </a:buClr>
              <a:spcBef>
                <a:spcPts val="0"/>
              </a:spcBef>
              <a:spcAft>
                <a:spcPts val="0"/>
              </a:spcAft>
              <a:buSzPts val="1400"/>
              <a:buChar char="○"/>
            </a:pPr>
            <a:r>
              <a:rPr lang="en" sz="1400">
                <a:solidFill>
                  <a:srgbClr val="6C757D"/>
                </a:solidFill>
              </a:rPr>
              <a:t>Put Pac-Man somewhere, check the target</a:t>
            </a:r>
            <a:endParaRPr/>
          </a:p>
          <a:p>
            <a:pPr indent="-330200" lvl="0" marL="457200" rtl="0" algn="l">
              <a:buClr>
                <a:srgbClr val="DEE2E6"/>
              </a:buClr>
              <a:spcBef>
                <a:spcPts val="0"/>
              </a:spcBef>
              <a:spcAft>
                <a:spcPts val="0"/>
              </a:spcAft>
              <a:buSzPts val="1600"/>
              <a:buChar char="●"/>
            </a:pPr>
            <a:r>
              <a:rPr lang="en" sz="1600">
                <a:solidFill>
                  <a:srgbClr val="DEE2E6"/>
                </a:solidFill>
              </a:rPr>
              <a:t>Inky’s target is invisible when playing</a:t>
            </a:r>
            <a:endParaRPr/>
          </a:p>
          <a:p>
            <a:pPr indent="-317500" lvl="1" marL="914400" rtl="0" algn="l">
              <a:buClr>
                <a:srgbClr val="6C757D"/>
              </a:buClr>
              <a:spcBef>
                <a:spcPts val="0"/>
              </a:spcBef>
              <a:spcAft>
                <a:spcPts val="0"/>
              </a:spcAft>
              <a:buSzPts val="1400"/>
              <a:buChar char="○"/>
            </a:pPr>
            <a:r>
              <a:rPr lang="en" sz="1400">
                <a:solidFill>
                  <a:srgbClr val="6C757D"/>
                </a:solidFill>
              </a:rPr>
              <a:t>The test checks it with numbers you can work out on paper</a:t>
            </a:r>
            <a:endParaRPr/>
          </a:p>
          <a:p>
            <a:pPr indent="-330200" lvl="0" marL="457200" rtl="0" algn="l">
              <a:buClr>
                <a:srgbClr val="DEE2E6"/>
              </a:buClr>
              <a:spcBef>
                <a:spcPts val="0"/>
              </a:spcBef>
              <a:spcAft>
                <a:spcPts val="0"/>
              </a:spcAft>
              <a:buSzPts val="1600"/>
              <a:buChar char="●"/>
            </a:pPr>
            <a:r>
              <a:rPr lang="en" sz="1600">
                <a:solidFill>
                  <a:srgbClr val="DEE2E6"/>
                </a:solidFill>
              </a:rPr>
              <a:t>The states: put a ghost in a state, make something happen, check the state after</a:t>
            </a:r>
            <a:endParaRPr/>
          </a:p>
          <a:p>
            <a:pPr indent="-330200" lvl="0" marL="457200" rtl="0" algn="l">
              <a:buClr>
                <a:srgbClr val="DEE2E6"/>
              </a:buClr>
              <a:spcBef>
                <a:spcPts val="0"/>
              </a:spcBef>
              <a:spcAft>
                <a:spcPts val="0"/>
              </a:spcAft>
              <a:buSzPts val="1600"/>
              <a:buChar char="●"/>
            </a:pPr>
            <a:r>
              <a:rPr lang="en" sz="1600">
                <a:solidFill>
                  <a:srgbClr val="DEE2E6"/>
                </a:solidFill>
              </a:rPr>
              <a:t>A small test maze, and a seeded Random</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Inky_doubles_the_line_from_Blinky()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_world.PacMan.Place(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Point(5, 1), Direction.Right);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_world.Blinky.Place(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Point(3, 3), Direction.Left);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Two ahead of Pac-Man: (7,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From Blinky: (+4, -2), doubled.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Point(11,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TargetOf(_world.Inky));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Two levels of state machine: the game’s, and each ghost’s.</a:t>
            </a:r>
            <a:endParaRPr/>
          </a:p>
        </p:txBody>
      </p:sp>
      <p:sp>
        <p:nvSpPr>
          <p:cNvPr id="295" name="Rounded Rectangle 294"/>
          <p:cNvSpPr/>
          <p:nvPr/>
        </p:nvSpPr>
        <p:spPr>
          <a:xfrm>
            <a:off x="822960" y="1463040"/>
            <a:ext cx="16459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Ready</a:t>
            </a:r>
          </a:p>
        </p:txBody>
      </p:sp>
      <p:cxnSp>
        <p:nvCxnSpPr>
          <p:cNvPr id="296" name="Connector 295"/>
          <p:cNvCxnSpPr/>
          <p:nvPr/>
        </p:nvCxnSpPr>
        <p:spPr>
          <a:xfrm>
            <a:off x="248716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2743200" y="1463040"/>
            <a:ext cx="164592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Play</a:t>
            </a:r>
          </a:p>
        </p:txBody>
      </p:sp>
      <p:cxnSp>
        <p:nvCxnSpPr>
          <p:cNvPr id="298" name="Connector 297"/>
          <p:cNvCxnSpPr/>
          <p:nvPr/>
        </p:nvCxnSpPr>
        <p:spPr>
          <a:xfrm>
            <a:off x="4407407" y="1737360"/>
            <a:ext cx="237745"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4663440" y="1463040"/>
            <a:ext cx="16459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Dying</a:t>
            </a:r>
          </a:p>
        </p:txBody>
      </p:sp>
      <p:cxnSp>
        <p:nvCxnSpPr>
          <p:cNvPr id="300" name="Connector 299"/>
          <p:cNvCxnSpPr/>
          <p:nvPr/>
        </p:nvCxnSpPr>
        <p:spPr>
          <a:xfrm>
            <a:off x="632764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6583680" y="1463040"/>
            <a:ext cx="16459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Ready or Game Over</a:t>
            </a:r>
          </a:p>
        </p:txBody>
      </p:sp>
      <p:sp>
        <p:nvSpPr>
          <p:cNvPr id="302" name="Rounded Rectangle 301"/>
          <p:cNvSpPr/>
          <p:nvPr/>
        </p:nvSpPr>
        <p:spPr>
          <a:xfrm>
            <a:off x="2651760" y="2377440"/>
            <a:ext cx="3840480" cy="7315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Each ghost: InHouse, Scatter, Chase, ...</a:t>
            </a:r>
          </a:p>
          <a:p>
            <a:pPr algn="ctr"/>
            <a:r>
              <a:rPr sz="1200" b="0">
                <a:solidFill>
                  <a:srgbClr val="9AA3AB"/>
                </a:solidFill>
              </a:rPr>
              <a:t>updated only while the game is in Play</a:t>
            </a:r>
          </a:p>
        </p:txBody>
      </p:sp>
      <p:cxnSp>
        <p:nvCxnSpPr>
          <p:cNvPr id="303" name="Connector 302"/>
          <p:cNvCxnSpPr/>
          <p:nvPr/>
        </p:nvCxnSpPr>
        <p:spPr>
          <a:xfrm>
            <a:off x="3749039" y="2057400"/>
            <a:ext cx="457201" cy="301752"/>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4" name="TextBox 303"/>
          <p:cNvSpPr txBox="1"/>
          <p:nvPr/>
        </p:nvSpPr>
        <p:spPr>
          <a:xfrm>
            <a:off x="548640" y="3383280"/>
            <a:ext cx="8046720" cy="365760"/>
          </a:xfrm>
          <a:prstGeom prst="rect">
            <a:avLst/>
          </a:prstGeom>
          <a:noFill/>
        </p:spPr>
        <p:txBody>
          <a:bodyPr wrap="square">
            <a:spAutoFit/>
          </a:bodyPr>
          <a:lstStyle/>
          <a:p>
            <a:pPr algn="ctr"/>
            <a:r>
              <a:rPr sz="1400" b="0" i="0">
                <a:solidFill>
                  <a:srgbClr val="9AA3AB"/>
                </a:solidFill>
              </a:rPr>
              <a:t>While Pac-Man dies, the ghosts’ states pause.</a:t>
            </a: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Pac-Man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Pacman5 and Pacman.Tests: the whole game, and its tests</a:t>
            </a:r>
            <a:endParaRPr sz="1800"/>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Pacman5, the finished game</a:t>
            </a:r>
            <a:endParaRPr/>
          </a:p>
          <a:p>
            <a:pPr indent="-330200" lvl="0" marL="457200" rtl="0" algn="l">
              <a:spcBef>
                <a:spcPts val="0"/>
              </a:spcBef>
              <a:spcAft>
                <a:spcPts val="0"/>
              </a:spcAft>
              <a:buSzPts val="1600"/>
              <a:buChar char="●"/>
            </a:pPr>
            <a:r>
              <a:rPr lang="en"/>
              <a:t>The frozen mode, for real: a FrozenState before EatenState</a:t>
            </a:r>
            <a:endParaRPr/>
          </a:p>
          <a:p>
            <a:pPr indent="-317500" lvl="1" marL="914400" rtl="0" algn="l">
              <a:spcBef>
                <a:spcPts val="0"/>
              </a:spcBef>
              <a:spcAft>
                <a:spcPts val="0"/>
              </a:spcAft>
              <a:buSzPts val="1400"/>
              <a:buChar char="○"/>
            </a:pPr>
            <a:r>
              <a:rPr lang="en"/>
              <a:t>Which classes did you change? Compare with the seven switches</a:t>
            </a:r>
            <a:endParaRPr/>
          </a:p>
          <a:p>
            <a:pPr indent="-330200" lvl="0" marL="457200" rtl="0" algn="l">
              <a:spcBef>
                <a:spcPts val="0"/>
              </a:spcBef>
              <a:spcAft>
                <a:spcPts val="0"/>
              </a:spcAft>
              <a:buSzPts val="1600"/>
              <a:buChar char="●"/>
            </a:pPr>
            <a:r>
              <a:rPr lang="en"/>
              <a:t>A new personality: a fifth ghost with its own strategy</a:t>
            </a:r>
            <a:endParaRPr/>
          </a:p>
          <a:p>
            <a:pPr indent="-317500" lvl="1" marL="914400" rtl="0" algn="l">
              <a:spcBef>
                <a:spcPts val="0"/>
              </a:spcBef>
              <a:spcAft>
                <a:spcPts val="0"/>
              </a:spcAft>
              <a:buSzPts val="1400"/>
              <a:buChar char="○"/>
            </a:pPr>
            <a:r>
              <a:rPr lang="en"/>
              <a:t>Write its test first</a:t>
            </a:r>
            <a:endParaRPr/>
          </a:p>
          <a:p>
            <a:pPr indent="-330200" lvl="0" marL="457200" rtl="0" algn="l">
              <a:spcBef>
                <a:spcPts val="0"/>
              </a:spcBef>
              <a:spcAft>
                <a:spcPts val="0"/>
              </a:spcAft>
              <a:buSzPts val="1600"/>
              <a:buChar char="●"/>
            </a:pPr>
            <a:r>
              <a:rPr lang="en"/>
              <a:t>Ghosts in the house also turn blue after a power pellet</a:t>
            </a:r>
            <a:endParaRPr/>
          </a:p>
          <a:p>
            <a:pPr indent="-317500" lvl="1" marL="914400" rtl="0" algn="l">
              <a:spcBef>
                <a:spcPts val="0"/>
              </a:spcBef>
              <a:spcAft>
                <a:spcPts val="0"/>
              </a:spcAft>
              <a:buSzPts val="1400"/>
              <a:buChar char="○"/>
            </a:pPr>
            <a:r>
              <a:rPr lang="en"/>
              <a:t>What does InHouseState need to remember?</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Fruit: after 70 dots, a fruit appears below the house for ten seconds</a:t>
            </a:r>
            <a:endParaRPr/>
          </a:p>
          <a:p>
            <a:pPr indent="-317500" lvl="1" marL="914400" rtl="0" algn="l">
              <a:spcBef>
                <a:spcPts val="0"/>
              </a:spcBef>
              <a:spcAft>
                <a:spcPts val="0"/>
              </a:spcAft>
              <a:buSzPts val="1400"/>
              <a:buChar char="○"/>
            </a:pPr>
            <a:r>
              <a:rPr lang="en"/>
              <a:t>Where does that rule belong: World, Maze, or a class of its own?</a:t>
            </a:r>
            <a:endParaRPr/>
          </a:p>
          <a:p>
            <a:pPr indent="-330200" lvl="0" marL="457200" rtl="0" algn="l">
              <a:spcBef>
                <a:spcPts val="0"/>
              </a:spcBef>
              <a:spcAft>
                <a:spcPts val="0"/>
              </a:spcAft>
              <a:buSzPts val="1600"/>
              <a:buChar char="●"/>
            </a:pPr>
            <a:r>
              <a:rPr lang="en"/>
              <a:t>Tunnel: ghosts slow down in the tunnel</a:t>
            </a:r>
            <a:endParaRPr/>
          </a:p>
          <a:p>
            <a:pPr indent="-317500" lvl="1" marL="914400" rtl="0" algn="l">
              <a:spcBef>
                <a:spcPts val="0"/>
              </a:spcBef>
              <a:spcAft>
                <a:spcPts val="0"/>
              </a:spcAft>
              <a:buSzPts val="1400"/>
              <a:buChar char="○"/>
            </a:pPr>
            <a:r>
              <a:rPr lang="en"/>
              <a:t>Which class knows the ghost is in the tunnel, and which how fast to go?</a:t>
            </a:r>
            <a:endParaRPr/>
          </a:p>
          <a:p>
            <a:pPr indent="-330200" lvl="0" marL="457200" rtl="0" algn="l">
              <a:spcBef>
                <a:spcPts val="0"/>
              </a:spcBef>
              <a:spcAft>
                <a:spcPts val="0"/>
              </a:spcAft>
              <a:buSzPts val="1600"/>
              <a:buChar char="●"/>
            </a:pPr>
            <a:r>
              <a:rPr lang="en"/>
              <a:t>Breadth-first: write FindPathBreadthFirst, with a Queue</a:t>
            </a:r>
            <a:endParaRPr/>
          </a:p>
          <a:p>
            <a:pPr indent="-317500" lvl="1" marL="914400" rtl="0" algn="l">
              <a:spcBef>
                <a:spcPts val="0"/>
              </a:spcBef>
              <a:spcAft>
                <a:spcPts val="0"/>
              </a:spcAft>
              <a:buSzPts val="1400"/>
              <a:buChar char="○"/>
            </a:pPr>
            <a:r>
              <a:rPr lang="en"/>
              <a:t>Same length as A*? How many tiles does each take out of its queue?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2103120"/>
          </a:xfrm>
        </p:spPr>
        <p:txBody>
          <a:bodyPr/>
          <a:lstStyle/>
          <a:p>
            <a:pPr indent="-330200" lvl="0" marL="457200" rtl="0" algn="l">
              <a:spcBef>
                <a:spcPts val="0"/>
              </a:spcBef>
              <a:spcAft>
                <a:spcPts val="0"/>
              </a:spcAft>
              <a:buSzPts val="1600"/>
              <a:buChar char="●"/>
            </a:pPr>
            <a:r>
              <a:rPr lang="en" b="1"/>
              <a:t>What problems does the enum version of the ghost have?</a:t>
            </a:r>
            <a:endParaRPr/>
          </a:p>
          <a:p>
            <a:pPr indent="-330200" lvl="0" marL="457200" rtl="0" algn="l">
              <a:spcBef>
                <a:spcPts val="0"/>
              </a:spcBef>
              <a:spcAft>
                <a:spcPts val="0"/>
              </a:spcAft>
              <a:buSzPts val="1600"/>
              <a:buChar char="●"/>
            </a:pPr>
            <a:r>
              <a:rPr lang="en" b="1"/>
              <a:t>In the State pattern, who decides when to change state?</a:t>
            </a:r>
            <a:endParaRPr/>
          </a:p>
          <a:p>
            <a:pPr indent="-330200" lvl="0" marL="457200" rtl="0" algn="l">
              <a:spcBef>
                <a:spcPts val="0"/>
              </a:spcBef>
              <a:spcAft>
                <a:spcPts val="0"/>
              </a:spcAft>
              <a:buSzPts val="1600"/>
              <a:buChar char="●"/>
            </a:pPr>
            <a:r>
              <a:rPr lang="en" b="1"/>
              <a:t>What are Enter and Exit for?</a:t>
            </a:r>
            <a:endParaRPr/>
          </a:p>
          <a:p>
            <a:pPr indent="-330200" lvl="0" marL="457200" rtl="0" algn="l">
              <a:spcBef>
                <a:spcPts val="0"/>
              </a:spcBef>
              <a:spcAft>
                <a:spcPts val="0"/>
              </a:spcAft>
              <a:buSzPts val="1600"/>
              <a:buChar char="●"/>
            </a:pPr>
            <a:r>
              <a:rPr lang="en" b="1"/>
              <a:t>State and Strategy have the same structure. How do they differ?</a:t>
            </a:r>
            <a:endParaRPr/>
          </a:p>
          <a:p>
            <a:pPr indent="-330200" lvl="0" marL="457200" rtl="0" algn="l">
              <a:spcBef>
                <a:spcPts val="0"/>
              </a:spcBef>
              <a:spcAft>
                <a:spcPts val="0"/>
              </a:spcAft>
              <a:buSzPts val="1600"/>
              <a:buChar char="●"/>
            </a:pPr>
            <a:r>
              <a:rPr lang="en" b="1"/>
              <a:t>What does A* add to breadth-first search?</a:t>
            </a:r>
            <a:endParaRPr/>
          </a:p>
        </p:txBody>
      </p:sp>
      <p:sp>
        <p:nvSpPr>
          <p:cNvPr id="4" name="TextBox 3"/>
          <p:cNvSpPr txBox="1"/>
          <p:nvPr/>
        </p:nvSpPr>
        <p:spPr>
          <a:xfrm>
            <a:off x="457200" y="3566160"/>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objects in your game have modes?</a:t>
            </a:r>
            <a:endParaRPr/>
          </a:p>
          <a:p>
            <a:pPr indent="-317500" lvl="1" marL="914400" rtl="0" algn="l">
              <a:spcBef>
                <a:spcPts val="0"/>
              </a:spcBef>
              <a:spcAft>
                <a:spcPts val="0"/>
              </a:spcAft>
              <a:buSzPts val="1400"/>
              <a:buChar char="○"/>
            </a:pPr>
            <a:r>
              <a:rPr lang="en"/>
              <a:t>Flags, an enum, or state objects?</a:t>
            </a:r>
            <a:endParaRPr/>
          </a:p>
          <a:p>
            <a:pPr indent="-330200" lvl="0" marL="457200" rtl="0" algn="l">
              <a:spcBef>
                <a:spcPts val="0"/>
              </a:spcBef>
              <a:spcAft>
                <a:spcPts val="0"/>
              </a:spcAft>
              <a:buSzPts val="1600"/>
              <a:buChar char="●"/>
            </a:pPr>
            <a:r>
              <a:rPr lang="en"/>
              <a:t>Where do you switch over a mode in more than one method?</a:t>
            </a:r>
            <a:endParaRPr/>
          </a:p>
          <a:p>
            <a:pPr indent="-330200" lvl="0" marL="457200" rtl="0" algn="l">
              <a:spcBef>
                <a:spcPts val="0"/>
              </a:spcBef>
              <a:spcAft>
                <a:spcPts val="0"/>
              </a:spcAft>
              <a:buSzPts val="1600"/>
              <a:buChar char="●"/>
            </a:pPr>
            <a:r>
              <a:rPr lang="en"/>
              <a:t>A behaviour that differs per object, but never changes for one object?</a:t>
            </a:r>
            <a:endParaRPr/>
          </a:p>
          <a:p>
            <a:pPr indent="-317500" lvl="1" marL="914400" rtl="0" algn="l">
              <a:spcBef>
                <a:spcPts val="0"/>
              </a:spcBef>
              <a:spcAft>
                <a:spcPts val="0"/>
              </a:spcAft>
              <a:buSzPts val="1400"/>
              <a:buChar char="○"/>
            </a:pPr>
            <a:r>
              <a:rPr lang="en"/>
              <a:t>That’s a strategy</a:t>
            </a:r>
            <a:endParaRPr/>
          </a:p>
          <a:p>
            <a:pPr indent="-330200" lvl="0" marL="457200" rtl="0" algn="l">
              <a:spcBef>
                <a:spcPts val="0"/>
              </a:spcBef>
              <a:spcAft>
                <a:spcPts val="0"/>
              </a:spcAft>
              <a:buSzPts val="1600"/>
              <a:buChar char="●"/>
            </a:pPr>
            <a:r>
              <a:rPr lang="en"/>
              <a:t>Does anything have to find its way around obstacles?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Finding a Path</a:t>
            </a:r>
            <a:endParaRPr/>
          </a:p>
        </p:txBody>
      </p:sp>
      <p:sp>
        <p:nvSpPr>
          <p:cNvPr id="3" name="Text Placeholder 2"/>
          <p:cNvSpPr>
            <a:spLocks noGrp="1"/>
          </p:cNvSpPr>
          <p:nvPr>
            <p:ph type="body" idx="1"/>
          </p:nvPr>
        </p:nvSpPr>
        <p:spPr>
          <a:xfrm>
            <a:off x="311700" y="885950"/>
            <a:ext cx="8520600" cy="521208"/>
          </a:xfrm>
        </p:spPr>
        <p:txBody>
          <a:bodyPr/>
          <a:lstStyle/>
          <a:p>
            <a:pPr indent="-330200" lvl="0" marL="457200" rtl="0" algn="l">
              <a:spcBef>
                <a:spcPts val="0"/>
              </a:spcBef>
              <a:spcAft>
                <a:spcPts val="0"/>
              </a:spcAft>
              <a:buSzPts val="1600"/>
              <a:buChar char="●"/>
            </a:pPr>
            <a:r>
              <a:rPr lang="en" b="1"/>
              <a:t>The arcade rule looks one tile ahead. A wall can send the ghost the long way round.</a:t>
            </a:r>
            <a:endParaRPr/>
          </a:p>
        </p:txBody>
      </p:sp>
      <p:sp>
        <p:nvSpPr>
          <p:cNvPr id="4" name="Rectangle 3"/>
          <p:cNvSpPr/>
          <p:nvPr/>
        </p:nvSpPr>
        <p:spPr>
          <a:xfrm>
            <a:off x="1956816"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 name="Rectangle 4"/>
          <p:cNvSpPr/>
          <p:nvPr/>
        </p:nvSpPr>
        <p:spPr>
          <a:xfrm>
            <a:off x="2359152"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 name="Rectangle 5"/>
          <p:cNvSpPr/>
          <p:nvPr/>
        </p:nvSpPr>
        <p:spPr>
          <a:xfrm>
            <a:off x="2761488"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7" name="Rectangle 6"/>
          <p:cNvSpPr/>
          <p:nvPr/>
        </p:nvSpPr>
        <p:spPr>
          <a:xfrm>
            <a:off x="3163824"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8" name="Rectangle 7"/>
          <p:cNvSpPr/>
          <p:nvPr/>
        </p:nvSpPr>
        <p:spPr>
          <a:xfrm>
            <a:off x="3566160"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9" name="Rectangle 8"/>
          <p:cNvSpPr/>
          <p:nvPr/>
        </p:nvSpPr>
        <p:spPr>
          <a:xfrm>
            <a:off x="3968496"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0" name="Rectangle 9"/>
          <p:cNvSpPr/>
          <p:nvPr/>
        </p:nvSpPr>
        <p:spPr>
          <a:xfrm>
            <a:off x="4370832"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1" name="Rectangle 10"/>
          <p:cNvSpPr/>
          <p:nvPr/>
        </p:nvSpPr>
        <p:spPr>
          <a:xfrm>
            <a:off x="4773168"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2" name="Rectangle 11"/>
          <p:cNvSpPr/>
          <p:nvPr/>
        </p:nvSpPr>
        <p:spPr>
          <a:xfrm>
            <a:off x="5175504"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3" name="Rectangle 12"/>
          <p:cNvSpPr/>
          <p:nvPr/>
        </p:nvSpPr>
        <p:spPr>
          <a:xfrm>
            <a:off x="5577840"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4" name="Rectangle 13"/>
          <p:cNvSpPr/>
          <p:nvPr/>
        </p:nvSpPr>
        <p:spPr>
          <a:xfrm>
            <a:off x="5980176"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5" name="Rectangle 14"/>
          <p:cNvSpPr/>
          <p:nvPr/>
        </p:nvSpPr>
        <p:spPr>
          <a:xfrm>
            <a:off x="6382512"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6" name="Rectangle 15"/>
          <p:cNvSpPr/>
          <p:nvPr/>
        </p:nvSpPr>
        <p:spPr>
          <a:xfrm>
            <a:off x="6784848"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7" name="Rectangle 16"/>
          <p:cNvSpPr/>
          <p:nvPr/>
        </p:nvSpPr>
        <p:spPr>
          <a:xfrm>
            <a:off x="1956816" y="2002536"/>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8" name="Rectangle 17"/>
          <p:cNvSpPr/>
          <p:nvPr/>
        </p:nvSpPr>
        <p:spPr>
          <a:xfrm>
            <a:off x="2359152"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9" name="Rectangle 18"/>
          <p:cNvSpPr/>
          <p:nvPr/>
        </p:nvSpPr>
        <p:spPr>
          <a:xfrm>
            <a:off x="2761488"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0" name="Rectangle 19"/>
          <p:cNvSpPr/>
          <p:nvPr/>
        </p:nvSpPr>
        <p:spPr>
          <a:xfrm>
            <a:off x="3163824" y="2002536"/>
            <a:ext cx="374904" cy="374904"/>
          </a:xfrm>
          <a:prstGeom prst="rect">
            <a:avLst/>
          </a:prstGeom>
          <a:solidFill>
            <a:srgbClr val="1E9BA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T</a:t>
            </a:r>
          </a:p>
        </p:txBody>
      </p:sp>
      <p:sp>
        <p:nvSpPr>
          <p:cNvPr id="21" name="Rectangle 20"/>
          <p:cNvSpPr/>
          <p:nvPr/>
        </p:nvSpPr>
        <p:spPr>
          <a:xfrm>
            <a:off x="3566160"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2" name="Rectangle 21"/>
          <p:cNvSpPr/>
          <p:nvPr/>
        </p:nvSpPr>
        <p:spPr>
          <a:xfrm>
            <a:off x="3968496"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3" name="Rectangle 22"/>
          <p:cNvSpPr/>
          <p:nvPr/>
        </p:nvSpPr>
        <p:spPr>
          <a:xfrm>
            <a:off x="4370832"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4" name="Rectangle 23"/>
          <p:cNvSpPr/>
          <p:nvPr/>
        </p:nvSpPr>
        <p:spPr>
          <a:xfrm>
            <a:off x="4773168"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5" name="Rectangle 24"/>
          <p:cNvSpPr/>
          <p:nvPr/>
        </p:nvSpPr>
        <p:spPr>
          <a:xfrm>
            <a:off x="5175504"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6" name="Rectangle 25"/>
          <p:cNvSpPr/>
          <p:nvPr/>
        </p:nvSpPr>
        <p:spPr>
          <a:xfrm>
            <a:off x="5577840"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7" name="Rectangle 26"/>
          <p:cNvSpPr/>
          <p:nvPr/>
        </p:nvSpPr>
        <p:spPr>
          <a:xfrm>
            <a:off x="5980176"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8" name="Rectangle 27"/>
          <p:cNvSpPr/>
          <p:nvPr/>
        </p:nvSpPr>
        <p:spPr>
          <a:xfrm>
            <a:off x="6382512"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9" name="Rectangle 28"/>
          <p:cNvSpPr/>
          <p:nvPr/>
        </p:nvSpPr>
        <p:spPr>
          <a:xfrm>
            <a:off x="6784848" y="2002536"/>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0" name="Rectangle 29"/>
          <p:cNvSpPr/>
          <p:nvPr/>
        </p:nvSpPr>
        <p:spPr>
          <a:xfrm>
            <a:off x="1956816"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1" name="Rectangle 30"/>
          <p:cNvSpPr/>
          <p:nvPr/>
        </p:nvSpPr>
        <p:spPr>
          <a:xfrm>
            <a:off x="2359152" y="2404872"/>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2" name="Rectangle 31"/>
          <p:cNvSpPr/>
          <p:nvPr/>
        </p:nvSpPr>
        <p:spPr>
          <a:xfrm>
            <a:off x="2761488"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3" name="Rectangle 32"/>
          <p:cNvSpPr/>
          <p:nvPr/>
        </p:nvSpPr>
        <p:spPr>
          <a:xfrm>
            <a:off x="3163824"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4" name="Rectangle 33"/>
          <p:cNvSpPr/>
          <p:nvPr/>
        </p:nvSpPr>
        <p:spPr>
          <a:xfrm>
            <a:off x="3566160"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5" name="Rectangle 34"/>
          <p:cNvSpPr/>
          <p:nvPr/>
        </p:nvSpPr>
        <p:spPr>
          <a:xfrm>
            <a:off x="3968496" y="2404872"/>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6" name="Rectangle 35"/>
          <p:cNvSpPr/>
          <p:nvPr/>
        </p:nvSpPr>
        <p:spPr>
          <a:xfrm>
            <a:off x="4370832"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7" name="Rectangle 36"/>
          <p:cNvSpPr/>
          <p:nvPr/>
        </p:nvSpPr>
        <p:spPr>
          <a:xfrm>
            <a:off x="4773168" y="2404872"/>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8" name="Rectangle 37"/>
          <p:cNvSpPr/>
          <p:nvPr/>
        </p:nvSpPr>
        <p:spPr>
          <a:xfrm>
            <a:off x="5175504"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9" name="Rectangle 38"/>
          <p:cNvSpPr/>
          <p:nvPr/>
        </p:nvSpPr>
        <p:spPr>
          <a:xfrm>
            <a:off x="5577840"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0" name="Rectangle 39"/>
          <p:cNvSpPr/>
          <p:nvPr/>
        </p:nvSpPr>
        <p:spPr>
          <a:xfrm>
            <a:off x="5980176"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1" name="Rectangle 40"/>
          <p:cNvSpPr/>
          <p:nvPr/>
        </p:nvSpPr>
        <p:spPr>
          <a:xfrm>
            <a:off x="6382512" y="2404872"/>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2" name="Rectangle 41"/>
          <p:cNvSpPr/>
          <p:nvPr/>
        </p:nvSpPr>
        <p:spPr>
          <a:xfrm>
            <a:off x="6784848"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3" name="Rectangle 42"/>
          <p:cNvSpPr/>
          <p:nvPr/>
        </p:nvSpPr>
        <p:spPr>
          <a:xfrm>
            <a:off x="1956816" y="2807208"/>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4" name="Rectangle 43"/>
          <p:cNvSpPr/>
          <p:nvPr/>
        </p:nvSpPr>
        <p:spPr>
          <a:xfrm>
            <a:off x="2359152"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5" name="Rectangle 44"/>
          <p:cNvSpPr/>
          <p:nvPr/>
        </p:nvSpPr>
        <p:spPr>
          <a:xfrm>
            <a:off x="2761488"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6" name="Rectangle 45"/>
          <p:cNvSpPr/>
          <p:nvPr/>
        </p:nvSpPr>
        <p:spPr>
          <a:xfrm>
            <a:off x="3163824"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7" name="Rectangle 46"/>
          <p:cNvSpPr/>
          <p:nvPr/>
        </p:nvSpPr>
        <p:spPr>
          <a:xfrm>
            <a:off x="3566160" y="2807208"/>
            <a:ext cx="374904" cy="374904"/>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G</a:t>
            </a:r>
          </a:p>
        </p:txBody>
      </p:sp>
      <p:sp>
        <p:nvSpPr>
          <p:cNvPr id="48" name="Rectangle 47"/>
          <p:cNvSpPr/>
          <p:nvPr/>
        </p:nvSpPr>
        <p:spPr>
          <a:xfrm>
            <a:off x="3968496"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9" name="Rectangle 48"/>
          <p:cNvSpPr/>
          <p:nvPr/>
        </p:nvSpPr>
        <p:spPr>
          <a:xfrm>
            <a:off x="4370832"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0" name="Rectangle 49"/>
          <p:cNvSpPr/>
          <p:nvPr/>
        </p:nvSpPr>
        <p:spPr>
          <a:xfrm>
            <a:off x="4773168"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1" name="Rectangle 50"/>
          <p:cNvSpPr/>
          <p:nvPr/>
        </p:nvSpPr>
        <p:spPr>
          <a:xfrm>
            <a:off x="5175504"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2" name="Rectangle 51"/>
          <p:cNvSpPr/>
          <p:nvPr/>
        </p:nvSpPr>
        <p:spPr>
          <a:xfrm>
            <a:off x="5577840"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3" name="Rectangle 52"/>
          <p:cNvSpPr/>
          <p:nvPr/>
        </p:nvSpPr>
        <p:spPr>
          <a:xfrm>
            <a:off x="5980176"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4" name="Rectangle 53"/>
          <p:cNvSpPr/>
          <p:nvPr/>
        </p:nvSpPr>
        <p:spPr>
          <a:xfrm>
            <a:off x="6382512"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5" name="Rectangle 54"/>
          <p:cNvSpPr/>
          <p:nvPr/>
        </p:nvSpPr>
        <p:spPr>
          <a:xfrm>
            <a:off x="6784848" y="2807208"/>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6" name="Rectangle 55"/>
          <p:cNvSpPr/>
          <p:nvPr/>
        </p:nvSpPr>
        <p:spPr>
          <a:xfrm>
            <a:off x="1956816"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7" name="Rectangle 56"/>
          <p:cNvSpPr/>
          <p:nvPr/>
        </p:nvSpPr>
        <p:spPr>
          <a:xfrm>
            <a:off x="2359152"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8" name="Rectangle 57"/>
          <p:cNvSpPr/>
          <p:nvPr/>
        </p:nvSpPr>
        <p:spPr>
          <a:xfrm>
            <a:off x="2761488"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9" name="Rectangle 58"/>
          <p:cNvSpPr/>
          <p:nvPr/>
        </p:nvSpPr>
        <p:spPr>
          <a:xfrm>
            <a:off x="3163824"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0" name="Rectangle 59"/>
          <p:cNvSpPr/>
          <p:nvPr/>
        </p:nvSpPr>
        <p:spPr>
          <a:xfrm>
            <a:off x="3566160"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1" name="Rectangle 60"/>
          <p:cNvSpPr/>
          <p:nvPr/>
        </p:nvSpPr>
        <p:spPr>
          <a:xfrm>
            <a:off x="3968496"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2" name="Rectangle 61"/>
          <p:cNvSpPr/>
          <p:nvPr/>
        </p:nvSpPr>
        <p:spPr>
          <a:xfrm>
            <a:off x="4370832"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3" name="Rectangle 62"/>
          <p:cNvSpPr/>
          <p:nvPr/>
        </p:nvSpPr>
        <p:spPr>
          <a:xfrm>
            <a:off x="4773168"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4" name="Rectangle 63"/>
          <p:cNvSpPr/>
          <p:nvPr/>
        </p:nvSpPr>
        <p:spPr>
          <a:xfrm>
            <a:off x="5175504"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5" name="Rectangle 64"/>
          <p:cNvSpPr/>
          <p:nvPr/>
        </p:nvSpPr>
        <p:spPr>
          <a:xfrm>
            <a:off x="5577840"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6" name="Rectangle 65"/>
          <p:cNvSpPr/>
          <p:nvPr/>
        </p:nvSpPr>
        <p:spPr>
          <a:xfrm>
            <a:off x="5980176"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7" name="Rectangle 66"/>
          <p:cNvSpPr/>
          <p:nvPr/>
        </p:nvSpPr>
        <p:spPr>
          <a:xfrm>
            <a:off x="6382512"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8" name="Rectangle 67"/>
          <p:cNvSpPr/>
          <p:nvPr/>
        </p:nvSpPr>
        <p:spPr>
          <a:xfrm>
            <a:off x="6784848"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9" name="TextBox 68"/>
          <p:cNvSpPr txBox="1"/>
          <p:nvPr/>
        </p:nvSpPr>
        <p:spPr>
          <a:xfrm>
            <a:off x="457200" y="3685032"/>
            <a:ext cx="8229600" cy="365760"/>
          </a:xfrm>
          <a:prstGeom prst="rect">
            <a:avLst/>
          </a:prstGeom>
          <a:noFill/>
        </p:spPr>
        <p:txBody>
          <a:bodyPr wrap="square">
            <a:spAutoFit/>
          </a:bodyPr>
          <a:lstStyle/>
          <a:p>
            <a:pPr algn="ctr"/>
            <a:r>
              <a:rPr sz="1400" b="0" i="0">
                <a:solidFill>
                  <a:srgbClr val="9AA3AB"/>
                </a:solidFill>
              </a:rPr>
              <a:t>The tile to the left of G is closer to T. That way is 7 steps, and going right is 5.</a:t>
            </a:r>
          </a:p>
        </p:txBody>
      </p:sp>
      <p:sp>
        <p:nvSpPr>
          <p:cNvPr id="70" name="TextBox 69"/>
          <p:cNvSpPr txBox="1"/>
          <p:nvPr/>
        </p:nvSpPr>
        <p:spPr>
          <a:xfrm>
            <a:off x="457200" y="4160520"/>
            <a:ext cx="8229600" cy="731520"/>
          </a:xfrm>
          <a:prstGeom prst="rect">
            <a:avLst/>
          </a:prstGeom>
          <a:noFill/>
        </p:spPr>
        <p:txBody>
          <a:bodyPr wrap="square">
            <a:spAutoFit/>
          </a:bodyPr>
          <a:lstStyle/>
          <a:p>
            <a:pPr algn="ctr"/>
            <a:r>
              <a:rPr sz="1800" b="1" i="0">
                <a:solidFill>
                  <a:srgbClr val="DEE2E6"/>
                </a:solidFill>
              </a:rPr>
              <a:t>How does a ghost find the shortest way?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Breadth-First Search</a:t>
            </a:r>
            <a:endParaRPr/>
          </a:p>
        </p:txBody>
      </p:sp>
      <p:sp>
        <p:nvSpPr>
          <p:cNvPr id="3" name="Text Placeholder 2"/>
          <p:cNvSpPr>
            <a:spLocks noGrp="1"/>
          </p:cNvSpPr>
          <p:nvPr>
            <p:ph type="body" idx="1"/>
          </p:nvPr>
        </p:nvSpPr>
        <p:spPr>
          <a:xfrm>
            <a:off x="311700" y="885950"/>
            <a:ext cx="8520600" cy="521208"/>
          </a:xfrm>
        </p:spPr>
        <p:txBody>
          <a:bodyPr/>
          <a:lstStyle/>
          <a:p>
            <a:pPr indent="-330200" lvl="0" marL="457200" rtl="0" algn="l">
              <a:spcBef>
                <a:spcPts val="0"/>
              </a:spcBef>
              <a:spcAft>
                <a:spcPts val="0"/>
              </a:spcAft>
              <a:buSzPts val="1600"/>
              <a:buChar char="●"/>
            </a:pPr>
            <a:r>
              <a:rPr lang="en" b="1"/>
              <a:t>Number the tiles outwards from the ghost, one step at a time.</a:t>
            </a:r>
            <a:endParaRPr/>
          </a:p>
        </p:txBody>
      </p:sp>
      <p:sp>
        <p:nvSpPr>
          <p:cNvPr id="4" name="Rectangle 3"/>
          <p:cNvSpPr/>
          <p:nvPr/>
        </p:nvSpPr>
        <p:spPr>
          <a:xfrm>
            <a:off x="1956816"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 name="Rectangle 4"/>
          <p:cNvSpPr/>
          <p:nvPr/>
        </p:nvSpPr>
        <p:spPr>
          <a:xfrm>
            <a:off x="2359152"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 name="Rectangle 5"/>
          <p:cNvSpPr/>
          <p:nvPr/>
        </p:nvSpPr>
        <p:spPr>
          <a:xfrm>
            <a:off x="2761488"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7" name="Rectangle 6"/>
          <p:cNvSpPr/>
          <p:nvPr/>
        </p:nvSpPr>
        <p:spPr>
          <a:xfrm>
            <a:off x="3163824"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8" name="Rectangle 7"/>
          <p:cNvSpPr/>
          <p:nvPr/>
        </p:nvSpPr>
        <p:spPr>
          <a:xfrm>
            <a:off x="3566160"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9" name="Rectangle 8"/>
          <p:cNvSpPr/>
          <p:nvPr/>
        </p:nvSpPr>
        <p:spPr>
          <a:xfrm>
            <a:off x="3968496"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0" name="Rectangle 9"/>
          <p:cNvSpPr/>
          <p:nvPr/>
        </p:nvSpPr>
        <p:spPr>
          <a:xfrm>
            <a:off x="4370832"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1" name="Rectangle 10"/>
          <p:cNvSpPr/>
          <p:nvPr/>
        </p:nvSpPr>
        <p:spPr>
          <a:xfrm>
            <a:off x="4773168"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2" name="Rectangle 11"/>
          <p:cNvSpPr/>
          <p:nvPr/>
        </p:nvSpPr>
        <p:spPr>
          <a:xfrm>
            <a:off x="5175504"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3" name="Rectangle 12"/>
          <p:cNvSpPr/>
          <p:nvPr/>
        </p:nvSpPr>
        <p:spPr>
          <a:xfrm>
            <a:off x="5577840"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4" name="Rectangle 13"/>
          <p:cNvSpPr/>
          <p:nvPr/>
        </p:nvSpPr>
        <p:spPr>
          <a:xfrm>
            <a:off x="5980176"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5" name="Rectangle 14"/>
          <p:cNvSpPr/>
          <p:nvPr/>
        </p:nvSpPr>
        <p:spPr>
          <a:xfrm>
            <a:off x="6382512"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6" name="Rectangle 15"/>
          <p:cNvSpPr/>
          <p:nvPr/>
        </p:nvSpPr>
        <p:spPr>
          <a:xfrm>
            <a:off x="6784848" y="1600200"/>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7" name="Rectangle 16"/>
          <p:cNvSpPr/>
          <p:nvPr/>
        </p:nvSpPr>
        <p:spPr>
          <a:xfrm>
            <a:off x="1956816" y="2002536"/>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18" name="Rectangle 17"/>
          <p:cNvSpPr/>
          <p:nvPr/>
        </p:nvSpPr>
        <p:spPr>
          <a:xfrm>
            <a:off x="2359152"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5</a:t>
            </a:r>
          </a:p>
        </p:txBody>
      </p:sp>
      <p:sp>
        <p:nvSpPr>
          <p:cNvPr id="19" name="Rectangle 18"/>
          <p:cNvSpPr/>
          <p:nvPr/>
        </p:nvSpPr>
        <p:spPr>
          <a:xfrm>
            <a:off x="2761488"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0" name="Rectangle 19"/>
          <p:cNvSpPr/>
          <p:nvPr/>
        </p:nvSpPr>
        <p:spPr>
          <a:xfrm>
            <a:off x="3163824" y="2002536"/>
            <a:ext cx="374904" cy="374904"/>
          </a:xfrm>
          <a:prstGeom prst="rect">
            <a:avLst/>
          </a:prstGeom>
          <a:solidFill>
            <a:srgbClr val="1E9BA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T</a:t>
            </a:r>
          </a:p>
        </p:txBody>
      </p:sp>
      <p:sp>
        <p:nvSpPr>
          <p:cNvPr id="21" name="Rectangle 20"/>
          <p:cNvSpPr/>
          <p:nvPr/>
        </p:nvSpPr>
        <p:spPr>
          <a:xfrm>
            <a:off x="3566160" y="2002536"/>
            <a:ext cx="374904" cy="374904"/>
          </a:xfrm>
          <a:prstGeom prst="rect">
            <a:avLst/>
          </a:prstGeom>
          <a:solidFill>
            <a:srgbClr val="17191C"/>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4</a:t>
            </a:r>
          </a:p>
        </p:txBody>
      </p:sp>
      <p:sp>
        <p:nvSpPr>
          <p:cNvPr id="22" name="Rectangle 21"/>
          <p:cNvSpPr/>
          <p:nvPr/>
        </p:nvSpPr>
        <p:spPr>
          <a:xfrm>
            <a:off x="3968496" y="2002536"/>
            <a:ext cx="374904" cy="374904"/>
          </a:xfrm>
          <a:prstGeom prst="rect">
            <a:avLst/>
          </a:prstGeom>
          <a:solidFill>
            <a:srgbClr val="17191C"/>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3</a:t>
            </a:r>
          </a:p>
        </p:txBody>
      </p:sp>
      <p:sp>
        <p:nvSpPr>
          <p:cNvPr id="23" name="Rectangle 22"/>
          <p:cNvSpPr/>
          <p:nvPr/>
        </p:nvSpPr>
        <p:spPr>
          <a:xfrm>
            <a:off x="4370832"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4</a:t>
            </a:r>
          </a:p>
        </p:txBody>
      </p:sp>
      <p:sp>
        <p:nvSpPr>
          <p:cNvPr id="24" name="Rectangle 23"/>
          <p:cNvSpPr/>
          <p:nvPr/>
        </p:nvSpPr>
        <p:spPr>
          <a:xfrm>
            <a:off x="4773168"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5</a:t>
            </a:r>
          </a:p>
        </p:txBody>
      </p:sp>
      <p:sp>
        <p:nvSpPr>
          <p:cNvPr id="25" name="Rectangle 24"/>
          <p:cNvSpPr/>
          <p:nvPr/>
        </p:nvSpPr>
        <p:spPr>
          <a:xfrm>
            <a:off x="5175504"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6" name="Rectangle 25"/>
          <p:cNvSpPr/>
          <p:nvPr/>
        </p:nvSpPr>
        <p:spPr>
          <a:xfrm>
            <a:off x="5577840"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7" name="Rectangle 26"/>
          <p:cNvSpPr/>
          <p:nvPr/>
        </p:nvSpPr>
        <p:spPr>
          <a:xfrm>
            <a:off x="5980176"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8" name="Rectangle 27"/>
          <p:cNvSpPr/>
          <p:nvPr/>
        </p:nvSpPr>
        <p:spPr>
          <a:xfrm>
            <a:off x="6382512" y="2002536"/>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29" name="Rectangle 28"/>
          <p:cNvSpPr/>
          <p:nvPr/>
        </p:nvSpPr>
        <p:spPr>
          <a:xfrm>
            <a:off x="6784848" y="2002536"/>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0" name="Rectangle 29"/>
          <p:cNvSpPr/>
          <p:nvPr/>
        </p:nvSpPr>
        <p:spPr>
          <a:xfrm>
            <a:off x="1956816"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1" name="Rectangle 30"/>
          <p:cNvSpPr/>
          <p:nvPr/>
        </p:nvSpPr>
        <p:spPr>
          <a:xfrm>
            <a:off x="2359152" y="2404872"/>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4</a:t>
            </a:r>
          </a:p>
        </p:txBody>
      </p:sp>
      <p:sp>
        <p:nvSpPr>
          <p:cNvPr id="32" name="Rectangle 31"/>
          <p:cNvSpPr/>
          <p:nvPr/>
        </p:nvSpPr>
        <p:spPr>
          <a:xfrm>
            <a:off x="2761488"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3" name="Rectangle 32"/>
          <p:cNvSpPr/>
          <p:nvPr/>
        </p:nvSpPr>
        <p:spPr>
          <a:xfrm>
            <a:off x="3163824"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4" name="Rectangle 33"/>
          <p:cNvSpPr/>
          <p:nvPr/>
        </p:nvSpPr>
        <p:spPr>
          <a:xfrm>
            <a:off x="3566160"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5" name="Rectangle 34"/>
          <p:cNvSpPr/>
          <p:nvPr/>
        </p:nvSpPr>
        <p:spPr>
          <a:xfrm>
            <a:off x="3968496" y="2404872"/>
            <a:ext cx="374904" cy="374904"/>
          </a:xfrm>
          <a:prstGeom prst="rect">
            <a:avLst/>
          </a:prstGeom>
          <a:solidFill>
            <a:srgbClr val="17191C"/>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2</a:t>
            </a:r>
          </a:p>
        </p:txBody>
      </p:sp>
      <p:sp>
        <p:nvSpPr>
          <p:cNvPr id="36" name="Rectangle 35"/>
          <p:cNvSpPr/>
          <p:nvPr/>
        </p:nvSpPr>
        <p:spPr>
          <a:xfrm>
            <a:off x="4370832"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7" name="Rectangle 36"/>
          <p:cNvSpPr/>
          <p:nvPr/>
        </p:nvSpPr>
        <p:spPr>
          <a:xfrm>
            <a:off x="4773168" y="2404872"/>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4</a:t>
            </a:r>
          </a:p>
        </p:txBody>
      </p:sp>
      <p:sp>
        <p:nvSpPr>
          <p:cNvPr id="38" name="Rectangle 37"/>
          <p:cNvSpPr/>
          <p:nvPr/>
        </p:nvSpPr>
        <p:spPr>
          <a:xfrm>
            <a:off x="5175504"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39" name="Rectangle 38"/>
          <p:cNvSpPr/>
          <p:nvPr/>
        </p:nvSpPr>
        <p:spPr>
          <a:xfrm>
            <a:off x="5577840"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0" name="Rectangle 39"/>
          <p:cNvSpPr/>
          <p:nvPr/>
        </p:nvSpPr>
        <p:spPr>
          <a:xfrm>
            <a:off x="5980176"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1" name="Rectangle 40"/>
          <p:cNvSpPr/>
          <p:nvPr/>
        </p:nvSpPr>
        <p:spPr>
          <a:xfrm>
            <a:off x="6382512" y="2404872"/>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2" name="Rectangle 41"/>
          <p:cNvSpPr/>
          <p:nvPr/>
        </p:nvSpPr>
        <p:spPr>
          <a:xfrm>
            <a:off x="6784848" y="2404872"/>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3" name="Rectangle 42"/>
          <p:cNvSpPr/>
          <p:nvPr/>
        </p:nvSpPr>
        <p:spPr>
          <a:xfrm>
            <a:off x="1956816" y="2807208"/>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44" name="Rectangle 43"/>
          <p:cNvSpPr/>
          <p:nvPr/>
        </p:nvSpPr>
        <p:spPr>
          <a:xfrm>
            <a:off x="2359152"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3</a:t>
            </a:r>
          </a:p>
        </p:txBody>
      </p:sp>
      <p:sp>
        <p:nvSpPr>
          <p:cNvPr id="45" name="Rectangle 44"/>
          <p:cNvSpPr/>
          <p:nvPr/>
        </p:nvSpPr>
        <p:spPr>
          <a:xfrm>
            <a:off x="2761488"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2</a:t>
            </a:r>
          </a:p>
        </p:txBody>
      </p:sp>
      <p:sp>
        <p:nvSpPr>
          <p:cNvPr id="46" name="Rectangle 45"/>
          <p:cNvSpPr/>
          <p:nvPr/>
        </p:nvSpPr>
        <p:spPr>
          <a:xfrm>
            <a:off x="3163824"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1</a:t>
            </a:r>
          </a:p>
        </p:txBody>
      </p:sp>
      <p:sp>
        <p:nvSpPr>
          <p:cNvPr id="47" name="Rectangle 46"/>
          <p:cNvSpPr/>
          <p:nvPr/>
        </p:nvSpPr>
        <p:spPr>
          <a:xfrm>
            <a:off x="3566160" y="2807208"/>
            <a:ext cx="374904" cy="374904"/>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G</a:t>
            </a:r>
          </a:p>
        </p:txBody>
      </p:sp>
      <p:sp>
        <p:nvSpPr>
          <p:cNvPr id="48" name="Rectangle 47"/>
          <p:cNvSpPr/>
          <p:nvPr/>
        </p:nvSpPr>
        <p:spPr>
          <a:xfrm>
            <a:off x="3968496" y="2807208"/>
            <a:ext cx="374904" cy="374904"/>
          </a:xfrm>
          <a:prstGeom prst="rect">
            <a:avLst/>
          </a:prstGeom>
          <a:solidFill>
            <a:srgbClr val="17191C"/>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1</a:t>
            </a:r>
          </a:p>
        </p:txBody>
      </p:sp>
      <p:sp>
        <p:nvSpPr>
          <p:cNvPr id="49" name="Rectangle 48"/>
          <p:cNvSpPr/>
          <p:nvPr/>
        </p:nvSpPr>
        <p:spPr>
          <a:xfrm>
            <a:off x="4370832"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2</a:t>
            </a:r>
          </a:p>
        </p:txBody>
      </p:sp>
      <p:sp>
        <p:nvSpPr>
          <p:cNvPr id="50" name="Rectangle 49"/>
          <p:cNvSpPr/>
          <p:nvPr/>
        </p:nvSpPr>
        <p:spPr>
          <a:xfrm>
            <a:off x="4773168"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3</a:t>
            </a:r>
          </a:p>
        </p:txBody>
      </p:sp>
      <p:sp>
        <p:nvSpPr>
          <p:cNvPr id="51" name="Rectangle 50"/>
          <p:cNvSpPr/>
          <p:nvPr/>
        </p:nvSpPr>
        <p:spPr>
          <a:xfrm>
            <a:off x="5175504"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4</a:t>
            </a:r>
          </a:p>
        </p:txBody>
      </p:sp>
      <p:sp>
        <p:nvSpPr>
          <p:cNvPr id="52" name="Rectangle 51"/>
          <p:cNvSpPr/>
          <p:nvPr/>
        </p:nvSpPr>
        <p:spPr>
          <a:xfrm>
            <a:off x="5577840"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5</a:t>
            </a:r>
          </a:p>
        </p:txBody>
      </p:sp>
      <p:sp>
        <p:nvSpPr>
          <p:cNvPr id="53" name="Rectangle 52"/>
          <p:cNvSpPr/>
          <p:nvPr/>
        </p:nvSpPr>
        <p:spPr>
          <a:xfrm>
            <a:off x="5980176"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4" name="Rectangle 53"/>
          <p:cNvSpPr/>
          <p:nvPr/>
        </p:nvSpPr>
        <p:spPr>
          <a:xfrm>
            <a:off x="6382512" y="2807208"/>
            <a:ext cx="374904" cy="374904"/>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5" name="Rectangle 54"/>
          <p:cNvSpPr/>
          <p:nvPr/>
        </p:nvSpPr>
        <p:spPr>
          <a:xfrm>
            <a:off x="6784848" y="2807208"/>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6" name="Rectangle 55"/>
          <p:cNvSpPr/>
          <p:nvPr/>
        </p:nvSpPr>
        <p:spPr>
          <a:xfrm>
            <a:off x="1956816"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7" name="Rectangle 56"/>
          <p:cNvSpPr/>
          <p:nvPr/>
        </p:nvSpPr>
        <p:spPr>
          <a:xfrm>
            <a:off x="2359152"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8" name="Rectangle 57"/>
          <p:cNvSpPr/>
          <p:nvPr/>
        </p:nvSpPr>
        <p:spPr>
          <a:xfrm>
            <a:off x="2761488"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59" name="Rectangle 58"/>
          <p:cNvSpPr/>
          <p:nvPr/>
        </p:nvSpPr>
        <p:spPr>
          <a:xfrm>
            <a:off x="3163824"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0" name="Rectangle 59"/>
          <p:cNvSpPr/>
          <p:nvPr/>
        </p:nvSpPr>
        <p:spPr>
          <a:xfrm>
            <a:off x="3566160"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1" name="Rectangle 60"/>
          <p:cNvSpPr/>
          <p:nvPr/>
        </p:nvSpPr>
        <p:spPr>
          <a:xfrm>
            <a:off x="3968496"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2" name="Rectangle 61"/>
          <p:cNvSpPr/>
          <p:nvPr/>
        </p:nvSpPr>
        <p:spPr>
          <a:xfrm>
            <a:off x="4370832"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3" name="Rectangle 62"/>
          <p:cNvSpPr/>
          <p:nvPr/>
        </p:nvSpPr>
        <p:spPr>
          <a:xfrm>
            <a:off x="4773168"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4" name="Rectangle 63"/>
          <p:cNvSpPr/>
          <p:nvPr/>
        </p:nvSpPr>
        <p:spPr>
          <a:xfrm>
            <a:off x="5175504"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5" name="Rectangle 64"/>
          <p:cNvSpPr/>
          <p:nvPr/>
        </p:nvSpPr>
        <p:spPr>
          <a:xfrm>
            <a:off x="5577840"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6" name="Rectangle 65"/>
          <p:cNvSpPr/>
          <p:nvPr/>
        </p:nvSpPr>
        <p:spPr>
          <a:xfrm>
            <a:off x="5980176"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7" name="Rectangle 66"/>
          <p:cNvSpPr/>
          <p:nvPr/>
        </p:nvSpPr>
        <p:spPr>
          <a:xfrm>
            <a:off x="6382512"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8" name="Rectangle 67"/>
          <p:cNvSpPr/>
          <p:nvPr/>
        </p:nvSpPr>
        <p:spPr>
          <a:xfrm>
            <a:off x="6784848" y="3209544"/>
            <a:ext cx="374904" cy="374904"/>
          </a:xfrm>
          <a:prstGeom prst="rect">
            <a:avLst/>
          </a:prstGeom>
          <a:solidFill>
            <a:srgbClr val="4A52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9AA3AB"/>
                </a:solidFill>
              </a:rPr>
              <a:t/>
            </a:r>
          </a:p>
        </p:txBody>
      </p:sp>
      <p:sp>
        <p:nvSpPr>
          <p:cNvPr id="69" name="TextBox 68"/>
          <p:cNvSpPr txBox="1"/>
          <p:nvPr/>
        </p:nvSpPr>
        <p:spPr>
          <a:xfrm>
            <a:off x="457200" y="3685032"/>
            <a:ext cx="8229600" cy="365760"/>
          </a:xfrm>
          <a:prstGeom prst="rect">
            <a:avLst/>
          </a:prstGeom>
          <a:noFill/>
        </p:spPr>
        <p:txBody>
          <a:bodyPr wrap="square">
            <a:spAutoFit/>
          </a:bodyPr>
          <a:lstStyle/>
          <a:p>
            <a:pPr algn="ctr"/>
            <a:r>
              <a:rPr sz="1400" b="0" i="0">
                <a:solidFill>
                  <a:srgbClr val="9AA3AB"/>
                </a:solidFill>
              </a:rPr>
              <a:t>Each tile remembers where it was reached from. Follow that back from T for the path.</a:t>
            </a:r>
          </a:p>
        </p:txBody>
      </p:sp>
      <p:sp>
        <p:nvSpPr>
          <p:cNvPr id="70" name="TextBox 69"/>
          <p:cNvSpPr txBox="1"/>
          <p:nvPr/>
        </p:nvSpPr>
        <p:spPr>
          <a:xfrm>
            <a:off x="457200" y="4160520"/>
            <a:ext cx="8229600" cy="731520"/>
          </a:xfrm>
          <a:prstGeom prst="rect">
            <a:avLst/>
          </a:prstGeom>
          <a:noFill/>
        </p:spPr>
        <p:txBody>
          <a:bodyPr wrap="square">
            <a:spAutoFit/>
          </a:bodyPr>
          <a:lstStyle/>
          <a:p>
            <a:pPr algn="ctr"/>
            <a:r>
              <a:rPr sz="1800" b="1" i="0">
                <a:solidFill>
                  <a:srgbClr val="DEE2E6"/>
                </a:solidFill>
              </a:rPr>
              <a:t>Always the shortest path, but it searches in every direction.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A*</a:t>
            </a:r>
            <a:endParaRPr/>
          </a:p>
        </p:txBody>
      </p:sp>
      <p:sp>
        <p:nvSpPr>
          <p:cNvPr id="3" name="Text Placeholder 2"/>
          <p:cNvSpPr>
            <a:spLocks noGrp="1"/>
          </p:cNvSpPr>
          <p:nvPr>
            <p:ph type="body" idx="1"/>
          </p:nvPr>
        </p:nvSpPr>
        <p:spPr>
          <a:xfrm>
            <a:off x="311700" y="885950"/>
            <a:ext cx="8520600" cy="521208"/>
          </a:xfrm>
        </p:spPr>
        <p:txBody>
          <a:bodyPr/>
          <a:lstStyle/>
          <a:p>
            <a:pPr indent="-330200" lvl="0" marL="457200" rtl="0" algn="l">
              <a:spcBef>
                <a:spcPts val="0"/>
              </a:spcBef>
              <a:spcAft>
                <a:spcPts val="0"/>
              </a:spcAft>
              <a:buSzPts val="1600"/>
              <a:buChar char="●"/>
            </a:pPr>
            <a:r>
              <a:rPr lang="en" b="1"/>
              <a:t>Continue from the tile where steps so far + estimated steps left is lowest.</a:t>
            </a:r>
            <a:endParaRPr/>
          </a:p>
        </p:txBody>
      </p:sp>
      <p:sp>
        <p:nvSpPr>
          <p:cNvPr id="4" name="Rectangle 3"/>
          <p:cNvSpPr/>
          <p:nvPr/>
        </p:nvSpPr>
        <p:spPr>
          <a:xfrm>
            <a:off x="548640" y="1600200"/>
            <a:ext cx="8046720" cy="25146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while (open.Count &gt; 0)</a:t>
            </a:r>
          </a:p>
          <a:p>
            <a:pPr algn="l"/>
            <a:r>
              <a:rPr sz="1200">
                <a:solidFill>
                  <a:srgbClr val="DEE2E6"/>
                </a:solidFill>
                <a:latin typeface="Consolas"/>
              </a:rPr>
              <a:t>{</a:t>
            </a:r>
          </a:p>
          <a:p>
            <a:pPr algn="l"/>
            <a:r>
              <a:rPr sz="1200">
                <a:solidFill>
                  <a:srgbClr val="DEE2E6"/>
                </a:solidFill>
                <a:latin typeface="Consolas"/>
              </a:rPr>
              <a:t>    Point tile = open.Dequeue();            // the lowest steps + estimate</a:t>
            </a:r>
          </a:p>
          <a:p>
            <a:pPr algn="l"/>
            <a:r>
              <a:rPr sz="1200">
                <a:solidFill>
                  <a:srgbClr val="DEE2E6"/>
                </a:solidFill>
                <a:latin typeface="Consolas"/>
              </a:rPr>
              <a:t>    if (tile == goal)</a:t>
            </a:r>
          </a:p>
          <a:p>
            <a:pPr algn="l"/>
            <a:r>
              <a:rPr sz="1200">
                <a:solidFill>
                  <a:srgbClr val="DEE2E6"/>
                </a:solidFill>
                <a:latin typeface="Consolas"/>
              </a:rPr>
              <a:t>        return Walk(cameFrom, start, goal);</a:t>
            </a:r>
          </a:p>
          <a:p>
            <a:pPr algn="l"/>
            <a:r>
              <a:rPr sz="1200">
                <a:solidFill>
                  <a:srgbClr val="DEE2E6"/>
                </a:solidFill>
                <a:latin typeface="Consolas"/>
              </a:rPr>
              <a:t> </a:t>
            </a:r>
          </a:p>
          <a:p>
            <a:pPr algn="l"/>
            <a:r>
              <a:rPr sz="1200">
                <a:solidFill>
                  <a:srgbClr val="9AA3AB"/>
                </a:solidFill>
                <a:latin typeface="Consolas"/>
              </a:rPr>
              <a:t>    // for every open neighbour that this is the quickest way to:</a:t>
            </a:r>
          </a:p>
          <a:p>
            <a:pPr algn="l"/>
            <a:r>
              <a:rPr sz="1200">
                <a:solidFill>
                  <a:srgbClr val="DEE2E6"/>
                </a:solidFill>
                <a:latin typeface="Consolas"/>
              </a:rPr>
              <a:t>    steps[next] = steps[tile] + 1;</a:t>
            </a:r>
          </a:p>
          <a:p>
            <a:pPr algn="l"/>
            <a:r>
              <a:rPr sz="1200">
                <a:solidFill>
                  <a:srgbClr val="DEE2E6"/>
                </a:solidFill>
                <a:latin typeface="Consolas"/>
              </a:rPr>
              <a:t>    cameFrom[next] = tile;</a:t>
            </a:r>
          </a:p>
          <a:p>
            <a:pPr algn="l"/>
            <a:r>
              <a:rPr sz="1200">
                <a:solidFill>
                  <a:srgbClr val="DEE2E6"/>
                </a:solidFill>
                <a:latin typeface="Consolas"/>
              </a:rPr>
              <a:t>    open.Enqueue(next, steps[next] + Estimate(maze, next, goal));</a:t>
            </a:r>
          </a:p>
          <a:p>
            <a:pPr algn="l"/>
            <a:r>
              <a:rPr sz="1200">
                <a:solidFill>
                  <a:srgbClr val="DEE2E6"/>
                </a:solidFill>
                <a:latin typeface="Consolas"/>
              </a:rPr>
              <a:t>}</a:t>
            </a:r>
          </a:p>
        </p:txBody>
      </p:sp>
      <p:sp>
        <p:nvSpPr>
          <p:cNvPr id="5" name="TextBox 4"/>
          <p:cNvSpPr txBox="1"/>
          <p:nvPr/>
        </p:nvSpPr>
        <p:spPr>
          <a:xfrm>
            <a:off x="457200" y="4251960"/>
            <a:ext cx="8229600" cy="731520"/>
          </a:xfrm>
          <a:prstGeom prst="rect">
            <a:avLst/>
          </a:prstGeom>
          <a:noFill/>
        </p:spPr>
        <p:txBody>
          <a:bodyPr wrap="square">
            <a:spAutoFit/>
          </a:bodyPr>
          <a:lstStyle/>
          <a:p>
            <a:pPr algn="ctr"/>
            <a:r>
              <a:rPr sz="1600" b="1" i="0">
                <a:solidFill>
                  <a:srgbClr val="DEE2E6"/>
                </a:solidFill>
              </a:rPr>
              <a:t>The estimate must never be higher than the real distance.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Routing as a Strategy</a:t>
            </a:r>
            <a:endParaRPr/>
          </a:p>
        </p:txBody>
      </p:sp>
      <p:sp>
        <p:nvSpPr>
          <p:cNvPr id="3" name="Text Placeholder 2"/>
          <p:cNvSpPr>
            <a:spLocks noGrp="1"/>
          </p:cNvSpPr>
          <p:nvPr>
            <p:ph type="body" idx="1"/>
          </p:nvPr>
        </p:nvSpPr>
        <p:spPr>
          <a:xfrm>
            <a:off x="311700" y="885950"/>
            <a:ext cx="8520600" cy="521208"/>
          </a:xfrm>
        </p:spPr>
        <p:txBody>
          <a:bodyPr/>
          <a:lstStyle/>
          <a:p>
            <a:pPr indent="-330200" lvl="0" marL="457200" rtl="0" algn="l">
              <a:spcBef>
                <a:spcPts val="0"/>
              </a:spcBef>
              <a:spcAft>
                <a:spcPts val="0"/>
              </a:spcAft>
              <a:buSzPts val="1600"/>
              <a:buChar char="●"/>
            </a:pPr>
            <a:r>
              <a:rPr lang="en" b="1"/>
              <a:t>Targeting says where a ghost wants to go. Routing says which way it turns to get there.</a:t>
            </a:r>
            <a:endParaRPr/>
          </a:p>
        </p:txBody>
      </p:sp>
      <p:sp>
        <p:nvSpPr>
          <p:cNvPr id="4" name="Rounded Rectangle 3"/>
          <p:cNvSpPr/>
          <p:nvPr/>
        </p:nvSpPr>
        <p:spPr>
          <a:xfrm>
            <a:off x="548640" y="1737360"/>
            <a:ext cx="3840480" cy="13716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NearestTile</a:t>
            </a:r>
          </a:p>
          <a:p>
            <a:pPr algn="ctr"/>
            <a:r>
              <a:rPr sz="1300" b="0">
                <a:solidFill>
                  <a:srgbClr val="9AA3AB"/>
                </a:solidFill>
              </a:rPr>
              <a:t>the arcade rule</a:t>
            </a:r>
          </a:p>
          <a:p>
            <a:pPr algn="ctr"/>
            <a:r>
              <a:rPr sz="1300" b="0">
                <a:solidFill>
                  <a:srgbClr val="9AA3AB"/>
                </a:solidFill>
              </a:rPr>
              <a:t>the four ghosts, in scatter and chase</a:t>
            </a:r>
          </a:p>
        </p:txBody>
      </p:sp>
      <p:sp>
        <p:nvSpPr>
          <p:cNvPr id="5" name="Rounded Rectangle 4"/>
          <p:cNvSpPr/>
          <p:nvPr/>
        </p:nvSpPr>
        <p:spPr>
          <a:xfrm>
            <a:off x="4754880" y="1737360"/>
            <a:ext cx="3840480" cy="13716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ShortestPath</a:t>
            </a:r>
          </a:p>
          <a:p>
            <a:pPr algn="ctr"/>
            <a:r>
              <a:rPr sz="1300" b="0">
                <a:solidFill>
                  <a:srgbClr val="9AA3AB"/>
                </a:solidFill>
              </a:rPr>
              <a:t>the first step of the path A* finds</a:t>
            </a:r>
          </a:p>
          <a:p>
            <a:pPr algn="ctr"/>
            <a:r>
              <a:rPr sz="1300" b="0">
                <a:solidFill>
                  <a:srgbClr val="9AA3AB"/>
                </a:solidFill>
              </a:rPr>
              <a:t>the eyes, on their way home</a:t>
            </a:r>
          </a:p>
        </p:txBody>
      </p:sp>
      <p:sp>
        <p:nvSpPr>
          <p:cNvPr id="6" name="TextBox 5"/>
          <p:cNvSpPr txBox="1"/>
          <p:nvPr/>
        </p:nvSpPr>
        <p:spPr>
          <a:xfrm>
            <a:off x="457200" y="3520440"/>
            <a:ext cx="8229600" cy="731520"/>
          </a:xfrm>
          <a:prstGeom prst="rect">
            <a:avLst/>
          </a:prstGeom>
          <a:noFill/>
        </p:spPr>
        <p:txBody>
          <a:bodyPr wrap="square">
            <a:spAutoFit/>
          </a:bodyPr>
          <a:lstStyle/>
          <a:p>
            <a:pPr algn="ctr"/>
            <a:r>
              <a:rPr sz="1800" b="1" i="0">
                <a:solidFill>
                  <a:srgbClr val="DEE2E6"/>
                </a:solidFill>
              </a:rPr>
              <a:t>Both are an IRouteStrategy. Which one a ghost gets is one argument in World.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Pathfinding Implementation</a:t>
            </a:r>
            <a:endParaRPr/>
          </a:p>
        </p:txBody>
      </p:sp>
      <p:sp>
        <p:nvSpPr>
          <p:cNvPr id="3" name="Text Placeholder 2"/>
          <p:cNvSpPr>
            <a:spLocks noGrp="1"/>
          </p:cNvSpPr>
          <p:nvPr>
            <p:ph type="body" idx="1"/>
          </p:nvPr>
        </p:nvSpPr>
        <p:spPr>
          <a:xfrm>
            <a:off x="311700" y="885950"/>
            <a:ext cx="8520600" cy="4023300"/>
          </a:xfr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Pacman4: routing strategies, and A* for the eyes</a:t>
            </a:r>
            <a:endParaRPr sz="180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Shortest Path</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Pacman4’s World:</a:t>
            </a:r>
            <a:endParaRPr/>
          </a:p>
          <a:p>
            <a:pPr indent="-330200" lvl="0" marL="457200" rtl="0" algn="l">
              <a:spcBef>
                <a:spcPts val="0"/>
              </a:spcBef>
              <a:spcAft>
                <a:spcPts val="0"/>
              </a:spcAft>
              <a:buSzPts val="1600"/>
              <a:buChar char="●"/>
            </a:pPr>
            <a:r>
              <a:rPr lang="en"/>
              <a:t>Give Blinky new ShortestPath()</a:t>
            </a:r>
            <a:endParaRPr/>
          </a:p>
          <a:p>
            <a:pPr indent="-330200" lvl="0" marL="457200" rtl="0" algn="l">
              <a:spcBef>
                <a:spcPts val="0"/>
              </a:spcBef>
              <a:spcAft>
                <a:spcPts val="0"/>
              </a:spcAft>
              <a:buSzPts val="1600"/>
              <a:buChar char="●"/>
            </a:pPr>
            <a:r>
              <a:rPr lang="en"/>
              <a:t>Then give it to all four: what happens to the game?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