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5" r:id="rId40"/>
    <p:sldId id="257" r:id="rId7"/>
    <p:sldId id="258" r:id="rId8"/>
    <p:sldId id="259" r:id="rId9"/>
    <p:sldId id="297" r:id="rId56"/>
    <p:sldId id="298" r:id="rId57"/>
    <p:sldId id="299" r:id="rId58"/>
    <p:sldId id="319" r:id="rId36"/>
    <p:sldId id="300" r:id="rId59"/>
    <p:sldId id="327" r:id="rId33"/>
    <p:sldId id="326" r:id="rId34"/>
    <p:sldId id="301" r:id="rId60"/>
    <p:sldId id="302" r:id="rId61"/>
    <p:sldId id="303" r:id="rId62"/>
    <p:sldId id="318" r:id="rId37"/>
    <p:sldId id="304" r:id="rId63"/>
    <p:sldId id="305" r:id="rId64"/>
    <p:sldId id="306" r:id="rId65"/>
    <p:sldId id="307" r:id="rId66"/>
    <p:sldId id="317" r:id="rId38"/>
    <p:sldId id="308" r:id="rId67"/>
    <p:sldId id="309" r:id="rId68"/>
    <p:sldId id="310" r:id="rId69"/>
    <p:sldId id="316" r:id="rId39"/>
    <p:sldId id="311" r:id="rId70"/>
    <p:sldId id="320" r:id="rId35"/>
    <p:sldId id="323" r:id="rId32"/>
    <p:sldId id="324" r:id="rId31"/>
    <p:sldId id="325" r:id="rId29"/>
    <p:sldId id="312" r:id="rId71"/>
    <p:sldId id="313" r:id="rId72"/>
    <p:sldId id="280" r:id="rId30"/>
    <p:sldId id="292" r:id="rId42"/>
    <p:sldId id="293" r:id="rId52"/>
    <p:sldId id="314" r:id="rId41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29" Type="http://schemas.openxmlformats.org/officeDocument/2006/relationships/slide" Target="slides/slide30.xml"/><Relationship Id="rId30" Type="http://schemas.openxmlformats.org/officeDocument/2006/relationships/slide" Target="slides/slide33.xml"/><Relationship Id="rId31" Type="http://schemas.openxmlformats.org/officeDocument/2006/relationships/slide" Target="slides/slide29.xml"/><Relationship Id="rId32" Type="http://schemas.openxmlformats.org/officeDocument/2006/relationships/slide" Target="slides/slide28.xml"/><Relationship Id="rId33" Type="http://schemas.openxmlformats.org/officeDocument/2006/relationships/slide" Target="slides/slide11.xml"/><Relationship Id="rId34" Type="http://schemas.openxmlformats.org/officeDocument/2006/relationships/slide" Target="slides/slide12.xml"/><Relationship Id="rId35" Type="http://schemas.openxmlformats.org/officeDocument/2006/relationships/slide" Target="slides/slide27.xml"/><Relationship Id="rId36" Type="http://schemas.openxmlformats.org/officeDocument/2006/relationships/slide" Target="slides/slide9.xml"/><Relationship Id="rId37" Type="http://schemas.openxmlformats.org/officeDocument/2006/relationships/slide" Target="slides/slide16.xml"/><Relationship Id="rId38" Type="http://schemas.openxmlformats.org/officeDocument/2006/relationships/slide" Target="slides/slide21.xml"/><Relationship Id="rId39" Type="http://schemas.openxmlformats.org/officeDocument/2006/relationships/slide" Target="slides/slide25.xml"/><Relationship Id="rId40" Type="http://schemas.openxmlformats.org/officeDocument/2006/relationships/slide" Target="slides/slide2.xml"/><Relationship Id="rId41" Type="http://schemas.openxmlformats.org/officeDocument/2006/relationships/slide" Target="slides/slide36.xml"/><Relationship Id="rId42" Type="http://schemas.openxmlformats.org/officeDocument/2006/relationships/slide" Target="slides/slide34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5.xml"/><Relationship Id="rId53" Type="http://schemas.openxmlformats.org/officeDocument/2006/relationships/slide" Target="slides/slide37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3.xml"/><Relationship Id="rId61" Type="http://schemas.openxmlformats.org/officeDocument/2006/relationships/slide" Target="slides/slide14.xml"/><Relationship Id="rId62" Type="http://schemas.openxmlformats.org/officeDocument/2006/relationships/slide" Target="slides/slide15.xml"/><Relationship Id="rId63" Type="http://schemas.openxmlformats.org/officeDocument/2006/relationships/slide" Target="slides/slide17.xml"/><Relationship Id="rId64" Type="http://schemas.openxmlformats.org/officeDocument/2006/relationships/slide" Target="slides/slide18.xml"/><Relationship Id="rId65" Type="http://schemas.openxmlformats.org/officeDocument/2006/relationships/slide" Target="slides/slide19.xml"/><Relationship Id="rId66" Type="http://schemas.openxmlformats.org/officeDocument/2006/relationships/slide" Target="slides/slide20.xml"/><Relationship Id="rId67" Type="http://schemas.openxmlformats.org/officeDocument/2006/relationships/slide" Target="slides/slide22.xml"/><Relationship Id="rId68" Type="http://schemas.openxmlformats.org/officeDocument/2006/relationships/slide" Target="slides/slide23.xml"/><Relationship Id="rId69" Type="http://schemas.openxmlformats.org/officeDocument/2006/relationships/slide" Target="slides/slide24.xml"/><Relationship Id="rId70" Type="http://schemas.openxmlformats.org/officeDocument/2006/relationships/slide" Target="slides/slide26.xml"/><Relationship Id="rId71" Type="http://schemas.openxmlformats.org/officeDocument/2006/relationships/slide" Target="slides/slide31.xml"/><Relationship Id="rId72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Pacman5,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Pacman5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the State pattern, which we use for the ghosts’ modes. Then Strategy for how each ghost picks its target, and how the two patterns differ. Then Strategy a second time, for how a ghost finds its way.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gar-games/05-pac-man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per ghost in World.</a:t>
            </a:r>
          </a:p>
          <a:p>
            <a:r>
              <a:t>Blinky alone becomes relentless. With all four, the ghosts bunch up in the same corridors, and the game gets harder and less interesting.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  <a:p>
            <a:r>
              <a:t>Pac-Man’s tile</a:t>
            </a:r>
          </a:p>
          <a:p>
            <a:r>
              <a:t>4 tiles ahead of him</a:t>
            </a:r>
          </a:p>
          <a:p>
            <a:r>
              <a:t>2 ahead, doubled</a:t>
            </a:r>
          </a:p>
          <a:p>
            <a:r>
              <a:t>Pac-Man, until</a:t>
            </a:r>
          </a:p>
          <a:p>
            <a:r>
              <a:t>close: then his corner</a:t>
            </a:r>
          </a:p>
          <a:p>
            <a:r>
              <a:t>Where does the targeting code go, so every ghost can have its own?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themselves.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  <a:p/>
          <a:p>
            <a:r>
              <a:t>Q: Why do the chasing ghosts keep the arcade rule, when the shortest path is better?</a:t>
            </a:r>
          </a:p>
          <a:p>
            <a:r>
              <a:t>A: Better pathfinding makes a harder game, which isn't the same as a better one. The ghosts' wrong turns give the player room to escape, and with the shortest path all four would end up in the same corridors. Because routing is a strategy, the choice is one argument in World.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  <a:p>
            <a:r>
              <a:t>PathfinderTests does the same for paths: count the steps on paper, and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Pacman5 for a full life, then run dotnet test in 05-pac-man and open TargetingTests.cs and PathfinderTests.cs.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 is the ghost, T its target. Count both ways with them: left is 7 steps, right is 5.</a:t>
            </a:r>
          </a:p>
          <a:p>
            <a:r>
              <a:t>The arcade rule only compares straight-line distances from the two neighbouring tiles, so it goes left.</a:t>
            </a:r>
          </a:p>
          <a:p>
            <a:r>
              <a:t>This is fine for the chase, where wrong turns are part of the game. For the eyes going home it looks silly.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Pac-Man.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in World. Two ghosts that chase straight at Pac-Man end up in a line behind him, which is easy to escape.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one constant in FrightenedState. A FrozenState is one new class, and EatenState (or whatever state comes before it) changes to it. Compare with the seven switches.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seven (six switch statements and the Look switch expression), and nothing warns you about the ones you miss. Keep the count on the board for the next slides.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Pacman0 reads the maze at start-up, so a restart shows the change.</a:t>
            </a:r>
          </a:p>
          <a:p>
            <a:r>
              <a:t>The early press shows the buffered turn: he turns when he reaches the corner.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Scatter and chase take turns on a fixed schedule. This is why the ghosts sometimes seem to give up.</a:t>
            </a:r>
          </a:p>
          <a:p>
            <a:r>
              <a:t>Ask: why have scatter at all? Answer: without it the game is too hard; the player needs room to breathe.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ghost decides the same way at a tile centre: never back, and of the rest, the direction whose next tile is closest to the target, in a straight line.</a:t>
            </a:r>
          </a:p>
          <a:p>
            <a:r>
              <a:t>The mode only decides what the target is.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Strategy a second time, in the same game: ITargetStrategy for where, IRouteStrategy for which way.</a:t>
            </a:r>
          </a:p>
          <a:p>
            <a:r>
              <a:t>The chasing ghosts keep the arcade rule on purpose. Their wrong turns give the player room to escape.</a:t>
            </a:r>
          </a:p>
          <a:p>
            <a:r>
              <a:t>EatenState always uses ShortestPath, and lost a flag (_enteringHouse) because the search finds the door. The search is A*, in Pathfinder.cs. How it works is optional reading; here it is one method behind a strategy.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Pacman3 and Pacman4 side by side, then run Pacman4.</a:t>
            </a:r>
          </a:p>
          <a:p>
            <a:r>
              <a:t>- Routing/: IRouteStrategy, NearestTile, ShortestPath, Pathfinder</a:t>
            </a:r>
          </a:p>
          <a:p>
            <a:r>
              <a:t>- Ghost.Closest moved into NearestTile</a:t>
            </a:r>
          </a:p>
          <a:p>
            <a:r>
              <a:t>- eat a ghost and watch the eyes go straight home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Pacman5. The new mode is the Frozen mode from the enum task, now as a state: ask them to compare the classes they changed with the seven switches. Test first for the new ghost.</a:t>
            </a:r>
          </a:p>
          <a:p>
            <a:r>
              <a:t>The fifth ghost (purple)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6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Pac-Man</a:t>
            </a:r>
            <a:endParaRPr/>
          </a:p>
        </p:txBody>
      </p:sp>
      <p:pic>
        <p:nvPicPr>
          <p:cNvPr id="3" name="Picture 2" descr="pac-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600" y="960120"/>
            <a:ext cx="2844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Pac-Man (Namco, 1980). Image: Bandai Namco Entertainment America,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ac-ma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255" y="2332305"/>
            <a:ext cx="2941488" cy="16545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Second Strategy: Routing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Pacman5,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drawn as lines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#.###.#######.########.#######.###.#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#.###.........########.........###.#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#.###.#######.########.#######.###.#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#####.###.##.####--####.##.###.#####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#####.###.##.#HHHHHHHH#.##.###.#####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.....##.#HiHpHHcH#.##.....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Change the Maze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maze.txt: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Open a new tunnel, or move Pac-Man’s start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press a direction just before a corner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Scatter and Chase</a:t>
            </a:r>
            <a:endParaRPr/>
          </a:p>
        </p:txBody>
      </p:sp>
      <p:pic>
        <p:nvPicPr>
          <p:cNvPr id="3" name="Picture 2" descr="sched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25984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Choosing a Direction</a:t>
            </a:r>
            <a:endParaRPr/>
          </a:p>
        </p:txBody>
      </p:sp>
      <p:pic>
        <p:nvPicPr>
          <p:cNvPr id="3" name="Picture 2" descr="jun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051560"/>
            <a:ext cx="7955279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Frozen Mode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Pacman1, add Frozen to GhostMode: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eaten ghost stands still for a second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Don’t finish it. Count the switches you would have to change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Same Change, With States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frightened ghosts last 3 seconds instead of 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files did it take?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would a FrozenState go, and what would change?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294" descr="targe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137160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Swap a Personality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Pacman3’s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Clyde Blinky’s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how does the chase change?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The state decides whether to chase, and the strategy decides how.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Second Strategy: Routing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The arcade rule looks one tile ahead. A wall can send the ghost the long way round.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956816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2359152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761488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3163824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773168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175504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5980176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8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1956816" y="2002536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2359152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3163824" y="2002536"/>
            <a:ext cx="374904" cy="374904"/>
          </a:xfrm>
          <a:prstGeom prst="rect">
            <a:avLst/>
          </a:prstGeom>
          <a:solidFill>
            <a:srgbClr val="1E9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60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3968496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4773168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5175504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577840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980176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6382512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784848" y="2002536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1956816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2359152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2761488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3163824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3566160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3968496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4370832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4773168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5175504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5577840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5980176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2" name="Rectangle 41"/>
          <p:cNvSpPr/>
          <p:nvPr/>
        </p:nvSpPr>
        <p:spPr>
          <a:xfrm>
            <a:off x="6784848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1956816" y="2807208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2359152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2761488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3163824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3566160" y="2807208"/>
            <a:ext cx="374904" cy="374904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68496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9" name="Rectangle 48"/>
          <p:cNvSpPr/>
          <p:nvPr/>
        </p:nvSpPr>
        <p:spPr>
          <a:xfrm>
            <a:off x="4370832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4773168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1" name="Rectangle 50"/>
          <p:cNvSpPr/>
          <p:nvPr/>
        </p:nvSpPr>
        <p:spPr>
          <a:xfrm>
            <a:off x="5175504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0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5980176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6382512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6784848" y="2807208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1956816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7" name="Rectangle 56"/>
          <p:cNvSpPr/>
          <p:nvPr/>
        </p:nvSpPr>
        <p:spPr>
          <a:xfrm>
            <a:off x="2359152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8" name="Rectangle 57"/>
          <p:cNvSpPr/>
          <p:nvPr/>
        </p:nvSpPr>
        <p:spPr>
          <a:xfrm>
            <a:off x="2761488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3163824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0" name="Rectangle 59"/>
          <p:cNvSpPr/>
          <p:nvPr/>
        </p:nvSpPr>
        <p:spPr>
          <a:xfrm>
            <a:off x="3566160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1" name="Rectangle 60"/>
          <p:cNvSpPr/>
          <p:nvPr/>
        </p:nvSpPr>
        <p:spPr>
          <a:xfrm>
            <a:off x="3968496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4370832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4773168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5175504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5" name="Rectangle 64"/>
          <p:cNvSpPr/>
          <p:nvPr/>
        </p:nvSpPr>
        <p:spPr>
          <a:xfrm>
            <a:off x="5577840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6" name="Rectangle 65"/>
          <p:cNvSpPr/>
          <p:nvPr/>
        </p:nvSpPr>
        <p:spPr>
          <a:xfrm>
            <a:off x="5980176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7" name="Rectangle 66"/>
          <p:cNvSpPr/>
          <p:nvPr/>
        </p:nvSpPr>
        <p:spPr>
          <a:xfrm>
            <a:off x="6382512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8" name="Rectangle 67"/>
          <p:cNvSpPr/>
          <p:nvPr/>
        </p:nvSpPr>
        <p:spPr>
          <a:xfrm>
            <a:off x="6784848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368503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tile to the left of G is closer to T. That way is 7 steps, and going right is 5.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4160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Finding the way can be done in more than one way. That makes it a strategy.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as a Strategy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Targeting says where a ghost wants to go. Routing says which way it turns to get there.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84048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NearestTile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arcade rule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four ghosts, in scatter and chase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737360"/>
            <a:ext cx="384048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ShortestPath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first step of the shortest path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eyes, on their way home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Both are an IRouteStrategy. Which one a ghost gets is one argument in World.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Pathfinding Implementation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4023300"/>
          </a:xfr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Pacman4: routing strategies, and the shortest path for the eyes</a:t>
            </a:r>
            <a:endParaRPr sz="18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Shortest Path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Pacman4’s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Blinky new ShortestPath()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give it to all four: what happens to the game?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pause.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Pacman5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Pacman5,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frozen mode, for real: a FrozenState before EatenState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the seven switches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210312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State and Strategy have the same structure. How do they differ?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Why do the chasing ghosts keep the arcade rule?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