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27" r:id="rId33"/>
    <p:sldId id="326" r:id="rId34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20" r:id="rId35"/>
    <p:sldId id="323" r:id="rId32"/>
    <p:sldId id="324" r:id="rId31"/>
    <p:sldId id="325" r:id="rId29"/>
    <p:sldId id="312" r:id="rId71"/>
    <p:sldId id="313" r:id="rId72"/>
    <p:sldId id="328" r:id="rId28"/>
    <p:sldId id="280" r:id="rId30"/>
    <p:sldId id="329" r:id="rId27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27" Type="http://schemas.openxmlformats.org/officeDocument/2006/relationships/slide" Target="slides/slide39.xml"/><Relationship Id="rId28" Type="http://schemas.openxmlformats.org/officeDocument/2006/relationships/slide" Target="slides/slide38.xml"/><Relationship Id="rId29" Type="http://schemas.openxmlformats.org/officeDocument/2006/relationships/slide" Target="slides/slide30.xml"/><Relationship Id="rId30" Type="http://schemas.openxmlformats.org/officeDocument/2006/relationships/slide" Target="slides/slide33.xml"/><Relationship Id="rId31" Type="http://schemas.openxmlformats.org/officeDocument/2006/relationships/slide" Target="slides/slide29.xml"/><Relationship Id="rId32" Type="http://schemas.openxmlformats.org/officeDocument/2006/relationships/slide" Target="slides/slide28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6.xml"/><Relationship Id="rId38" Type="http://schemas.openxmlformats.org/officeDocument/2006/relationships/slide" Target="slides/slide21.xml"/><Relationship Id="rId39" Type="http://schemas.openxmlformats.org/officeDocument/2006/relationships/slide" Target="slides/slide25.xml"/><Relationship Id="rId40" Type="http://schemas.openxmlformats.org/officeDocument/2006/relationships/slide" Target="slides/slide2.xml"/><Relationship Id="rId41" Type="http://schemas.openxmlformats.org/officeDocument/2006/relationships/slide" Target="slides/slide36.xml"/><Relationship Id="rId42" Type="http://schemas.openxmlformats.org/officeDocument/2006/relationships/slide" Target="slides/slide34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5.xml"/><Relationship Id="rId53" Type="http://schemas.openxmlformats.org/officeDocument/2006/relationships/slide" Target="slides/slide37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15.xml"/><Relationship Id="rId63" Type="http://schemas.openxmlformats.org/officeDocument/2006/relationships/slide" Target="slides/slide17.xml"/><Relationship Id="rId64" Type="http://schemas.openxmlformats.org/officeDocument/2006/relationships/slide" Target="slides/slide18.xml"/><Relationship Id="rId65" Type="http://schemas.openxmlformats.org/officeDocument/2006/relationships/slide" Target="slides/slide19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6.xml"/><Relationship Id="rId71" Type="http://schemas.openxmlformats.org/officeDocument/2006/relationships/slide" Target="slides/slide31.xml"/><Relationship Id="rId72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Pacman5,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Pacman5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 Then Strategy a second time, for how a ghost finds its way.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per ghost in World.</a:t>
            </a:r>
          </a:p>
          <a:p>
            <a:r>
              <a:t>Blinky alone becomes relentless. With all four, the ghosts bunch up in the same corridors, and the game gets harder and less interesting.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  <a:p>
            <a:r>
              <a:t>Pac-Man’s tile</a:t>
            </a:r>
          </a:p>
          <a:p>
            <a:r>
              <a:t>4 tiles ahead of him</a:t>
            </a:r>
          </a:p>
          <a:p>
            <a:r>
              <a:t>2 ahead, doubled</a:t>
            </a:r>
          </a:p>
          <a:p>
            <a:r>
              <a:t>Pac-Man, until</a:t>
            </a:r>
          </a:p>
          <a:p>
            <a:r>
              <a:t>close: then his corner</a:t>
            </a:r>
          </a:p>
          <a:p>
            <a:r>
              <a:t>Where does the targeting code go, so every ghost can have its own?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  <a:p/>
          <a:p>
            <a:r>
              <a:t>Q: Why do the chasing ghosts keep the arcade rule, when the shortest path is better?</a:t>
            </a:r>
          </a:p>
          <a:p>
            <a:r>
              <a:t>A: Better pathfinding makes a harder game, which isn't the same as a better one. The ghosts' wrong turns give the player room to escape, and with the shortest path all four would end up in the same corridors. Because routing is a strategy, the choice is one argument in World.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  <a:p>
            <a:r>
              <a:t>PathfinderTests does the same for paths: count the steps on paper, and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Pacman5 for a full life, then run dotnet test in 05-pac-man and open TargetingTests.cs and PathfinderTests.cs.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 is the ghost, T its target. Count both ways with them: left is 7 steps, right is 5.</a:t>
            </a:r>
          </a:p>
          <a:p>
            <a:r>
              <a:t>The arcade rule only compares straight-line distances from the two neighbouring tiles, so it goes left.</a:t>
            </a:r>
          </a:p>
          <a:p>
            <a:r>
              <a:t>This is fine for the chase, where wrong turns are part of the game. For the eyes going home it looks silly.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Scatter and chase take turns on a fixed schedule. This is why the ghosts sometimes seem to give up.</a:t>
            </a:r>
          </a:p>
          <a:p>
            <a:r>
              <a:t>Ask: why have scatter at all? Answer: without it the game is too hard; the player needs room to breathe.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ghost decides the same way at a tile centre: never back, and of the rest, the direction whose next tile is closest to the target, in a straight line.</a:t>
            </a:r>
          </a:p>
          <a:p>
            <a:r>
              <a:t>The mode only decides what the target is.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Strategy a second time, in the same game: ITargetStrategy for where, IRouteStrategy for which way.</a:t>
            </a:r>
          </a:p>
          <a:p>
            <a:r>
              <a:t>The chasing ghosts keep the arcade rule on purpose. Their wrong turns give the player room to escape.</a:t>
            </a:r>
          </a:p>
          <a:p>
            <a:r>
              <a:t>EatenState always uses ShortestPath, and lost a flag (_enteringHouse) because the search finds the door. The search is A*, in Pathfinder.cs. How it works is optional reading; here it is one method behind a strategy.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Pacman3 and Pacman4 side by side, then run Pacman4.</a:t>
            </a:r>
          </a:p>
          <a:p>
            <a:r>
              <a:t>- Routing/: IRouteStrategy, NearestTile, ShortestPath, Pathfinder</a:t>
            </a:r>
          </a:p>
          <a:p>
            <a:r>
              <a:t>- Ghost.Closest moved into NearestTile</a:t>
            </a:r>
          </a:p>
          <a:p>
            <a:r>
              <a:t>- eat a ghost and watch the eyes go straight home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Pacman5.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(purple)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Who holds what in the finished Pac-Man. World and everything under it are the rules; the three views draw them.</a:t>
            </a:r>
          </a:p>
          <a:p>
            <a:r>
              <a:t>Point at Ghost: one state at a time, chosen by the states themselves, and two strategies chosen once by World.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session in one slide. Read each concern aloud and let the class give the answer before pointing at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6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-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2332305"/>
            <a:ext cx="2941488" cy="16545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Second Strategy: Routing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Pacman5,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#.###.........########.........###.#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#.###.#######.########.#######.###.#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#####.###.##.####--####.##.###.#####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#####.###.##.#HHHHHHHH#.##.###.#####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.....##.#HiHpHHcH#.##.....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Scatter and Chase</a:t>
            </a:r>
            <a:endParaRPr/>
          </a:p>
        </p:txBody>
      </p:sp>
      <p:pic>
        <p:nvPicPr>
          <p:cNvPr id="3" name="Picture 2" descr="sched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5984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Choosing a Direction</a:t>
            </a:r>
            <a:endParaRPr/>
          </a:p>
        </p:txBody>
      </p:sp>
      <p:pic>
        <p:nvPicPr>
          <p:cNvPr id="3" name="Picture 2" descr="jun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051560"/>
            <a:ext cx="7955279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targe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37160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state decides whether to chase, and the strategy decides how.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Strategy: Routing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The arcade rule looks one tile ahead. A wall can send the ghost the long way round.</a:t>
            </a: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95681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235915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76148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16382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175504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5980176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1600200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1956816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35915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3163824" y="2002536"/>
            <a:ext cx="374904" cy="374904"/>
          </a:xfrm>
          <a:prstGeom prst="rect">
            <a:avLst/>
          </a:prstGeom>
          <a:solidFill>
            <a:srgbClr val="1E9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5175504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980176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2002536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784848" y="2002536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195681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235915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276148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316382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356616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3968496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4773168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980176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2404872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2404872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1956816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235915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276148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316382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2807208"/>
            <a:ext cx="374904" cy="374904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6849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4773168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5175504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5980176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382512" y="2807208"/>
            <a:ext cx="374904" cy="374904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6784848" y="2807208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195681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235915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276148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316382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356616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1" name="Rectangle 60"/>
          <p:cNvSpPr/>
          <p:nvPr/>
        </p:nvSpPr>
        <p:spPr>
          <a:xfrm>
            <a:off x="396849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37083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3" name="Rectangle 62"/>
          <p:cNvSpPr/>
          <p:nvPr/>
        </p:nvSpPr>
        <p:spPr>
          <a:xfrm>
            <a:off x="477316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5175504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5577840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5980176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7" name="Rectangle 66"/>
          <p:cNvSpPr/>
          <p:nvPr/>
        </p:nvSpPr>
        <p:spPr>
          <a:xfrm>
            <a:off x="6382512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6784848" y="3209544"/>
            <a:ext cx="374904" cy="374904"/>
          </a:xfrm>
          <a:prstGeom prst="rect">
            <a:avLst/>
          </a:prstGeom>
          <a:solidFill>
            <a:srgbClr val="4A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9AA3AB"/>
                </a:solidFill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36850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tile to the left of G is closer to T. That way is 7 steps, and going right is 5.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Finding the way can be done in more than one way. That makes it a strategy.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as a Strategy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Targeting says where a ghost wants to go. Routing says which way it turns to get there.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NearestTile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arcade rule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four ghosts, in scatter and chase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73736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ShortestPath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first step of the shortest path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eyes, on their way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Both are an IRouteStrategy. Which one a ghost gets is one argument in World.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Pathfinding Implementation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4023300"/>
          </a:xfr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Pacman4: routing strategies, and the shortest path for the eyes</a:t>
            </a:r>
            <a:endParaRPr sz="1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Shortest Path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Pacman4’s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Blinky new ShortestPath()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give it to all four: what happens to the game?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pause.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Pacman5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Pacman5,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210312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State and Strategy have the same structure. How do they differ?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Why do the chasing ghosts keep the arcade rule?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Whole Game: Who Holds What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World holds the rules, and the views draw them.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1481328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Game1 : 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" y="2246376"/>
            <a:ext cx="130759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Game states</a:t>
            </a:r>
          </a:p>
          <a:p>
            <a:pPr algn="ctr"/>
            <a:r>
              <a:rPr sz="1000" b="0">
                <a:solidFill>
                  <a:srgbClr val="9AA3AB"/>
                </a:solidFill>
              </a:rPr>
              <a:t>ready, play, dying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028700" y="2066544"/>
            <a:ext cx="354330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2246376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World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the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92223" y="3011424"/>
            <a:ext cx="130759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Maze, PacMan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446020" y="2831592"/>
            <a:ext cx="212598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29000" y="3011424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Ghost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four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9544" y="3776472"/>
            <a:ext cx="130759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GhostState</a:t>
            </a:r>
          </a:p>
          <a:p>
            <a:pPr algn="ctr"/>
            <a:r>
              <a:rPr sz="1000" b="0">
                <a:solidFill>
                  <a:srgbClr val="9AA3AB"/>
                </a:solidFill>
              </a:rPr>
              <a:t>one at a time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863340" y="3596640"/>
            <a:ext cx="70866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26864" y="3776472"/>
            <a:ext cx="130759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Two strategies</a:t>
            </a:r>
          </a:p>
          <a:p>
            <a:pPr algn="ctr"/>
            <a:r>
              <a:rPr sz="1000" b="0">
                <a:solidFill>
                  <a:srgbClr val="9AA3AB"/>
                </a:solidFill>
              </a:rPr>
              <a:t>target and 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596640"/>
            <a:ext cx="70866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2831592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44184" y="3011424"/>
            <a:ext cx="130759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ModeSchedule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2831592"/>
            <a:ext cx="212598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572000" y="2066544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61504" y="2246376"/>
            <a:ext cx="130759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Views</a:t>
            </a:r>
          </a:p>
          <a:p>
            <a:pPr algn="ctr"/>
            <a:r>
              <a:rPr sz="1000" b="0">
                <a:solidFill>
                  <a:srgbClr val="9AA3AB"/>
                </a:solidFill>
              </a:rPr>
              <a:t>maze, Pac-Man, ghosts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0" y="2066544"/>
            <a:ext cx="354330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 ghost changes its state all the time, and keeps its two strategies.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Six concerns, and this session’s answer to each.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a ghost is doing now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State: a class for each mode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each ghost hunts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Strategy: ITargetStrategy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a ghost finds its way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second strategy: IRouteStrategy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Who picks the object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States pick states. World picks 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Checking a ghost’s rule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unit test per strategy and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4688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flow of the game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state machine above the ghosts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