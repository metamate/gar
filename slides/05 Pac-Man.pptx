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6"/>
    <p:sldId id="315" r:id="rId40"/>
    <p:sldId id="257" r:id="rId7"/>
    <p:sldId id="258" r:id="rId8"/>
    <p:sldId id="259" r:id="rId9"/>
    <p:sldId id="297" r:id="rId56"/>
    <p:sldId id="298" r:id="rId57"/>
    <p:sldId id="299" r:id="rId58"/>
    <p:sldId id="319" r:id="rId36"/>
    <p:sldId id="300" r:id="rId59"/>
    <p:sldId id="301" r:id="rId60"/>
    <p:sldId id="302" r:id="rId61"/>
    <p:sldId id="303" r:id="rId62"/>
    <p:sldId id="318" r:id="rId37"/>
    <p:sldId id="304" r:id="rId63"/>
    <p:sldId id="305" r:id="rId64"/>
    <p:sldId id="306" r:id="rId65"/>
    <p:sldId id="307" r:id="rId66"/>
    <p:sldId id="317" r:id="rId38"/>
    <p:sldId id="308" r:id="rId67"/>
    <p:sldId id="309" r:id="rId68"/>
    <p:sldId id="310" r:id="rId69"/>
    <p:sldId id="316" r:id="rId39"/>
    <p:sldId id="311" r:id="rId70"/>
    <p:sldId id="312" r:id="rId71"/>
    <p:sldId id="313" r:id="rId72"/>
    <p:sldId id="280" r:id="rId30"/>
    <p:sldId id="292" r:id="rId42"/>
    <p:sldId id="293" r:id="rId52"/>
    <p:sldId id="314" r:id="rId41"/>
    <p:sldId id="294" r:id="rId53"/>
  </p:sldIdLst>
  <p:sldSz cy="5143500" cx="9144000"/>
  <p:notesSz cx="6858000" cy="9144000"/>
  <p:embeddedFontLst>
    <p:embeddedFont>
      <p:font typeface="Roboto"/>
      <p:regular r:id="rId43"/>
      <p:bold r:id="rId44"/>
      <p:italic r:id="rId45"/>
      <p:boldItalic r:id="rId46"/>
    </p:embeddedFont>
    <p:embeddedFont>
      <p:font typeface="VT323"/>
      <p:regular r:id="rId47"/>
    </p:embeddedFont>
    <p:embeddedFont>
      <p:font typeface="Roboto Light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30" Type="http://schemas.openxmlformats.org/officeDocument/2006/relationships/slide" Target="slides/slide27.xml"/><Relationship Id="rId36" Type="http://schemas.openxmlformats.org/officeDocument/2006/relationships/slide" Target="slides/slide9.xml"/><Relationship Id="rId37" Type="http://schemas.openxmlformats.org/officeDocument/2006/relationships/slide" Target="slides/slide14.xml"/><Relationship Id="rId38" Type="http://schemas.openxmlformats.org/officeDocument/2006/relationships/slide" Target="slides/slide19.xml"/><Relationship Id="rId39" Type="http://schemas.openxmlformats.org/officeDocument/2006/relationships/slide" Target="slides/slide23.xml"/><Relationship Id="rId40" Type="http://schemas.openxmlformats.org/officeDocument/2006/relationships/slide" Target="slides/slide2.xml"/><Relationship Id="rId41" Type="http://schemas.openxmlformats.org/officeDocument/2006/relationships/slide" Target="slides/slide30.xml"/><Relationship Id="rId42" Type="http://schemas.openxmlformats.org/officeDocument/2006/relationships/slide" Target="slides/slide28.xml"/><Relationship Id="rId43" Type="http://schemas.openxmlformats.org/officeDocument/2006/relationships/font" Target="fonts/Roboto-regular.fntdata"/><Relationship Id="rId44" Type="http://schemas.openxmlformats.org/officeDocument/2006/relationships/font" Target="fonts/Roboto-bold.fntdata"/><Relationship Id="rId45" Type="http://schemas.openxmlformats.org/officeDocument/2006/relationships/font" Target="fonts/Roboto-italic.fntdata"/><Relationship Id="rId46" Type="http://schemas.openxmlformats.org/officeDocument/2006/relationships/font" Target="fonts/Roboto-boldItalic.fntdata"/><Relationship Id="rId47" Type="http://schemas.openxmlformats.org/officeDocument/2006/relationships/font" Target="fonts/VT323-regular.fntdata"/><Relationship Id="rId48" Type="http://schemas.openxmlformats.org/officeDocument/2006/relationships/font" Target="fonts/RobotoLight-regular.fntdata"/><Relationship Id="rId49" Type="http://schemas.openxmlformats.org/officeDocument/2006/relationships/font" Target="fonts/RobotoLight-bold.fntdata"/><Relationship Id="rId50" Type="http://schemas.openxmlformats.org/officeDocument/2006/relationships/font" Target="fonts/RobotoLight-italic.fntdata"/><Relationship Id="rId51" Type="http://schemas.openxmlformats.org/officeDocument/2006/relationships/font" Target="fonts/RobotoLight-boldItalic.fntdata"/><Relationship Id="rId52" Type="http://schemas.openxmlformats.org/officeDocument/2006/relationships/slide" Target="slides/slide29.xml"/><Relationship Id="rId53" Type="http://schemas.openxmlformats.org/officeDocument/2006/relationships/slide" Target="slides/slide31.xml"/><Relationship Id="rId56" Type="http://schemas.openxmlformats.org/officeDocument/2006/relationships/slide" Target="slides/slide6.xml"/><Relationship Id="rId57" Type="http://schemas.openxmlformats.org/officeDocument/2006/relationships/slide" Target="slides/slide7.xml"/><Relationship Id="rId58" Type="http://schemas.openxmlformats.org/officeDocument/2006/relationships/slide" Target="slides/slide8.xml"/><Relationship Id="rId59" Type="http://schemas.openxmlformats.org/officeDocument/2006/relationships/slide" Target="slides/slide10.xml"/><Relationship Id="rId60" Type="http://schemas.openxmlformats.org/officeDocument/2006/relationships/slide" Target="slides/slide11.xml"/><Relationship Id="rId61" Type="http://schemas.openxmlformats.org/officeDocument/2006/relationships/slide" Target="slides/slide12.xml"/><Relationship Id="rId62" Type="http://schemas.openxmlformats.org/officeDocument/2006/relationships/slide" Target="slides/slide13.xml"/><Relationship Id="rId63" Type="http://schemas.openxmlformats.org/officeDocument/2006/relationships/slide" Target="slides/slide15.xml"/><Relationship Id="rId64" Type="http://schemas.openxmlformats.org/officeDocument/2006/relationships/slide" Target="slides/slide16.xml"/><Relationship Id="rId65" Type="http://schemas.openxmlformats.org/officeDocument/2006/relationships/slide" Target="slides/slide17.xml"/><Relationship Id="rId66" Type="http://schemas.openxmlformats.org/officeDocument/2006/relationships/slide" Target="slides/slide18.xml"/><Relationship Id="rId67" Type="http://schemas.openxmlformats.org/officeDocument/2006/relationships/slide" Target="slides/slide20.xml"/><Relationship Id="rId68" Type="http://schemas.openxmlformats.org/officeDocument/2006/relationships/slide" Target="slides/slide21.xml"/><Relationship Id="rId69" Type="http://schemas.openxmlformats.org/officeDocument/2006/relationships/slide" Target="slides/slide22.xml"/><Relationship Id="rId70" Type="http://schemas.openxmlformats.org/officeDocument/2006/relationships/slide" Target="slides/slide24.xml"/><Relationship Id="rId71" Type="http://schemas.openxmlformats.org/officeDocument/2006/relationships/slide" Target="slides/slide25.xml"/><Relationship Id="rId7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Welcome. Today we build Pac-Man. The main topic: the State pattern.</a:t>
            </a:r>
          </a:p>
          <a:p>
            <a:r>
              <a:t>Start by playing the finished game, Pacman4, before any code.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c8f6ac40e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c8f6ac40e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Run Pacman4 and play it for a minute.</a:t>
            </a:r>
          </a:p>
          <a:p>
            <a:r>
              <a:t>Ask: what would you need to build this? Collect answers on the board, and come back to them at the end.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8f6ac40e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c8f6ac40e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main topic: the State pattern, through the ghosts’ modes. Then Strategy for their targeting, and how the two differ.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ca5c6b6b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ca5c6b6b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Open gar-games/05-pacman live. Show the README: the step table, the code map, how to run a step.</a:t>
            </a:r>
          </a:p>
          <a:p>
            <a:r>
              <a:t>Say: the site explains the ideas, the README helps you find them in the code, the slides are for today.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Fruit and the tunnel: the questions are about where a rule belongs. Discuss answers before code.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diagram: in the house, then scatter and chase on a schedule; a power pellet frightens; touched means eaten, and the eyes go home.</a:t>
            </a:r>
          </a:p>
          <a:p>
            <a:r>
              <a:t>The rule at the bottom is all a ghost ever does. The mode only picks the target tile.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the question: a sixth mode, a short pause when a ghost is eaten. Where do you change the code?</a:t>
            </a:r>
          </a:p>
          <a:p>
            <a:r>
              <a:t>Answer: every switch in six methods, and the compiler won’t tell you if you miss one.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gains: one place per mode, the same event handled differently per state, and Enter/Exit.</a:t>
            </a:r>
          </a:p>
          <a:p>
            <a:r>
              <a:t>And the proof: from Pacman1 to Pacman2, World didn’t change at all.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Chasing straight at Pac-Man, the ghosts line up behind him. Each ghost aims somewhere else, and together they trap him.</a:t>
            </a:r>
          </a:p>
          <a:p>
            <a:r>
              <a:t>Ask the question at the bottom before the next slide: where does each ghost’s targeting code go?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Same structure, different jobs. A state changes all the time and knows the next state; a strategy is chosen once, from outside.</a:t>
            </a:r>
          </a:p>
          <a:p>
            <a:r>
              <a:t>Together: the state decides whether to chase, the strategy how.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levels of state machine: the game’s (ready, play, dying, game over) and each ghost’s. The ghosts only update in play.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one question at a time. Pairs discuss for a minute, then take two or three answers.</a:t>
            </a:r>
          </a:p>
          <a:p>
            <a:r>
              <a:t>Expected answers (from the course site):</a:t>
            </a:r>
          </a:p>
          <a:p/>
          <a:p>
            <a:r>
              <a:t>Q: What problems does the enum version of the ghost have?</a:t>
            </a:r>
          </a:p>
          <a:p>
            <a:r>
              <a:t>A: Every method switches over the mode, so one mode's behaviour is spread over many methods. Fields that belong to one mode exist in all of them, and adding a mode means finding and changing every switch.</a:t>
            </a:r>
          </a:p>
          <a:p/>
          <a:p>
            <a:r>
              <a:t>Q: In the State pattern, who decides when to change state?</a:t>
            </a:r>
          </a:p>
          <a:p>
            <a:r>
              <a:t>A: Usually the states themselves: a state knows which events end it, and which state comes next. The object that holds the state only forwards to it, and doesn't need to know which states exist.</a:t>
            </a:r>
          </a:p>
          <a:p/>
          <a:p>
            <a:r>
              <a:t>Q: What are Enter and Exit for?</a:t>
            </a:r>
          </a:p>
          <a:p>
            <a:r>
              <a:t>A: Setting up and cleaning up a state, in one place, whichever state came before or comes after. Here, FrightenedState.Enter turns the ghost around.</a:t>
            </a:r>
          </a:p>
          <a:p/>
          <a:p>
            <a:r>
              <a:t>Q: State and Strategy have the same structure. How do they differ?</a:t>
            </a:r>
          </a:p>
          <a:p>
            <a:r>
              <a:t>A: A state changes during the object's life, often chosen by the states themselves. A strategy is chosen from outside, usually once, and strategies don't know about each other.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text file again, like Sokoban. Point at the house, the door and the tunnel row.</a:t>
            </a:r>
          </a:p>
          <a:p>
            <a:r>
              <a:t>Rules apart from drawing again: Maze, PacMan and World are the game; the views draw it.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Actors move tile centre to tile centre and turn only at a centre. The only difference between Pac-Man and a ghost: ChooseDirection.</a:t>
            </a:r>
          </a:p>
          <a:p>
            <a:r>
              <a:t>Wanted is kept until he can turn: input buffering, as in Snake.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Demo: run Pacman0.</a:t>
            </a:r>
          </a:p>
          <a:p>
            <a:r>
              <a:t>- press a direction just before a corner: he turns there</a:t>
            </a:r>
          </a:p>
          <a:p>
            <a:r>
              <a:t>- the tunnel on the middle row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Pacman1 does this with an enum and a switch in every method. It works; read one case together.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Demo: run Pacman1.</a:t>
            </a:r>
          </a:p>
          <a:p>
            <a:r>
              <a:t>- find GhostMode and count the switches over it</a:t>
            </a:r>
          </a:p>
          <a:p>
            <a:r>
              <a:t>- the fields that only one mode uses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mode becomes a class; the ghost forwards to its current state. Flappy Bird did this for the whole game; now for one object in it.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about being frightened in one class, including its timer. Enter turns the ghost around; the state decides where to go next.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Demo: open Pacman1 and Pacman2 side by side (a diff tool, or two editor panes), then run Pacman2.</a:t>
            </a:r>
          </a:p>
          <a:p>
            <a:r>
              <a:t>- the enum and its switches become GhostStates/</a:t>
            </a:r>
          </a:p>
          <a:p>
            <a:r>
              <a:t>- Ghost.cs gets much shorter</a:t>
            </a:r>
          </a:p>
          <a:p>
            <a:r>
              <a:t>- World.cs is unchanged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ghost gets an ITargetStrategy when it’s created. ChaseState asks the ghost’s strategy, and works for every ghost. A new personality is one class.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Demo: open Pacman2 and Pacman3 side by side (a diff tool, or two editor panes), then run Pacman3.</a:t>
            </a:r>
          </a:p>
          <a:p>
            <a:r>
              <a:t>- Targeting/: one small class per ghost</a:t>
            </a:r>
          </a:p>
          <a:p>
            <a:r>
              <a:t>- World passes a strategy to each ghost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strategy is one method: perfect for a test. Inky’s target is invisible while playing, but a test can check it on paper.</a:t>
            </a:r>
          </a:p>
          <a:p>
            <a:r>
              <a:t>Work the numbers on the slide together.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b92a6f95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b92a6f95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Demo: run Pacman4 for a full life, then run dotnet test in 05-pacman and open TargetingTests.cs.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project groups five minutes with these questions.</a:t>
            </a:r>
          </a:p>
          <a:p>
            <a:r>
              <a:t>Ask two groups to share one answer each, and push them to name actual classes and files.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original: Pac-Man. Ask who has played it, and what they remember of how it plays.</a:t>
            </a:r>
          </a:p>
          <a:p>
            <a:r>
              <a:t>Today we build the parts that matter for the architecture, not the whole game.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5 minutes. One argument in World. Two ghosts that chase straight at Pac-Man end up in a line behind him, which is easy to escape.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5 minutes. Answer: one constant in FrightenedState. A FrozenState is one new class, and EatenState (or whatever state comes before it) changes to it. Compare with the seven switches.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5 minutes. Answer: seven (six switch statements and the Look switch expression), and nothing warns you about the ones you miss. Keep the count on the board for the next slides.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Pairs, about 5 minutes. Pacman0 reads the maze at start-up, so a restart shows the change.</a:t>
            </a:r>
          </a:p>
          <a:p>
            <a:r>
              <a:t>The early press shows the buffered turn: he turns when he reaches the corner.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bd7a28ff6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cbd7a28ff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Start from Pacman4. The new mode is the Frozen mode from the enum task, now as a state: ask them to compare the classes they changed with the seven switches. Test first for the new ghost.</a:t>
            </a:r>
          </a:p>
          <a:p>
            <a:r>
              <a:t>The fifth ghost (green) and a cherry are drawn in sprites.png but not in the XML: describing them is part of the exercise.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(code)">
  <p:cSld name="TITLE_AND_TWO_COLUMNS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885950"/>
            <a:ext cx="39999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832400" y="886075"/>
            <a:ext cx="3999900" cy="40233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252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VT323"/>
              <a:buNone/>
              <a:defRPr sz="3300">
                <a:solidFill>
                  <a:schemeClr val="accent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400"/>
              <a:buFont typeface="Roboto Light"/>
              <a:buChar char="○"/>
              <a:defRPr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●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○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200"/>
              <a:buFont typeface="Roboto Light"/>
              <a:buChar char="■"/>
              <a:defRPr sz="1200">
                <a:solidFill>
                  <a:srgbClr val="6C757D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865675" y="4835575"/>
            <a:ext cx="2499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Metamate/gar-games/tree/main/05-pacman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GAR</a:t>
            </a:r>
            <a:endParaRPr/>
          </a:p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05: Pac-Man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95615"/>
            <a:ext cx="8520600" cy="572700"/>
          </a:xfrm>
        </p:spPr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Pac-Man</a:t>
            </a:r>
            <a:endParaRPr/>
          </a:p>
        </p:txBody>
      </p:sp>
      <p:pic>
        <p:nvPicPr>
          <p:cNvPr id="3" name="Picture 2" descr="pac-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00" y="960120"/>
            <a:ext cx="28448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A3AB"/>
                </a:solidFill>
              </a:rPr>
              <a:t>Pac-Man (Namco, 1980). Image: Bandai Namco Entertainment America, CC BY 3.0, via Wikimedia Commons.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Goal</a:t>
            </a:r>
            <a:endParaRPr/>
          </a:p>
        </p:txBody>
      </p:sp>
      <p:pic>
        <p:nvPicPr>
          <p:cNvPr id="46" name="Picture 46" descr="gif-pacma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255" y="1531275"/>
            <a:ext cx="2941488" cy="32566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Topics</a:t>
            </a:r>
            <a:endParaRPr/>
          </a:p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Maze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Ghosts With an Enum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State Pattern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Strategy Pattern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State vs. Strategy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Testing the Ghosts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</a:t>
            </a:r>
            <a:endParaRPr/>
          </a:p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311700" y="885950"/>
            <a:ext cx="8520600" cy="128930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github.com/Metamate/gar-games, folder 05-pacman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Its README: the steps (Pacman0 to Pacman4, and Pacman.Tests), where things are in the code, how to run it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course site: today’s concepts in full, the exercises, and questions to check yourself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Maze</a:t>
            </a:r>
            <a:endParaRPr/>
          </a:p>
        </p:txBody>
      </p:sp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A text file, like Sokoban’s levels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# wall   . dot   o power pellet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- house door   H inside the house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P Pac-Man   b p i c the ghosts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A row open at both ends is a tunnel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Rules apart from drawing, as in Sokoban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Maze, PacMan, World: the game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MazeView, PacManView: the drawing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The walls are lines, not images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############################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#............##............#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#.####.#####.##.#####.####.#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#o####.#####.##.#####.####o#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#.####.#####.##.#####.####.#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#..........................#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######.##.###--###.##.######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######.##.#HHHHHH#.##.######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.   #iHpHHc#   .      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######.##.#HHHHHH#.##.######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 Through the Maze</a:t>
            </a:r>
            <a:endParaRPr/>
          </a:p>
        </p:txBody>
      </p:sp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From tile centre to tile centre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Turning only at a centre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Actor: shared by Pac-Man and the ghosts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They differ only in ChooseDirection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Wanted is kept until Pac-Man can turn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Input buffering, as in Snake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Press up before the corner: he turns there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// Actor.Move, at a tile centre: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Heading = ChooseDirection(_target);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// PacMan.cs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protected override Point ChooseDirection(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Point tile)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if (Wanted != Direction.None &amp;&amp;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!Maze.BlocksPacMan(tile + Wanted))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return Wanted;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if (!Maze.BlocksPacMan(tile + Heading))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return Heading;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return Direction.None;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Maze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Pacman0: the maze, Pac-Man and the dots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Change the Maze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289304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maze.txt: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Open a new tunnel, or move Pac-Man’s start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Then press a direction just before a corner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Five Ghost Modes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Every ghost is always in one of five modes. The mode decides where it heads.</a:t>
            </a:r>
            <a:endParaRPr/>
          </a:p>
        </p:txBody>
      </p:sp>
      <p:sp>
        <p:nvSpPr>
          <p:cNvPr id="295" name="Rounded Rectangle 294"/>
          <p:cNvSpPr/>
          <p:nvPr/>
        </p:nvSpPr>
        <p:spPr>
          <a:xfrm>
            <a:off x="365760" y="1828800"/>
            <a:ext cx="1463040" cy="6400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In the house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waits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2468880" y="1325880"/>
            <a:ext cx="1463040" cy="6400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Scatter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its corner</a:t>
            </a:r>
          </a:p>
        </p:txBody>
      </p:sp>
      <p:sp>
        <p:nvSpPr>
          <p:cNvPr id="297" name="Rounded Rectangle 296"/>
          <p:cNvSpPr/>
          <p:nvPr/>
        </p:nvSpPr>
        <p:spPr>
          <a:xfrm>
            <a:off x="2468880" y="2331720"/>
            <a:ext cx="1463040" cy="6400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Chase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Pac-Man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4846320" y="1828800"/>
            <a:ext cx="1645920" cy="6400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Frightened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blue, random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7132320" y="1828800"/>
            <a:ext cx="1463040" cy="6400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Eaten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eyes go home</a:t>
            </a:r>
          </a:p>
        </p:txBody>
      </p:sp>
      <p:cxnSp>
        <p:nvCxnSpPr>
          <p:cNvPr id="300" name="Connector 299"/>
          <p:cNvCxnSpPr/>
          <p:nvPr/>
        </p:nvCxnSpPr>
        <p:spPr>
          <a:xfrm flipV="1">
            <a:off x="1847088" y="1691640"/>
            <a:ext cx="603504" cy="32004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3108960" y="1984248"/>
            <a:ext cx="0" cy="32918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3291840" y="1984248"/>
            <a:ext cx="0" cy="329184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TextBox 302"/>
          <p:cNvSpPr txBox="1"/>
          <p:nvPr/>
        </p:nvSpPr>
        <p:spPr>
          <a:xfrm>
            <a:off x="342900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3AB"/>
                </a:solidFill>
              </a:rPr>
              <a:t>schedule</a:t>
            </a:r>
          </a:p>
        </p:txBody>
      </p:sp>
      <p:cxnSp>
        <p:nvCxnSpPr>
          <p:cNvPr id="304" name="Connector 303"/>
          <p:cNvCxnSpPr/>
          <p:nvPr/>
        </p:nvCxnSpPr>
        <p:spPr>
          <a:xfrm flipV="1">
            <a:off x="3950208" y="2331720"/>
            <a:ext cx="877824" cy="32004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TextBox 304"/>
          <p:cNvSpPr txBox="1"/>
          <p:nvPr/>
        </p:nvSpPr>
        <p:spPr>
          <a:xfrm>
            <a:off x="3977639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3AB"/>
                </a:solidFill>
              </a:rPr>
              <a:t>power pellet</a:t>
            </a:r>
          </a:p>
        </p:txBody>
      </p:sp>
      <p:cxnSp>
        <p:nvCxnSpPr>
          <p:cNvPr id="306" name="Connector 305"/>
          <p:cNvCxnSpPr/>
          <p:nvPr/>
        </p:nvCxnSpPr>
        <p:spPr>
          <a:xfrm>
            <a:off x="6510528" y="2148840"/>
            <a:ext cx="60350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TextBox 306"/>
          <p:cNvSpPr txBox="1"/>
          <p:nvPr/>
        </p:nvSpPr>
        <p:spPr>
          <a:xfrm>
            <a:off x="6327648" y="1856232"/>
            <a:ext cx="969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AA3AB"/>
                </a:solidFill>
              </a:rPr>
              <a:t>touched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36576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EE2E6"/>
                </a:solidFill>
              </a:rPr>
              <a:t>At each tile centre: never turn back, and take the direction closest to a target tile.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Ghosts With an Enum</a:t>
            </a:r>
            <a:endParaRPr/>
          </a:p>
        </p:txBody>
      </p:sp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GhostMode: InHouse, Scatter, Chase, Frightened, Eaten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Every method switches over the mode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Update, ChooseDirection, OnPowerPellet, Touch, Look, SetMode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public void Update(float deltaSeconds)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switch (Mode)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case GhostMode.InHouse: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    _houseTimer += deltaSeconds;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    if (_houseTimer &lt; _releaseDelay)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        return;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    Move(HouseSpeed * deltaSeconds);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    if (!Maze.IsInHouse(Tile))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        SetMode(ScheduledMode());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    break;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case GhostMode.Scatter: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case GhostMode.Chase: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    Move(Speed * deltaSeconds);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    break;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// Frightened, Eaten…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Problems With the Enum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sixth mode: a short pause when a ghost is eaten. What do you change?</a:t>
            </a:r>
            <a:endParaRPr/>
          </a:p>
        </p:txBody>
      </p:sp>
      <p:sp>
        <p:nvSpPr>
          <p:cNvPr id="295" name="Rounded Rectangle 294"/>
          <p:cNvSpPr/>
          <p:nvPr/>
        </p:nvSpPr>
        <p:spPr>
          <a:xfrm>
            <a:off x="411480" y="1463040"/>
            <a:ext cx="128016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switch in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Update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1810512" y="1463040"/>
            <a:ext cx="128016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switch in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ChooseDirection</a:t>
            </a:r>
          </a:p>
        </p:txBody>
      </p:sp>
      <p:sp>
        <p:nvSpPr>
          <p:cNvPr id="297" name="Rounded Rectangle 296"/>
          <p:cNvSpPr/>
          <p:nvPr/>
        </p:nvSpPr>
        <p:spPr>
          <a:xfrm>
            <a:off x="3209544" y="1463040"/>
            <a:ext cx="128016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switch in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OnPowerPellet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4608576" y="1463040"/>
            <a:ext cx="128016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switch in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Touch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6007608" y="1463040"/>
            <a:ext cx="128016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switch in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Look</a:t>
            </a:r>
          </a:p>
        </p:txBody>
      </p:sp>
      <p:sp>
        <p:nvSpPr>
          <p:cNvPr id="300" name="Rounded Rectangle 299"/>
          <p:cNvSpPr/>
          <p:nvPr/>
        </p:nvSpPr>
        <p:spPr>
          <a:xfrm>
            <a:off x="7406640" y="1463040"/>
            <a:ext cx="128016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DEE2E6"/>
                </a:solidFill>
              </a:rPr>
              <a:t>switch in</a:t>
            </a:r>
          </a:p>
          <a:p>
            <a:pPr algn="ctr"/>
            <a:r>
              <a:rPr sz="1100" b="0">
                <a:solidFill>
                  <a:srgbClr val="9AA3AB"/>
                </a:solidFill>
              </a:rPr>
              <a:t>SetMode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411480" y="2240280"/>
            <a:ext cx="8321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AA3AB"/>
                </a:solidFill>
              </a:rPr>
              <a:t>Every switch, and nothing tells you if you miss one.</a:t>
            </a:r>
          </a:p>
          <a:p>
            <a:pPr algn="ctr"/>
            <a:r>
              <a:rPr sz="1500" b="0" i="0">
                <a:solidFill>
                  <a:srgbClr val="9AA3AB"/>
                </a:solidFill>
              </a:rPr>
              <a:t>Fields that belong to one mode live in the ghost all the time.</a:t>
            </a:r>
          </a:p>
          <a:p>
            <a:pPr algn="ctr"/>
            <a:r>
              <a:rPr sz="1500" b="0" i="0">
                <a:solidFill>
                  <a:srgbClr val="9AA3AB"/>
                </a:solidFill>
              </a:rPr>
              <a:t>Pong’s string-based game state, all over again.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Ghosts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Pacman1: four ghosts, their modes as an enum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A Frozen Mode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289304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Pacman1, add Frozen to GhostMode: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 eaten ghost stands still for a second first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Don’t finish it. Count the switches you would have to change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State Pattern</a:t>
            </a:r>
            <a:endParaRPr/>
          </a:p>
        </p:txBody>
      </p:sp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“Allow an object to alter its behavior when its internal state changes.”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Each mode becomes a class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InHouseState, ScatterState, ChaseState, FrightenedState, EatenState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The ghost forwards to its current state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Flappy Bird did this for the game; now for an object in it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public void ChangeState(GhostState state)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State?.Exit(this);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State = state;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State.Enter(this);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public void Update(float deltaSeconds) =&gt;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State.Update(this, deltaSeconds);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public void OnPowerPellet() =&gt;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State.OnPowerPellet(this);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public TouchResult Touch() =&gt;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State.OnTouch(this);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State: Frightened</a:t>
            </a:r>
            <a:endParaRPr/>
          </a:p>
        </p:txBody>
      </p:sp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Everything about being frightened, in one class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Including its own timer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Enter: turn around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The state decides the transitions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Time’s up: back to the schedule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Touched: eaten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public class FrightenedState : GhostState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private float _elapsed;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public override void Enter(Ghost ghost) =&gt;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ghost.Reverse();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public override void Update(Ghost ghost, float dt)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_elapsed += dt;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ghost.Move(Speed * dt);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if (_elapsed &gt;= Seconds)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    ghost.ChangeState(ghost.ScheduledState());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public override TouchResult OnTouch(Ghost ghost)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ghost.ChangeState(new EatenState());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return TouchResult.GhostEaten;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What Changed?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states decide the transitions; the ghost only forwards to its state.</a:t>
            </a:r>
            <a:endParaRPr/>
          </a:p>
        </p:txBody>
      </p:sp>
      <p:sp>
        <p:nvSpPr>
          <p:cNvPr id="295" name="Rounded Rectangle 294"/>
          <p:cNvSpPr/>
          <p:nvPr/>
        </p:nvSpPr>
        <p:spPr>
          <a:xfrm>
            <a:off x="411480" y="1463040"/>
            <a:ext cx="2651760" cy="10972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One place per mode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read a state on its own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3246120" y="1463040"/>
            <a:ext cx="2651760" cy="10972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Same event, different handling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a power pellet: frightened,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start over, or ignored</a:t>
            </a:r>
          </a:p>
        </p:txBody>
      </p:sp>
      <p:sp>
        <p:nvSpPr>
          <p:cNvPr id="297" name="Rounded Rectangle 296"/>
          <p:cNvSpPr/>
          <p:nvPr/>
        </p:nvSpPr>
        <p:spPr>
          <a:xfrm>
            <a:off x="6080760" y="1463040"/>
            <a:ext cx="2651760" cy="10972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Enter and Exit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start and clean up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in one place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411480" y="283464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Pacman1 → Pacman2: World didn’t change at all.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State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Pacman1 → Pacman2: from an enum to state classes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The Same Change, With States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67335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Pacman2: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Make frightened ghosts last 3 seconds instead of 6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many files did it take?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Where would a FrozenState go, and what would change?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Four Personalities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Four personalities, so the ghosts trap Pac-Man instead of lining up behind him.</a:t>
            </a:r>
            <a:endParaRPr/>
          </a:p>
        </p:txBody>
      </p:sp>
      <p:pic>
        <p:nvPicPr>
          <p:cNvPr id="295" name="Picture 294" descr="ghost_blink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17320"/>
            <a:ext cx="822960" cy="822960"/>
          </a:xfrm>
          <a:prstGeom prst="rect">
            <a:avLst/>
          </a:prstGeom>
        </p:spPr>
      </p:pic>
      <p:sp>
        <p:nvSpPr>
          <p:cNvPr id="296" name="Rounded Rectangle 295"/>
          <p:cNvSpPr/>
          <p:nvPr/>
        </p:nvSpPr>
        <p:spPr>
          <a:xfrm>
            <a:off x="502920" y="233172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Blinky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Pac-Man’s tile</a:t>
            </a:r>
          </a:p>
        </p:txBody>
      </p:sp>
      <p:pic>
        <p:nvPicPr>
          <p:cNvPr id="297" name="Picture 296" descr="ghost_pink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59" y="1417320"/>
            <a:ext cx="822960" cy="822960"/>
          </a:xfrm>
          <a:prstGeom prst="rect">
            <a:avLst/>
          </a:prstGeom>
        </p:spPr>
      </p:pic>
      <p:sp>
        <p:nvSpPr>
          <p:cNvPr id="298" name="Rounded Rectangle 297"/>
          <p:cNvSpPr/>
          <p:nvPr/>
        </p:nvSpPr>
        <p:spPr>
          <a:xfrm>
            <a:off x="2606039" y="233172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Pinky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4 tiles ahead of him</a:t>
            </a:r>
          </a:p>
        </p:txBody>
      </p:sp>
      <p:pic>
        <p:nvPicPr>
          <p:cNvPr id="299" name="Picture 298" descr="ghost_ink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79" y="1417320"/>
            <a:ext cx="822960" cy="822960"/>
          </a:xfrm>
          <a:prstGeom prst="rect">
            <a:avLst/>
          </a:prstGeom>
        </p:spPr>
      </p:pic>
      <p:sp>
        <p:nvSpPr>
          <p:cNvPr id="300" name="Rounded Rectangle 299"/>
          <p:cNvSpPr/>
          <p:nvPr/>
        </p:nvSpPr>
        <p:spPr>
          <a:xfrm>
            <a:off x="4709159" y="233172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Inky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2 ahead, doubled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from Blinky</a:t>
            </a:r>
          </a:p>
        </p:txBody>
      </p:sp>
      <p:pic>
        <p:nvPicPr>
          <p:cNvPr id="301" name="Picture 300" descr="ghost_cly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199" y="1417320"/>
            <a:ext cx="822960" cy="822960"/>
          </a:xfrm>
          <a:prstGeom prst="rect">
            <a:avLst/>
          </a:prstGeom>
        </p:spPr>
      </p:pic>
      <p:sp>
        <p:nvSpPr>
          <p:cNvPr id="302" name="Rounded Rectangle 301"/>
          <p:cNvSpPr/>
          <p:nvPr/>
        </p:nvSpPr>
        <p:spPr>
          <a:xfrm>
            <a:off x="6812279" y="233172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Clyde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Pac-Man, until</a:t>
            </a:r>
          </a:p>
          <a:p>
            <a:pPr algn="ctr"/>
            <a:r>
              <a:rPr sz="1300" b="0">
                <a:solidFill>
                  <a:srgbClr val="9AA3AB"/>
                </a:solidFill>
              </a:rPr>
              <a:t>close: then his corner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EE2E6"/>
                </a:solidFill>
              </a:rPr>
              <a:t>Where does the targeting code go, so every ghost can have its own?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Strategy Pattern</a:t>
            </a:r>
            <a:endParaRPr/>
          </a:p>
        </p:txBody>
      </p:sp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“Define a family of algorithms, encapsulate each one, and make them interchangeable.”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Each ghost gets its strategy when it’s created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ChaseState asks the ghost’s strategy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It works for every ghost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A new personality: one class, one line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public interface ITargetStrategy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Point ChooseTarget(Ghost ghost, World world);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// Pinky: four tiles ahead of Pac-Man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public class AmbushAhead : ITargetStrategy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public Point ChooseTarget(Ghost g, World w)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Point facing = w.PacMan.Facing;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return w.PacMan.Tile +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    new Point(facing.X * 4, facing.Y * 4);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// World.cs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Pinky = new Ghost(..., new AmbushAhead());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Strategy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Pacman3: one targeting strategy per ghost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Swap a Personality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289304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Pacman3’s World: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Give Clyde Blinky’s strategy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Play: how does the chase change?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State vs. Strategy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same structure (hold an interface, forward to it), used for different jobs.</a:t>
            </a:r>
            <a:endParaRPr/>
          </a:p>
        </p:txBody>
      </p:sp>
      <p:sp>
        <p:nvSpPr>
          <p:cNvPr id="295" name="Rounded Rectangle 294"/>
          <p:cNvSpPr/>
          <p:nvPr/>
        </p:nvSpPr>
        <p:spPr>
          <a:xfrm>
            <a:off x="548640" y="1417320"/>
            <a:ext cx="3749039" cy="15544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State: the mode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chosen by the states themselves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changes all the time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a state knows the next state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4846320" y="1417320"/>
            <a:ext cx="3749039" cy="155448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DEE2E6"/>
                </a:solidFill>
              </a:rPr>
              <a:t>Strategy: the targeting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chosen from outside, once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never changes</a:t>
            </a:r>
          </a:p>
          <a:p>
            <a:pPr algn="ctr"/>
            <a:r>
              <a:rPr sz="1400" b="0">
                <a:solidFill>
                  <a:srgbClr val="9AA3AB"/>
                </a:solidFill>
              </a:rPr>
              <a:t>strategies don’t know each other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457200" y="3246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EE2E6"/>
                </a:solidFill>
              </a:rPr>
              <a:t>Together: the state decides whether to chase, the strategy how.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the Ghosts</a:t>
            </a:r>
            <a:endParaRPr/>
          </a:p>
        </p:txBody>
      </p:sp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152475"/>
            <a:ext cx="3700000" cy="35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A strategy: one small class, one method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Put Pac-Man somewhere, check the target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Inky’s target is invisible when playing</a:t>
            </a:r>
            <a:endParaRPr/>
          </a:p>
          <a:p>
            <a:pPr indent="-317500" lvl="1" marL="914400" rtl="0" algn="l">
              <a:buClr>
                <a:srgbClr val="6C757D"/>
              </a:buClr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>
                <a:solidFill>
                  <a:srgbClr val="6C757D"/>
                </a:solidFill>
              </a:rPr>
              <a:t>The test checks it with numbers you can work out on paper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The states: put a ghost in a state, make something happen, check the state after</a:t>
            </a:r>
            <a:endParaRPr/>
          </a:p>
          <a:p>
            <a:pPr indent="-330200" lvl="0" marL="457200" rtl="0" algn="l">
              <a:buClr>
                <a:srgbClr val="DEE2E6"/>
              </a:buClr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DEE2E6"/>
                </a:solidFill>
              </a:rPr>
              <a:t>A small test maze, and a seeded Random</a:t>
            </a:r>
            <a:endParaRPr/>
          </a:p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4150000" y="1152475"/>
            <a:ext cx="4750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[Fact]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public void Inky_doubles_the_line_from_Blinky()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_world.PacMan.Place(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new Point(5, 1), Direction.Right);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_world.Blinky.Place(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new Point(3, 3), Direction.Left);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/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// Two ahead of Pac-Man: (7, 1).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// From Blinky: (+4, -2), doubled.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Assert.Equal(new Point(11, -1),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        TargetOf(_world.Inky));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chemeClr val="dk2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CCCCCC"/>
              </a:solidFill>
              <a:highlight>
                <a:schemeClr val="dk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The Whole Game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52120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Two levels of state machine: the game’s, and each ghost’s.</a:t>
            </a:r>
            <a:endParaRPr/>
          </a:p>
        </p:txBody>
      </p:sp>
      <p:sp>
        <p:nvSpPr>
          <p:cNvPr id="295" name="Rounded Rectangle 294"/>
          <p:cNvSpPr/>
          <p:nvPr/>
        </p:nvSpPr>
        <p:spPr>
          <a:xfrm>
            <a:off x="822960" y="1463040"/>
            <a:ext cx="164592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Ready</a:t>
            </a:r>
          </a:p>
        </p:txBody>
      </p:sp>
      <p:cxnSp>
        <p:nvCxnSpPr>
          <p:cNvPr id="296" name="Connector 295"/>
          <p:cNvCxnSpPr/>
          <p:nvPr/>
        </p:nvCxnSpPr>
        <p:spPr>
          <a:xfrm>
            <a:off x="2487168" y="1737360"/>
            <a:ext cx="2377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Rounded Rectangle 296"/>
          <p:cNvSpPr/>
          <p:nvPr/>
        </p:nvSpPr>
        <p:spPr>
          <a:xfrm>
            <a:off x="2743200" y="1463040"/>
            <a:ext cx="164592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 w="25400">
            <a:solidFill>
              <a:srgbClr val="D45D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Play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4407407" y="1737360"/>
            <a:ext cx="237745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4663440" y="1463040"/>
            <a:ext cx="164592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Dying</a:t>
            </a:r>
          </a:p>
        </p:txBody>
      </p:sp>
      <p:cxnSp>
        <p:nvCxnSpPr>
          <p:cNvPr id="300" name="Connector 299"/>
          <p:cNvCxnSpPr/>
          <p:nvPr/>
        </p:nvCxnSpPr>
        <p:spPr>
          <a:xfrm>
            <a:off x="6327648" y="1737360"/>
            <a:ext cx="237744" cy="0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Rounded Rectangle 300"/>
          <p:cNvSpPr/>
          <p:nvPr/>
        </p:nvSpPr>
        <p:spPr>
          <a:xfrm>
            <a:off x="6583680" y="1463040"/>
            <a:ext cx="1645920" cy="54864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DEE2E6"/>
                </a:solidFill>
              </a:rPr>
              <a:t>Ready or Game Over</a:t>
            </a:r>
          </a:p>
        </p:txBody>
      </p:sp>
      <p:sp>
        <p:nvSpPr>
          <p:cNvPr id="302" name="Rounded Rectangle 301"/>
          <p:cNvSpPr/>
          <p:nvPr/>
        </p:nvSpPr>
        <p:spPr>
          <a:xfrm>
            <a:off x="2651760" y="2377440"/>
            <a:ext cx="3840480" cy="731520"/>
          </a:xfrm>
          <a:prstGeom prst="roundRect">
            <a:avLst>
              <a:gd name="adj" fmla="val 12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DEE2E6"/>
                </a:solidFill>
              </a:rPr>
              <a:t>Each ghost: InHouse, Scatter, Chase, ...</a:t>
            </a:r>
          </a:p>
          <a:p>
            <a:pPr algn="ctr"/>
            <a:r>
              <a:rPr sz="1200" b="0">
                <a:solidFill>
                  <a:srgbClr val="9AA3AB"/>
                </a:solidFill>
              </a:rPr>
              <a:t>updated only while the game is in Play</a:t>
            </a:r>
          </a:p>
        </p:txBody>
      </p:sp>
      <p:cxnSp>
        <p:nvCxnSpPr>
          <p:cNvPr id="303" name="Connector 302"/>
          <p:cNvCxnSpPr/>
          <p:nvPr/>
        </p:nvCxnSpPr>
        <p:spPr>
          <a:xfrm>
            <a:off x="3749039" y="2057400"/>
            <a:ext cx="457201" cy="301752"/>
          </a:xfrm>
          <a:prstGeom prst="line">
            <a:avLst/>
          </a:prstGeom>
          <a:ln w="25400">
            <a:solidFill>
              <a:srgbClr val="9AA3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TextBox 303"/>
          <p:cNvSpPr txBox="1"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While Pac-Man dies, the ghosts’ states simply pause.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Pac-Man Implementation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latin typeface="VT323"/>
                <a:ea typeface="VT323"/>
                <a:cs typeface="VT323"/>
                <a:sym typeface="VT323"/>
              </a:rPr>
              <a:t>DEMO!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Pacman4 and Pacman.Tests: the whole game, and its tests</a:t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Exercises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Start from Pacman4, the finished game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frozen mode, for real: a FrozenState before EatenState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Which classes did you change? Compare with the seven switches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new personality: a fifth ghost with its own strategy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Write its test first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Ghosts in the house also turn blue after a power pellet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does InHouseState need to remember?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Exercises (Stretch)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Fruit: after 70 dots, a fruit appears below the house for ten seconds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Where does that rule belong: World, Maze, or a class of its own?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Tunnel: ghosts slow down in the tunnel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Which class knows the ghost is in the tunnel, and which how fast to go?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Yourself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885950"/>
            <a:ext cx="8520600" cy="1719072"/>
          </a:xfrm>
        </p:spPr>
        <p:txBody>
          <a:bodyPr/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problems does the enum version of the ghost have?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the State pattern, who decides when to change state?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What are Enter and Exit for?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State and Strategy have the same structure. How do they differ?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1821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A3AB"/>
                </a:solidFill>
              </a:rPr>
              <a:t>The answers, and more questions, are on the course site.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/>
          <p:nvPr>
            <p:ph type="title"/>
          </p:nvPr>
        </p:nvSpPr>
        <p:spPr>
          <a:xfrm>
            <a:off x="311700" y="19561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Apply It to Your Project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311700" y="885950"/>
            <a:ext cx="8520600" cy="40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Which objects in your game have modes?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Flags, an enum, or state objects?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Where do you switch over a mode in more than one method?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 behaviour that differs per object, but never changes for one object?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That’s a strategy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GMD">
  <a:themeElements>
    <a:clrScheme name="Simple Light">
      <a:dk1>
        <a:srgbClr val="DEE2E6"/>
      </a:dk1>
      <a:lt1>
        <a:srgbClr val="818387"/>
      </a:lt1>
      <a:dk2>
        <a:srgbClr val="1F1F1F"/>
      </a:dk2>
      <a:lt2>
        <a:srgbClr val="DEE2E6"/>
      </a:lt2>
      <a:accent1>
        <a:srgbClr val="D45D35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