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83" r:id="rId42"/>
    <p:sldId id="262" r:id="rId12"/>
    <p:sldId id="263" r:id="rId13"/>
    <p:sldId id="267" r:id="rId17"/>
    <p:sldId id="288" r:id="rId47"/>
    <p:sldId id="289" r:id="rId48"/>
    <p:sldId id="290" r:id="rId49"/>
    <p:sldId id="291" r:id="rId50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6" r:id="rId45"/>
    <p:sldId id="287" r:id="rId46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VT323"/>
      <p:regular r:id="rId37"/>
    </p:embeddedFont>
    <p:embeddedFont>
      <p:font typeface="Roboto Light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7" Type="http://schemas.openxmlformats.org/officeDocument/2006/relationships/slide" Target="slides/slide10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Relationship Id="rId37" Type="http://schemas.openxmlformats.org/officeDocument/2006/relationships/font" Target="fonts/VT323-regular.fntdata"/><Relationship Id="rId38" Type="http://schemas.openxmlformats.org/officeDocument/2006/relationships/font" Target="fonts/RobotoLight-regular.fntdata"/><Relationship Id="rId39" Type="http://schemas.openxmlformats.org/officeDocument/2006/relationships/font" Target="fonts/RobotoLight-bold.fntdata"/><Relationship Id="rId40" Type="http://schemas.openxmlformats.org/officeDocument/2006/relationships/font" Target="fonts/RobotoLight-italic.fntdata"/><Relationship Id="rId41" Type="http://schemas.openxmlformats.org/officeDocument/2006/relationships/font" Target="fonts/RobotoLight-boldItalic.fntdata"/><Relationship Id="rId42" Type="http://schemas.openxmlformats.org/officeDocument/2006/relationships/slide" Target="slides/slide7.xml"/><Relationship Id="rId45" Type="http://schemas.openxmlformats.org/officeDocument/2006/relationships/slide" Target="slides/slide26.xml"/><Relationship Id="rId46" Type="http://schemas.openxmlformats.org/officeDocument/2006/relationships/slide" Target="slides/slide27.xml"/><Relationship Id="rId47" Type="http://schemas.openxmlformats.org/officeDocument/2006/relationships/slide" Target="slides/slide11.xml"/><Relationship Id="rId48" Type="http://schemas.openxmlformats.org/officeDocument/2006/relationships/slide" Target="slides/slide12.xml"/><Relationship Id="rId49" Type="http://schemas.openxmlformats.org/officeDocument/2006/relationships/slide" Target="slides/slide13.xml"/><Relationship Id="rId5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6eb46504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6eb46504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6eb465041_1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6eb465041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eb465041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6eb465041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6eb465041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6eb46504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eb465041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eb465041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</a:t>
            </a:r>
            <a:r>
              <a:rPr lang="en"/>
              <a:t>re-allocate MAX particles once, at load time.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Never `new` a Particle again for the rest of the game.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Release is just: p.Active = false;   Zero GC pressure.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eb46504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eb46504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eb46504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eb46504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6eb465041_1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d6eb465041_1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SpriteBatch itself is a flyweight: one GPU state change per texture, hundreds of sprites drawn in a single call.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6eb465041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6eb465041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6eb46504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6eb46504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6eb465041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6eb465041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6eb4650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d6eb4650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Input Data: The process begins with input data that is sent to the GPU to render: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AutoNum type="alphaLcPeriod"/>
            </a:pPr>
            <a:r>
              <a:rPr lang="en"/>
              <a:t>Vertex Data: The vertex data (positions, colors, etc.) that define the geometry of what is being drawn.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AutoNum type="alphaLcPeriod"/>
            </a:pPr>
            <a:r>
              <a:rPr lang="en"/>
              <a:t>Texture: The image data that will be applied to the geometry.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Vertex Shader: Processes each vertex, calculating its final position on the screen and passing the data to the next stage.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Sampler: Controls how texture data is accessed, applying filtering (how pixels blend when scaled) and addressing (what happens at texture edges).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Pixel Shader: Takes the transformed vertices and sampled texture data to calculate the final color of each pixel.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Output: The final rendered image that appears on your screen.</a:t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6eb465041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d6eb465041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6eb46504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6eb46504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ar-games/tree/main/11-geometry-wars" TargetMode="External"/><Relationship Id="rId4" Type="http://schemas.openxmlformats.org/officeDocument/2006/relationships/hyperlink" Target="http://readm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11: Geometry Wars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Geometry Wars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8775" y="935302"/>
            <a:ext cx="3642401" cy="2048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29200" y="935322"/>
            <a:ext cx="3642398" cy="2048836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07875" y="3221165"/>
            <a:ext cx="3009900" cy="1714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63925" y="3151128"/>
            <a:ext cx="2378576" cy="18545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5" name="Google Shape;55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83302" y="1536400"/>
            <a:ext cx="5377400" cy="3111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1" name="Google Shape;61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vs.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 Pool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Flyweight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Particles as a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(demo)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Geometry Wars?</a:t>
            </a:r>
            <a:endParaRPr/>
          </a:p>
        </p:txBody>
      </p:sp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Thousands of entities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Built from components, as in 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At this size: which behaviour belongs in a component, and which in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how does every component get the services it needs?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https://github.com/Metamate/gar-games/tree/main/11-geometry-wars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Walkthrough in README.md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goal is not to understand all the systems, but the overall architecture employed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GeometryWars0 → GeometryWars6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adds components to the entity recipes, and the systems they need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 is the finished game: explore it, and start the exercises from it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GeometryWars0: entities &amp; components, the player ship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GeometryWars1: shooting &amp; Object Pool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GeometryWars2: enemies, collisions, score and lives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GeometryWars3: particles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GeometryWars4: the spring grid and black holes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GeometryWars5: bloom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GeometryWars6: audio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GeometryWars6.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</a:t>
            </a:r>
            <a:r>
              <a:rPr lang="en"/>
              <a:t>high</a:t>
            </a:r>
            <a:r>
              <a:rPr lang="en"/>
              <a:t> a score can you get? ;)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geometry wars-specific project?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High-Level Architecture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Game1 owns the application shell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PlayState owns one active gameplay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PlaySession owns one run of the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EntityWorld updates entities and collisions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EntityFactory builds entities by composing components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implement the actual behavior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Systems handle some cross-component concerns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Game1 → PlayState → PlaySession → EntityWorld / EntityFactory → Components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Components at Scale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Every entity is a bag of components, composed in EntityFactory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 class per enemy type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clear capability per component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Health, FaceVelocity, ApplyMovementInput, TakeDamageOnBulletCollision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Entity.cs, Component.cs, EntityFactory.cs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Steps: GeometryWars0 onwards; every step adds components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is about its owner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Its own state, and what happens to it: Health, Weapon, SeekTarget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Some rules span many entities, or the whole run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pairs collide? When do enemies spawn? What happens when the player dies?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Those belong in systems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CollisionSystem, EnemyDirector, BulletSpawner, PlaySession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that reaches into other entities is a system in disguise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 in Geometry Wars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BeginRespawnOnLethalCollision is a component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only decides when its player has taken a lethal hit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PlaySession handles the consequences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Clearing enemies and resetting spawning are rules of the run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Particles are the extreme case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Thousands of sparks, no entities: one ParticleManager updates them in bulk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Vampire Survivors takes this all the way: data-oriented design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ECS: entities are IDs, components are data, all behaviour in systems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Dependency Injection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Components need shared services: input, assets, audio, frame time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Pokemon looked them up in a Service Locator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Geometry Wars passes them in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Game1 creates them once, in a PlayContext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constructor shows what a class needs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test can pass in a fake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Cost: passed through every layer that needs it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PlayContext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FrameInfo Frame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GameController Controller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GameAssets Assets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AudioManager Audio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PerformanceMonitor Performance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PlayContext(FrameInfo frame,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GameController controller, ...)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...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Ways to Reach a Service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Singleton (Flappy Bird): Audio.Instance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Global access to one concrete class; hard to replace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 (Pokemon): Locator.Audio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Global access through an interface; replaceable at runtime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 (Geometry Wars): passed 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Dependencies visible in the constructor; replaced when constructing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one fits depends on how many classes need the service, and how deep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Problem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fire 20 bullets per second.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hit spawns 30 particles.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enemy dies into 50 debris pieces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That's thousands of new allocations per second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 short-lived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C# is a managed language: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new</a:t>
            </a:r>
            <a:r>
              <a:rPr lang="en"/>
              <a:t> means the GC will eventually clean up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GC pauses are non-deterministic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stutter every few seconds is the telltale sign of allocation-in-the-hot-loop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Simple Example</a:t>
            </a:r>
            <a:endParaRPr/>
          </a:p>
        </p:txBody>
      </p:sp>
      <p:sp>
        <p:nvSpPr>
          <p:cNvPr id="145" name="Google Shape;145;p26"/>
          <p:cNvSpPr txBox="1"/>
          <p:nvPr>
            <p:ph idx="2" type="body"/>
          </p:nvPr>
        </p:nvSpPr>
        <p:spPr>
          <a:xfrm>
            <a:off x="1830150" y="876475"/>
            <a:ext cx="54837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5000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null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pool exhausted — size it generously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 Pool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1" name="Google Shape;151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ObjectPool.cs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BulletSpawner.cs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GeometryWars1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Pattern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Share What's Shared, Store What's Unique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500 enemies on screen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But they're all the same sprite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Intrinsic state: shared, immutable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Texture2D, the mesh, the stats template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Extrinsic state: per-instance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Position, velocity, current HP, color tint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EnemyType object holds intrinsic data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Entity references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500 entities × 4-byte pointer to one texture, not 500 copies of the texture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Memory: kilobytes instead of megabytes. Load time: instant instead of slow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Example</a:t>
            </a:r>
            <a:endParaRPr/>
          </a:p>
        </p:txBody>
      </p:sp>
      <p:sp>
        <p:nvSpPr>
          <p:cNvPr id="163" name="Google Shape;163;p29"/>
          <p:cNvSpPr txBox="1"/>
          <p:nvPr>
            <p:ph idx="2" type="body"/>
          </p:nvPr>
        </p:nvSpPr>
        <p:spPr>
          <a:xfrm>
            <a:off x="1947750" y="876475"/>
            <a:ext cx="52485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Intrinsic (shared) — one instance, referenced everywhere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ScoreValue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Extrinsic (per-instance) — one per live enemy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pointer — the flyweight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CurrentHP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Draw: SpriteBatch batches draws of the same texture automatically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Flyweight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9" name="Google Shape;169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GameAssets.cs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GameplayDefinitions.cs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Shaders</a:t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Moving work to the GPU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CPU has ~8 cores. GPU has thousands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But they all run the same program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Vertex shader: runs once per vertex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Transforms positions, can displace geometry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Pixel (fragment) shader: runs once per pixel.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Decides the final color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ships with a default shader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 write custom ones in HLSL (.fx files)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Any per-pixel effect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Glow, blur, distortion, color grading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CPU submits draw calls; the GPU paints pixels in parallel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Bloom, The Signature Geometry Wars Glow</a:t>
            </a:r>
            <a:endParaRPr/>
          </a:p>
        </p:txBody>
      </p:sp>
      <p:sp>
        <p:nvSpPr>
          <p:cNvPr id="181" name="Google Shape;181;p3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 makes bright pixels bleed light into their neighbors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Render the scene to a RenderTarget2D instead of the back buffer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Threshold pass — keep only pixels brighter than some cutoff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Gaussian blur the bright pixels — horizontal pass, then vertical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Additively blend the blurred result back over the original scene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Each pass is a fullscreen quad with a different pixel shader (post-processing)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Shader Pipeline</a:t>
            </a:r>
            <a:endParaRPr/>
          </a:p>
        </p:txBody>
      </p:sp>
      <p:pic>
        <p:nvPicPr>
          <p:cNvPr id="187" name="Google Shape;18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50" y="1101440"/>
            <a:ext cx="8267700" cy="354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Shader Implementation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98" name="Google Shape;198;p3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Structure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Components define what an entity is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Orchestration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Systems own the rules that span many entities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Dependency injection hands out shared services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Memory Allocation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Object Pool decides when entities are allocated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Shared Memory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Flyweight decides what entities share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Presentation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Shaders decide how entities look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Exercises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GeometryWars6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Composition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new enemy type from existing components; then a new component, e.g. a shield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 or system?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bomb (one per life) that destroys every enemy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screen-shake service in PlayContext, used when the player dies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Measure pooling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Allocated bytes and gen-0 GCs per second, with and without the pool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of your game’s rules are about one entity, and which span many?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they live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your classes get shared services?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passing them in make the dependencies clearer?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allocate every frame?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