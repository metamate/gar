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300" r:id="rId15"/>
    <p:sldId id="288" r:id="rId47"/>
    <p:sldId id="289" r:id="rId48"/>
    <p:sldId id="296" r:id="rId19"/>
    <p:sldId id="290" r:id="rId49"/>
    <p:sldId id="291" r:id="rId50"/>
    <p:sldId id="292" r:id="rId21"/>
    <p:sldId id="298" r:id="rId16"/>
    <p:sldId id="272" r:id="rId22"/>
    <p:sldId id="273" r:id="rId23"/>
    <p:sldId id="299" r:id="rId43"/>
    <p:sldId id="274" r:id="rId24"/>
    <p:sldId id="295" r:id="rId20"/>
    <p:sldId id="275" r:id="rId25"/>
    <p:sldId id="276" r:id="rId26"/>
    <p:sldId id="277" r:id="rId27"/>
    <p:sldId id="297" r:id="rId18"/>
    <p:sldId id="278" r:id="rId28"/>
    <p:sldId id="279" r:id="rId29"/>
    <p:sldId id="280" r:id="rId30"/>
    <p:sldId id="281" r:id="rId31"/>
    <p:sldId id="301" r:id="rId14"/>
    <p:sldId id="282" r:id="rId32"/>
    <p:sldId id="286" r:id="rId45"/>
    <p:sldId id="294" r:id="rId44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36.xml"/><Relationship Id="rId15" Type="http://schemas.openxmlformats.org/officeDocument/2006/relationships/slide" Target="slides/slide11.xml"/><Relationship Id="rId16" Type="http://schemas.openxmlformats.org/officeDocument/2006/relationships/slide" Target="slides/slide18.xml"/><Relationship Id="rId17" Type="http://schemas.openxmlformats.org/officeDocument/2006/relationships/slide" Target="slides/slide10.xml"/><Relationship Id="rId18" Type="http://schemas.openxmlformats.org/officeDocument/2006/relationships/slide" Target="slides/slide27.xml"/><Relationship Id="rId19" Type="http://schemas.openxmlformats.org/officeDocument/2006/relationships/slide" Target="slides/slide14.xml"/><Relationship Id="rId20" Type="http://schemas.openxmlformats.org/officeDocument/2006/relationships/slide" Target="slides/slide23.xml"/><Relationship Id="rId21" Type="http://schemas.openxmlformats.org/officeDocument/2006/relationships/slide" Target="slides/slide17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3" Type="http://schemas.openxmlformats.org/officeDocument/2006/relationships/slide" Target="slides/slide21.xml"/><Relationship Id="rId44" Type="http://schemas.openxmlformats.org/officeDocument/2006/relationships/slide" Target="slides/slide34.xml"/><Relationship Id="rId45" Type="http://schemas.openxmlformats.org/officeDocument/2006/relationships/slide" Target="slides/slide33.xml"/><Relationship Id="rId46" Type="http://schemas.openxmlformats.org/officeDocument/2006/relationships/slide" Target="slides/slide35.xml"/><Relationship Id="rId47" Type="http://schemas.openxmlformats.org/officeDocument/2006/relationships/slide" Target="slides/slide12.xml"/><Relationship Id="rId48" Type="http://schemas.openxmlformats.org/officeDocument/2006/relationships/slide" Target="slides/slide13.xml"/><Relationship Id="rId49" Type="http://schemas.openxmlformats.org/officeDocument/2006/relationships/slide" Target="slides/slide15.xml"/><Relationship Id="rId50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and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 and systems, and where the behaviour should live in a big game. Then dependency injection, Object Pool, Flyweight, and a shader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GARCore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system, and when in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explicit.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  <a:p>
            <a:r>
              <a:t>its own state, and what happens to it</a:t>
            </a:r>
          </a:p>
          <a:p>
            <a:r>
              <a:t>Health · Weapon · SeekTarget</a:t>
            </a:r>
          </a:p>
          <a:p>
            <a:r>
              <a:t>many entities, or the whole run</a:t>
            </a:r>
          </a:p>
          <a:p>
            <a:r>
              <a:t>CollisionSystem · EnemyDirector</a:t>
            </a:r>
          </a:p>
          <a:p>
            <a:r>
              <a:t>BulletSpawner · PlaySession</a:t>
            </a:r>
          </a:p>
          <a:p>
            <a:r>
              <a:t>A component that reaches into other entities should probably be a system.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An object pool does this.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real pool is this small: a stack of spare objects. Get takes one out, or makes one when the stack is empty; Return puts it back. The bottom half is the part people forget: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definition holds what is shared: the sprite, the points, the acceleration. Each enemy holds only its own position and velocity, in its components.</a:t>
            </a:r>
          </a:p>
          <a:p>
            <a:r>
              <a:t>SeekerEnemyDefinition: shared, immutable</a:t>
            </a:r>
          </a:p>
          <a:p>
            <a:r>
              <a:t>sprite · points · acceleration</a:t>
            </a:r>
          </a:p>
          <a:p>
            <a:r>
              <a:t>position · velocity · alive</a:t>
            </a:r>
          </a:p>
          <a:p>
            <a:r>
              <a:t>position · velocity · alive</a:t>
            </a:r>
          </a:p>
          <a:p>
            <a:r>
              <a:t>position · velocity · alive</a:t>
            </a:r>
          </a:p>
          <a:p>
            <a:r>
              <a:t>position · velocity · alive</a:t>
            </a:r>
          </a:p>
          <a:p>
            <a:r>
              <a:t>500 enemies share one texture, loaded once.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The definition is a record, so it cannot change. Ask: how is this different from Type Object in Plants vs. Zombies? Type Object is about design (kinds as data), Flyweight about memory (shared data stored once); they often come together. SpriteBatch is a flyweight too: one texture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  <a:p>
            <a:r>
              <a:t>Draw the scene</a:t>
            </a:r>
          </a:p>
          <a:p>
            <a:r>
              <a:t>Add them back</a:t>
            </a:r>
          </a:p>
          <a:p>
            <a:r>
              <a:t>over the scene</a:t>
            </a:r>
          </a:p>
          <a:p>
            <a:r>
              <a:t>Each step is one full-screen pass with its own pixel shader, called post-processing.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bullet that leaves the screen goes back to the pool; the next shot takes it out again and resets it.</a:t>
            </a:r>
          </a:p>
          <a:p>
            <a:r>
              <a:t>Ask: what happens if the reset is forgotten? Answer: the old bullet's state leaks into the new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minutes. It stays flat: the bullets are reused. Without the pool, memory would climb and drop with each collection. Exercise 5 measures it.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It drifts: movement, collisions, health and score still work, because each is its own component.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Acceleration in GameplayDefinitions.Seeker: one object, and every seeker changes.</a:t>
            </a:r>
          </a:p>
          <a:p>
            <a:r>
              <a:t>The texture: once, in GameAssets.Load; every seeker’s sprite refers to it. This is the Flyweight’s intrinsic state.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50 is inside the CreateEnemy helper: give CreateEnemy a points parameter (default 50), and the new test passes 100 and expects [100].</a:t>
            </a:r>
          </a:p>
          <a:p>
            <a:r>
              <a:t>With a locator, the test would have to set the global Locator.Score before, and put it back after: every test shares it.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component can hook into the same phases, in a fixed order. OnRemoved is housekeeping; it is not the same as an enemy being destroyed.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architecture from the start of the session, with the classes of one run filled in.</a:t>
            </a:r>
          </a:p>
          <a:p>
            <a:r>
              <a:t>Ask: which of these are systems, and what does each one span?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7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4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eometry-war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3304" y="1579594"/>
            <a:ext cx="5377395" cy="3024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 and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size,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GeometryWars.Tests),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high a score can you get?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Lifecycle</a:t>
            </a:r>
            <a:endParaRPr/>
          </a:p>
        </p:txBody>
      </p:sp>
      <p:pic>
        <p:nvPicPr>
          <p:cNvPr id="3" name="Picture 2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39" y="105156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pic>
        <p:nvPicPr>
          <p:cNvPr id="158" name="Picture 157" descr="syste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247" y="1371600"/>
            <a:ext cx="7745505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Taken all the way, this is an ECS. Entities are IDs, components are data, and all behaviour is in systems.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Take a Part Away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EntityFactory.CreateSeeker: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Remove the SeekTarget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seeker do now? What still works?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test can pass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Test With a Fake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test: an enemy worth 100 points awards 100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Locator.Score instead, how would the test look?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Pool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GARCore/Collections/ObjectPool.cs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ObjectPool&lt;T&gt; where T : class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private readonly Stack&lt;T&gt; _pool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private readonly Func&lt;T&gt; _factory;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T Get() =&gt; _pool.Count &gt; 0 ? _pool.Pop() : _factory();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Return(T item) =&gt; _pool.Push(item);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BulletSpawner.cs: a reused bullet is reset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 bullet = _pool.Get();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bullet.IsExpired = false;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bullet.Transform.Position = position;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rigidbody.Velocity = velocity;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 and Return</a:t>
            </a:r>
            <a:endParaRPr/>
          </a:p>
        </p:txBody>
      </p:sp>
      <p:pic>
        <p:nvPicPr>
          <p:cNvPr id="3" name="Picture 2" descr="object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Watch the Memory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press F3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firing for ten seconds: does memory grow?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expect without the pool?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pic>
        <p:nvPicPr>
          <p:cNvPr id="158" name="Picture 157" descr="flywe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Shared: one instance in the whole game, and it can't change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record SeekerEnemyDefinition(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EnemyShellDefinition Shell,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float Acceleration);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EntityFactory.cs: every seeker is built from it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 enemy = CreateEnemyBase(SeekerDefinition.Shell, position);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enemy.AddComponent(new SeekTarget(getTargetPosition,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SeekerDefinition.Acceleration));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Per seeker, in its components: position, velocity, alive or not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Definition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GameplayDefinitions: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seekers three times their Acceleration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seekers change? How many objects did you edit?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seeker’s texture loaded, and how many times?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pic>
        <p:nvPicPr>
          <p:cNvPr id="182" name="Picture 181" descr="bl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137160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Picture 186" descr="shader-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42519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system, and when in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Whole Game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GeometryWars6 adds music and sounds, as one more service and one more component.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29000" y="1481328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Game1 : Core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creates the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4903" y="2082545"/>
            <a:ext cx="1307592" cy="4572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PlayContext</a:t>
            </a:r>
          </a:p>
          <a:p>
            <a:pPr algn="ctr"/>
            <a:r>
              <a:rPr sz="1000" b="0">
                <a:solidFill>
                  <a:srgbClr val="9AA3AB"/>
                </a:solidFill>
              </a:rPr>
              <a:t>the services, passed in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028700" y="1956816"/>
            <a:ext cx="3543300" cy="107441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137660" y="2082545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 the state stack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7660" y="2683764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one run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92223" y="3284982"/>
            <a:ext cx="1307592" cy="4572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EntityWorld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92223" y="3886200"/>
            <a:ext cx="1307592" cy="4572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Entity</a:t>
            </a:r>
          </a:p>
          <a:p>
            <a:pPr algn="ctr"/>
            <a:r>
              <a:rPr sz="1000" b="0">
                <a:solidFill>
                  <a:srgbClr val="9AA3AB"/>
                </a:solidFill>
              </a:rPr>
              <a:t>a bag of components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46020" y="3760470"/>
            <a:ext cx="0" cy="10744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446020" y="3159252"/>
            <a:ext cx="2834640" cy="10744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209544" y="3284982"/>
            <a:ext cx="1307592" cy="4572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EntityFactory</a:t>
            </a:r>
          </a:p>
          <a:p>
            <a:pPr algn="ctr"/>
            <a:r>
              <a:rPr sz="1000" b="0">
                <a:solidFill>
                  <a:srgbClr val="9AA3AB"/>
                </a:solidFill>
              </a:rPr>
              <a:t>composes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3863340" y="3159252"/>
            <a:ext cx="1417320" cy="10744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626864" y="3284982"/>
            <a:ext cx="1307592" cy="4572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BulletSpawner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26864" y="3886200"/>
            <a:ext cx="1307592" cy="4572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ObjectPool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280660" y="3760470"/>
            <a:ext cx="0" cy="10744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280660" y="3159252"/>
            <a:ext cx="0" cy="10744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044184" y="3284982"/>
            <a:ext cx="1307592" cy="4572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Director, score</a:t>
            </a:r>
          </a:p>
          <a:p>
            <a:pPr algn="ctr"/>
            <a:r>
              <a:rPr sz="1000" b="0">
                <a:solidFill>
                  <a:srgbClr val="9AA3AB"/>
                </a:solidFill>
              </a:rPr>
              <a:t>rules of the run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280660" y="3159252"/>
            <a:ext cx="1417320" cy="10744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461504" y="3284982"/>
            <a:ext cx="1307592" cy="4572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Particles, grid</a:t>
            </a:r>
          </a:p>
          <a:p>
            <a:pPr algn="ctr"/>
            <a:r>
              <a:rPr sz="1000" b="0">
                <a:solidFill>
                  <a:srgbClr val="9AA3AB"/>
                </a:solidFill>
              </a:rPr>
              <a:t>flat data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80660" y="3159252"/>
            <a:ext cx="2834640" cy="10744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280660" y="2558034"/>
            <a:ext cx="0" cy="107441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572000" y="1956816"/>
            <a:ext cx="708660" cy="107441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446227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Everything under PlaySession is made new for each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