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288" r:id="rId47"/>
    <p:sldId id="289" r:id="rId48"/>
    <p:sldId id="296" r:id="rId19"/>
    <p:sldId id="290" r:id="rId49"/>
    <p:sldId id="291" r:id="rId50"/>
    <p:sldId id="292" r:id="rId21"/>
    <p:sldId id="298" r:id="rId16"/>
    <p:sldId id="272" r:id="rId22"/>
    <p:sldId id="273" r:id="rId23"/>
    <p:sldId id="274" r:id="rId24"/>
    <p:sldId id="295" r:id="rId20"/>
    <p:sldId id="275" r:id="rId25"/>
    <p:sldId id="276" r:id="rId26"/>
    <p:sldId id="277" r:id="rId27"/>
    <p:sldId id="297" r:id="rId18"/>
    <p:sldId id="278" r:id="rId28"/>
    <p:sldId id="279" r:id="rId29"/>
    <p:sldId id="280" r:id="rId30"/>
    <p:sldId id="281" r:id="rId31"/>
    <p:sldId id="282" r:id="rId32"/>
    <p:sldId id="286" r:id="rId45"/>
    <p:sldId id="294" r:id="rId44"/>
    <p:sldId id="287" r:id="rId46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6" Type="http://schemas.openxmlformats.org/officeDocument/2006/relationships/slide" Target="slides/slide17.xml"/><Relationship Id="rId17" Type="http://schemas.openxmlformats.org/officeDocument/2006/relationships/slide" Target="slides/slide10.xml"/><Relationship Id="rId18" Type="http://schemas.openxmlformats.org/officeDocument/2006/relationships/slide" Target="slides/slide25.xml"/><Relationship Id="rId19" Type="http://schemas.openxmlformats.org/officeDocument/2006/relationships/slide" Target="slides/slide13.xml"/><Relationship Id="rId20" Type="http://schemas.openxmlformats.org/officeDocument/2006/relationships/slide" Target="slides/slide21.xml"/><Relationship Id="rId21" Type="http://schemas.openxmlformats.org/officeDocument/2006/relationships/slide" Target="slides/slide16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4" Type="http://schemas.openxmlformats.org/officeDocument/2006/relationships/slide" Target="slides/slide32.xml"/><Relationship Id="rId45" Type="http://schemas.openxmlformats.org/officeDocument/2006/relationships/slide" Target="slides/slide31.xml"/><Relationship Id="rId46" Type="http://schemas.openxmlformats.org/officeDocument/2006/relationships/slide" Target="slides/slide33.xml"/><Relationship Id="rId47" Type="http://schemas.openxmlformats.org/officeDocument/2006/relationships/slide" Target="slides/slide11.xml"/><Relationship Id="rId48" Type="http://schemas.openxmlformats.org/officeDocument/2006/relationships/slide" Target="slides/slide12.xml"/><Relationship Id="rId49" Type="http://schemas.openxmlformats.org/officeDocument/2006/relationships/slide" Target="slides/slide14.xml"/><Relationship Id="rId50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Geometry Wars. The main topic: components and systems.</a:t>
            </a:r>
          </a:p>
          <a:p>
            <a:r>
              <a:t>Start by playing the finished game, GeometryWars6,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original on Xbox 360, 2005: neon shapes, hundreds of enemies, particles everywhere.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GeometryWars6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components and systems, and where the behaviour should live in a big game. Then dependency injection, Object Pool, Flyweight, and a shader demo.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Thousands of entities, built from components as in Plants vs. Zombies. Two new questions: what belongs in a component, and how does everything get its services?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gar-games/11-geometry-wars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Ten minutes: play it, then find the split between GARCore and the game.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Top to bottom: each layer owns one thing. PlaySession is highlighted: it owns one run, and most of today’s rules live there.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Pokemon looked services up; here they’re passed in, bundled in a PlayContext. A constructor shows what a class needs.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Each step adds components to the recipes, and the systems they need. The tests are in their own project.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When should behaviour live in a system, and when in a component?</a:t>
            </a:r>
          </a:p>
          <a:p>
            <a:r>
              <a:t>A: When it spans many entities, owns rules of the whole game or session, or needs a central order. A component should be about its owner; otherwise it ends up reaching into other entities.</a:t>
            </a:r>
          </a:p>
          <a:p/>
          <a:p>
            <a:r>
              <a:t>Q: What does dependency injection give you that a Service Locator doesn't?</a:t>
            </a:r>
          </a:p>
          <a:p>
            <a:r>
              <a:t>A: The dependencies are explicit. A constructor shows what a class needs, and a test can pass in a replacement. The cost is that services must be passed through every layer that needs them.</a:t>
            </a:r>
          </a:p>
          <a:p/>
          <a:p>
            <a:r>
              <a:t>Q: What is a fake, and why does dependency injection make it easy to use one?</a:t>
            </a:r>
          </a:p>
          <a:p>
            <a:r>
              <a:t>A: A small stand-in for a real dependency, written for a test, that records what it was asked to do. When a class gets its dependencies through its constructor, the test passes the fake in. When the class finds them itself (a Singleton or a Service Locator), the fake has to replace global state, or can't be used at all.</a:t>
            </a:r>
          </a:p>
          <a:p/>
          <a:p>
            <a:r>
              <a:t>Q: What is the difference between Object Pool and Flyweight?</a:t>
            </a:r>
          </a:p>
          <a:p>
            <a:r>
              <a:t>A: Object Pool reuses _instances_ to avoid allocation over time. Flyweight shares _data_ between many instances to avoid duplicating it.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 seeker is an entity with these components, composed in EntityFactory. No class per enemy type.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Start from GeometryWars6. The bomb exercise is the key one: which parts are components, which a system?</a:t>
            </a:r>
          </a:p>
          <a:p>
            <a:r>
              <a:t>Full instructions are on the course site; students work from there. Walk round while they work.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three we’ve seen: Singleton, Service Locator, dependency injection. Ask: which would you use for audio in your project, and why?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respawn example: the component notices its player was hit; the run clears the arena. Particles are the extreme: no entities at all.</a:t>
            </a:r>
          </a:p>
          <a:p>
            <a:r>
              <a:t>An ECS takes this all the way: entities are IDs, all behaviour in systems.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component is about its owner. Rules that span many entities (which pairs collide, when enemies spawn) belong in systems.</a:t>
            </a:r>
          </a:p>
          <a:p>
            <a:r>
              <a:t>The line at the bottom is the one to remember.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Ask the first question: why does it stutter? The numbers: thousands of short-lived objects a second, and the garbage collector pausing to clean up.</a:t>
            </a:r>
          </a:p>
          <a:p>
            <a:r>
              <a:t>Ask the last one: what if nothing were new during play? An object pool does this.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real pool is this small: a stack of spare objects. Get takes one out, or makes one when the stack is empty; Return puts it back. The bottom half is the part people forget: reset everything, or old state leaks in.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ObjectPool.cs and BulletSpawner.cs from GeometryWars1. Press F3 in the game: memory stays flat while firing.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One definition holds what is shared: the sprite, the points, the acceleration. Each enemy holds only its own position and velocity, in its components.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code for the diagram. The definition is a record, so it cannot change. Ask: how is this different from Type Object in Plants vs. Zombies? Type Object is about design (kinds as data), Flyweight about memory (shared data stored once); they often come together. SpriteBatch is a flyweight too: one texture for hundreds of sprites.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Show GameAssets.cs and GameplayDefinitions.cs.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Shaders run on the GPU: thousands of small cores, one program. A vertex shader decides where; a pixel shader decides what colour.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Follow the passes: draw to a texture, keep the bright pixels, blur them twice, add them back. Each pass is a full-screen pixel shader.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The whole pipeline, for reference: vertices in, pixels out.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GeometryWars4 and GeometryWars5 side by side: the same game without and with bloom. Show the three .fx files. A showcase only; not needed for the project.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Six questions every entity answers, and today’s answer to each. Read them back as a recap.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Because the score tracker is passed in, a test can pass a fake that only records calls. One entity, two components, no world.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3 minutes. It stays flat: the bullets are reused. Without the pool, memory would climb and drop with each collection. Exercise 5 measures it.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It drifts: movement, collisions, health and score still work, because each is its own component.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Acceleration in GameplayDefinitions.Seeker: one object, and every seeker changes.</a:t>
            </a:r>
          </a:p>
          <a:p>
            <a:r>
              <a:t>The texture: once, in GameAssets.Load; every seeker’s sprite refers to it. This is the Flyweight’s intrinsic state.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The 50 is inside the CreateEnemy helper: give CreateEnemy a points parameter (default 50), and the new test passes 100 and expects [100].</a:t>
            </a:r>
          </a:p>
          <a:p>
            <a:r>
              <a:t>With a locator, the test would have to set the global Locator.Score before, and put it back after: every test shares it.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4" Type="http://schemas.openxmlformats.org/officeDocument/2006/relationships/image" Target="../media/image7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ar-games/tree/main/11-geometry-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17935" y="960120"/>
            <a:ext cx="3313941" cy="18640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12125" y="960138"/>
            <a:ext cx="3313939" cy="1864079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10758" y="3039851"/>
            <a:ext cx="2738477" cy="1559892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832283" y="2976130"/>
            <a:ext cx="2164084" cy="1687309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TextBox 49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Geometry Wars (Bizarre Creations, from 2003). Screenshots © Bizarre Creations / Microsoft.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Picture 55" descr="geometry-wars.gif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3304" y="1579594"/>
            <a:ext cx="5377395" cy="30247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Components and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size,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11-geometry-wars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(GeometryWars0 to GeometryWars6, and GeometryWars.Tests),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GeometryWars.Tests: unit tests with fakes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</a:t>
            </a:r>
            <a:r>
              <a:rPr lang="en"/>
              <a:t>high</a:t>
            </a:r>
            <a:r>
              <a:rPr lang="en"/>
              <a:t> a score can you get? ;)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wars-specific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Each layer owns one thing.</a:t>
            </a:r>
            <a:endParaRPr/>
          </a:p>
        </p:txBody>
      </p:sp>
      <p:sp>
        <p:nvSpPr>
          <p:cNvPr id="86" name="Rounded Rectangle 85"/>
          <p:cNvSpPr/>
          <p:nvPr/>
        </p:nvSpPr>
        <p:spPr>
          <a:xfrm>
            <a:off x="731520" y="1325880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Game1: the application: window, services, the state stack</a:t>
            </a:r>
          </a:p>
        </p:txBody>
      </p:sp>
      <p:sp>
        <p:nvSpPr>
          <p:cNvPr id="87" name="Rounded Rectangle 86"/>
          <p:cNvSpPr/>
          <p:nvPr/>
        </p:nvSpPr>
        <p:spPr>
          <a:xfrm>
            <a:off x="1051560" y="1929384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PlayState: one game in progress: pause, game over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371600" y="2532888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PlaySession: one run: score, grid, particles, enemies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1691639" y="3136391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EntityWorld  ·  EntityFactory: updating entities  ·  building them from components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2011680" y="3739896"/>
            <a:ext cx="6400800" cy="512064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l"/>
            <a:r>
              <a:rPr sz="1400" b="1">
                <a:solidFill>
                  <a:srgbClr val="DEE2E6"/>
                </a:solidFill>
              </a:rPr>
              <a:t>Components: one capability each: the actual behaviour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enemy is a bag of components, composed in EntityFactory. No class per enemy type.</a:t>
            </a:r>
            <a:endParaRPr/>
          </a:p>
        </p:txBody>
      </p:sp>
      <p:sp>
        <p:nvSpPr>
          <p:cNvPr id="110" name="Rounded Rectangle 109"/>
          <p:cNvSpPr/>
          <p:nvPr/>
        </p:nvSpPr>
        <p:spPr>
          <a:xfrm>
            <a:off x="3383280" y="2148840"/>
            <a:ext cx="237744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a seeker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(an Entity)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6576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Health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218688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5943600" y="137160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FaceVelocity</a:t>
            </a:r>
          </a:p>
        </p:txBody>
      </p:sp>
      <p:cxnSp>
        <p:nvCxnSpPr>
          <p:cNvPr id="114" name="Connector 113"/>
          <p:cNvCxnSpPr/>
          <p:nvPr/>
        </p:nvCxnSpPr>
        <p:spPr>
          <a:xfrm flipH="1">
            <a:off x="5760720" y="1627632"/>
            <a:ext cx="164592" cy="886968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Rounded Rectangle 114"/>
          <p:cNvSpPr/>
          <p:nvPr/>
        </p:nvSpPr>
        <p:spPr>
          <a:xfrm>
            <a:off x="36576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SeekTarget</a:t>
            </a:r>
          </a:p>
        </p:txBody>
      </p:sp>
      <p:cxnSp>
        <p:nvCxnSpPr>
          <p:cNvPr id="116" name="Connector 115"/>
          <p:cNvCxnSpPr/>
          <p:nvPr/>
        </p:nvCxnSpPr>
        <p:spPr>
          <a:xfrm flipV="1">
            <a:off x="3218688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5943600" y="2926080"/>
            <a:ext cx="283464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TakeDamageOnBulletCollision</a:t>
            </a:r>
          </a:p>
        </p:txBody>
      </p:sp>
      <p:cxnSp>
        <p:nvCxnSpPr>
          <p:cNvPr id="118" name="Connector 117"/>
          <p:cNvCxnSpPr/>
          <p:nvPr/>
        </p:nvCxnSpPr>
        <p:spPr>
          <a:xfrm flipH="1" flipV="1">
            <a:off x="5760720" y="2514600"/>
            <a:ext cx="164592" cy="667512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owner. Rules that span many entities belong in systems.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54864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Component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its own state, and what happens to it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Health · Weapon · SeekTarget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4846320" y="1417320"/>
            <a:ext cx="3749039" cy="15544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System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many entities, or the whole run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CollisionSystem · EnemyDirector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BulletSpawner · PlaySession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57200" y="324612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component that reaches into other entities should probably be a system.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player dies: the component notices, the run reacts.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7315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BeginRespawnOnLethalCollision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a component: my player was hit</a:t>
            </a:r>
          </a:p>
        </p:txBody>
      </p:sp>
      <p:cxnSp>
        <p:nvCxnSpPr>
          <p:cNvPr id="159" name="Connector 158"/>
          <p:cNvCxnSpPr/>
          <p:nvPr/>
        </p:nvCxnSpPr>
        <p:spPr>
          <a:xfrm>
            <a:off x="4315968" y="1874520"/>
            <a:ext cx="51206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0" name="Rounded Rectangle 159"/>
          <p:cNvSpPr/>
          <p:nvPr/>
        </p:nvSpPr>
        <p:spPr>
          <a:xfrm>
            <a:off x="4846320" y="1463040"/>
            <a:ext cx="3566160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400" b="1">
                <a:solidFill>
                  <a:srgbClr val="DEE2E6"/>
                </a:solidFill>
              </a:rPr>
              <a:t>PlaySession</a:t>
            </a:r>
          </a:p>
          <a:p>
            <a:pPr algn="ctr"/>
            <a:r>
              <a:rPr sz="1200" b="0">
                <a:solidFill>
                  <a:srgbClr val="9AA3AB"/>
                </a:solidFill>
              </a:rPr>
              <a:t>the run: clear enemies, reset spawning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731520" y="2743200"/>
            <a:ext cx="768096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Particles: thousands of sparks, no entities at all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ParticleManager updates them in bulk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31520" y="3611880"/>
            <a:ext cx="7680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Taken all the way, this is an ECS. Entities are IDs, components are data, and all behaviour is in systems.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Take a Part Away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EntityFactory.CreateSeeker: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Remove the SeekTarget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a seeker do now? What still works?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Three ways to reach a service, all seen in this course.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41148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Singleton (Flappy)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Audio.Instance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concrete class,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hard to replace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324612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Service Locator (Pokemon)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Locator.Audio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 interface,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replaceable at runtime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080760" y="1417320"/>
            <a:ext cx="2651760" cy="13716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Dependency injection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passed in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visible in the constructor,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replaced when constructing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457200" y="306324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DEE2E6"/>
                </a:solidFill>
              </a:rPr>
              <a:t>Which fits depends on how many classes need the service, and how deep.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With Fakes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AwardScoreOnDestroyed needs a score tracker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It gets an IScoreTracker in its constructor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test can pass in a fake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small class that records what it was asked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two components, no world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ScoreTracker gets time through FrameInfo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test decides how much time passes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 FakeScoreTracker : IScoreTracker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List&lt;int&gt; PointsAdded { get; } = [];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AddPoints(int points) =&gt;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PointsAdded.Add(points);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// ...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[Fact]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void Destroying_the_enemy_awards_its_points()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score = new FakeScoreTracker();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enemy = new Entity();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var d = enemy.AddComponent(new Destroyable());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enemy.AddComponent(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new AwardScoreOnDestroyed(score, 50));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enemy.Start();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d.Destroy();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Assert.Equal([50], score.PointsAdded);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Test With a Fake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Add a test: an enemy worth 100 points awards 100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With Locator.Score instead, how would the test look?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stutters every few seconds. Why?</a:t>
            </a:r>
            <a:endParaRPr/>
          </a:p>
        </p:txBody>
      </p:sp>
      <p:sp>
        <p:nvSpPr>
          <p:cNvPr id="140" name="Rounded Rectangle 139"/>
          <p:cNvSpPr/>
          <p:nvPr/>
        </p:nvSpPr>
        <p:spPr>
          <a:xfrm>
            <a:off x="1005840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20 bullets a second</a:t>
            </a:r>
          </a:p>
        </p:txBody>
      </p:sp>
      <p:cxnSp>
        <p:nvCxnSpPr>
          <p:cNvPr id="141" name="Connector 140"/>
          <p:cNvCxnSpPr/>
          <p:nvPr/>
        </p:nvCxnSpPr>
        <p:spPr>
          <a:xfrm>
            <a:off x="3127248" y="1691640"/>
            <a:ext cx="237743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2" name="Rounded Rectangle 141"/>
          <p:cNvSpPr/>
          <p:nvPr/>
        </p:nvSpPr>
        <p:spPr>
          <a:xfrm>
            <a:off x="338327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30 particles per hit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5504688" y="169164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Rounded Rectangle 143"/>
          <p:cNvSpPr/>
          <p:nvPr/>
        </p:nvSpPr>
        <p:spPr>
          <a:xfrm>
            <a:off x="5760719" y="1417320"/>
            <a:ext cx="2103120" cy="5486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50 pieces per enemy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1005840" y="2331720"/>
            <a:ext cx="7132320" cy="7315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Thousands of short-lived objects every second, each one new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garbage collector cleans them up, and pauses when it likes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457200" y="333756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What if nothing were ever new during play?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Pool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GARCore/Collections/ObjectPool.cs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ObjectPool&lt;T&gt; where T : class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private readonly Stack&lt;T&gt; _pool = new();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private readonly Func&lt;T&gt; _factory;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T Get() =&gt; _pool.Count &gt; 0 ? _pool.Pop() : _factory();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void Return(T item) =&gt; _pool.Push(item);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BulletSpawner.cs: a reused bullet is reset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 bullet = _pool.Get();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bullet.IsExpired = false;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bullet.Transform.Position = position;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rigidbody.Velocity = velocity;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Watch the Memory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press F3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Keep firing for ten seconds: does memory grow?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would you expect without the pool?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shared, unchanging data is stored once; each enemy keeps only its own.</a:t>
            </a:r>
            <a:endParaRPr/>
          </a:p>
        </p:txBody>
      </p:sp>
      <p:sp>
        <p:nvSpPr>
          <p:cNvPr id="158" name="Rounded Rectangle 157"/>
          <p:cNvSpPr/>
          <p:nvPr/>
        </p:nvSpPr>
        <p:spPr>
          <a:xfrm>
            <a:off x="2926080" y="1371600"/>
            <a:ext cx="3291840" cy="8686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SeekerEnemyDefinition: shared, immutable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sprite · points · acceleration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486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alive</a:t>
            </a:r>
          </a:p>
        </p:txBody>
      </p:sp>
      <p:cxnSp>
        <p:nvCxnSpPr>
          <p:cNvPr id="160" name="Connector 159"/>
          <p:cNvCxnSpPr/>
          <p:nvPr/>
        </p:nvCxnSpPr>
        <p:spPr>
          <a:xfrm flipV="1">
            <a:off x="1481328" y="2258568"/>
            <a:ext cx="30906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1" name="Rounded Rectangle 160"/>
          <p:cNvSpPr/>
          <p:nvPr/>
        </p:nvSpPr>
        <p:spPr>
          <a:xfrm>
            <a:off x="26060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alive</a:t>
            </a:r>
          </a:p>
        </p:txBody>
      </p:sp>
      <p:cxnSp>
        <p:nvCxnSpPr>
          <p:cNvPr id="162" name="Connector 161"/>
          <p:cNvCxnSpPr/>
          <p:nvPr/>
        </p:nvCxnSpPr>
        <p:spPr>
          <a:xfrm flipV="1">
            <a:off x="3538728" y="2258568"/>
            <a:ext cx="1033272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3" name="Rounded Rectangle 162"/>
          <p:cNvSpPr/>
          <p:nvPr/>
        </p:nvSpPr>
        <p:spPr>
          <a:xfrm>
            <a:off x="46634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alive</a:t>
            </a:r>
          </a:p>
        </p:txBody>
      </p:sp>
      <p:cxnSp>
        <p:nvCxnSpPr>
          <p:cNvPr id="164" name="Connector 163"/>
          <p:cNvCxnSpPr/>
          <p:nvPr/>
        </p:nvCxnSpPr>
        <p:spPr>
          <a:xfrm flipH="1" flipV="1">
            <a:off x="4572000" y="2258568"/>
            <a:ext cx="10241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5" name="Rounded Rectangle 164"/>
          <p:cNvSpPr/>
          <p:nvPr/>
        </p:nvSpPr>
        <p:spPr>
          <a:xfrm>
            <a:off x="6720840" y="2743200"/>
            <a:ext cx="1874519" cy="6858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an enemy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position · velocity · alive</a:t>
            </a:r>
          </a:p>
        </p:txBody>
      </p:sp>
      <p:cxnSp>
        <p:nvCxnSpPr>
          <p:cNvPr id="166" name="Connector 165"/>
          <p:cNvCxnSpPr/>
          <p:nvPr/>
        </p:nvCxnSpPr>
        <p:spPr>
          <a:xfrm flipH="1" flipV="1">
            <a:off x="4572000" y="2258568"/>
            <a:ext cx="3081527" cy="466344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TextBox 166"/>
          <p:cNvSpPr txBox="1"/>
          <p:nvPr/>
        </p:nvSpPr>
        <p:spPr>
          <a:xfrm>
            <a:off x="548640" y="361188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500 enemies share one texture, loaded once.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Shared: one instance in the whole game, and it can't change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record SeekerEnemyDefinition(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EnemyShellDefinition Shell,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float Acceleration);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EntityFactory.cs: every seeker is built from it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 enemy = CreateEnemyBase(SeekerDefinition.Shell, position);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enemy.AddComponent(new SeekTarget(getTargetPosition,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SeekerDefinition.Acceleration));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DEE2E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9AA3AB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Per seeker, in its components: position, velocity, alive or not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One Definition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GeometryWars6, GameplayDefinitions: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the seekers three times their Acceleration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many seekers change? How many objects did you edit?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is the seeker’s texture loaded, and how many times?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move work to the GPU: thousands of small cores, all running the same program.</a:t>
            </a:r>
            <a:endParaRPr/>
          </a:p>
        </p:txBody>
      </p:sp>
      <p:sp>
        <p:nvSpPr>
          <p:cNvPr id="176" name="Rounded Rectangle 175"/>
          <p:cNvSpPr/>
          <p:nvPr/>
        </p:nvSpPr>
        <p:spPr>
          <a:xfrm>
            <a:off x="54864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Vertex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vertex: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where things are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4846320" y="1417320"/>
            <a:ext cx="3749039" cy="109728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600" b="1">
                <a:solidFill>
                  <a:srgbClr val="DEE2E6"/>
                </a:solidFill>
              </a:rPr>
              <a:t>Pixel shader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once per pixel:</a:t>
            </a:r>
          </a:p>
          <a:p>
            <a:pPr algn="ctr"/>
            <a:r>
              <a:rPr sz="1400" b="0">
                <a:solidFill>
                  <a:srgbClr val="9AA3AB"/>
                </a:solidFill>
              </a:rPr>
              <a:t>what colour it is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548640" y="2743200"/>
            <a:ext cx="8046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MonoGame has a default shader; custom ones are HLSL .fx files.</a:t>
            </a:r>
          </a:p>
          <a:p>
            <a:pPr algn="ctr"/>
            <a:r>
              <a:rPr sz="1400" b="0" i="0">
                <a:solidFill>
                  <a:srgbClr val="9AA3AB"/>
                </a:solidFill>
              </a:rPr>
              <a:t>Any per-pixel effect: glow, blur, distortion, colour grading.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Bloom: bright pixels bleed light into their neighbours.</a:t>
            </a:r>
            <a:endParaRPr/>
          </a:p>
        </p:txBody>
      </p:sp>
      <p:sp>
        <p:nvSpPr>
          <p:cNvPr id="182" name="Rounded Rectangle 181"/>
          <p:cNvSpPr/>
          <p:nvPr/>
        </p:nvSpPr>
        <p:spPr>
          <a:xfrm>
            <a:off x="411480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Draw the scene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to a texture</a:t>
            </a:r>
          </a:p>
        </p:txBody>
      </p:sp>
      <p:cxnSp>
        <p:nvCxnSpPr>
          <p:cNvPr id="183" name="Connector 182"/>
          <p:cNvCxnSpPr/>
          <p:nvPr/>
        </p:nvCxnSpPr>
        <p:spPr>
          <a:xfrm>
            <a:off x="1874519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4" name="Rounded Rectangle 183"/>
          <p:cNvSpPr/>
          <p:nvPr/>
        </p:nvSpPr>
        <p:spPr>
          <a:xfrm>
            <a:off x="2130552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Keep the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bright pixels</a:t>
            </a:r>
          </a:p>
        </p:txBody>
      </p:sp>
      <p:cxnSp>
        <p:nvCxnSpPr>
          <p:cNvPr id="185" name="Connector 184"/>
          <p:cNvCxnSpPr/>
          <p:nvPr/>
        </p:nvCxnSpPr>
        <p:spPr>
          <a:xfrm>
            <a:off x="3593592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Rounded Rectangle 185"/>
          <p:cNvSpPr/>
          <p:nvPr/>
        </p:nvSpPr>
        <p:spPr>
          <a:xfrm>
            <a:off x="3849624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across</a:t>
            </a:r>
          </a:p>
        </p:txBody>
      </p:sp>
      <p:cxnSp>
        <p:nvCxnSpPr>
          <p:cNvPr id="187" name="Connector 186"/>
          <p:cNvCxnSpPr/>
          <p:nvPr/>
        </p:nvCxnSpPr>
        <p:spPr>
          <a:xfrm>
            <a:off x="5312664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8" name="Rounded Rectangle 187"/>
          <p:cNvSpPr/>
          <p:nvPr/>
        </p:nvSpPr>
        <p:spPr>
          <a:xfrm>
            <a:off x="5568696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Blur them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down</a:t>
            </a:r>
          </a:p>
        </p:txBody>
      </p:sp>
      <p:cxnSp>
        <p:nvCxnSpPr>
          <p:cNvPr id="189" name="Connector 188"/>
          <p:cNvCxnSpPr/>
          <p:nvPr/>
        </p:nvCxnSpPr>
        <p:spPr>
          <a:xfrm>
            <a:off x="7031736" y="187452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0" name="Rounded Rectangle 189"/>
          <p:cNvSpPr/>
          <p:nvPr/>
        </p:nvSpPr>
        <p:spPr>
          <a:xfrm>
            <a:off x="7287768" y="1463040"/>
            <a:ext cx="1444751" cy="82296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Add them back</a:t>
            </a:r>
          </a:p>
          <a:p>
            <a:pPr algn="ctr"/>
            <a:r>
              <a:rPr sz="1100" b="0">
                <a:solidFill>
                  <a:srgbClr val="9AA3AB"/>
                </a:solidFill>
              </a:rPr>
              <a:t>over the scene</a:t>
            </a:r>
          </a:p>
        </p:txBody>
      </p:sp>
      <p:sp>
        <p:nvSpPr>
          <p:cNvPr id="191" name="TextBox 190"/>
          <p:cNvSpPr txBox="1"/>
          <p:nvPr/>
        </p:nvSpPr>
        <p:spPr>
          <a:xfrm>
            <a:off x="411480" y="251460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Each step is one full-screen pass with its own pixel shader, called post-processing.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Google Shape;1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101440"/>
            <a:ext cx="82677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Six questions every entity answers.</a:t>
            </a:r>
            <a:endParaRPr/>
          </a:p>
        </p:txBody>
      </p:sp>
      <p:sp>
        <p:nvSpPr>
          <p:cNvPr id="199" name="Rounded Rectangle 198"/>
          <p:cNvSpPr/>
          <p:nvPr/>
        </p:nvSpPr>
        <p:spPr>
          <a:xfrm>
            <a:off x="5486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is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32918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Rules across entities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Systems</a:t>
            </a:r>
          </a:p>
        </p:txBody>
      </p:sp>
      <p:sp>
        <p:nvSpPr>
          <p:cNvPr id="201" name="Rounded Rectangle 200"/>
          <p:cNvSpPr/>
          <p:nvPr/>
        </p:nvSpPr>
        <p:spPr>
          <a:xfrm>
            <a:off x="6035040" y="141732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services come from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Dependency injection</a:t>
            </a:r>
          </a:p>
        </p:txBody>
      </p:sp>
      <p:sp>
        <p:nvSpPr>
          <p:cNvPr id="202" name="Rounded Rectangle 201"/>
          <p:cNvSpPr/>
          <p:nvPr/>
        </p:nvSpPr>
        <p:spPr>
          <a:xfrm>
            <a:off x="5486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When it’s allocated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Object Pool</a:t>
            </a:r>
          </a:p>
        </p:txBody>
      </p:sp>
      <p:sp>
        <p:nvSpPr>
          <p:cNvPr id="203" name="Rounded Rectangle 202"/>
          <p:cNvSpPr/>
          <p:nvPr/>
        </p:nvSpPr>
        <p:spPr>
          <a:xfrm>
            <a:off x="32918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What it shares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Flyweight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6035040" y="2514600"/>
            <a:ext cx="2560320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How it looks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Shaders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205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GeometryWars6. Full instructions are on the course site.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new enemy from existing components; then a shield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bomb, one per life: which parts are components, which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screen-shake service in PlayContext; a FakeBulletSpawner test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the pool: allocations and GCs, with and without it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When should behaviour live in a system, and when in a component?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does dependency injection give you that a Service Locator doesn’t?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a fake, and why does dependency injection make it easy to use one?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is the difference between Object Pool and Flyweight?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