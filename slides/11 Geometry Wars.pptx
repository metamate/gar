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83" r:id="rId42"/>
    <p:sldId id="262" r:id="rId12"/>
    <p:sldId id="263" r:id="rId13"/>
    <p:sldId id="267" r:id="rId17"/>
    <p:sldId id="288" r:id="rId47"/>
    <p:sldId id="289" r:id="rId48"/>
    <p:sldId id="296" r:id="rId19"/>
    <p:sldId id="290" r:id="rId49"/>
    <p:sldId id="291" r:id="rId50"/>
    <p:sldId id="292" r:id="rId21"/>
    <p:sldId id="272" r:id="rId22"/>
    <p:sldId id="273" r:id="rId23"/>
    <p:sldId id="274" r:id="rId24"/>
    <p:sldId id="295" r:id="rId20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6" r:id="rId45"/>
    <p:sldId id="294" r:id="rId44"/>
    <p:sldId id="287" r:id="rId46"/>
    <p:sldId id="293" r:id="rId43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VT323"/>
      <p:regular r:id="rId37"/>
    </p:embeddedFont>
    <p:embeddedFont>
      <p:font typeface="Roboto Ligh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7" Type="http://schemas.openxmlformats.org/officeDocument/2006/relationships/slide" Target="slides/slide10.xml"/><Relationship Id="rId19" Type="http://schemas.openxmlformats.org/officeDocument/2006/relationships/slide" Target="slides/slide13.xml"/><Relationship Id="rId20" Type="http://schemas.openxmlformats.org/officeDocument/2006/relationships/slide" Target="slides/slide20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font" Target="fonts/Roboto-regular.fntdata"/><Relationship Id="rId34" Type="http://schemas.openxmlformats.org/officeDocument/2006/relationships/font" Target="fonts/Roboto-bold.fntdata"/><Relationship Id="rId35" Type="http://schemas.openxmlformats.org/officeDocument/2006/relationships/font" Target="fonts/Roboto-italic.fntdata"/><Relationship Id="rId36" Type="http://schemas.openxmlformats.org/officeDocument/2006/relationships/font" Target="fonts/Roboto-boldItalic.fntdata"/><Relationship Id="rId37" Type="http://schemas.openxmlformats.org/officeDocument/2006/relationships/font" Target="fonts/VT323-regular.fntdata"/><Relationship Id="rId38" Type="http://schemas.openxmlformats.org/officeDocument/2006/relationships/font" Target="fonts/RobotoLight-regular.fntdata"/><Relationship Id="rId39" Type="http://schemas.openxmlformats.org/officeDocument/2006/relationships/font" Target="fonts/RobotoLight-bold.fntdata"/><Relationship Id="rId40" Type="http://schemas.openxmlformats.org/officeDocument/2006/relationships/font" Target="fonts/RobotoLight-italic.fntdata"/><Relationship Id="rId41" Type="http://schemas.openxmlformats.org/officeDocument/2006/relationships/font" Target="fonts/RobotoLight-boldItalic.fntdata"/><Relationship Id="rId42" Type="http://schemas.openxmlformats.org/officeDocument/2006/relationships/slide" Target="slides/slide7.xml"/><Relationship Id="rId43" Type="http://schemas.openxmlformats.org/officeDocument/2006/relationships/slide" Target="slides/slide32.xml"/><Relationship Id="rId44" Type="http://schemas.openxmlformats.org/officeDocument/2006/relationships/slide" Target="slides/slide30.xml"/><Relationship Id="rId45" Type="http://schemas.openxmlformats.org/officeDocument/2006/relationships/slide" Target="slides/slide29.xml"/><Relationship Id="rId46" Type="http://schemas.openxmlformats.org/officeDocument/2006/relationships/slide" Target="slides/slide31.xml"/><Relationship Id="rId47" Type="http://schemas.openxmlformats.org/officeDocument/2006/relationships/slide" Target="slides/slide11.xml"/><Relationship Id="rId48" Type="http://schemas.openxmlformats.org/officeDocument/2006/relationships/slide" Target="slides/slide12.xml"/><Relationship Id="rId49" Type="http://schemas.openxmlformats.org/officeDocument/2006/relationships/slide" Target="slides/slide14.xml"/><Relationship Id="rId5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Welcome. Today we build Geometry Wars. The main topic: components vs. systems.</a:t>
            </a:r>
          </a:p>
          <a:p>
            <a:r>
              <a:t>Start by playing the finished game, GeometryWars6, before any code.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d20930eb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d20930eb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original on Xbox 360, 2005: neon shapes, hundreds of enemies, particles everywhere.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0930eb5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20930eb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Run GeometryWars6 and play it for a minute.</a:t>
            </a:r>
          </a:p>
          <a:p>
            <a:r>
              <a:t>Ask: what would you need to build this? Collect answers on the board, and come back to them at the end.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20930eb5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20930eb5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main topic: components vs. systems, at a scale where it matters. Then dependency injection, Object Pool, Flyweight, and shaders as a demo.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6eb46504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6eb46504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Thousands of entities, built from components as in Plants vs. Zombies. Two new questions: what belongs in a component, and how does everything get its services?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20930eb5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20930eb5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Open gar-games/11-geometry-wars live. Show the README: the step table, the code map, how to run a step.</a:t>
            </a:r>
          </a:p>
          <a:p>
            <a:r>
              <a:t>Say: the site explains the ideas, the README helps you find them in the code, the slides are for today.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5b18a32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5b18a32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Ten minutes: play it, then find the split between GMDCore and the game.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6eb465041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6eb465041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Top to bottom: each layer owns one thing. PlaySession is highlighted: it owns one run, and most of today’s rules live there.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Pokemon looked services up; here they’re passed in, bundled in a PlayContext. A constructor shows what a class needs.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step adds components to the recipes, and the systems they need. The tests are in their own project.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one question at a time. Pairs discuss for a minute, then take two or three answers.</a:t>
            </a:r>
          </a:p>
          <a:p>
            <a:r>
              <a:t>Expected answers (from the course site):</a:t>
            </a:r>
          </a:p>
          <a:p/>
          <a:p>
            <a:r>
              <a:t>Q: When should behaviour live in a system rather than a component?</a:t>
            </a:r>
          </a:p>
          <a:p>
            <a:r>
              <a:t>A: When it spans many entities, owns rules of the whole game or session, or needs a central order. A component should be about its owner; otherwise it ends up reaching into other entities.</a:t>
            </a:r>
          </a:p>
          <a:p/>
          <a:p>
            <a:r>
              <a:t>Q: What does dependency injection give you that a Service Locator doesn't?</a:t>
            </a:r>
          </a:p>
          <a:p>
            <a:r>
              <a:t>A: The dependencies are explicit: a constructor shows what a class needs, and a test can pass in a replacement. The cost is that services must be passed through every layer that needs them.</a:t>
            </a:r>
          </a:p>
          <a:p/>
          <a:p>
            <a:r>
              <a:t>Q: What is a fake, and why does dependency injection make it easy to use one?</a:t>
            </a:r>
          </a:p>
          <a:p>
            <a:r>
              <a:t>A: A small stand-in for a real dependency, written for a test, that records what it was asked to do. When a class gets its dependencies through its constructor, the test simply passes the fake in. When the class finds them itself (a Singleton or a Service Locator), the fake has to replace global state, or can't be used at all.</a:t>
            </a:r>
          </a:p>
          <a:p/>
          <a:p>
            <a:r>
              <a:t>Q: What is the difference between Object Pool and Flyweight?</a:t>
            </a:r>
          </a:p>
          <a:p>
            <a:r>
              <a:t>A: Object Pool reuses _instances_ to avoid allocation over time. Flyweight shares _data_ between many instances to avoid duplicating it.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6eb465041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6eb465041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 seeker is an entity with these components, composed in EntityFactory. No class per enemy type.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 from GeometryWars6. The bomb exercise is the key one: which parts are components, which a system?</a:t>
            </a:r>
          </a:p>
          <a:p>
            <a:r>
              <a:t>Full instructions are on the course site; students work from there. Walk round while they work.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three we’ve seen: Singleton, Service Locator, dependency injection. Ask: which would you use for audio in your project, and why?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respawn example: the component notices its player was hit; the run clears the arena. Particles are the extreme: no entities at all.</a:t>
            </a:r>
          </a:p>
          <a:p>
            <a:r>
              <a:t>An ECS takes this all the way: entities are IDs, all behaviour in systems.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component is about its owner. Rules that span many entities (which pairs collide, when enemies spawn) belong in systems.</a:t>
            </a:r>
          </a:p>
          <a:p>
            <a:r>
              <a:t>The line at the bottom is the one to remember.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6eb46504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6eb46504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Ask the first question: why does it stutter? The numbers: thousands of short-lived objects a second, and the garbage collector pausing to clean up.</a:t>
            </a:r>
          </a:p>
          <a:p>
            <a:r>
              <a:t>Ask the last one: what if nothing were new during play? That’s the pool.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6eb465041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6eb465041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Allocate everything once; spawning finds an inactive one and resets it. Releasing is setting Active to false. Reset everything, or old state leaks in.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6eb465041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6eb465041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Show ObjectPool.cs and BulletSpawner.cs from GeometryWars1. Press F3 in the game: memory stays flat while firing.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6eb46504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6eb46504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One type holds what’s shared: the texture and the stats. Each enemy holds only its own position, velocity and HP.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6eb465041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6eb465041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code for the diagram. SpriteBatch is a flyweight too: one texture state for hundreds of sprites.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6eb465041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6eb465041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Show GameAssets.cs and GameplayDefinitions.cs.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6eb46504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6eb46504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Shaders run on the GPU: thousands of small cores, one program. A vertex shader decides where; a pixel shader decides what colour.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6eb465041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6eb465041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Follow the passes: draw to a texture, keep the bright pixels, blur them twice, add them back. Each pass is a full-screen pixel shader.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6eb46504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6eb46504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whole pipeline, for reference: vertices in, pixels out.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6eb465041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6eb465041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Demo: GeometryWars4 and GeometryWars5 side by side: the same game without and with bloom. Show the three .fx files. A showcase only; not needed for the project.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6eb465041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6eb465041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Six questions every entity answers, and today’s answer to each. Read them back as a recap.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Because the score tracker is passed in, a test can pass a fake that only records calls. One entity, two components, no world.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Milestone today: a release on itch.io and a README started. Final milestone by session 12: the README complete.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project groups five minutes with these questions.</a:t>
            </a:r>
          </a:p>
          <a:p>
            <a:r>
              <a:t>Ask two groups to share one answer each, and push them to name actual classes and files.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3 minutes. It stays flat: the bullets are reused. Without the pool, memory would climb and drop with each collection. Exercise 5 measures it.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5 minutes. It drifts: movement, collisions, health and score still work, because each is its own component.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(code)">
  <p:cSld name="TITLE_AND_TWO_COLUMNS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25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VT323"/>
              <a:buNone/>
              <a:defRPr sz="3300">
                <a:solidFill>
                  <a:schemeClr val="accent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Roboto Light"/>
              <a:buChar char="○"/>
              <a:defRPr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Metamate/gar-games/tree/main/11-geometry-wars" TargetMode="External"/><Relationship Id="rId4" Type="http://schemas.openxmlformats.org/officeDocument/2006/relationships/hyperlink" Target="http://readme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Metamate/gmd2-geometrywars" TargetMode="External"/><Relationship Id="rId4" Type="http://schemas.openxmlformats.org/officeDocument/2006/relationships/hyperlink" Target="http://readme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</a:t>
            </a:r>
            <a:endParaRPr/>
          </a:p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11: Geometry Wars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Geometry Wars</a:t>
            </a:r>
            <a:endParaRPr/>
          </a:p>
        </p:txBody>
      </p:sp>
      <p:pic>
        <p:nvPicPr>
          <p:cNvPr id="46" name="Google Shape;4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935" y="960120"/>
            <a:ext cx="3313941" cy="1864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2125" y="960138"/>
            <a:ext cx="3313939" cy="1864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0758" y="3039851"/>
            <a:ext cx="2738477" cy="1559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2283" y="2976130"/>
            <a:ext cx="2164084" cy="168730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TextBox 49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A3AB"/>
                </a:solidFill>
              </a:rPr>
              <a:t>Geometry Wars (Bizarre Creations, from 2003). Screenshots © Bizarre Creations / Microsoft.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Goal</a:t>
            </a:r>
            <a:endParaRPr/>
          </a:p>
        </p:txBody>
      </p:sp>
      <p:pic>
        <p:nvPicPr>
          <p:cNvPr id="55" name="Picture 55" descr="gif-gw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302" y="1579594"/>
            <a:ext cx="5377399" cy="30247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Topics</a:t>
            </a:r>
            <a:endParaRPr/>
          </a:p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Components vs. Systems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Dependency Injection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Object Pool Pattern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Flyweight Pattern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Particles as a System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Shaders (demo)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Geometry Wars?</a:t>
            </a:r>
            <a:endParaRPr/>
          </a:p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Thousands of entities on screen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Built from components, as in Plants vs. Zombies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At this size: which behaviour belongs in a component, and which in a system?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And how does every component get the services it needs?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885950"/>
            <a:ext cx="8520600" cy="128930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github.com/Metamate/gar-games, folder 11-geometry-wars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Its README: the steps (GeometryWars0 to GeometryWars6, and the tests), where things are in the code, how to run 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You don’t need to understand every system: today is about the overall architecture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GeometryWars0: entities &amp; components, the player ship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GeometryWars1: shooting &amp; Object Pool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GeometryWars2: enemies, collisions, score and lives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GeometryWars3: particles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GeometryWars4: the spring grid and black holes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GeometryWars5: bloom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GeometryWars6: audio (the finished game)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GeometryWars.Tests: unit tests with fakes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Explore the Codebase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~10 minutes to browse the finished game, GeometryWars6. Use the README as a guide if you need it.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Clone the repository and build and play the game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</a:t>
            </a:r>
            <a:r>
              <a:rPr lang="en"/>
              <a:t>high</a:t>
            </a:r>
            <a:r>
              <a:rPr lang="en"/>
              <a:t> a score can you get? ;)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is the codebase split between the core library and the geometry wars-specific project?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High-Level Architecture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Each layer owns one thing.</a:t>
            </a:r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731520" y="1325880"/>
            <a:ext cx="6400800" cy="512064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DEE2E6"/>
                </a:solidFill>
              </a:rPr>
              <a:t>Game1: the application: window, services, the state stack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51560" y="1929384"/>
            <a:ext cx="6400800" cy="512064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DEE2E6"/>
                </a:solidFill>
              </a:rPr>
              <a:t>PlayState: one game in progress: pause, game over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371600" y="2532888"/>
            <a:ext cx="6400800" cy="512064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DEE2E6"/>
                </a:solidFill>
              </a:rPr>
              <a:t>PlaySession: one run: score, grid, particles, enemies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691639" y="3136391"/>
            <a:ext cx="6400800" cy="512064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DEE2E6"/>
                </a:solidFill>
              </a:rPr>
              <a:t>EntityWorld  ·  EntityFactory: updating entities  ·  building them from components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011680" y="3739896"/>
            <a:ext cx="6400800" cy="512064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DEE2E6"/>
                </a:solidFill>
              </a:rPr>
              <a:t>Components: one capability each: the actual behaviour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Components at Scale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 enemy is a bag of components, composed in EntityFactory. No class per enemy type.</a:t>
            </a:r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3383280" y="2148840"/>
            <a:ext cx="2377440" cy="7315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a seeker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(an Entity)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65760" y="1371600"/>
            <a:ext cx="283464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Health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3218688" y="1627632"/>
            <a:ext cx="164592" cy="886968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5943600" y="1371600"/>
            <a:ext cx="283464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FaceVelocity</a:t>
            </a:r>
          </a:p>
        </p:txBody>
      </p:sp>
      <p:cxnSp>
        <p:nvCxnSpPr>
          <p:cNvPr id="114" name="Connector 113"/>
          <p:cNvCxnSpPr/>
          <p:nvPr/>
        </p:nvCxnSpPr>
        <p:spPr>
          <a:xfrm flipH="1">
            <a:off x="5760720" y="1627632"/>
            <a:ext cx="164592" cy="886968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365760" y="2926080"/>
            <a:ext cx="283464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SeekTarget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3218688" y="2514600"/>
            <a:ext cx="164592" cy="667512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5943600" y="2926080"/>
            <a:ext cx="2834640" cy="5029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TakeDamageOnBulletCollision</a:t>
            </a:r>
          </a:p>
        </p:txBody>
      </p:sp>
      <p:cxnSp>
        <p:nvCxnSpPr>
          <p:cNvPr id="118" name="Connector 117"/>
          <p:cNvCxnSpPr/>
          <p:nvPr/>
        </p:nvCxnSpPr>
        <p:spPr>
          <a:xfrm flipH="1" flipV="1">
            <a:off x="5760720" y="2514600"/>
            <a:ext cx="164592" cy="667512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vs. Systems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component is about its owner. Rules that span many entities belong in systems.</a:t>
            </a:r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548640" y="1417320"/>
            <a:ext cx="3749039" cy="15544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Component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its own state, and what happens to it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Health · Weapon · SeekTarget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846320" y="1417320"/>
            <a:ext cx="3749039" cy="15544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System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many entities, or the whole run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CollisionSystem · EnemyDirector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BulletSpawner · PlaySession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57200" y="3246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EE2E6"/>
                </a:solidFill>
              </a:rPr>
              <a:t>A component that reaches into other entities should probably be a system.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vs. Systems in Geometry Wars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player dies: the component notices, the run reacts.</a:t>
            </a:r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731520" y="1463040"/>
            <a:ext cx="3566160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BeginRespawnOnLethalCollision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a component: my player was hit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4315968" y="1874520"/>
            <a:ext cx="51206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ounded Rectangle 159"/>
          <p:cNvSpPr/>
          <p:nvPr/>
        </p:nvSpPr>
        <p:spPr>
          <a:xfrm>
            <a:off x="4846320" y="1463040"/>
            <a:ext cx="3566160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PlaySession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the run: clear enemies, reset spawning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731520" y="2743200"/>
            <a:ext cx="7680960" cy="7315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Particles: thousands of sparks, no entities at all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one ParticleManager updates them in bulk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3AB"/>
                </a:solidFill>
              </a:rPr>
              <a:t>All the way: an ECS. Entities are IDs, components are data, all behaviour is in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Take a Part Away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289304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EntityFactory.CreateSeeker: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Remove the SeekTarget component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does a seeker do now? What still works?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Dependency Injection</a:t>
            </a:r>
            <a:endParaRPr/>
          </a:p>
        </p:txBody>
      </p:sp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Components need shared services: input, assets, audio, frame time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Pokemon looked them up in a Service Locator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Geometry Wars passes them in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Game1 creates them once, in a PlayContext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A constructor shows what a class needs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A test can pass in a fake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Cost: passed through every layer that needs it</a:t>
            </a:r>
            <a:endParaRPr/>
          </a:p>
        </p:txBody>
      </p:sp>
      <p:sp>
        <p:nvSpPr>
          <p:cNvPr id="103" name="Google Shape;103;p19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 sealed class PlayContext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public FrameInfo Frame { get;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public GameController Controller { get;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public GameAssets Assets { get;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public AudioManager Audio { get;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public PerformanceMonitor Performance { get;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public PlayContext(FrameInfo frame,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GameController controller, ...)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{ ...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Ways to Reach a Service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Three ways to reach a service, all seen in this course.</a:t>
            </a:r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411480" y="141732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Singleton (Flappy)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Audio.Instance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one concrete class,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hard to replace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246120" y="141732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Service Locator (Pokemon)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Locator.Audio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an interface,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replaceable at runtime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080760" y="141732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Dependency injection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passed in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visible in the constructor,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replaced when constructing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EE2E6"/>
                </a:solidFill>
              </a:rPr>
              <a:t>Which fits depends on how many classes need the service, and how deep.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With Fakes</a:t>
            </a:r>
            <a:endParaRPr/>
          </a:p>
        </p:txBody>
      </p:sp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AwardScoreOnDestroyed needs a score tracker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It gets an IScoreTracker in its constructor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So a test passes in a fake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A small class that records what it was asked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One entity, two components, no world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ScoreTracker gets time through FrameInfo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The test decides how much time passes</a:t>
            </a:r>
            <a:endParaRPr/>
          </a:p>
        </p:txBody>
      </p:sp>
      <p:sp>
        <p:nvSpPr>
          <p:cNvPr id="103" name="Google Shape;103;p19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 FakeScoreTracker : IScoreTracker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public List&lt;int&gt; PointsAdded { get; } = [];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public void AddPoints(int points) =&gt;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PointsAdded.Add(points);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// ...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[Fact]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 void Destroying_the_enemy_awards_its_points()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var score = new FakeScoreTracker();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var enemy = new Entity();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var d = enemy.AddComponent(new Destroyable());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enemy.AddComponent(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new AwardScoreOnDestroyed(score, 50));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enemy.Start();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d.Destroy();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Assert.Equal([50], score.PointsAdded);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- The Problem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game stutters every few seconds. Why?</a:t>
            </a:r>
            <a:endParaRPr/>
          </a:p>
        </p:txBody>
      </p:sp>
      <p:sp>
        <p:nvSpPr>
          <p:cNvPr id="140" name="Rounded Rectangle 139"/>
          <p:cNvSpPr/>
          <p:nvPr/>
        </p:nvSpPr>
        <p:spPr>
          <a:xfrm>
            <a:off x="1005840" y="141732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20 bullets a second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3127248" y="1691640"/>
            <a:ext cx="237743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/>
          <p:cNvSpPr/>
          <p:nvPr/>
        </p:nvSpPr>
        <p:spPr>
          <a:xfrm>
            <a:off x="3383279" y="141732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30 particles per hit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5504688" y="1691640"/>
            <a:ext cx="2377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ounded Rectangle 143"/>
          <p:cNvSpPr/>
          <p:nvPr/>
        </p:nvSpPr>
        <p:spPr>
          <a:xfrm>
            <a:off x="5760719" y="141732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50 pieces per enemy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005840" y="2331720"/>
            <a:ext cx="7132320" cy="7315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Thousands of short-lived objects every second, each one new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the garbage collector cleans them up, and pauses when it likes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" y="3337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EE2E6"/>
                </a:solidFill>
              </a:rPr>
              <a:t>What if nothing were ever new during play?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- Simple Example</a:t>
            </a:r>
            <a:endParaRPr/>
          </a:p>
        </p:txBody>
      </p:sp>
      <p:sp>
        <p:nvSpPr>
          <p:cNvPr id="145" name="Google Shape;145;p26"/>
          <p:cNvSpPr txBox="1"/>
          <p:nvPr>
            <p:ph idx="2" type="body"/>
          </p:nvPr>
        </p:nvSpPr>
        <p:spPr>
          <a:xfrm>
            <a:off x="1830150" y="876475"/>
            <a:ext cx="5483700" cy="41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ParticlePool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Particle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Particle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5000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ParticlePool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Particle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Particle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CDCAA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Spawn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Active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Reset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Active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 return null; // pool exhausted: size it generously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Object Pool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ObjectPool.cs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BulletSpawner.cs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Step: GeometryWars1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Watch the Memory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289304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GeometryWars6, press F3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Keep firing for ten seconds: does memory grow?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would you expect without the pool?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Flyweight Pattern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shared, unchanging data is stored once; each enemy keeps only its own.</a:t>
            </a:r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2926080" y="137160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EnemyType: shared, immutable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texture · speed · health · score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48640" y="274320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an enemy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position · velocity · HP</a:t>
            </a:r>
          </a:p>
        </p:txBody>
      </p:sp>
      <p:cxnSp>
        <p:nvCxnSpPr>
          <p:cNvPr id="160" name="Connector 159"/>
          <p:cNvCxnSpPr/>
          <p:nvPr/>
        </p:nvCxnSpPr>
        <p:spPr>
          <a:xfrm flipV="1">
            <a:off x="1481328" y="2258568"/>
            <a:ext cx="3090672" cy="46634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ounded Rectangle 160"/>
          <p:cNvSpPr/>
          <p:nvPr/>
        </p:nvSpPr>
        <p:spPr>
          <a:xfrm>
            <a:off x="2606040" y="274320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an enemy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position · velocity · HP</a:t>
            </a:r>
          </a:p>
        </p:txBody>
      </p:sp>
      <p:cxnSp>
        <p:nvCxnSpPr>
          <p:cNvPr id="162" name="Connector 161"/>
          <p:cNvCxnSpPr/>
          <p:nvPr/>
        </p:nvCxnSpPr>
        <p:spPr>
          <a:xfrm flipV="1">
            <a:off x="3538728" y="2258568"/>
            <a:ext cx="1033272" cy="46634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unded Rectangle 162"/>
          <p:cNvSpPr/>
          <p:nvPr/>
        </p:nvSpPr>
        <p:spPr>
          <a:xfrm>
            <a:off x="4663440" y="274320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an enemy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position · velocity · HP</a:t>
            </a:r>
          </a:p>
        </p:txBody>
      </p:sp>
      <p:cxnSp>
        <p:nvCxnSpPr>
          <p:cNvPr id="164" name="Connector 163"/>
          <p:cNvCxnSpPr/>
          <p:nvPr/>
        </p:nvCxnSpPr>
        <p:spPr>
          <a:xfrm flipH="1" flipV="1">
            <a:off x="4572000" y="2258568"/>
            <a:ext cx="1024127" cy="46634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ounded Rectangle 164"/>
          <p:cNvSpPr/>
          <p:nvPr/>
        </p:nvSpPr>
        <p:spPr>
          <a:xfrm>
            <a:off x="6720840" y="274320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an enemy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position · velocity · HP</a:t>
            </a:r>
          </a:p>
        </p:txBody>
      </p:sp>
      <p:cxnSp>
        <p:nvCxnSpPr>
          <p:cNvPr id="166" name="Connector 165"/>
          <p:cNvCxnSpPr/>
          <p:nvPr/>
        </p:nvCxnSpPr>
        <p:spPr>
          <a:xfrm flipH="1" flipV="1">
            <a:off x="4572000" y="2258568"/>
            <a:ext cx="3081527" cy="46634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500 enemies: 500 references to one texture, not 500 copies.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Flyweight Example</a:t>
            </a:r>
            <a:endParaRPr/>
          </a:p>
        </p:txBody>
      </p:sp>
      <p:sp>
        <p:nvSpPr>
          <p:cNvPr id="163" name="Google Shape;163;p29"/>
          <p:cNvSpPr txBox="1"/>
          <p:nvPr>
            <p:ph idx="2" type="body"/>
          </p:nvPr>
        </p:nvSpPr>
        <p:spPr>
          <a:xfrm>
            <a:off x="1947750" y="876475"/>
            <a:ext cx="5248500" cy="3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Intrinsic (shared): one instance, referenced everywhere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EnemyType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Texture2D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Texture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MaxSpeed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SpawnHP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ScoreValue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Extrinsic (per-instance): one per live enemy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EnemyInstance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4EC9B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EnemyType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     </a:t>
            </a: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a reference to the flyweight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Vector2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Velocity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CurrentHP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9955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// Draw: SpriteBatch batches draws of the same texture automatically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foreach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569CD6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C586C0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enemies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spriteBatch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Draw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Texture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" sz="1000">
                <a:solidFill>
                  <a:srgbClr val="D4D4D4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00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White</a:t>
            </a:r>
            <a:r>
              <a:rPr lang="en" sz="100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6A9955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000">
              <a:solidFill>
                <a:srgbClr val="CCCCCC"/>
              </a:solidFill>
              <a:highlight>
                <a:srgbClr val="1F1F1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/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Flyweight Implementations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GameAssets.cs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GameplayDefinitions.cs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Step: GeometryWars0 onwards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Shaders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Shaders move work to the GPU: thousands of small cores, all running the same program.</a:t>
            </a:r>
            <a:endParaRPr/>
          </a:p>
        </p:txBody>
      </p:sp>
      <p:sp>
        <p:nvSpPr>
          <p:cNvPr id="176" name="Rounded Rectangle 175"/>
          <p:cNvSpPr/>
          <p:nvPr/>
        </p:nvSpPr>
        <p:spPr>
          <a:xfrm>
            <a:off x="548640" y="1417320"/>
            <a:ext cx="3749039" cy="10972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Vertex shader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once per vertex: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where things are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4846320" y="1417320"/>
            <a:ext cx="3749039" cy="10972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Pixel shader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once per pixel: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what colour it is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MonoGame has a default shader; custom ones are HLSL .fx files.</a:t>
            </a:r>
          </a:p>
          <a:p>
            <a:pPr algn="ctr"/>
            <a:r>
              <a:rPr sz="1400" b="0" i="0">
                <a:solidFill>
                  <a:srgbClr val="9AA3AB"/>
                </a:solidFill>
              </a:rPr>
              <a:t>Any per-pixel effect: glow, blur, distortion, colour grading.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Bloom, The Signature Geometry Wars Glow</a:t>
            </a:r>
            <a:endParaRPr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Bloom: bright pixels bleed light into their neighbours.</a:t>
            </a:r>
            <a:endParaRPr/>
          </a:p>
        </p:txBody>
      </p:sp>
      <p:sp>
        <p:nvSpPr>
          <p:cNvPr id="182" name="Rounded Rectangle 181"/>
          <p:cNvSpPr/>
          <p:nvPr/>
        </p:nvSpPr>
        <p:spPr>
          <a:xfrm>
            <a:off x="411480" y="1463040"/>
            <a:ext cx="1444751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Draw the scene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to a texture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1874519" y="1874520"/>
            <a:ext cx="2377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2130552" y="1463040"/>
            <a:ext cx="1444751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Keep the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bright pixels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3593592" y="1874520"/>
            <a:ext cx="2377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ounded Rectangle 185"/>
          <p:cNvSpPr/>
          <p:nvPr/>
        </p:nvSpPr>
        <p:spPr>
          <a:xfrm>
            <a:off x="3849624" y="1463040"/>
            <a:ext cx="1444751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Blur them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across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5312664" y="1874520"/>
            <a:ext cx="2377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Rounded Rectangle 187"/>
          <p:cNvSpPr/>
          <p:nvPr/>
        </p:nvSpPr>
        <p:spPr>
          <a:xfrm>
            <a:off x="5568696" y="1463040"/>
            <a:ext cx="1444751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Blur them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down</a:t>
            </a:r>
          </a:p>
        </p:txBody>
      </p:sp>
      <p:cxnSp>
        <p:nvCxnSpPr>
          <p:cNvPr id="189" name="Connector 188"/>
          <p:cNvCxnSpPr/>
          <p:nvPr/>
        </p:nvCxnSpPr>
        <p:spPr>
          <a:xfrm>
            <a:off x="7031736" y="1874520"/>
            <a:ext cx="2377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ounded Rectangle 189"/>
          <p:cNvSpPr/>
          <p:nvPr/>
        </p:nvSpPr>
        <p:spPr>
          <a:xfrm>
            <a:off x="7287768" y="1463040"/>
            <a:ext cx="1444751" cy="82296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Add them back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over the scene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11480" y="251460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Each step is one full-screen pass with its own pixel shader: post-processing.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Shader Pipeline</a:t>
            </a:r>
            <a:endParaRPr/>
          </a:p>
        </p:txBody>
      </p:sp>
      <p:pic>
        <p:nvPicPr>
          <p:cNvPr id="187" name="Google Shape;1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" y="1101440"/>
            <a:ext cx="826770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Shader Implementation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Six questions every entity answers.</a:t>
            </a:r>
            <a:endParaRPr/>
          </a:p>
        </p:txBody>
      </p:sp>
      <p:sp>
        <p:nvSpPr>
          <p:cNvPr id="199" name="Rounded Rectangle 198"/>
          <p:cNvSpPr/>
          <p:nvPr/>
        </p:nvSpPr>
        <p:spPr>
          <a:xfrm>
            <a:off x="548640" y="141732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What it is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Components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3291840" y="141732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Rules across entities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Systems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6035040" y="141732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Where services come from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Dependency injection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548640" y="251460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When it’s allocated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Object Pool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3291840" y="251460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What it shares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Flyweight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6035040" y="251460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How it looks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Shaders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Exercises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885950"/>
            <a:ext cx="8520600" cy="20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Start from GeometryWars6. Full instructions are on the course site.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new enemy from existing components; then a shield component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bomb, one per life: which parts are components, which a system?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screen-shake service in PlayContext; a FakeBulletSpawner test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Measure the pool: allocations and GCs, with and without it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Yourself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71907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When should behaviour live in a system rather than a component?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does dependency injection give you that a Service Locator doesn’t?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is a fake, and why does dependency injection make it easy to use one?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is the difference between Object Pool and Flyweight?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821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The answers, and more questions, are on the course site.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 It to Your Project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of your game’s rules are about one entity, and which span many?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do they live today?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do your classes get shared services?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Would passing them in make the dependencies clearer?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Does anything in your game allocate every frame?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Course Project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Milestone by today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release build on itch.io, and a README started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Final milestone, by session 12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README complete, repository link uploaded to itslearning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MD">
  <a:themeElements>
    <a:clrScheme name="Simple Light">
      <a:dk1>
        <a:srgbClr val="DEE2E6"/>
      </a:dk1>
      <a:lt1>
        <a:srgbClr val="818387"/>
      </a:lt1>
      <a:dk2>
        <a:srgbClr val="1F1F1F"/>
      </a:dk2>
      <a:lt2>
        <a:srgbClr val="DEE2E6"/>
      </a:lt2>
      <a:accent1>
        <a:srgbClr val="D45D35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