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5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83" r:id="rId42"/>
    <p:sldId id="262" r:id="rId12"/>
    <p:sldId id="263" r:id="rId13"/>
    <p:sldId id="267" r:id="rId17"/>
    <p:sldId id="288" r:id="rId47"/>
    <p:sldId id="289" r:id="rId48"/>
    <p:sldId id="290" r:id="rId49"/>
    <p:sldId id="291" r:id="rId50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6" r:id="rId45"/>
    <p:sldId id="287" r:id="rId46"/>
  </p:sldIdLst>
  <p:sldSz cy="5143500" cx="9144000"/>
  <p:notesSz cx="6858000" cy="9144000"/>
  <p:embeddedFontLst>
    <p:embeddedFont>
      <p:font typeface="Roboto"/>
      <p:regular r:id="rId33"/>
      <p:bold r:id="rId34"/>
      <p:italic r:id="rId35"/>
      <p:boldItalic r:id="rId36"/>
    </p:embeddedFont>
    <p:embeddedFont>
      <p:font typeface="VT323"/>
      <p:regular r:id="rId37"/>
    </p:embeddedFont>
    <p:embeddedFont>
      <p:font typeface="Roboto Light"/>
      <p:regular r:id="rId38"/>
      <p:bold r:id="rId39"/>
      <p:italic r:id="rId40"/>
      <p:boldItalic r:id="rId41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7" Type="http://schemas.openxmlformats.org/officeDocument/2006/relationships/slide" Target="slides/slide13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6.xml"/><Relationship Id="rId29" Type="http://schemas.openxmlformats.org/officeDocument/2006/relationships/slide" Target="slides/slide27.xml"/><Relationship Id="rId30" Type="http://schemas.openxmlformats.org/officeDocument/2006/relationships/slide" Target="slides/slide28.xml"/><Relationship Id="rId31" Type="http://schemas.openxmlformats.org/officeDocument/2006/relationships/slide" Target="slides/slide29.xml"/><Relationship Id="rId32" Type="http://schemas.openxmlformats.org/officeDocument/2006/relationships/slide" Target="slides/slide30.xml"/><Relationship Id="rId33" Type="http://schemas.openxmlformats.org/officeDocument/2006/relationships/font" Target="fonts/Roboto-regular.fntdata"/><Relationship Id="rId34" Type="http://schemas.openxmlformats.org/officeDocument/2006/relationships/font" Target="fonts/Roboto-bold.fntdata"/><Relationship Id="rId35" Type="http://schemas.openxmlformats.org/officeDocument/2006/relationships/font" Target="fonts/Roboto-italic.fntdata"/><Relationship Id="rId36" Type="http://schemas.openxmlformats.org/officeDocument/2006/relationships/font" Target="fonts/Roboto-boldItalic.fntdata"/><Relationship Id="rId37" Type="http://schemas.openxmlformats.org/officeDocument/2006/relationships/font" Target="fonts/VT323-regular.fntdata"/><Relationship Id="rId38" Type="http://schemas.openxmlformats.org/officeDocument/2006/relationships/font" Target="fonts/RobotoLight-regular.fntdata"/><Relationship Id="rId39" Type="http://schemas.openxmlformats.org/officeDocument/2006/relationships/font" Target="fonts/RobotoLight-bold.fntdata"/><Relationship Id="rId40" Type="http://schemas.openxmlformats.org/officeDocument/2006/relationships/font" Target="fonts/RobotoLight-italic.fntdata"/><Relationship Id="rId41" Type="http://schemas.openxmlformats.org/officeDocument/2006/relationships/font" Target="fonts/RobotoLight-boldItalic.fntdata"/><Relationship Id="rId42" Type="http://schemas.openxmlformats.org/officeDocument/2006/relationships/slide" Target="slides/slide7.xml"/><Relationship Id="rId45" Type="http://schemas.openxmlformats.org/officeDocument/2006/relationships/slide" Target="slides/slide31.xml"/><Relationship Id="rId46" Type="http://schemas.openxmlformats.org/officeDocument/2006/relationships/slide" Target="slides/slide32.xml"/><Relationship Id="rId47" Type="http://schemas.openxmlformats.org/officeDocument/2006/relationships/slide" Target="slides/slide33.xml"/><Relationship Id="rId48" Type="http://schemas.openxmlformats.org/officeDocument/2006/relationships/slide" Target="slides/slide34.xml"/><Relationship Id="rId49" Type="http://schemas.openxmlformats.org/officeDocument/2006/relationships/slide" Target="slides/slide35.xml"/><Relationship Id="rId50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7" name="Google Shape;37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d20930eb54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3" name="Google Shape;43;g3d20930eb54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d20930eb54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g3d20930eb54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g3d20930eb54_0_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8" name="Google Shape;58;g3d20930eb54_0_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g3d6eb465041_1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" name="Google Shape;64;g3d6eb465041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g3d20930eb54_0_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0" name="Google Shape;70;g3d20930eb54_0_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d5b18a32d2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6" name="Google Shape;76;g3d5b18a32d2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d6eb465041_1_8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d6eb465041_1_8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d6eb465041_1_1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d6eb465041_1_1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4" name="Shape 1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Google Shape;135;g3d6eb465041_0_3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6" name="Google Shape;136;g3d6eb465041_0_3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d6eb465041_1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2" name="Google Shape;142;g3d6eb465041_1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</a:t>
            </a:r>
            <a:r>
              <a:rPr lang="en"/>
              <a:t>re-allocate MAX particles once, at load time.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Never `new` a Particle again for the rest of the game.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Release is just: p.Active = false;   Zero GC pressure.</a:t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3d6eb465041_1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3d6eb465041_1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d6eb465041_0_3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d6eb465041_0_3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d6eb465041_1_4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0" name="Google Shape;160;g3d6eb465041_1_4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SpriteBatch itself is a flyweight: one GPU state change per texture, hundreds of sprites drawn in a single call.</a:t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3d6eb465041_1_8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3d6eb465041_1_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g3d6eb465041_0_2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2" name="Google Shape;172;g3d6eb465041_0_2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d6eb465041_1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78" name="Google Shape;178;g3d6eb465041_1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g3d6eb465041_0_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4" name="Google Shape;184;g3d6eb465041_0_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Input Data: The process begins with input data that is sent to the GPU to render: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Vertex Data: The vertex data (positions, colors, etc.) that define the geometry of what is being drawn.</a:t>
            </a:r>
            <a:endParaRPr/>
          </a:p>
          <a:p>
            <a:pPr indent="-298450" lvl="1" marL="914400" rtl="0" algn="l">
              <a:spcBef>
                <a:spcPts val="0"/>
              </a:spcBef>
              <a:spcAft>
                <a:spcPts val="0"/>
              </a:spcAft>
              <a:buSzPts val="1100"/>
              <a:buAutoNum type="alphaLcPeriod"/>
            </a:pPr>
            <a:r>
              <a:rPr lang="en"/>
              <a:t>Texture: The image data that will be applied to the geometry.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Vertex Shader: Processes each vertex, calculating its final position on the screen and passing the data to the next stage.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Sampler: Controls how texture data is accessed, applying filtering (how pixels blend when scaled) and addressing (what happens at texture edges).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Pixel Shader: Takes the transformed vertices and sampled texture data to calculate the final color of each pixel.</a:t>
            </a:r>
            <a:endParaRPr/>
          </a:p>
          <a:p>
            <a:pPr indent="-298450" lvl="0" marL="457200" rtl="0" algn="l">
              <a:spcBef>
                <a:spcPts val="0"/>
              </a:spcBef>
              <a:spcAft>
                <a:spcPts val="0"/>
              </a:spcAft>
              <a:buSzPts val="1100"/>
              <a:buAutoNum type="arabicPeriod"/>
            </a:pPr>
            <a:r>
              <a:rPr lang="en"/>
              <a:t>Output: The final rendered image that appears on your screen.</a:t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g3d6eb465041_1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0" name="Google Shape;190;g3d6eb465041_1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d6eb465041_1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5" name="Google Shape;195;g3d6eb465041_1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(code)">
  <p:cSld name="TITLE_AND_TWO_COLUMNS_1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" type="body"/>
          </p:nvPr>
        </p:nvSpPr>
        <p:spPr>
          <a:xfrm>
            <a:off x="311700" y="885950"/>
            <a:ext cx="39999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8" name="Google Shape;28;p6"/>
          <p:cNvSpPr txBox="1"/>
          <p:nvPr>
            <p:ph idx="2" type="body"/>
          </p:nvPr>
        </p:nvSpPr>
        <p:spPr>
          <a:xfrm>
            <a:off x="4832400" y="886075"/>
            <a:ext cx="3999900" cy="4023300"/>
          </a:xfrm>
          <a:prstGeom prst="rect">
            <a:avLst/>
          </a:prstGeom>
          <a:solidFill>
            <a:schemeClr val="dk2"/>
          </a:solidFill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9" name="Google Shape;29;p6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3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32" name="Google Shape;32;p7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rgbClr val="212529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3300"/>
              <a:buFont typeface="VT323"/>
              <a:buNone/>
              <a:defRPr sz="3300">
                <a:solidFill>
                  <a:schemeClr val="accent1"/>
                </a:solidFill>
                <a:latin typeface="VT323"/>
                <a:ea typeface="VT323"/>
                <a:cs typeface="VT323"/>
                <a:sym typeface="VT323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302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600"/>
              <a:buFont typeface="Roboto Light"/>
              <a:buChar char="●"/>
              <a:defRPr sz="1600">
                <a:solidFill>
                  <a:schemeClr val="dk1"/>
                </a:solidFill>
                <a:latin typeface="Roboto Light"/>
                <a:ea typeface="Roboto Light"/>
                <a:cs typeface="Roboto Light"/>
                <a:sym typeface="Roboto Light"/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400"/>
              <a:buFont typeface="Roboto Light"/>
              <a:buChar char="○"/>
              <a:defRPr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2pPr>
            <a:lvl3pPr indent="-3048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3pPr>
            <a:lvl4pPr indent="-3048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4pPr>
            <a:lvl5pPr indent="-3048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5pPr>
            <a:lvl6pPr indent="-3048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6pPr>
            <a:lvl7pPr indent="-3048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●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7pPr>
            <a:lvl8pPr indent="-3048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○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8pPr>
            <a:lvl9pPr indent="-3048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6C757D"/>
              </a:buClr>
              <a:buSzPts val="1200"/>
              <a:buFont typeface="Roboto Light"/>
              <a:buChar char="■"/>
              <a:defRPr sz="1200">
                <a:solidFill>
                  <a:srgbClr val="6C757D"/>
                </a:solidFill>
                <a:latin typeface="Roboto Light"/>
                <a:ea typeface="Roboto Light"/>
                <a:cs typeface="Roboto Light"/>
                <a:sym typeface="Roboto Light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865675" y="4835575"/>
            <a:ext cx="249900" cy="277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 fontScale="77500" lnSpcReduction="20000"/>
          </a:bodyPr>
          <a:lstStyle>
            <a:lvl1pPr lvl="0" algn="r">
              <a:buNone/>
              <a:defRPr sz="1000">
                <a:solidFill>
                  <a:schemeClr val="lt1"/>
                </a:solidFill>
              </a:defRPr>
            </a:lvl1pPr>
            <a:lvl2pPr lvl="1" algn="r">
              <a:buNone/>
              <a:defRPr sz="1000">
                <a:solidFill>
                  <a:schemeClr val="lt1"/>
                </a:solidFill>
              </a:defRPr>
            </a:lvl2pPr>
            <a:lvl3pPr lvl="2" algn="r">
              <a:buNone/>
              <a:defRPr sz="1000">
                <a:solidFill>
                  <a:schemeClr val="lt1"/>
                </a:solidFill>
              </a:defRPr>
            </a:lvl3pPr>
            <a:lvl4pPr lvl="3" algn="r">
              <a:buNone/>
              <a:defRPr sz="1000">
                <a:solidFill>
                  <a:schemeClr val="lt1"/>
                </a:solidFill>
              </a:defRPr>
            </a:lvl4pPr>
            <a:lvl5pPr lvl="4" algn="r">
              <a:buNone/>
              <a:defRPr sz="1000">
                <a:solidFill>
                  <a:schemeClr val="lt1"/>
                </a:solidFill>
              </a:defRPr>
            </a:lvl5pPr>
            <a:lvl6pPr lvl="5" algn="r">
              <a:buNone/>
              <a:defRPr sz="1000">
                <a:solidFill>
                  <a:schemeClr val="lt1"/>
                </a:solidFill>
              </a:defRPr>
            </a:lvl6pPr>
            <a:lvl7pPr lvl="6" algn="r">
              <a:buNone/>
              <a:defRPr sz="1000">
                <a:solidFill>
                  <a:schemeClr val="lt1"/>
                </a:solidFill>
              </a:defRPr>
            </a:lvl7pPr>
            <a:lvl8pPr lvl="7" algn="r">
              <a:buNone/>
              <a:defRPr sz="1000">
                <a:solidFill>
                  <a:schemeClr val="lt1"/>
                </a:solidFill>
              </a:defRPr>
            </a:lvl8pPr>
            <a:lvl9pPr lvl="8" algn="r">
              <a:buNone/>
              <a:defRPr sz="1000">
                <a:solidFill>
                  <a:schemeClr val="lt1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>
              <a:latin typeface="Roboto"/>
              <a:ea typeface="Roboto"/>
              <a:cs typeface="Roboto"/>
              <a:sym typeface="Roboto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5.png"/><Relationship Id="rId4" Type="http://schemas.openxmlformats.org/officeDocument/2006/relationships/image" Target="../media/image4.png"/><Relationship Id="rId5" Type="http://schemas.openxmlformats.org/officeDocument/2006/relationships/image" Target="../media/image2.png"/><Relationship Id="rId6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3" Type="http://schemas.openxmlformats.org/officeDocument/2006/relationships/hyperlink" Target="https://github.com/Metamate/gmd2-geometrywars" TargetMode="External"/><Relationship Id="rId4" Type="http://schemas.openxmlformats.org/officeDocument/2006/relationships/hyperlink" Target="http://readme.md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3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4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5.xml"/><Relationship Id="rId3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9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GAR</a:t>
            </a:r>
            <a:endParaRPr/>
          </a:p>
        </p:txBody>
      </p:sp>
      <p:sp>
        <p:nvSpPr>
          <p:cNvPr id="40" name="Google Shape;40;p9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Session 11: Geometry Wars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Geometry Wars</a:t>
            </a:r>
            <a:endParaRPr/>
          </a:p>
        </p:txBody>
      </p:sp>
      <p:pic>
        <p:nvPicPr>
          <p:cNvPr id="46" name="Google Shape;46;p1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78775" y="935302"/>
            <a:ext cx="3642401" cy="2048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47" name="Google Shape;47;p10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29200" y="935322"/>
            <a:ext cx="3642398" cy="2048836"/>
          </a:xfrm>
          <a:prstGeom prst="rect">
            <a:avLst/>
          </a:prstGeom>
          <a:noFill/>
          <a:ln>
            <a:noFill/>
          </a:ln>
        </p:spPr>
      </p:pic>
      <p:pic>
        <p:nvPicPr>
          <p:cNvPr id="48" name="Google Shape;48;p10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507875" y="3221165"/>
            <a:ext cx="3009900" cy="1714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49" name="Google Shape;49;p10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563925" y="3151128"/>
            <a:ext cx="2378576" cy="185454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Goal</a:t>
            </a:r>
            <a:endParaRPr/>
          </a:p>
        </p:txBody>
      </p:sp>
      <p:pic>
        <p:nvPicPr>
          <p:cNvPr id="55" name="Google Shape;55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83302" y="1536400"/>
            <a:ext cx="5377400" cy="31111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Today’s Topics</a:t>
            </a:r>
            <a:endParaRPr/>
          </a:p>
        </p:txBody>
      </p:sp>
      <p:sp>
        <p:nvSpPr>
          <p:cNvPr id="61" name="Google Shape;61;p1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vs. Systems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 Pool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Flyweight Pattern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as a System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Shaders (demo)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Why Geometry Wars?</a:t>
            </a:r>
            <a:endParaRPr/>
          </a:p>
        </p:txBody>
      </p:sp>
      <p:sp>
        <p:nvSpPr>
          <p:cNvPr id="67" name="Google Shape;67;p13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Thousands of entities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Built from components, as in Plants vs. Zombies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At this size: which behaviour belongs in a component, and which in a system?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And how does every component get the services it needs?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Source Code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All Source code for today’s game can be found here: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u="sng">
                <a:solidFill>
                  <a:schemeClr val="hlink"/>
                </a:solidFill>
                <a:hlinkClick r:id="rId3"/>
              </a:rPr>
              <a:t>https://github.com/Metamate/gmd2-geometrywars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Walkthrough in </a:t>
            </a:r>
            <a:r>
              <a:rPr lang="en" u="sng">
                <a:solidFill>
                  <a:schemeClr val="hlink"/>
                </a:solidFill>
                <a:hlinkClick r:id="rId4"/>
              </a:rPr>
              <a:t>README.md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goal is not to understand all the systems, but the overall architecture employed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game is built up in steps: GeometryWars0 → GeometryWars6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step adds components to the entity recipes, and the systems they need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Compare neighbouring steps to see exactly what changed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 is the finished game: explore it, and start the exercises from it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1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Steps</a:t>
            </a:r>
            <a:endParaRPr/>
          </a:p>
        </p:txBody>
      </p:sp>
      <p:sp>
        <p:nvSpPr>
          <p:cNvPr id="73" name="Google Shape;73;p14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GeometryWars0: entities &amp; components, the player ship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GeometryWars1: shooting &amp; Object Pool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GeometryWars2: enemies, collisions, score and lives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GeometryWars3: particles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GeometryWars4: the spring grid and black holes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GeometryWars5: bloom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GeometryWars6: audio (the finished game)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Explore the Codebase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79" name="Google Shape;79;p1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Take ~10 minutes to browse the finished game, GeometryWars6. Use the README as a guide if you need it.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Clone the repository and build and play the game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How </a:t>
            </a:r>
            <a:r>
              <a:rPr lang="en"/>
              <a:t>high</a:t>
            </a:r>
            <a:r>
              <a:rPr lang="en"/>
              <a:t> a score can you get? ;)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is the codebase split between the core library and the geometry wars-specific project?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High-Level Architecture</a:t>
            </a:r>
            <a:endParaRPr/>
          </a:p>
        </p:txBody>
      </p:sp>
      <p:sp>
        <p:nvSpPr>
          <p:cNvPr id="85" name="Google Shape;85;p16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Game1 owns the application shell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PlayState owns one active gameplay state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owns one run of the game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EntityWorld updates entities and collisions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EntityFactory builds entities by composing components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Components implement the actual behavior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Systems handle some cross-component concerns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Game1 → PlayState → PlaySession → EntityWorld / EntityFactory → Components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2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Components at Scale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09" name="Google Shape;109;p2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Every entity is a bag of components, composed in EntityFactory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No class per enemy type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clear capability per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Health, FaceVelocity, ApplyMovementInput, TakeDamageOnBulletCollision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Entity.cs, Component.cs, EntityFactory.cs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Steps: GeometryWars0 onwards; every step adds components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The Problem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You fire 20 bullets per second.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hit spawns 30 particles.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enemy dies into 50 debris pieces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That's thousands of new allocations per second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 short-lived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C# is a managed language: </a:t>
            </a:r>
            <a:r>
              <a:rPr b="1" lang="en">
                <a:latin typeface="Roboto"/>
                <a:ea typeface="Roboto"/>
                <a:cs typeface="Roboto"/>
                <a:sym typeface="Roboto"/>
              </a:rPr>
              <a:t>new</a:t>
            </a:r>
            <a:r>
              <a:rPr lang="en"/>
              <a:t> means the GC will eventually clean up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GC pauses are non-deterministic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stutter every few seconds is the telltale sign of allocation-in-the-hot-loop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6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Object Pool - Simple Example</a:t>
            </a:r>
            <a:endParaRPr/>
          </a:p>
        </p:txBody>
      </p:sp>
      <p:sp>
        <p:nvSpPr>
          <p:cNvPr id="145" name="Google Shape;145;p26"/>
          <p:cNvSpPr txBox="1"/>
          <p:nvPr>
            <p:ph idx="2" type="body"/>
          </p:nvPr>
        </p:nvSpPr>
        <p:spPr>
          <a:xfrm>
            <a:off x="1830150" y="876475"/>
            <a:ext cx="5483700" cy="416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[]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5000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ParticlePool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new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Particle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CDCAA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B5CEA8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0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&lt;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Length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++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if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!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Reset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Active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=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true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items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[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];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return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null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pool exhausted — size it generously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7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Object Pool Implementation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51" name="Google Shape;151;p27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ObjectPool.cs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BulletSpawner.cs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GeometryWars1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Pattern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 What's Shared, Store What's Unique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enemies on screen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they're all the same sprite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Intrinsic state: shared, immutable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The Texture2D, the mesh, the stats template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Extrinsic state: per-instance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Position, velocity, current HP, color tint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One EnemyType object holds intrinsic data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Each Entity references 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500 entities × 4-byte pointer to one texture, not 500 copies of the texture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Memory: kilobytes instead of megabytes. Load time: instant instead of slow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Flyweight Example</a:t>
            </a:r>
            <a:endParaRPr/>
          </a:p>
        </p:txBody>
      </p:sp>
      <p:sp>
        <p:nvSpPr>
          <p:cNvPr id="163" name="Google Shape;163;p29"/>
          <p:cNvSpPr txBox="1"/>
          <p:nvPr>
            <p:ph idx="2" type="body"/>
          </p:nvPr>
        </p:nvSpPr>
        <p:spPr>
          <a:xfrm>
            <a:off x="1947750" y="876475"/>
            <a:ext cx="5248500" cy="3681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Intrinsic (shared) — one instance, referenced everywhere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class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Texture2D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float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MaxSpeed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SpawnHP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ScoreValue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Extrinsic (per-instance) — one per live enemy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struct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EnemyInstance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4EC9B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EnemyType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     </a:t>
            </a: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pointer — the flyweight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Vector2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Velocity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int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CurrentHP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;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6A9955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// Draw: SpriteBatch batches draws of the same texture automatically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foreach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(</a:t>
            </a:r>
            <a:r>
              <a:rPr lang="en" sz="1000">
                <a:solidFill>
                  <a:srgbClr val="569CD6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var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C586C0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in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enemies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spriteBatch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Draw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(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Type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Texture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e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Position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, 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Color</a:t>
            </a:r>
            <a:r>
              <a:rPr lang="en" sz="1000">
                <a:solidFill>
                  <a:srgbClr val="D4D4D4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.</a:t>
            </a:r>
            <a:r>
              <a:rPr lang="en" sz="1000">
                <a:solidFill>
                  <a:srgbClr val="9CDCFE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White</a:t>
            </a:r>
            <a:r>
              <a:rPr lang="en" sz="1000">
                <a:solidFill>
                  <a:srgbClr val="CCCCCC"/>
                </a:solidFill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);</a:t>
            </a:r>
            <a:endParaRPr sz="1000">
              <a:solidFill>
                <a:srgbClr val="6A9955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575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spcBef>
                <a:spcPts val="0"/>
              </a:spcBef>
              <a:spcAft>
                <a:spcPts val="120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30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Flyweight Implementations</a:t>
            </a:r>
            <a:endParaRPr>
              <a:solidFill>
                <a:schemeClr val="accent5"/>
              </a:solidFill>
            </a:endParaRPr>
          </a:p>
        </p:txBody>
      </p:sp>
      <p:sp>
        <p:nvSpPr>
          <p:cNvPr id="169" name="Google Shape;169;p30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GameAssets.cs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GameplayDefinitions.cs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Step: GeometryWars0 onwards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31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Shaders</a:t>
            </a:r>
            <a:endParaRPr/>
          </a:p>
        </p:txBody>
      </p:sp>
      <p:sp>
        <p:nvSpPr>
          <p:cNvPr id="175" name="Google Shape;175;p31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Moving work to the GPU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CPU has ~8 cores. GPU has thousands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But they all run the same program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Vertex shader: runs once per vertex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Transforms positions, can displace geometry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Pixel (fragment) shader: runs once per pixel.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Decides the final color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MonoGame ships with a default shader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You can write custom ones in HLSL (.fx files)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Any per-pixel effect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Glow, blur, distortion, color grading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The CPU submits draw calls; the GPU paints pixels in parallel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p32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Bloom, The Signature Geometry Wars Glow</a:t>
            </a:r>
            <a:endParaRPr/>
          </a:p>
        </p:txBody>
      </p:sp>
      <p:sp>
        <p:nvSpPr>
          <p:cNvPr id="181" name="Google Shape;181;p32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Bloom makes bright pixels bleed light into their neighbors</a:t>
            </a:r>
            <a:endParaRPr/>
          </a:p>
          <a:p>
            <a:pPr indent="-330200" lvl="0" marL="457200" rtl="0" algn="l">
              <a:spcBef>
                <a:spcPts val="120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Render the scene to a RenderTarget2D instead of the back buffer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Threshold pass — keep only pixels brighter than some cutoff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Gaussian blur the bright pixels — horizontal pass, then vertical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AutoNum type="arabicPeriod"/>
            </a:pPr>
            <a:r>
              <a:rPr lang="en"/>
              <a:t>Additively blend the blurred result back over the original scene</a:t>
            </a:r>
            <a:endParaRPr/>
          </a:p>
          <a:p>
            <a:pPr indent="0" lvl="0" marL="0" rtl="0" algn="l">
              <a:spcBef>
                <a:spcPts val="1200"/>
              </a:spcBef>
              <a:spcAft>
                <a:spcPts val="1200"/>
              </a:spcAft>
              <a:buNone/>
            </a:pPr>
            <a:r>
              <a:rPr lang="en"/>
              <a:t>Each pass is a fullscreen quad with a different pixel shader (post-processing)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33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The Shader Pipeline</a:t>
            </a:r>
            <a:endParaRPr/>
          </a:p>
        </p:txBody>
      </p:sp>
      <p:pic>
        <p:nvPicPr>
          <p:cNvPr id="187" name="Google Shape;187;p3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38150" y="1101440"/>
            <a:ext cx="8267700" cy="3543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34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>
                <a:solidFill>
                  <a:schemeClr val="accent5"/>
                </a:solidFill>
              </a:rPr>
              <a:t>Shader Implementation</a:t>
            </a:r>
            <a:endParaRPr>
              <a:solidFill>
                <a:schemeClr val="accent5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p3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Summary</a:t>
            </a:r>
            <a:endParaRPr/>
          </a:p>
        </p:txBody>
      </p:sp>
      <p:sp>
        <p:nvSpPr>
          <p:cNvPr id="198" name="Google Shape;198;p3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Structure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Components define what an entity is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Orchestration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Systems own the rules that span many entities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Dependencies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Dependency injection hands out shared services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Memory Allocation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Object Pool decides when entities are allocated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Shared Memory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Flyweight decides what entities share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Presentation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Shaders decide how entities look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Exercises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Start from GeometryWars6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Composition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new enemy type from existing components; then a new component, e.g. a shield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Component or system?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bomb (one per life) that destroys every enemy on screen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 screen-shake service in PlayContext, used when the player dies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Measure pooling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Allocated bytes and gen-0 GCs per second, with and without the pool</a:t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38" name="Google Shape;138;p25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Apply It to Your Project</a:t>
            </a:r>
            <a:endParaRPr/>
          </a:p>
        </p:txBody>
      </p:sp>
      <p:sp>
        <p:nvSpPr>
          <p:cNvPr id="139" name="Google Shape;139;p25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of your game’s rules are about one entity, and which span many?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Where do they live today?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How do your classes get shared services?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Would passing them in make the dependencies clearer?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Does anything in your game allocate every frame?</a:t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is about its owner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Its own state, and what happens to it: Health, Weapon, SeekTarget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Some rules span many entities, or the whole run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Which pairs collide? When do enemies spawn? What happens when the player dies?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Those belong in systems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CollisionSystem, EnemyDirector, BulletSpawner, PlaySession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A component that reaches into other entities is a system in disguise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Components vs. Systems in Geometry Wars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BeginRespawnOnLethalCollision is a component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It only decides when its player has taken a lethal hit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PlaySession handles the consequences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Clearing enemies and resetting spawning are rules of the run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Particles are the extreme case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Thousands of sparks, no entities: one ParticleManager updates them in bulk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Vampire Survivors takes this all the way: data-oriented design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ECS: entities are IDs, components are data, all behaviour in systems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02" name="Google Shape;102;p19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Dependency Injection</a:t>
            </a:r>
            <a:endParaRPr/>
          </a:p>
        </p:txBody>
      </p:sp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152475"/>
            <a:ext cx="3700000" cy="35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Components need shared services: input, assets, audio, frame time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Pokemon looked them up in a Service Locator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Geometry Wars passes them in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Game1 creates them once, in a PlayContext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constructor shows what a class needs</a:t>
            </a:r>
            <a:endParaRPr/>
          </a:p>
          <a:p>
            <a:pPr indent="-317500" lvl="1" marL="914400" rtl="0" algn="l">
              <a:buClr>
                <a:srgbClr val="6C757D"/>
              </a:buClr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 sz="1400">
                <a:solidFill>
                  <a:srgbClr val="6C757D"/>
                </a:solidFill>
              </a:rPr>
              <a:t>A test can pass in a fake</a:t>
            </a:r>
            <a:endParaRPr/>
          </a:p>
          <a:p>
            <a:pPr indent="-330200" lvl="0" marL="457200" rtl="0" algn="l">
              <a:buClr>
                <a:srgbClr val="DEE2E6"/>
              </a:buClr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 sz="1600">
                <a:solidFill>
                  <a:srgbClr val="DEE2E6"/>
                </a:solidFill>
              </a:rPr>
              <a:t>Cost: passed through every layer that needs it</a:t>
            </a:r>
            <a:endParaRPr/>
          </a:p>
        </p:txBody>
      </p:sp>
      <p:sp>
        <p:nvSpPr>
          <p:cNvPr id="103" name="Google Shape;103;p19"/>
          <p:cNvSpPr txBox="1"/>
          <p:nvPr>
            <p:ph idx="2" type="body"/>
          </p:nvPr>
        </p:nvSpPr>
        <p:spPr>
          <a:xfrm>
            <a:off x="4150000" y="1152475"/>
            <a:ext cx="4750000" cy="360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public sealed class PlayContext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{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FrameInfo Frame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GameController Controller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GameAssets Assets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AudioManager Audio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PerformanceMonitor Performance { get;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/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public PlayContext(FrameInfo frame,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    GameController controller, ...)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    { ... 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" sz="1000">
                <a:highlight>
                  <a:srgbClr val="1F1F1F"/>
                </a:highlight>
                <a:latin typeface="Consolas"/>
                <a:ea typeface="Consolas"/>
                <a:cs typeface="Consolas"/>
                <a:sym typeface="Consolas"/>
              </a:rPr>
              <a:t>}</a:t>
            </a:r>
            <a:endParaRPr sz="1000">
              <a:solidFill>
                <a:srgbClr val="CCCCCC"/>
              </a:solidFill>
              <a:highlight>
                <a:srgbClr val="1F1F1F"/>
              </a:highlight>
              <a:latin typeface="Consolas"/>
              <a:ea typeface="Consolas"/>
              <a:cs typeface="Consolas"/>
              <a:sym typeface="Consolas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56" name="Google Shape;156;p28"/>
          <p:cNvSpPr txBox="1"/>
          <p:nvPr>
            <p:ph type="title"/>
          </p:nvPr>
        </p:nvSpPr>
        <p:spPr>
          <a:xfrm>
            <a:off x="311700" y="19561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 fontScale="9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Three Ways to Reach a Service</a:t>
            </a:r>
            <a:endParaRPr/>
          </a:p>
        </p:txBody>
      </p:sp>
      <p:sp>
        <p:nvSpPr>
          <p:cNvPr id="157" name="Google Shape;157;p28"/>
          <p:cNvSpPr txBox="1"/>
          <p:nvPr>
            <p:ph idx="1" type="body"/>
          </p:nvPr>
        </p:nvSpPr>
        <p:spPr>
          <a:xfrm>
            <a:off x="311700" y="885950"/>
            <a:ext cx="8520600" cy="4023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/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Singleton (Flappy Bird): Audio.Instance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to one concrete class; hard to replace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Service Locator (Pokemon): Locator.Audio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Global access through an interface; replaceable at runtime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Dependency injection (Geometry Wars): passed in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Dependencies visible in the constructor; replaced when constructing</a:t>
            </a:r>
            <a:endParaRPr/>
          </a:p>
          <a:p>
            <a:pPr indent="-330200" lvl="0" marL="457200" rtl="0" algn="l">
              <a:spcBef>
                <a:spcPts val="0"/>
              </a:spcBef>
              <a:spcAft>
                <a:spcPts val="0"/>
              </a:spcAft>
              <a:buSzPts val="1600"/>
              <a:buChar char="●"/>
            </a:pPr>
            <a:r>
              <a:rPr lang="en"/>
              <a:t>Which one fits depends on how many classes need the service, and how deep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MD">
  <a:themeElements>
    <a:clrScheme name="Simple Light">
      <a:dk1>
        <a:srgbClr val="DEE2E6"/>
      </a:dk1>
      <a:lt1>
        <a:srgbClr val="818387"/>
      </a:lt1>
      <a:dk2>
        <a:srgbClr val="1F1F1F"/>
      </a:dk2>
      <a:lt2>
        <a:srgbClr val="DEE2E6"/>
      </a:lt2>
      <a:accent1>
        <a:srgbClr val="D45D35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4A86E8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