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321" r:id="rId32"/>
    <p:sldId id="322" r:id="rId31"/>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5.xml"/><Relationship Id="rId30" Type="http://schemas.openxmlformats.org/officeDocument/2006/relationships/slide" Target="slides/slide33.xml"/><Relationship Id="rId31" Type="http://schemas.openxmlformats.org/officeDocument/2006/relationships/slide" Target="slides/slide37.xml"/><Relationship Id="rId32" Type="http://schemas.openxmlformats.org/officeDocument/2006/relationships/slide" Target="slides/slide36.xml"/><Relationship Id="rId33" Type="http://schemas.openxmlformats.org/officeDocument/2006/relationships/slide" Target="slides/slide10.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40.xml"/><Relationship Id="rId42" Type="http://schemas.openxmlformats.org/officeDocument/2006/relationships/slide" Target="slides/slide38.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9.xml"/><Relationship Id="rId53" Type="http://schemas.openxmlformats.org/officeDocument/2006/relationships/slide" Target="slides/slide41.xml"/><Relationship Id="rId54" Type="http://schemas.openxmlformats.org/officeDocument/2006/relationships/slide" Target="slides/slide31.xml"/><Relationship Id="rId55" Type="http://schemas.openxmlformats.org/officeDocument/2006/relationships/slide" Target="slides/slide2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6.xml"/><Relationship Id="rId66" Type="http://schemas.openxmlformats.org/officeDocument/2006/relationships/slide" Target="slides/slide29.xml"/><Relationship Id="rId67" Type="http://schemas.openxmlformats.org/officeDocument/2006/relationships/slide" Target="slides/slide30.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uses of the same idea: once a request is an object, it can be rebound, undone, replayed and sent.</a:t>
            </a:r>
          </a:p>
          <a:p>
            <a:r>
              <a:t>Today we build undo, redo and a replay. Ask: which of these would your own game use?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Sokoban. Level, LevelView and CommandHistory do not know each other; Game1 connects them.</a:t>
            </a:r>
          </a:p>
          <a:p>
            <a:r>
              <a:t>A MoveCommand is the only thing besides Game1 that changes the level. Ask: why does that make undo safe?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The command therefore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Dodge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DodgeCommand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8520600" cy="201168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 a button holds a command, so keys can be rebound</a:t>
            </a:r>
            <a:endParaRPr/>
          </a:p>
          <a:p>
            <a:pPr indent="-330200" lvl="0" marL="457200" rtl="0" algn="l">
              <a:spcBef>
                <a:spcPts val="0"/>
              </a:spcBef>
              <a:spcAft>
                <a:spcPts val="0"/>
              </a:spcAft>
              <a:buSzPts val="1600"/>
              <a:buChar char="●"/>
            </a:pPr>
            <a:r>
              <a:rPr lang="en"/>
              <a:t>Undo and redo: a command remembers how to reverse itself</a:t>
            </a:r>
            <a:endParaRPr/>
          </a:p>
          <a:p>
            <a:pPr indent="-330200" lvl="0" marL="457200" rtl="0" algn="l">
              <a:spcBef>
                <a:spcPts val="0"/>
              </a:spcBef>
              <a:spcAft>
                <a:spcPts val="0"/>
              </a:spcAft>
              <a:buSzPts val="1600"/>
              <a:buChar char="●"/>
            </a:pPr>
            <a:r>
              <a:rPr lang="en"/>
              <a:t>Replay: the list of commands, executed again from the start</a:t>
            </a:r>
            <a:endParaRPr/>
          </a:p>
          <a:p>
            <a:pPr indent="-330200" lvl="0" marL="457200" rtl="0" algn="l">
              <a:spcBef>
                <a:spcPts val="0"/>
              </a:spcBef>
              <a:spcAft>
                <a:spcPts val="0"/>
              </a:spcAft>
              <a:buSzPts val="1600"/>
              <a:buChar char="●"/>
            </a:pPr>
            <a:r>
              <a:rPr lang="en"/>
              <a:t>Queues and networks: a command can be kept, sent, and run later</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Sokoban4 adds a title screen, seven levels and a restart. The rules did not change.</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a:p>
            <a:pPr algn="ctr"/>
            <a:r>
              <a:rPr sz="1100" b="0">
                <a:solidFill>
                  <a:srgbClr val="9AA3AB"/>
                </a:solidFill>
              </a:rPr>
              <a:t>connects the parts</a:t>
            </a:r>
          </a:p>
        </p:txBody>
      </p:sp>
      <p:sp>
        <p:nvSpPr>
          <p:cNvPr id="5" name="Rounded Rectangle 4"/>
          <p:cNvSpPr/>
          <p:nvPr/>
        </p:nvSpPr>
        <p:spPr>
          <a:xfrm>
            <a:off x="37490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a:t>
            </a:r>
          </a:p>
          <a:p>
            <a:pPr algn="ctr"/>
            <a:r>
              <a:rPr sz="1100" b="0">
                <a:solidFill>
                  <a:srgbClr val="9AA3AB"/>
                </a:solidFill>
              </a:rPr>
              <a:t>state and rules</a:t>
            </a:r>
          </a:p>
        </p:txBody>
      </p:sp>
      <p:cxnSp>
        <p:nvCxnSpPr>
          <p:cNvPr id="6" name="Connector 5"/>
          <p:cNvCxnSpPr/>
          <p:nvPr/>
        </p:nvCxnSpPr>
        <p:spPr>
          <a:xfrm flipH="1">
            <a:off x="1383030" y="2066544"/>
            <a:ext cx="318897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0088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LevelView</a:t>
            </a:r>
          </a:p>
          <a:p>
            <a:pPr algn="ctr"/>
            <a:r>
              <a:rPr sz="1100" b="0">
                <a:solidFill>
                  <a:srgbClr val="9AA3AB"/>
                </a:solidFill>
              </a:rPr>
              <a:t>only reads the level</a:t>
            </a:r>
          </a:p>
        </p:txBody>
      </p:sp>
      <p:cxnSp>
        <p:nvCxnSpPr>
          <p:cNvPr id="8" name="Connector 7"/>
          <p:cNvCxnSpPr/>
          <p:nvPr/>
        </p:nvCxnSpPr>
        <p:spPr>
          <a:xfrm flipH="1">
            <a:off x="3509010" y="2066544"/>
            <a:ext cx="106299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62686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CommandHistory</a:t>
            </a:r>
          </a:p>
          <a:p>
            <a:pPr algn="ctr"/>
            <a:r>
              <a:rPr sz="1100" b="0">
                <a:solidFill>
                  <a:srgbClr val="9AA3AB"/>
                </a:solidFill>
              </a:rPr>
              <a:t>done and undone</a:t>
            </a:r>
          </a:p>
        </p:txBody>
      </p:sp>
      <p:sp>
        <p:nvSpPr>
          <p:cNvPr id="10" name="Rounded Rectangle 9"/>
          <p:cNvSpPr/>
          <p:nvPr/>
        </p:nvSpPr>
        <p:spPr>
          <a:xfrm>
            <a:off x="4626864" y="3712464"/>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MoveCommand</a:t>
            </a:r>
          </a:p>
          <a:p>
            <a:pPr algn="ctr"/>
            <a:r>
              <a:rPr sz="1100" b="0">
                <a:solidFill>
                  <a:srgbClr val="9AA3AB"/>
                </a:solidFill>
              </a:rPr>
              <a:t>changes the level</a:t>
            </a:r>
          </a:p>
        </p:txBody>
      </p:sp>
      <p:cxnSp>
        <p:nvCxnSpPr>
          <p:cNvPr id="11" name="Connector 10"/>
          <p:cNvCxnSpPr/>
          <p:nvPr/>
        </p:nvCxnSpPr>
        <p:spPr>
          <a:xfrm>
            <a:off x="5634990"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2000" y="2066544"/>
            <a:ext cx="106299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52844" y="2596896"/>
            <a:ext cx="201625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GameController</a:t>
            </a:r>
          </a:p>
          <a:p>
            <a:pPr algn="ctr"/>
            <a:r>
              <a:rPr sz="1100" b="0">
                <a:solidFill>
                  <a:srgbClr val="9AA3AB"/>
                </a:solidFill>
              </a:rPr>
              <a:t>asked for actions</a:t>
            </a:r>
          </a:p>
        </p:txBody>
      </p:sp>
      <p:cxnSp>
        <p:nvCxnSpPr>
          <p:cNvPr id="14" name="Connector 13"/>
          <p:cNvCxnSpPr/>
          <p:nvPr/>
        </p:nvCxnSpPr>
        <p:spPr>
          <a:xfrm>
            <a:off x="4572000" y="2066544"/>
            <a:ext cx="318897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The rules, the view and the history never refer to each other.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Six concerns, and this session’s answer to each.</a:t>
            </a:r>
            <a:endParaRPr/>
          </a:p>
        </p:txBody>
      </p:sp>
      <p:sp>
        <p:nvSpPr>
          <p:cNvPr id="4" name="Rounded Rectangle 3"/>
          <p:cNvSpPr/>
          <p:nvPr/>
        </p:nvSpPr>
        <p:spPr>
          <a:xfrm>
            <a:off x="5486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a level looks like</a:t>
            </a:r>
          </a:p>
          <a:p>
            <a:pPr algn="ctr"/>
            <a:r>
              <a:rPr sz="1300" b="0">
                <a:solidFill>
                  <a:srgbClr val="9AA3AB"/>
                </a:solidFill>
              </a:rPr>
              <a:t>A text file, a character per cell</a:t>
            </a:r>
          </a:p>
        </p:txBody>
      </p:sp>
      <p:sp>
        <p:nvSpPr>
          <p:cNvPr id="5" name="Rounded Rectangle 4"/>
          <p:cNvSpPr/>
          <p:nvPr/>
        </p:nvSpPr>
        <p:spPr>
          <a:xfrm>
            <a:off x="32918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Rules that can be tested</a:t>
            </a:r>
          </a:p>
          <a:p>
            <a:pPr algn="ctr"/>
            <a:r>
              <a:rPr sz="1300" b="0">
                <a:solidFill>
                  <a:srgbClr val="9AA3AB"/>
                </a:solidFill>
              </a:rPr>
              <a:t>Level, apart from LevelView</a:t>
            </a:r>
          </a:p>
        </p:txBody>
      </p:sp>
      <p:sp>
        <p:nvSpPr>
          <p:cNvPr id="6" name="Rounded Rectangle 5"/>
          <p:cNvSpPr/>
          <p:nvPr/>
        </p:nvSpPr>
        <p:spPr>
          <a:xfrm>
            <a:off x="60350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Checking the rules</a:t>
            </a:r>
          </a:p>
          <a:p>
            <a:pPr algn="ctr"/>
            <a:r>
              <a:rPr sz="1300" b="0">
                <a:solidFill>
                  <a:srgbClr val="9AA3AB"/>
                </a:solidFill>
              </a:rPr>
              <a:t>Unit tests: arrange, act, assert</a:t>
            </a:r>
          </a:p>
        </p:txBody>
      </p:sp>
      <p:sp>
        <p:nvSpPr>
          <p:cNvPr id="7" name="Rounded Rectangle 6"/>
          <p:cNvSpPr/>
          <p:nvPr/>
        </p:nvSpPr>
        <p:spPr>
          <a:xfrm>
            <a:off x="5486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move that can be kept</a:t>
            </a:r>
          </a:p>
          <a:p>
            <a:pPr algn="ctr"/>
            <a:r>
              <a:rPr sz="1300" b="0">
                <a:solidFill>
                  <a:srgbClr val="9AA3AB"/>
                </a:solidFill>
              </a:rPr>
              <a:t>Command</a:t>
            </a:r>
          </a:p>
        </p:txBody>
      </p:sp>
      <p:sp>
        <p:nvSpPr>
          <p:cNvPr id="8" name="Rounded Rectangle 7"/>
          <p:cNvSpPr/>
          <p:nvPr/>
        </p:nvSpPr>
        <p:spPr>
          <a:xfrm>
            <a:off x="32918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Undo and redo</a:t>
            </a:r>
          </a:p>
          <a:p>
            <a:pPr algn="ctr"/>
            <a:r>
              <a:rPr sz="1300" b="0">
                <a:solidFill>
                  <a:srgbClr val="9AA3AB"/>
                </a:solidFill>
              </a:rPr>
              <a:t>Two stacks of commands</a:t>
            </a:r>
          </a:p>
        </p:txBody>
      </p:sp>
      <p:sp>
        <p:nvSpPr>
          <p:cNvPr id="9" name="Rounded Rectangle 8"/>
          <p:cNvSpPr/>
          <p:nvPr/>
        </p:nvSpPr>
        <p:spPr>
          <a:xfrm>
            <a:off x="60350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Keys the player can change</a:t>
            </a:r>
          </a:p>
          <a:p>
            <a:pPr algn="ctr"/>
            <a:r>
              <a:rPr sz="1300" b="0">
                <a:solidFill>
                  <a:srgbClr val="9AA3AB"/>
                </a:solidFill>
              </a:rPr>
              <a:t>A table from keys to moves</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