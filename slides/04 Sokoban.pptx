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1" r:id="rId40"/>
    <p:sldId id="257" r:id="rId7"/>
    <p:sldId id="258" r:id="rId8"/>
    <p:sldId id="259" r:id="rId9"/>
    <p:sldId id="297" r:id="rId56"/>
    <p:sldId id="298" r:id="rId57"/>
    <p:sldId id="315" r:id="rId36"/>
    <p:sldId id="299" r:id="rId58"/>
    <p:sldId id="320" r:id="rId33"/>
    <p:sldId id="300" r:id="rId59"/>
    <p:sldId id="314" r:id="rId37"/>
    <p:sldId id="301" r:id="rId60"/>
    <p:sldId id="302" r:id="rId61"/>
    <p:sldId id="303" r:id="rId62"/>
    <p:sldId id="304" r:id="rId63"/>
    <p:sldId id="305" r:id="rId64"/>
    <p:sldId id="313" r:id="rId38"/>
    <p:sldId id="269" r:id="rId19"/>
    <p:sldId id="270" r:id="rId20"/>
    <p:sldId id="271" r:id="rId21"/>
    <p:sldId id="272" r:id="rId22"/>
    <p:sldId id="273" r:id="rId23"/>
    <p:sldId id="274" r:id="rId24"/>
    <p:sldId id="276" r:id="rId26"/>
    <p:sldId id="306" r:id="rId65"/>
    <p:sldId id="312" r:id="rId39"/>
    <p:sldId id="319" r:id="rId55"/>
    <p:sldId id="307" r:id="rId66"/>
    <p:sldId id="308" r:id="rId67"/>
    <p:sldId id="318" r:id="rId54"/>
    <p:sldId id="309" r:id="rId68"/>
    <p:sldId id="280" r:id="rId30"/>
    <p:sldId id="317" r:id="rId34"/>
    <p:sldId id="316" r:id="rId35"/>
    <p:sldId id="321" r:id="rId32"/>
    <p:sldId id="322" r:id="rId31"/>
    <p:sldId id="292" r:id="rId42"/>
    <p:sldId id="293" r:id="rId52"/>
    <p:sldId id="310"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6" Type="http://schemas.openxmlformats.org/officeDocument/2006/relationships/slide" Target="slides/slide25.xml"/><Relationship Id="rId30" Type="http://schemas.openxmlformats.org/officeDocument/2006/relationships/slide" Target="slides/slide33.xml"/><Relationship Id="rId31" Type="http://schemas.openxmlformats.org/officeDocument/2006/relationships/slide" Target="slides/slide41.xml"/><Relationship Id="rId32" Type="http://schemas.openxmlformats.org/officeDocument/2006/relationships/slide" Target="slides/slide40.xml"/><Relationship Id="rId33" Type="http://schemas.openxmlformats.org/officeDocument/2006/relationships/slide" Target="slides/slide10.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8.xml"/><Relationship Id="rId37" Type="http://schemas.openxmlformats.org/officeDocument/2006/relationships/slide" Target="slides/slide12.xml"/><Relationship Id="rId38" Type="http://schemas.openxmlformats.org/officeDocument/2006/relationships/slide" Target="slides/slide18.xml"/><Relationship Id="rId39" Type="http://schemas.openxmlformats.org/officeDocument/2006/relationships/slide" Target="slides/slide27.xml"/><Relationship Id="rId40" Type="http://schemas.openxmlformats.org/officeDocument/2006/relationships/slide" Target="slides/slide2.xml"/><Relationship Id="rId41" Type="http://schemas.openxmlformats.org/officeDocument/2006/relationships/slide" Target="slides/slide38.xml"/><Relationship Id="rId42" Type="http://schemas.openxmlformats.org/officeDocument/2006/relationships/slide" Target="slides/slide36.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7.xml"/><Relationship Id="rId53" Type="http://schemas.openxmlformats.org/officeDocument/2006/relationships/slide" Target="slides/slide39.xml"/><Relationship Id="rId54" Type="http://schemas.openxmlformats.org/officeDocument/2006/relationships/slide" Target="slides/slide31.xml"/><Relationship Id="rId55" Type="http://schemas.openxmlformats.org/officeDocument/2006/relationships/slide" Target="slides/slide28.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1.xml"/><Relationship Id="rId60" Type="http://schemas.openxmlformats.org/officeDocument/2006/relationships/slide" Target="slides/slide13.xml"/><Relationship Id="rId61" Type="http://schemas.openxmlformats.org/officeDocument/2006/relationships/slide" Target="slides/slide14.xml"/><Relationship Id="rId62" Type="http://schemas.openxmlformats.org/officeDocument/2006/relationships/slide" Target="slides/slide15.xml"/><Relationship Id="rId63" Type="http://schemas.openxmlformats.org/officeDocument/2006/relationships/slide" Target="slides/slide16.xml"/><Relationship Id="rId64" Type="http://schemas.openxmlformats.org/officeDocument/2006/relationships/slide" Target="slides/slide17.xml"/><Relationship Id="rId65" Type="http://schemas.openxmlformats.org/officeDocument/2006/relationships/slide" Target="slides/slide26.xml"/><Relationship Id="rId66" Type="http://schemas.openxmlformats.org/officeDocument/2006/relationships/slide" Target="slides/slide29.xml"/><Relationship Id="rId67" Type="http://schemas.openxmlformats.org/officeDocument/2006/relationships/slide" Target="slides/slide30.xml"/><Relationship Id="rId6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command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command and undo. Before we get there we load levels from text, keep the rules apart from the drawing, and write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Looks: LevelView (swap the tile numbers). Rule: Level.IsSolved.</a:t>
            </a:r>
          </a:p>
          <a:p>
            <a:r>
              <a:t>Ask: did either change touch the other class? No, and that is why the split was made.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a:p>
            <a:r>
              <a:t>“A command is a reified method call.”</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Commands can come from the player, from an AI or from a replay. The actor that executes them does not know which.</a:t>
            </a:r>
          </a:p>
          <a:p>
            <a:r>
              <a:t>Ask: what would a replay of a Sokoban level be? Answer: the list of commands, executed again from the start.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uses of the same idea: once a request is an object, it can be rebound, undone, replayed and sent.</a:t>
            </a:r>
          </a:p>
          <a:p>
            <a:r>
              <a:t>Today we build undo, redo and a replay. Ask: which of these would your own game use?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session in one slide. Read each concern aloud and let the class give the answer before pointing at it.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Who holds what in the finished Sokoban. Level, LevelView and CommandHistory do not know each other; Game1 connects them.</a:t>
            </a:r>
          </a:p>
          <a:p>
            <a:r>
              <a:t>A MoveCommand is the only thing besides Game1 that changes the level. Ask: why does that make undo safe?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Game1 needs using System.Collections.Generic and Microsoft.Xna.Framework.Input.</a:t>
            </a:r>
          </a:p>
          <a:p>
            <a:r>
              <a:t>The swap: (_moveKeys[Keys.Up], _moveKeys[Keys.Down]) = (_moveKeys[Keys.Down], _moveKeys[Keys.Up]). Only the dictionary changed: Level, MoveCommand and the history never knew which key was pressed.</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Sokoban. Ask who has played it, and what they remember of how it plays.</a:t>
            </a:r>
          </a:p>
          <a:p>
            <a:r>
              <a:t>Today we build the parts that matter for the architecture.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command already gets the direction; it only has to keep it.</a:t>
            </a:r>
          </a:p>
          <a:p>
            <a:r>
              <a:t>Answer to the question: whether it pushed a box (the MoveResult). Undo comes next.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Everyone should see one test pass and one fail. The failure message names the test, the expected and the actual value, and the line.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after the first test in class, everyone should add the two missing cases.</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Sokoban0 only draws the text, so anything draws.</a:t>
            </a:r>
          </a:p>
          <a:p>
            <a:r>
              <a:t>Answer: one player, as many goals as boxes, walls all round, and every box able to reach a goal.</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other half of Command: configuring input. The book’s first example is a button that holds a command object.</a:t>
            </a:r>
          </a:p>
          <a:p>
            <a:r>
              <a:t>Ask: why not keep one MoveCommand per key and execute it again? The history must keep each move to undo it, so each press needs its own object. The book says the same: with undo, the input handler hands out new commands.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the four panels. Undo moves the top command to the undone stack; redo moves it back.</a:t>
            </a:r>
          </a:p>
          <a:p>
            <a:r>
              <a:t>Ask: why is C dropped when D is made? Answer: C was made for a level that no longer exists.</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After a walk and after a push the player stands on the same cell. The level alone cannot tell which happened.</a:t>
            </a:r>
          </a:p>
          <a:p>
            <a:r>
              <a:t>Ask: what must the command keep to undo itself? Answer: whether it pushed a box (the MoveResult).</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move looks at two cells: the next one, and the one behind it. Three outcomes: walked, pushed, blocked.</a:t>
            </a:r>
          </a:p>
          <a:p>
            <a:r>
              <a:t>Ask: which of the three becomes a command later? Answer: walked and pushed. A blocked move changes nothing.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4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4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Sokoban</a:t>
            </a:r>
            <a:endParaRPr/>
          </a:p>
        </p:txBody>
      </p:sp>
      <p:pic>
        <p:nvPicPr>
          <p:cNvPr id="3" name="Picture 2" descr="sokoban.png"/>
          <p:cNvPicPr>
            <a:picLocks noChangeAspect="1"/>
          </p:cNvPicPr>
          <p:nvPr/>
        </p:nvPicPr>
        <p:blipFill>
          <a:blip r:embed="rId2"/>
          <a:stretch>
            <a:fillRect/>
          </a:stretch>
        </p:blipFill>
        <p:spPr>
          <a:xfrm>
            <a:off x="1652067" y="960120"/>
            <a:ext cx="5839865"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Sokoban (Thinking Rabbit, 1982). Screenshot © Thinking Rabbit.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okoban.gif"/>
          <p:cNvPicPr>
            <a:picLocks noChangeAspect="1"/>
          </p:cNvPicPr>
          <p:nvPr/>
        </p:nvPicPr>
        <p:blipFill>
          <a:blip r:embed="rId3"/>
          <a:stretch>
            <a:fillRect/>
          </a:stretch>
        </p:blipFill>
        <p:spPr>
          <a:xfrm>
            <a:off x="2642135" y="1531275"/>
            <a:ext cx="3859729"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44144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Command and undo</a:t>
            </a:r>
            <a:endParaRPr/>
          </a:p>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Text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Add a second box, a second goal, and a wall in the middle</a:t>
            </a:r>
            <a:endParaRPr/>
          </a:p>
          <a:p>
            <a:pPr indent="-330200" lvl="0" marL="457200" rtl="0" algn="l">
              <a:spcBef>
                <a:spcPts val="0"/>
              </a:spcBef>
              <a:spcAft>
                <a:spcPts val="0"/>
              </a:spcAft>
              <a:buSzPts val="1600"/>
              <a:buChar char="●"/>
            </a:pPr>
            <a:r>
              <a:rPr lang="en"/>
              <a:t>What must be true for a level to be playable?</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The Rules of a Move</a:t>
            </a:r>
            <a:endParaRPr/>
          </a:p>
        </p:txBody>
      </p:sp>
      <p:pic>
        <p:nvPicPr>
          <p:cNvPr id="3" name="Picture 2" descr="push-rule.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Rules or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Sokoban1:</a:t>
            </a:r>
            <a:endParaRPr/>
          </a:p>
          <a:p>
            <a:pPr indent="-330200" lvl="0" marL="457200" rtl="0" algn="l">
              <a:spcBef>
                <a:spcPts val="0"/>
              </a:spcBef>
              <a:spcAft>
                <a:spcPts val="0"/>
              </a:spcAft>
              <a:buSzPts val="1600"/>
              <a:buChar char="●"/>
            </a:pPr>
            <a:r>
              <a:rPr lang="en"/>
              <a:t>Make the walls look like floor</a:t>
            </a:r>
            <a:endParaRPr/>
          </a:p>
          <a:p>
            <a:pPr indent="-330200" lvl="0" marL="457200" rtl="0" algn="l">
              <a:spcBef>
                <a:spcPts val="0"/>
              </a:spcBef>
              <a:spcAft>
                <a:spcPts val="0"/>
              </a:spcAft>
              <a:buSzPts val="1600"/>
              <a:buChar char="●"/>
            </a:pPr>
            <a:r>
              <a:rPr lang="en"/>
              <a:t>Make a level solved when all boxes but one are on goals</a:t>
            </a:r>
            <a:endParaRPr/>
          </a:p>
          <a:p>
            <a:pPr indent="-330200" lvl="0" marL="457200" rtl="0" algn="l">
              <a:spcBef>
                <a:spcPts val="0"/>
              </a:spcBef>
              <a:spcAft>
                <a:spcPts val="0"/>
              </a:spcAft>
              <a:buSzPts val="1600"/>
              <a:buChar char="●"/>
            </a:pPr>
            <a:r>
              <a:rPr lang="en"/>
              <a:t>Which class did each change need?</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Your First Test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the 04-sokoban folder: dotnet test</a:t>
            </a:r>
            <a:endParaRPr/>
          </a:p>
          <a:p>
            <a:pPr indent="-330200" lvl="0" marL="457200" rtl="0" algn="l">
              <a:spcBef>
                <a:spcPts val="0"/>
              </a:spcBef>
              <a:spcAft>
                <a:spcPts val="0"/>
              </a:spcAft>
              <a:buSzPts val="1600"/>
              <a:buChar char="●"/>
            </a:pPr>
            <a:r>
              <a:rPr lang="en"/>
              <a:t>Copy one test in LevelTests.cs, and make it check walking left</a:t>
            </a:r>
            <a:endParaRPr/>
          </a:p>
          <a:p>
            <a:pPr indent="-330200" lvl="0" marL="457200" rtl="0" algn="l">
              <a:spcBef>
                <a:spcPts val="0"/>
              </a:spcBef>
              <a:spcAft>
                <a:spcPts val="0"/>
              </a:spcAft>
              <a:buSzPts val="1600"/>
              <a:buChar char="●"/>
            </a:pPr>
            <a:r>
              <a:rPr lang="en"/>
              <a:t>Make it fail on purpose, and read the message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Picture 134" descr="command-idea.png"/>
          <p:cNvPicPr>
            <a:picLocks noChangeAspect="1"/>
          </p:cNvPicPr>
          <p:nvPr/>
        </p:nvPicPr>
        <p:blipFill>
          <a:blip r:embed="rId4"/>
          <a:stretch>
            <a:fillRect/>
          </a:stretch>
        </p:blipFill>
        <p:spPr>
          <a:xfrm>
            <a:off x="320039" y="1051560"/>
            <a:ext cx="8503920" cy="330708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1371600" y="1782800"/>
            <a:ext cx="64008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Dodge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Picture 147" descr="command-object.png"/>
          <p:cNvPicPr>
            <a:picLocks noChangeAspect="1"/>
          </p:cNvPicPr>
          <p:nvPr/>
        </p:nvPicPr>
        <p:blipFill>
          <a:blip r:embed="rId4"/>
          <a:stretch>
            <a:fillRect/>
          </a:stretch>
        </p:blipFill>
        <p:spPr>
          <a:xfrm>
            <a:off x="320039" y="1051560"/>
            <a:ext cx="8503920" cy="37795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Picture 154" descr="command-structure.png"/>
          <p:cNvPicPr>
            <a:picLocks noChangeAspect="1"/>
          </p:cNvPicPr>
          <p:nvPr/>
        </p:nvPicPr>
        <p:blipFill>
          <a:blip r:embed="rId4"/>
          <a:stretch>
            <a:fillRect/>
          </a:stretch>
        </p:blipFill>
        <p:spPr>
          <a:xfrm>
            <a:off x="320039" y="1051560"/>
            <a:ext cx="8503920" cy="342519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DodgeCommand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Picture 168" descr="command-stream.png"/>
          <p:cNvPicPr>
            <a:picLocks noChangeAspect="1"/>
          </p:cNvPicPr>
          <p:nvPr/>
        </p:nvPicPr>
        <p:blipFill>
          <a:blip r:embed="rId4"/>
          <a:stretch>
            <a:fillRect/>
          </a:stretch>
        </p:blipFill>
        <p:spPr>
          <a:xfrm>
            <a:off x="320039" y="1051560"/>
            <a:ext cx="8503920" cy="330708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8520600" cy="201168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 a button holds a command, so keys can be rebound</a:t>
            </a:r>
            <a:endParaRPr/>
          </a:p>
          <a:p>
            <a:pPr indent="-330200" lvl="0" marL="457200" rtl="0" algn="l">
              <a:spcBef>
                <a:spcPts val="0"/>
              </a:spcBef>
              <a:spcAft>
                <a:spcPts val="0"/>
              </a:spcAft>
              <a:buSzPts val="1600"/>
              <a:buChar char="●"/>
            </a:pPr>
            <a:r>
              <a:rPr lang="en"/>
              <a:t>Undo and redo: a command remembers how to reverse itself</a:t>
            </a:r>
            <a:endParaRPr/>
          </a:p>
          <a:p>
            <a:pPr indent="-330200" lvl="0" marL="457200" rtl="0" algn="l">
              <a:spcBef>
                <a:spcPts val="0"/>
              </a:spcBef>
              <a:spcAft>
                <a:spcPts val="0"/>
              </a:spcAft>
              <a:buSzPts val="1600"/>
              <a:buChar char="●"/>
            </a:pPr>
            <a:r>
              <a:rPr lang="en"/>
              <a:t>Replay: the list of commands, executed again from the start</a:t>
            </a:r>
            <a:endParaRPr/>
          </a:p>
          <a:p>
            <a:pPr indent="-330200" lvl="0" marL="457200" rtl="0" algn="l">
              <a:spcBef>
                <a:spcPts val="0"/>
              </a:spcBef>
              <a:spcAft>
                <a:spcPts val="0"/>
              </a:spcAft>
              <a:buSzPts val="1600"/>
              <a:buChar char="●"/>
            </a:pPr>
            <a:r>
              <a:rPr lang="en"/>
              <a:t>Queues and networks: a command can be kept, sent, and run later</a:t>
            </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What a Move Remembers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Sokoban2:</a:t>
            </a:r>
            <a:endParaRPr/>
          </a:p>
          <a:p>
            <a:pPr indent="-330200" lvl="0" marL="457200" rtl="0" algn="l">
              <a:spcBef>
                <a:spcPts val="0"/>
              </a:spcBef>
              <a:spcAft>
                <a:spcPts val="0"/>
              </a:spcAft>
              <a:buSzPts val="1600"/>
              <a:buChar char="●"/>
            </a:pPr>
            <a:r>
              <a:rPr lang="en"/>
              <a:t>Give MoveCommand a Direction property</a:t>
            </a:r>
            <a:endParaRPr/>
          </a:p>
          <a:p>
            <a:pPr indent="-330200" lvl="0" marL="457200" rtl="0" algn="l">
              <a:spcBef>
                <a:spcPts val="0"/>
              </a:spcBef>
              <a:spcAft>
                <a:spcPts val="0"/>
              </a:spcAft>
              <a:buSzPts val="1600"/>
              <a:buChar char="●"/>
            </a:pPr>
            <a:r>
              <a:rPr lang="en"/>
              <a:t>Show the last move’s direction in the window title</a:t>
            </a:r>
            <a:endParaRPr/>
          </a:p>
          <a:p>
            <a:pPr indent="-330200" lvl="0" marL="457200" rtl="0" algn="l">
              <a:spcBef>
                <a:spcPts val="0"/>
              </a:spcBef>
              <a:spcAft>
                <a:spcPts val="0"/>
              </a:spcAft>
              <a:buSzPts val="1600"/>
              <a:buChar char="●"/>
            </a:pPr>
            <a:r>
              <a:rPr lang="en"/>
              <a:t>To undo a move, what else would it need to remember?</a:t>
            </a:r>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What a Command Remembers</a:t>
            </a:r>
            <a:endParaRPr/>
          </a:p>
        </p:txBody>
      </p:sp>
      <p:pic>
        <p:nvPicPr>
          <p:cNvPr id="3" name="Picture 2" descr="remember.png"/>
          <p:cNvPicPr>
            <a:picLocks noChangeAspect="1"/>
          </p:cNvPicPr>
          <p:nvPr/>
        </p:nvPicPr>
        <p:blipFill>
          <a:blip r:embed="rId2"/>
          <a:stretch>
            <a:fillRect/>
          </a:stretch>
        </p:blipFill>
        <p:spPr>
          <a:xfrm>
            <a:off x="320039" y="1051560"/>
            <a:ext cx="8503920" cy="35433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be able to reverse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can’t be redone any more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Undo and Redo, Step by Step</a:t>
            </a:r>
            <a:endParaRPr/>
          </a:p>
        </p:txBody>
      </p:sp>
      <p:pic>
        <p:nvPicPr>
          <p:cNvPr id="3" name="Picture 2" descr="undo-stacks.png"/>
          <p:cNvPicPr>
            <a:picLocks noChangeAspect="1"/>
          </p:cNvPicPr>
          <p:nvPr/>
        </p:nvPicPr>
        <p:blipFill>
          <a:blip r:embed="rId2"/>
          <a:stretch>
            <a:fillRect/>
          </a:stretch>
        </p:blipFill>
        <p:spPr>
          <a:xfrm>
            <a:off x="594360" y="1051560"/>
            <a:ext cx="7955279" cy="3977639"/>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Commands and Input</a:t>
            </a:r>
            <a:endParaRPr/>
          </a:p>
        </p:txBody>
      </p:sp>
      <p:sp>
        <p:nvSpPr>
          <p:cNvPr id="3" name="Text Placeholder 2"/>
          <p:cNvSpPr>
            <a:spLocks noGrp="1"/>
          </p:cNvSpPr>
          <p:nvPr>
            <p:ph type="body" idx="1"/>
          </p:nvPr>
        </p:nvSpPr>
        <p:spPr>
          <a:xfrm>
            <a:off x="311700" y="885950"/>
            <a:ext cx="8520600" cy="2057400"/>
          </a:xfrm>
        </p:spPr>
        <p:txBody>
          <a:bodyPr/>
          <a:lstStyle/>
          <a:p>
            <a:pPr indent="-330200" lvl="0" marL="457200" rtl="0" algn="l">
              <a:spcBef>
                <a:spcPts val="0"/>
              </a:spcBef>
              <a:spcAft>
                <a:spcPts val="0"/>
              </a:spcAft>
              <a:buSzPts val="1600"/>
              <a:buChar char="●"/>
            </a:pPr>
            <a:r>
              <a:rPr lang="en"/>
              <a:t>Game Programming Patterns starts the chapter with input: each button holds a command</a:t>
            </a:r>
            <a:endParaRPr/>
          </a:p>
          <a:p>
            <a:pPr indent="-330200" lvl="0" marL="457200" rtl="0" algn="l">
              <a:spcBef>
                <a:spcPts val="0"/>
              </a:spcBef>
              <a:spcAft>
                <a:spcPts val="0"/>
              </a:spcAft>
              <a:buSzPts val="1600"/>
              <a:buChar char="●"/>
            </a:pPr>
            <a:r>
              <a:rPr lang="en"/>
              <a:t>Rebinding: give the button a different one</a:t>
            </a:r>
            <a:endParaRPr/>
          </a:p>
          <a:p>
            <a:pPr indent="-330200" lvl="0" marL="457200" rtl="0" algn="l">
              <a:spcBef>
                <a:spcPts val="0"/>
              </a:spcBef>
              <a:spcAft>
                <a:spcPts val="0"/>
              </a:spcAft>
              <a:buSzPts val="1600"/>
              <a:buChar char="●"/>
            </a:pPr>
            <a:r>
              <a:rPr lang="en"/>
              <a:t>Our GameController names actions, but the mapping is code</a:t>
            </a:r>
            <a:endParaRPr/>
          </a:p>
          <a:p>
            <a:pPr indent="-330200" lvl="0" marL="457200" rtl="0" algn="l">
              <a:spcBef>
                <a:spcPts val="0"/>
              </a:spcBef>
              <a:spcAft>
                <a:spcPts val="0"/>
              </a:spcAft>
              <a:buSzPts val="1600"/>
              <a:buChar char="●"/>
            </a:pPr>
            <a:r>
              <a:rPr lang="en"/>
              <a:t>As data (a dictionary), it can change while the game runs</a:t>
            </a:r>
            <a:endParaRPr/>
          </a:p>
          <a:p>
            <a:pPr indent="-330200" lvl="0" marL="457200" rtl="0" algn="l">
              <a:spcBef>
                <a:spcPts val="0"/>
              </a:spcBef>
              <a:spcAft>
                <a:spcPts val="0"/>
              </a:spcAft>
              <a:buSzPts val="1600"/>
              <a:buChar char="●"/>
            </a:pPr>
            <a:r>
              <a:rPr lang="en"/>
              <a:t>Each press still makes a new MoveCommand: each move is undone on its own</a:t>
            </a:r>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Swap Two Keys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Sokoban4, HandleInput:</a:t>
            </a:r>
            <a:endParaRPr/>
          </a:p>
          <a:p>
            <a:pPr indent="-330200" lvl="0" marL="457200" rtl="0" algn="l">
              <a:spcBef>
                <a:spcPts val="0"/>
              </a:spcBef>
              <a:spcAft>
                <a:spcPts val="0"/>
              </a:spcAft>
              <a:buSzPts val="1600"/>
              <a:buChar char="●"/>
            </a:pPr>
            <a:r>
              <a:rPr lang="en"/>
              <a:t>Replace the four move lines with a Keys → direction dictionary</a:t>
            </a:r>
            <a:endParaRPr/>
          </a:p>
          <a:p>
            <a:pPr indent="-330200" lvl="0" marL="457200" rtl="0" algn="l">
              <a:spcBef>
                <a:spcPts val="0"/>
              </a:spcBef>
              <a:spcAft>
                <a:spcPts val="0"/>
              </a:spcAft>
              <a:buSzPts val="1600"/>
              <a:buChar char="●"/>
            </a:pPr>
            <a:r>
              <a:rPr lang="en"/>
              <a:t>Add a key that swaps the up and down bindings while you play</a:t>
            </a:r>
            <a:endParaRPr/>
          </a:p>
          <a:p>
            <a:pPr indent="-330200" lvl="0" marL="457200" rtl="0" algn="l">
              <a:spcBef>
                <a:spcPts val="0"/>
              </a:spcBef>
              <a:spcAft>
                <a:spcPts val="0"/>
              </a:spcAft>
              <a:buSzPts val="1600"/>
              <a:buChar char="●"/>
            </a:pPr>
            <a:r>
              <a:rPr lang="en"/>
              <a:t>What changed, and what didn’t need to know?</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Two more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The Whole Game</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Sokoban4 adds a title screen, seven levels and a restart. The rules did not change.</a:t>
            </a:r>
            <a:endParaRPr/>
          </a:p>
        </p:txBody>
      </p:sp>
      <p:sp>
        <p:nvSpPr>
          <p:cNvPr id="4" name="Rounded Rectangle 3"/>
          <p:cNvSpPr/>
          <p:nvPr/>
        </p:nvSpPr>
        <p:spPr>
          <a:xfrm>
            <a:off x="3429000" y="1481328"/>
            <a:ext cx="2286000" cy="566928"/>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Game1 : Core</a:t>
            </a:r>
          </a:p>
          <a:p>
            <a:pPr algn="ctr"/>
            <a:r>
              <a:rPr sz="1100" b="0">
                <a:solidFill>
                  <a:srgbClr val="9AA3AB"/>
                </a:solidFill>
              </a:rPr>
              <a:t>connects the parts</a:t>
            </a:r>
          </a:p>
        </p:txBody>
      </p:sp>
      <p:sp>
        <p:nvSpPr>
          <p:cNvPr id="5" name="Rounded Rectangle 4"/>
          <p:cNvSpPr/>
          <p:nvPr/>
        </p:nvSpPr>
        <p:spPr>
          <a:xfrm>
            <a:off x="374904" y="2596896"/>
            <a:ext cx="201625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Level</a:t>
            </a:r>
          </a:p>
          <a:p>
            <a:pPr algn="ctr"/>
            <a:r>
              <a:rPr sz="1100" b="0">
                <a:solidFill>
                  <a:srgbClr val="9AA3AB"/>
                </a:solidFill>
              </a:rPr>
              <a:t>state and rules</a:t>
            </a:r>
          </a:p>
        </p:txBody>
      </p:sp>
      <p:cxnSp>
        <p:nvCxnSpPr>
          <p:cNvPr id="6" name="Connector 5"/>
          <p:cNvCxnSpPr/>
          <p:nvPr/>
        </p:nvCxnSpPr>
        <p:spPr>
          <a:xfrm flipH="1">
            <a:off x="1383030" y="2066544"/>
            <a:ext cx="3188970"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500884" y="2596896"/>
            <a:ext cx="201625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LevelView</a:t>
            </a:r>
          </a:p>
          <a:p>
            <a:pPr algn="ctr"/>
            <a:r>
              <a:rPr sz="1100" b="0">
                <a:solidFill>
                  <a:srgbClr val="9AA3AB"/>
                </a:solidFill>
              </a:rPr>
              <a:t>only reads the level</a:t>
            </a:r>
          </a:p>
        </p:txBody>
      </p:sp>
      <p:cxnSp>
        <p:nvCxnSpPr>
          <p:cNvPr id="8" name="Connector 7"/>
          <p:cNvCxnSpPr/>
          <p:nvPr/>
        </p:nvCxnSpPr>
        <p:spPr>
          <a:xfrm flipH="1">
            <a:off x="3509010" y="2066544"/>
            <a:ext cx="1062990"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626864" y="2596896"/>
            <a:ext cx="201625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CommandHistory</a:t>
            </a:r>
          </a:p>
          <a:p>
            <a:pPr algn="ctr"/>
            <a:r>
              <a:rPr sz="1100" b="0">
                <a:solidFill>
                  <a:srgbClr val="9AA3AB"/>
                </a:solidFill>
              </a:rPr>
              <a:t>done and undone</a:t>
            </a:r>
          </a:p>
        </p:txBody>
      </p:sp>
      <p:sp>
        <p:nvSpPr>
          <p:cNvPr id="10" name="Rounded Rectangle 9"/>
          <p:cNvSpPr/>
          <p:nvPr/>
        </p:nvSpPr>
        <p:spPr>
          <a:xfrm>
            <a:off x="4626864" y="3712464"/>
            <a:ext cx="201625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MoveCommand</a:t>
            </a:r>
          </a:p>
          <a:p>
            <a:pPr algn="ctr"/>
            <a:r>
              <a:rPr sz="1100" b="0">
                <a:solidFill>
                  <a:srgbClr val="9AA3AB"/>
                </a:solidFill>
              </a:rPr>
              <a:t>changes the level</a:t>
            </a:r>
          </a:p>
        </p:txBody>
      </p:sp>
      <p:cxnSp>
        <p:nvCxnSpPr>
          <p:cNvPr id="11" name="Connector 10"/>
          <p:cNvCxnSpPr/>
          <p:nvPr/>
        </p:nvCxnSpPr>
        <p:spPr>
          <a:xfrm>
            <a:off x="5634990" y="3182112"/>
            <a:ext cx="0"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572000" y="2066544"/>
            <a:ext cx="1062990"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752844" y="2596896"/>
            <a:ext cx="201625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GameController</a:t>
            </a:r>
          </a:p>
          <a:p>
            <a:pPr algn="ctr"/>
            <a:r>
              <a:rPr sz="1100" b="0">
                <a:solidFill>
                  <a:srgbClr val="9AA3AB"/>
                </a:solidFill>
              </a:rPr>
              <a:t>asked for actions</a:t>
            </a:r>
          </a:p>
        </p:txBody>
      </p:sp>
      <p:cxnSp>
        <p:nvCxnSpPr>
          <p:cNvPr id="14" name="Connector 13"/>
          <p:cNvCxnSpPr/>
          <p:nvPr/>
        </p:nvCxnSpPr>
        <p:spPr>
          <a:xfrm>
            <a:off x="4572000" y="2066544"/>
            <a:ext cx="3188970"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4462272"/>
            <a:ext cx="8229600" cy="365760"/>
          </a:xfrm>
          <a:prstGeom prst="rect">
            <a:avLst/>
          </a:prstGeom>
          <a:noFill/>
        </p:spPr>
        <p:txBody>
          <a:bodyPr wrap="square">
            <a:spAutoFit/>
          </a:bodyPr>
          <a:lstStyle/>
          <a:p>
            <a:pPr algn="ctr"/>
            <a:r>
              <a:rPr sz="1300" b="0" i="0">
                <a:solidFill>
                  <a:srgbClr val="9AA3AB"/>
                </a:solidFill>
              </a:rPr>
              <a:t>The rules, the view and the history never refer to each other.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Summary</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Six concerns, and this session’s answer to each.</a:t>
            </a:r>
            <a:endParaRPr/>
          </a:p>
        </p:txBody>
      </p:sp>
      <p:sp>
        <p:nvSpPr>
          <p:cNvPr id="4" name="Rounded Rectangle 3"/>
          <p:cNvSpPr/>
          <p:nvPr/>
        </p:nvSpPr>
        <p:spPr>
          <a:xfrm>
            <a:off x="548640" y="141732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What a level looks like</a:t>
            </a:r>
          </a:p>
          <a:p>
            <a:pPr algn="ctr"/>
            <a:r>
              <a:rPr sz="1300" b="0">
                <a:solidFill>
                  <a:srgbClr val="9AA3AB"/>
                </a:solidFill>
              </a:rPr>
              <a:t>A text file, a character per cell</a:t>
            </a:r>
          </a:p>
        </p:txBody>
      </p:sp>
      <p:sp>
        <p:nvSpPr>
          <p:cNvPr id="5" name="Rounded Rectangle 4"/>
          <p:cNvSpPr/>
          <p:nvPr/>
        </p:nvSpPr>
        <p:spPr>
          <a:xfrm>
            <a:off x="3291840" y="141732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Rules that can be tested</a:t>
            </a:r>
          </a:p>
          <a:p>
            <a:pPr algn="ctr"/>
            <a:r>
              <a:rPr sz="1300" b="0">
                <a:solidFill>
                  <a:srgbClr val="9AA3AB"/>
                </a:solidFill>
              </a:rPr>
              <a:t>Level, apart from LevelView</a:t>
            </a:r>
          </a:p>
        </p:txBody>
      </p:sp>
      <p:sp>
        <p:nvSpPr>
          <p:cNvPr id="6" name="Rounded Rectangle 5"/>
          <p:cNvSpPr/>
          <p:nvPr/>
        </p:nvSpPr>
        <p:spPr>
          <a:xfrm>
            <a:off x="6035040" y="141732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Checking the rules</a:t>
            </a:r>
          </a:p>
          <a:p>
            <a:pPr algn="ctr"/>
            <a:r>
              <a:rPr sz="1300" b="0">
                <a:solidFill>
                  <a:srgbClr val="9AA3AB"/>
                </a:solidFill>
              </a:rPr>
              <a:t>Unit tests: arrange, act, assert</a:t>
            </a:r>
          </a:p>
        </p:txBody>
      </p:sp>
      <p:sp>
        <p:nvSpPr>
          <p:cNvPr id="7" name="Rounded Rectangle 6"/>
          <p:cNvSpPr/>
          <p:nvPr/>
        </p:nvSpPr>
        <p:spPr>
          <a:xfrm>
            <a:off x="548640" y="246888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move that can be kept</a:t>
            </a:r>
          </a:p>
          <a:p>
            <a:pPr algn="ctr"/>
            <a:r>
              <a:rPr sz="1300" b="0">
                <a:solidFill>
                  <a:srgbClr val="9AA3AB"/>
                </a:solidFill>
              </a:rPr>
              <a:t>Command</a:t>
            </a:r>
          </a:p>
        </p:txBody>
      </p:sp>
      <p:sp>
        <p:nvSpPr>
          <p:cNvPr id="8" name="Rounded Rectangle 7"/>
          <p:cNvSpPr/>
          <p:nvPr/>
        </p:nvSpPr>
        <p:spPr>
          <a:xfrm>
            <a:off x="3291840" y="246888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Undo and redo</a:t>
            </a:r>
          </a:p>
          <a:p>
            <a:pPr algn="ctr"/>
            <a:r>
              <a:rPr sz="1300" b="0">
                <a:solidFill>
                  <a:srgbClr val="9AA3AB"/>
                </a:solidFill>
              </a:rPr>
              <a:t>Two stacks of commands</a:t>
            </a:r>
          </a:p>
        </p:txBody>
      </p:sp>
      <p:sp>
        <p:nvSpPr>
          <p:cNvPr id="9" name="Rounded Rectangle 8"/>
          <p:cNvSpPr/>
          <p:nvPr/>
        </p:nvSpPr>
        <p:spPr>
          <a:xfrm>
            <a:off x="6035040" y="246888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Keys the player can change</a:t>
            </a:r>
          </a:p>
          <a:p>
            <a:pPr algn="ctr"/>
            <a:r>
              <a:rPr sz="1300" b="0">
                <a:solidFill>
                  <a:srgbClr val="9AA3AB"/>
                </a:solidFill>
              </a:rPr>
              <a:t>A table from keys to moves</a:t>
            </a: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