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311" r:id="rId40"/>
    <p:sldId id="257" r:id="rId7"/>
    <p:sldId id="258" r:id="rId8"/>
    <p:sldId id="259" r:id="rId9"/>
    <p:sldId id="297" r:id="rId56"/>
    <p:sldId id="298" r:id="rId57"/>
    <p:sldId id="315" r:id="rId36"/>
    <p:sldId id="299" r:id="rId58"/>
    <p:sldId id="300" r:id="rId59"/>
    <p:sldId id="314" r:id="rId37"/>
    <p:sldId id="301" r:id="rId60"/>
    <p:sldId id="302" r:id="rId61"/>
    <p:sldId id="303" r:id="rId62"/>
    <p:sldId id="304" r:id="rId63"/>
    <p:sldId id="305" r:id="rId64"/>
    <p:sldId id="313" r:id="rId38"/>
    <p:sldId id="269" r:id="rId19"/>
    <p:sldId id="270" r:id="rId20"/>
    <p:sldId id="271" r:id="rId21"/>
    <p:sldId id="272" r:id="rId22"/>
    <p:sldId id="273" r:id="rId23"/>
    <p:sldId id="274" r:id="rId24"/>
    <p:sldId id="275" r:id="rId25"/>
    <p:sldId id="276" r:id="rId26"/>
    <p:sldId id="306" r:id="rId65"/>
    <p:sldId id="312" r:id="rId39"/>
    <p:sldId id="278" r:id="rId28"/>
    <p:sldId id="279" r:id="rId29"/>
    <p:sldId id="307" r:id="rId66"/>
    <p:sldId id="308" r:id="rId67"/>
    <p:sldId id="309" r:id="rId68"/>
    <p:sldId id="280" r:id="rId30"/>
    <p:sldId id="292" r:id="rId42"/>
    <p:sldId id="293" r:id="rId52"/>
    <p:sldId id="310" r:id="rId41"/>
    <p:sldId id="294" r:id="rId53"/>
  </p:sldIdLst>
  <p:sldSz cy="5143500" cx="9144000"/>
  <p:notesSz cx="6858000" cy="9144000"/>
  <p:embeddedFontLst>
    <p:embeddedFont>
      <p:font typeface="Roboto"/>
      <p:regular r:id="rId43"/>
      <p:bold r:id="rId44"/>
      <p:italic r:id="rId45"/>
      <p:boldItalic r:id="rId46"/>
    </p:embeddedFont>
    <p:embeddedFont>
      <p:font typeface="VT323"/>
      <p:regular r:id="rId47"/>
    </p:embeddedFont>
    <p:embeddedFont>
      <p:font typeface="Roboto Light"/>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3.xml"/><Relationship Id="rId36" Type="http://schemas.openxmlformats.org/officeDocument/2006/relationships/slide" Target="slides/slide8.xml"/><Relationship Id="rId37" Type="http://schemas.openxmlformats.org/officeDocument/2006/relationships/slide" Target="slides/slide11.xml"/><Relationship Id="rId38" Type="http://schemas.openxmlformats.org/officeDocument/2006/relationships/slide" Target="slides/slide17.xml"/><Relationship Id="rId39" Type="http://schemas.openxmlformats.org/officeDocument/2006/relationships/slide" Target="slides/slide27.xml"/><Relationship Id="rId40" Type="http://schemas.openxmlformats.org/officeDocument/2006/relationships/slide" Target="slides/slide2.xml"/><Relationship Id="rId41" Type="http://schemas.openxmlformats.org/officeDocument/2006/relationships/slide" Target="slides/slide36.xml"/><Relationship Id="rId42" Type="http://schemas.openxmlformats.org/officeDocument/2006/relationships/slide" Target="slides/slide34.xml"/><Relationship Id="rId43" Type="http://schemas.openxmlformats.org/officeDocument/2006/relationships/font" Target="fonts/Roboto-regular.fntdata"/><Relationship Id="rId44" Type="http://schemas.openxmlformats.org/officeDocument/2006/relationships/font" Target="fonts/Roboto-bold.fntdata"/><Relationship Id="rId45" Type="http://schemas.openxmlformats.org/officeDocument/2006/relationships/font" Target="fonts/Roboto-italic.fntdata"/><Relationship Id="rId46" Type="http://schemas.openxmlformats.org/officeDocument/2006/relationships/font" Target="fonts/Roboto-boldItalic.fntdata"/><Relationship Id="rId47" Type="http://schemas.openxmlformats.org/officeDocument/2006/relationships/font" Target="fonts/VT323-regular.fntdata"/><Relationship Id="rId48" Type="http://schemas.openxmlformats.org/officeDocument/2006/relationships/font" Target="fonts/RobotoLight-regular.fntdata"/><Relationship Id="rId49" Type="http://schemas.openxmlformats.org/officeDocument/2006/relationships/font" Target="fonts/RobotoLight-bold.fntdata"/><Relationship Id="rId50" Type="http://schemas.openxmlformats.org/officeDocument/2006/relationships/font" Target="fonts/RobotoLight-italic.fntdata"/><Relationship Id="rId51" Type="http://schemas.openxmlformats.org/officeDocument/2006/relationships/font" Target="fonts/RobotoLight-boldItalic.fntdata"/><Relationship Id="rId52" Type="http://schemas.openxmlformats.org/officeDocument/2006/relationships/slide" Target="slides/slide35.xml"/><Relationship Id="rId53" Type="http://schemas.openxmlformats.org/officeDocument/2006/relationships/slide" Target="slides/slide37.xml"/><Relationship Id="rId56" Type="http://schemas.openxmlformats.org/officeDocument/2006/relationships/slide" Target="slides/slide6.xml"/><Relationship Id="rId57" Type="http://schemas.openxmlformats.org/officeDocument/2006/relationships/slide" Target="slides/slide7.xml"/><Relationship Id="rId58" Type="http://schemas.openxmlformats.org/officeDocument/2006/relationships/slide" Target="slides/slide9.xml"/><Relationship Id="rId59" Type="http://schemas.openxmlformats.org/officeDocument/2006/relationships/slide" Target="slides/slide10.xml"/><Relationship Id="rId60" Type="http://schemas.openxmlformats.org/officeDocument/2006/relationships/slide" Target="slides/slide12.xml"/><Relationship Id="rId61" Type="http://schemas.openxmlformats.org/officeDocument/2006/relationships/slide" Target="slides/slide13.xml"/><Relationship Id="rId62" Type="http://schemas.openxmlformats.org/officeDocument/2006/relationships/slide" Target="slides/slide14.xml"/><Relationship Id="rId63" Type="http://schemas.openxmlformats.org/officeDocument/2006/relationships/slide" Target="slides/slide15.xml"/><Relationship Id="rId64" Type="http://schemas.openxmlformats.org/officeDocument/2006/relationships/slide" Target="slides/slide16.xml"/><Relationship Id="rId65" Type="http://schemas.openxmlformats.org/officeDocument/2006/relationships/slide" Target="slides/slide26.xml"/><Relationship Id="rId66" Type="http://schemas.openxmlformats.org/officeDocument/2006/relationships/slide" Target="slides/slide30.xml"/><Relationship Id="rId67" Type="http://schemas.openxmlformats.org/officeDocument/2006/relationships/slide" Target="slides/slide31.xml"/><Relationship Id="rId6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Welcome. Today we build Sokoban. The main topic: the Command pattern and undo.</a:t>
            </a:r>
          </a:p>
          <a:p>
            <a:r>
              <a:t>Start by playing the finished game, Sokoban4, before any code.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c8f6ac40e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3c8f6ac40e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Run Sokoban4 and play it for a minute.</a:t>
            </a:r>
          </a:p>
          <a:p>
            <a:r>
              <a:t>Ask: what would you need to build this? Collect answers on the board, and come back to them at the end.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c8f6ac40e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c8f6ac40e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main topic: the Command pattern, and undo. To get there: levels as data, rules apart from drawing, and our first unit tests.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ca5c6b6b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ca5c6b6b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Open gar-games/04-sokoban live. Show the README: the step table, the code map, how to run a step.</a:t>
            </a:r>
          </a:p>
          <a:p>
            <a:r>
              <a:t>Say: the site explains the ideas, the README helps you find them in the code, the slides are for today.</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Looks: LevelView (swap the tile numbers). Rule: Level.IsSolved.</a:t>
            </a:r>
          </a:p>
          <a:p>
            <a:r>
              <a:t>Ask: did either change touch the other class? No; that is the point of the split.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Read the test together: the level is written in the test, one move, three asserts. The name says what it checks.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Tests live in their own project that references the game. xUnit finds and runs them. The game knows nothing about its tests.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open Sokoban0 and Sokoban1 side by side (a diff tool, or two editor panes), then run Sokoban1.</a:t>
            </a:r>
          </a:p>
          <a:p>
            <a:r>
              <a:t>- Level.Move returns what happened: walked, pushed, blocked</a:t>
            </a:r>
          </a:p>
          <a:p>
            <a:r>
              <a:t>- LevelView only reads the level</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run Sokoban0.</a:t>
            </a:r>
          </a:p>
          <a:p>
            <a:r>
              <a:t>- level1.txt drawn character by character</a:t>
            </a:r>
          </a:p>
          <a:p>
            <a:r>
              <a:t>- ask: what is the state of the game here? Only the text.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Sokoban levels have been plain text for decades. Read the level on the right together: where are the box and the goal?</a:t>
            </a:r>
          </a:p>
          <a:p>
            <a:r>
              <a:t>Builder.cs copies .txt files as they are; the game reads them itself.</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one question at a time. Pairs discuss for a minute, then take two or three answers.</a:t>
            </a:r>
          </a:p>
          <a:p>
            <a:r>
              <a:t>Expected answers (from the course site):</a:t>
            </a:r>
          </a:p>
          <a:p/>
          <a:p>
            <a:r>
              <a:t>Q: What does it mean to turn a request into an object, and what does it make possible?</a:t>
            </a:r>
          </a:p>
          <a:p>
            <a:r>
              <a:t>A: Instead of calling a method directly, you create an object that represents the call. It can then be stored, queued, logged, replayed, sent over the network, or undone, because it still exists after it has run.</a:t>
            </a:r>
          </a:p>
          <a:p/>
          <a:p>
            <a:r>
              <a:t>Q: Why does a move command have to remember whether it pushed a box?</a:t>
            </a:r>
          </a:p>
          <a:p>
            <a:r>
              <a:t>A: Undoing a walk only moves the player back. Undoing a push must also move the box back. The level after the move doesn't tell which one happened, so the command must remember it.</a:t>
            </a:r>
          </a:p>
          <a:p/>
          <a:p>
            <a:r>
              <a:t>Q: Why is the redo stack cleared when a new command is executed?</a:t>
            </a:r>
          </a:p>
          <a:p>
            <a:r>
              <a:t>A: The undone commands belong to a different future. After a new move, the state they were made for no longer exists, so redoing them could leave the level in an impossible state.</a:t>
            </a:r>
          </a:p>
          <a:p/>
          <a:p>
            <a:r>
              <a:t>Q: What is a unit test, and what are its three parts?</a:t>
            </a:r>
          </a:p>
          <a:p>
            <a:r>
              <a:t>A: A small piece of code that checks one thing about your code automatically. It arranges a situation, acts (does one thing), and asserts that the result is what it should be.</a:t>
            </a:r>
          </a:p>
          <a:p/>
          <a:p>
            <a:r>
              <a:t>Q: Why can Level be unit-tested, but not code in Game1.Update?</a:t>
            </a:r>
          </a:p>
          <a:p>
            <a:r>
              <a:t>A: Level only depends on its own data, so a test can create one from a string. Game1 needs a window, a graphics device, content and real key presses.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Reverse each command, or restore a snapshot. Ask the question at the bottom: in a big open world, you can’t copy everything; store only what changed.</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the question at the top first: how would you know pushing still works? Playing: slow, and easy to skip a case.</a:t>
            </a:r>
          </a:p>
          <a:p>
            <a:r>
              <a:t>A test checks one thing automatically. Arrange, act, assert. Only possible because Level needs no window.</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5423008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5423008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“Turn a request into an object.” Once a request is an object, you can store it, queue it, log it, undo it.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bd7a28ff6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bd7a28ff6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Each button is hardwired to one action. Ask: how would you let players remap buttons? Or record a replay?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bd7a28ff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bd7a28ff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command is a reified method call: the call, made into an object you can hold on to.</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bd7a28ff6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bd7a28ff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structure: an invoker holds commands and calls Execute; each command knows its receiver.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b190ae9b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b190ae9b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buttons now hold commands. Remapping is assigning a different command.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bd7a28ff6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bd7a28ff6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pattern’s class diagram. Point out the one method every command has.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bd7a28ff6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bd7a28ff6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sequence: the client creates a command, the invoker executes it later.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b190ae9b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b190ae9b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Input, undo and redo: three uses of the same idea. Today we do all three.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Level holds the state and the rules; LevelView draws it and never changes it.</a:t>
            </a:r>
          </a:p>
          <a:p>
            <a:r>
              <a:t>Ask: new art, which class? LevelView. A new rule? Level.</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bd7a28ff6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cbd7a28ff6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Undo: a command also knows how to reverse itself.</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bd7a28ff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bd7a28ff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Two stacks: done and undone.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b92a6f95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b92a6f95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Demo: open Sokoban2 and Sokoban3 side by side (a diff tool, or two editor panes), then run Sokoban3.</a:t>
            </a:r>
          </a:p>
          <a:p>
            <a:r>
              <a:t>- MoveCommand and CommandHistory</a:t>
            </a:r>
          </a:p>
          <a:p>
            <a:r>
              <a:t>- Z and Y in the running game</a:t>
            </a:r>
          </a:p>
          <a:p>
            <a:r>
              <a:t>- then Sokoban4: seven levels, restart, the move counter</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dotnet test in the game folder, or the test explorer. A failure names the rule, the expected and actual values, and the line.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run dotnet test in 04-sokoban. Then break Level.Move on purpose (push the box two cells), run again, and read the failure together. Undo the change.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Sokoban, every move is a MoveCommand. Only moves that change something become commands.</a:t>
            </a:r>
          </a:p>
          <a:p>
            <a:r>
              <a:t>Ask: why keep a list of them? To count moves; and, next, to undo them.</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is moving the player back enough? No: a push must pull the box back too. So the command remembers what happened.</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Walk through Execute and Undo. Ask: why clear the redo stack on a new command? Those undone moves belong to another future.</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Restart as a command: ask what it must remember (the whole level before). Stretch: snapshot undo, and compare.</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Give the project groups five minutes with these questions.</a:t>
            </a:r>
          </a:p>
          <a:p>
            <a:r>
              <a:t>Ask two groups to share one answer each, and push them to name actual classes and files.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original: Sokoban. Ask who has played it, and what they remember of how it plays.</a:t>
            </a:r>
          </a:p>
          <a:p>
            <a:r>
              <a:t>Today we build the parts that matter for the architecture, not the whole game.</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7 minutes. The command already gets the direction; it only has to keep it.</a:t>
            </a:r>
          </a:p>
          <a:p>
            <a:r>
              <a:t>Answer to the question: whether it pushed a box (the MoveResult). That is the next step, undo.</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7 minutes. Everyone should see one test pass and one fail. The failure message names the test, the expected and the actual value, and the line.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bd7a28ff6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bd7a28ff6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Start from Sokoban4. The tests exercises matter most: after the first test in class, everyone should add the two missing cases.</a:t>
            </a:r>
          </a:p>
          <a:p>
            <a:r>
              <a:t>The new level only shows up once LevelCount in Game1 is raised. Ask: why is that constant a smell for levels that are data? The game could count the level files instead.</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Sokoban0 only draws the text, so anything draws.</a:t>
            </a:r>
          </a:p>
          <a:p>
            <a:r>
              <a:t>Answer: exactly one player, as many goals as boxes, walls all round, and every box able to reach a goal.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17500" lvl="1" marL="914400">
              <a:spcBef>
                <a:spcPts val="0"/>
              </a:spcBef>
              <a:spcAft>
                <a:spcPts val="0"/>
              </a:spcAft>
              <a:buSzPts val="14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 name="Google Shape;19;p4"/>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886075"/>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code)">
  <p:cSld name="TITLE_AND_TWO_COLUMNS_1">
    <p:spTree>
      <p:nvGrpSpPr>
        <p:cNvPr id="25" name="Shape 25"/>
        <p:cNvGrpSpPr/>
        <p:nvPr/>
      </p:nvGrpSpPr>
      <p:grpSpPr>
        <a:xfrm>
          <a:off x="0" y="0"/>
          <a:ext cx="0" cy="0"/>
          <a:chOff x="0" y="0"/>
          <a:chExt cx="0" cy="0"/>
        </a:xfrm>
      </p:grpSpPr>
      <p:sp>
        <p:nvSpPr>
          <p:cNvPr id="26" name="Google Shape;26;p6"/>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6"/>
          <p:cNvSpPr txBox="1"/>
          <p:nvPr>
            <p:ph idx="2" type="body"/>
          </p:nvPr>
        </p:nvSpPr>
        <p:spPr>
          <a:xfrm>
            <a:off x="4832400" y="886075"/>
            <a:ext cx="3999900" cy="4023300"/>
          </a:xfrm>
          <a:prstGeom prst="rect">
            <a:avLst/>
          </a:prstGeom>
          <a:solidFill>
            <a:schemeClr val="dk2"/>
          </a:solidFill>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6"/>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7"/>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12529"/>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9561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300"/>
              <a:buFont typeface="VT323"/>
              <a:buNone/>
              <a:defRPr sz="3300">
                <a:solidFill>
                  <a:schemeClr val="accent1"/>
                </a:solidFill>
                <a:latin typeface="VT323"/>
                <a:ea typeface="VT323"/>
                <a:cs typeface="VT323"/>
                <a:sym typeface="VT323"/>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885950"/>
            <a:ext cx="8520600" cy="4023300"/>
          </a:xfrm>
          <a:prstGeom prst="rect">
            <a:avLst/>
          </a:prstGeom>
          <a:noFill/>
          <a:ln>
            <a:noFill/>
          </a:ln>
        </p:spPr>
        <p:txBody>
          <a:bodyPr anchorCtr="0" anchor="t" bIns="91425" lIns="91425" spcFirstLastPara="1" rIns="91425" wrap="square" tIns="91425">
            <a:normAutofit/>
          </a:bodyPr>
          <a:lstStyle>
            <a:lvl1pPr indent="-330200" lvl="0" marL="457200">
              <a:lnSpc>
                <a:spcPct val="115000"/>
              </a:lnSpc>
              <a:spcBef>
                <a:spcPts val="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indent="-317500" lvl="1" marL="914400">
              <a:lnSpc>
                <a:spcPct val="115000"/>
              </a:lnSpc>
              <a:spcBef>
                <a:spcPts val="0"/>
              </a:spcBef>
              <a:spcAft>
                <a:spcPts val="0"/>
              </a:spcAft>
              <a:buClr>
                <a:srgbClr val="6C757D"/>
              </a:buClr>
              <a:buSzPts val="1400"/>
              <a:buFont typeface="Roboto Light"/>
              <a:buChar char="○"/>
              <a:defRPr>
                <a:solidFill>
                  <a:srgbClr val="6C757D"/>
                </a:solidFill>
                <a:latin typeface="Roboto Light"/>
                <a:ea typeface="Roboto Light"/>
                <a:cs typeface="Roboto Light"/>
                <a:sym typeface="Roboto Light"/>
              </a:defRPr>
            </a:lvl2pPr>
            <a:lvl3pPr indent="-304800" lvl="2" marL="1371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3pPr>
            <a:lvl4pPr indent="-304800" lvl="3" marL="1828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4pPr>
            <a:lvl5pPr indent="-304800" lvl="4" marL="22860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5pPr>
            <a:lvl6pPr indent="-304800" lvl="5" marL="27432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6pPr>
            <a:lvl7pPr indent="-304800" lvl="6" marL="32004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7pPr>
            <a:lvl8pPr indent="-304800" lvl="7" marL="3657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8pPr>
            <a:lvl9pPr indent="-304800" lvl="8" marL="4114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9pPr>
          </a:lstStyle>
          <a:p/>
        </p:txBody>
      </p:sp>
      <p:sp>
        <p:nvSpPr>
          <p:cNvPr id="8" name="Google Shape;8;p1"/>
          <p:cNvSpPr txBox="1"/>
          <p:nvPr>
            <p:ph idx="12" type="sldNum"/>
          </p:nvPr>
        </p:nvSpPr>
        <p:spPr>
          <a:xfrm>
            <a:off x="8865675" y="4835575"/>
            <a:ext cx="249900" cy="277800"/>
          </a:xfrm>
          <a:prstGeom prst="rect">
            <a:avLst/>
          </a:prstGeom>
          <a:noFill/>
          <a:ln>
            <a:noFill/>
          </a:ln>
        </p:spPr>
        <p:txBody>
          <a:bodyPr anchorCtr="0" anchor="ctr" bIns="91425" lIns="91425" spcFirstLastPara="1" rIns="91425" wrap="square" tIns="91425">
            <a:normAutofit fontScale="77500" lnSpcReduction="20000"/>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Metamate/gar-games/tree/main/04-sokoba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GAR</a:t>
            </a:r>
            <a:endParaRPr/>
          </a:p>
        </p:txBody>
      </p:sp>
      <p:sp>
        <p:nvSpPr>
          <p:cNvPr id="40" name="Google Shape;40;p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Session 04: Sokoban</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195615"/>
            <a:ext cx="8520600" cy="572700"/>
          </a:xfrm>
        </p:spPr>
        <p:txBody>
          <a:bodyPr/>
          <a:lstStyle/>
          <a:p>
            <a:pPr indent="0" lvl="0" marL="0" rtl="0" algn="l">
              <a:spcBef>
                <a:spcPts val="0"/>
              </a:spcBef>
              <a:spcAft>
                <a:spcPts val="0"/>
              </a:spcAft>
              <a:buNone/>
            </a:pPr>
            <a:r>
              <a:rPr lang="en"/>
              <a:t>Sokoban</a:t>
            </a:r>
            <a:endParaRPr/>
          </a:p>
        </p:txBody>
      </p:sp>
      <p:pic>
        <p:nvPicPr>
          <p:cNvPr id="3" name="Picture 2" descr="sokoban.png"/>
          <p:cNvPicPr>
            <a:picLocks noChangeAspect="1"/>
          </p:cNvPicPr>
          <p:nvPr/>
        </p:nvPicPr>
        <p:blipFill>
          <a:blip r:embed="rId2"/>
          <a:stretch>
            <a:fillRect/>
          </a:stretch>
        </p:blipFill>
        <p:spPr>
          <a:xfrm>
            <a:off x="1652067" y="960120"/>
            <a:ext cx="5839865" cy="3657600"/>
          </a:xfrm>
          <a:prstGeom prst="rect">
            <a:avLst/>
          </a:prstGeom>
        </p:spPr>
      </p:pic>
      <p:sp>
        <p:nvSpPr>
          <p:cNvPr id="4" name="TextBox 3"/>
          <p:cNvSpPr txBox="1"/>
          <p:nvPr/>
        </p:nvSpPr>
        <p:spPr>
          <a:xfrm>
            <a:off x="457200" y="4736592"/>
            <a:ext cx="8229600" cy="274320"/>
          </a:xfrm>
          <a:prstGeom prst="rect">
            <a:avLst/>
          </a:prstGeom>
          <a:noFill/>
        </p:spPr>
        <p:txBody>
          <a:bodyPr wrap="square">
            <a:spAutoFit/>
          </a:bodyPr>
          <a:lstStyle/>
          <a:p>
            <a:pPr algn="ctr"/>
            <a:r>
              <a:rPr sz="900" b="0" i="0">
                <a:solidFill>
                  <a:srgbClr val="9AA3AB"/>
                </a:solidFill>
              </a:rPr>
              <a:t>Sokoban (Thinking Rabbit, 1982). Screenshot © Thinking Rabbit.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Goal</a:t>
            </a:r>
            <a:endParaRPr/>
          </a:p>
        </p:txBody>
      </p:sp>
      <p:pic>
        <p:nvPicPr>
          <p:cNvPr id="46" name="Picture 46" descr="gif-sokoban.gif"/>
          <p:cNvPicPr>
            <a:picLocks noChangeAspect="1"/>
          </p:cNvPicPr>
          <p:nvPr/>
        </p:nvPicPr>
        <p:blipFill>
          <a:blip r:embed="rId3"/>
          <a:stretch>
            <a:fillRect/>
          </a:stretch>
        </p:blipFill>
        <p:spPr>
          <a:xfrm>
            <a:off x="1677202" y="1531275"/>
            <a:ext cx="5789596" cy="32566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Topics</a:t>
            </a:r>
            <a:endParaRPr/>
          </a:p>
        </p:txBody>
      </p:sp>
      <p:sp>
        <p:nvSpPr>
          <p:cNvPr id="52" name="Google Shape;52;p11"/>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Levels as Data</a:t>
            </a:r>
            <a:endParaRPr/>
          </a:p>
          <a:p>
            <a:pPr indent="-330200" lvl="0" marL="457200" rtl="0" algn="l">
              <a:spcBef>
                <a:spcPts val="0"/>
              </a:spcBef>
              <a:spcAft>
                <a:spcPts val="0"/>
              </a:spcAft>
              <a:buSzPts val="1600"/>
              <a:buChar char="●"/>
            </a:pPr>
            <a:r>
              <a:rPr lang="en"/>
              <a:t>Rules Apart From Drawing</a:t>
            </a:r>
            <a:endParaRPr/>
          </a:p>
          <a:p>
            <a:pPr indent="-330200" lvl="0" marL="457200" rtl="0" algn="l">
              <a:spcBef>
                <a:spcPts val="0"/>
              </a:spcBef>
              <a:spcAft>
                <a:spcPts val="0"/>
              </a:spcAft>
              <a:buSzPts val="1600"/>
              <a:buChar char="●"/>
            </a:pPr>
            <a:r>
              <a:rPr lang="en"/>
              <a:t>Unit Tests</a:t>
            </a:r>
            <a:endParaRPr/>
          </a:p>
          <a:p>
            <a:pPr indent="-330200" lvl="0" marL="457200" rtl="0" algn="l">
              <a:spcBef>
                <a:spcPts val="0"/>
              </a:spcBef>
              <a:spcAft>
                <a:spcPts val="0"/>
              </a:spcAft>
              <a:buSzPts val="1600"/>
              <a:buChar char="●"/>
            </a:pPr>
            <a:r>
              <a:rPr lang="en"/>
              <a:t>Command Pattern</a:t>
            </a:r>
            <a:endParaRPr/>
          </a:p>
          <a:p>
            <a:pPr indent="-330200" lvl="0" marL="457200" rtl="0" algn="l">
              <a:spcBef>
                <a:spcPts val="0"/>
              </a:spcBef>
              <a:spcAft>
                <a:spcPts val="0"/>
              </a:spcAft>
              <a:buSzPts val="1600"/>
              <a:buChar char="●"/>
            </a:pPr>
            <a:r>
              <a:rPr lang="en"/>
              <a:t>Undo &amp; Redo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 Code</a:t>
            </a:r>
            <a:endParaRPr/>
          </a:p>
        </p:txBody>
      </p:sp>
      <p:sp>
        <p:nvSpPr>
          <p:cNvPr id="58" name="Google Shape;58;p12"/>
          <p:cNvSpPr txBox="1"/>
          <p:nvPr>
            <p:ph idx="1" type="body"/>
          </p:nvPr>
        </p:nvSpPr>
        <p:spPr>
          <a:xfrm>
            <a:off x="311700" y="885950"/>
            <a:ext cx="8520600" cy="1289304"/>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github.com/Metamate/gar-games, folder 04-sokoban</a:t>
            </a:r>
            <a:endParaRPr/>
          </a:p>
          <a:p>
            <a:pPr indent="-330200" lvl="0" marL="457200" rtl="0" algn="l">
              <a:spcBef>
                <a:spcPts val="0"/>
              </a:spcBef>
              <a:spcAft>
                <a:spcPts val="0"/>
              </a:spcAft>
              <a:buSzPts val="1600"/>
              <a:buChar char="●"/>
            </a:pPr>
            <a:r>
              <a:rPr lang="en"/>
              <a:t>Its README: the steps (Sokoban0 to Sokoban4, and Sokoban.Tests), where things are in the code, how to run it</a:t>
            </a:r>
            <a:endParaRPr/>
          </a:p>
          <a:p>
            <a:pPr indent="-330200" lvl="0" marL="457200" rtl="0" algn="l">
              <a:spcBef>
                <a:spcPts val="0"/>
              </a:spcBef>
              <a:spcAft>
                <a:spcPts val="0"/>
              </a:spcAft>
              <a:buSzPts val="1600"/>
              <a:buChar char="●"/>
            </a:pPr>
            <a:r>
              <a:rPr lang="en"/>
              <a:t>The course site: today’s concepts in full, the exercises, and questions to check yourself</a:t>
            </a:r>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Levels as Data</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Sokoban levels have been text for decades</a:t>
            </a:r>
            <a:endParaRPr/>
          </a:p>
          <a:p>
            <a:pPr indent="-317500" lvl="1" marL="914400" rtl="0" algn="l">
              <a:buClr>
                <a:srgbClr val="6C757D"/>
              </a:buClr>
              <a:spcBef>
                <a:spcPts val="0"/>
              </a:spcBef>
              <a:spcAft>
                <a:spcPts val="0"/>
              </a:spcAft>
              <a:buSzPts val="1400"/>
              <a:buChar char="○"/>
            </a:pPr>
            <a:r>
              <a:rPr lang="en" sz="1400">
                <a:solidFill>
                  <a:srgbClr val="6C757D"/>
                </a:solidFill>
              </a:rPr>
              <a:t># wall   $ box   . goal   @ player</a:t>
            </a:r>
            <a:endParaRPr/>
          </a:p>
          <a:p>
            <a:pPr indent="-317500" lvl="1" marL="914400" rtl="0" algn="l">
              <a:buClr>
                <a:srgbClr val="6C757D"/>
              </a:buClr>
              <a:spcBef>
                <a:spcPts val="0"/>
              </a:spcBef>
              <a:spcAft>
                <a:spcPts val="0"/>
              </a:spcAft>
              <a:buSzPts val="1400"/>
              <a:buChar char="○"/>
            </a:pPr>
            <a:r>
              <a:rPr lang="en" sz="1400">
                <a:solidFill>
                  <a:srgbClr val="6C757D"/>
                </a:solidFill>
              </a:rPr>
              <a:t>* box on a goal   + player on a goal</a:t>
            </a:r>
            <a:endParaRPr/>
          </a:p>
          <a:p>
            <a:pPr indent="-330200" lvl="0" marL="457200" rtl="0" algn="l">
              <a:buClr>
                <a:srgbClr val="DEE2E6"/>
              </a:buClr>
              <a:spcBef>
                <a:spcPts val="0"/>
              </a:spcBef>
              <a:spcAft>
                <a:spcPts val="0"/>
              </a:spcAft>
              <a:buSzPts val="1600"/>
              <a:buChar char="●"/>
            </a:pPr>
            <a:r>
              <a:rPr lang="en" sz="1600">
                <a:solidFill>
                  <a:srgbClr val="DEE2E6"/>
                </a:solidFill>
              </a:rPr>
              <a:t>Small, readable, easy to edit</a:t>
            </a:r>
            <a:endParaRPr/>
          </a:p>
          <a:p>
            <a:pPr indent="-330200" lvl="0" marL="457200" rtl="0" algn="l">
              <a:buClr>
                <a:srgbClr val="DEE2E6"/>
              </a:buClr>
              <a:spcBef>
                <a:spcPts val="0"/>
              </a:spcBef>
              <a:spcAft>
                <a:spcPts val="0"/>
              </a:spcAft>
              <a:buSzPts val="1600"/>
              <a:buChar char="●"/>
            </a:pPr>
            <a:r>
              <a:rPr lang="en" sz="1600">
                <a:solidFill>
                  <a:srgbClr val="DEE2E6"/>
                </a:solidFill>
              </a:rPr>
              <a:t>Copied as they are, and read by our own code</a:t>
            </a:r>
            <a:endParaRPr/>
          </a:p>
          <a:p>
            <a:pPr indent="-330200" lvl="0" marL="457200" rtl="0" algn="l">
              <a:buClr>
                <a:srgbClr val="DEE2E6"/>
              </a:buClr>
              <a:spcBef>
                <a:spcPts val="0"/>
              </a:spcBef>
              <a:spcAft>
                <a:spcPts val="0"/>
              </a:spcAft>
              <a:buSzPts val="1600"/>
              <a:buChar char="●"/>
            </a:pPr>
            <a:r>
              <a:rPr lang="en" sz="1600">
                <a:solidFill>
                  <a:srgbClr val="DEE2E6"/>
                </a:solidFill>
              </a:rPr>
              <a:t>Sokoban0 draws the text directly</a:t>
            </a:r>
            <a:endParaRPr/>
          </a:p>
          <a:p>
            <a:pPr indent="-317500" lvl="1" marL="914400" rtl="0" algn="l">
              <a:buClr>
                <a:srgbClr val="6C757D"/>
              </a:buClr>
              <a:spcBef>
                <a:spcPts val="0"/>
              </a:spcBef>
              <a:spcAft>
                <a:spcPts val="0"/>
              </a:spcAft>
              <a:buSzPts val="1400"/>
              <a:buChar char="○"/>
            </a:pPr>
            <a:r>
              <a:rPr lang="en" sz="1400">
                <a:solidFill>
                  <a:srgbClr val="6C757D"/>
                </a:solidFill>
              </a:rPr>
              <a:t>But then the text is the only state</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level1.txt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Builder.cs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content.IncludeCopy&lt;WildcardRule&gt;("*.txt");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Game1.cs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using Stream stream = TitleContainer.OpenStream(</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Path.Combine(Content.RootDirectory,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"levels/level1.txt"));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Levels as Data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Sokoban0: a level file, drawn character by character</a:t>
            </a:r>
            <a:endParaRPr sz="18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A Level in Text</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level1.txt:</a:t>
            </a:r>
            <a:endParaRPr/>
          </a:p>
          <a:p>
            <a:pPr indent="-330200" lvl="0" marL="457200" rtl="0" algn="l">
              <a:spcBef>
                <a:spcPts val="0"/>
              </a:spcBef>
              <a:spcAft>
                <a:spcPts val="0"/>
              </a:spcAft>
              <a:buSzPts val="1600"/>
              <a:buChar char="●"/>
            </a:pPr>
            <a:r>
              <a:rPr lang="en"/>
              <a:t>Add a second box, a second goal, and a wall in the middle</a:t>
            </a:r>
            <a:endParaRPr/>
          </a:p>
          <a:p>
            <a:pPr indent="-330200" lvl="0" marL="457200" rtl="0" algn="l">
              <a:spcBef>
                <a:spcPts val="0"/>
              </a:spcBef>
              <a:spcAft>
                <a:spcPts val="0"/>
              </a:spcAft>
              <a:buSzPts val="1600"/>
              <a:buChar char="●"/>
            </a:pPr>
            <a:r>
              <a:rPr lang="en"/>
              <a:t>What must be true for a level to be playable?</a:t>
            </a:r>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Rules Apart From Drawing</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Level: the state and the rules</a:t>
            </a:r>
            <a:endParaRPr/>
          </a:p>
          <a:p>
            <a:pPr indent="-317500" lvl="1" marL="914400" rtl="0" algn="l">
              <a:buClr>
                <a:srgbClr val="6C757D"/>
              </a:buClr>
              <a:spcBef>
                <a:spcPts val="0"/>
              </a:spcBef>
              <a:spcAft>
                <a:spcPts val="0"/>
              </a:spcAft>
              <a:buSzPts val="1400"/>
              <a:buChar char="○"/>
            </a:pPr>
            <a:r>
              <a:rPr lang="en" sz="1400">
                <a:solidFill>
                  <a:srgbClr val="6C757D"/>
                </a:solidFill>
              </a:rPr>
              <a:t>Walls, goals, boxes, the player</a:t>
            </a:r>
            <a:endParaRPr/>
          </a:p>
          <a:p>
            <a:pPr indent="-317500" lvl="1" marL="914400" rtl="0" algn="l">
              <a:buClr>
                <a:srgbClr val="6C757D"/>
              </a:buClr>
              <a:spcBef>
                <a:spcPts val="0"/>
              </a:spcBef>
              <a:spcAft>
                <a:spcPts val="0"/>
              </a:spcAft>
              <a:buSzPts val="1400"/>
              <a:buChar char="○"/>
            </a:pPr>
            <a:r>
              <a:rPr lang="en" sz="1400">
                <a:solidFill>
                  <a:srgbClr val="6C757D"/>
                </a:solidFill>
              </a:rPr>
              <a:t>No textures, no keys, no screen</a:t>
            </a:r>
            <a:endParaRPr/>
          </a:p>
          <a:p>
            <a:pPr indent="-330200" lvl="0" marL="457200" rtl="0" algn="l">
              <a:buClr>
                <a:srgbClr val="DEE2E6"/>
              </a:buClr>
              <a:spcBef>
                <a:spcPts val="0"/>
              </a:spcBef>
              <a:spcAft>
                <a:spcPts val="0"/>
              </a:spcAft>
              <a:buSzPts val="1600"/>
              <a:buChar char="●"/>
            </a:pPr>
            <a:r>
              <a:rPr lang="en" sz="1600">
                <a:solidFill>
                  <a:srgbClr val="DEE2E6"/>
                </a:solidFill>
              </a:rPr>
              <a:t>LevelView: draws a level, never changes it</a:t>
            </a:r>
            <a:endParaRPr/>
          </a:p>
          <a:p>
            <a:pPr indent="-317500" lvl="1" marL="914400" rtl="0" algn="l">
              <a:buClr>
                <a:srgbClr val="6C757D"/>
              </a:buClr>
              <a:spcBef>
                <a:spcPts val="0"/>
              </a:spcBef>
              <a:spcAft>
                <a:spcPts val="0"/>
              </a:spcAft>
              <a:buSzPts val="1400"/>
              <a:buChar char="○"/>
            </a:pPr>
            <a:r>
              <a:rPr lang="en" sz="1400">
                <a:solidFill>
                  <a:srgbClr val="6C757D"/>
                </a:solidFill>
              </a:rPr>
              <a:t>Which way the player faces is only drawing</a:t>
            </a:r>
            <a:endParaRPr/>
          </a:p>
          <a:p>
            <a:pPr indent="-330200" lvl="0" marL="457200" rtl="0" algn="l">
              <a:buClr>
                <a:srgbClr val="DEE2E6"/>
              </a:buClr>
              <a:spcBef>
                <a:spcPts val="0"/>
              </a:spcBef>
              <a:spcAft>
                <a:spcPts val="0"/>
              </a:spcAft>
              <a:buSzPts val="1600"/>
              <a:buChar char="●"/>
            </a:pPr>
            <a:r>
              <a:rPr lang="en" sz="1600">
                <a:solidFill>
                  <a:srgbClr val="DEE2E6"/>
                </a:solidFill>
              </a:rPr>
              <a:t>Each part changes on its own</a:t>
            </a:r>
            <a:endParaRPr/>
          </a:p>
          <a:p>
            <a:pPr indent="-317500" lvl="1" marL="914400" rtl="0" algn="l">
              <a:buClr>
                <a:srgbClr val="6C757D"/>
              </a:buClr>
              <a:spcBef>
                <a:spcPts val="0"/>
              </a:spcBef>
              <a:spcAft>
                <a:spcPts val="0"/>
              </a:spcAft>
              <a:buSzPts val="1400"/>
              <a:buChar char="○"/>
            </a:pPr>
            <a:r>
              <a:rPr lang="en" sz="1400">
                <a:solidFill>
                  <a:srgbClr val="6C757D"/>
                </a:solidFill>
              </a:rPr>
              <a:t>New art: LevelView. New rule: Level</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MoveResult Move(Point 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if (!CanMove(direction))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return MoveResult.Blocked;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Player += 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if (HasBox(Player))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_boxes.Remove(Player);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_boxes.Add(Player + 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return MoveResult.Pushed;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return MoveResult.Walked;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bool IsSolved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_boxes.All(_goals.Contains);</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Rules Apart From Drawing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Sokoban0 → Sokoban1: Level and LevelView</a:t>
            </a:r>
            <a:endParaRPr sz="18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Rules or Drawing?</a:t>
            </a:r>
            <a:endParaRPr/>
          </a:p>
        </p:txBody>
      </p:sp>
      <p:sp>
        <p:nvSpPr>
          <p:cNvPr id="3" name="Text Placeholder 2"/>
          <p:cNvSpPr>
            <a:spLocks noGrp="1"/>
          </p:cNvSpPr>
          <p:nvPr>
            <p:ph type="body" idx="1"/>
          </p:nvPr>
        </p:nvSpPr>
        <p:spPr>
          <a:xfrm>
            <a:off x="311700" y="885950"/>
            <a:ext cx="8520600" cy="1673352"/>
          </a:xfrm>
        </p:spPr>
        <p:txBody>
          <a:bodyPr/>
          <a:lstStyle/>
          <a:p>
            <a:pPr indent="-330200" lvl="0" marL="457200" rtl="0" algn="l">
              <a:spcBef>
                <a:spcPts val="0"/>
              </a:spcBef>
              <a:spcAft>
                <a:spcPts val="0"/>
              </a:spcAft>
              <a:buSzPts val="1600"/>
              <a:buChar char="●"/>
            </a:pPr>
            <a:r>
              <a:rPr lang="en"/>
              <a:t>In Sokoban1:</a:t>
            </a:r>
            <a:endParaRPr/>
          </a:p>
          <a:p>
            <a:pPr indent="-330200" lvl="0" marL="457200" rtl="0" algn="l">
              <a:spcBef>
                <a:spcPts val="0"/>
              </a:spcBef>
              <a:spcAft>
                <a:spcPts val="0"/>
              </a:spcAft>
              <a:buSzPts val="1600"/>
              <a:buChar char="●"/>
            </a:pPr>
            <a:r>
              <a:rPr lang="en"/>
              <a:t>Make the walls look like floor</a:t>
            </a:r>
            <a:endParaRPr/>
          </a:p>
          <a:p>
            <a:pPr indent="-330200" lvl="0" marL="457200" rtl="0" algn="l">
              <a:spcBef>
                <a:spcPts val="0"/>
              </a:spcBef>
              <a:spcAft>
                <a:spcPts val="0"/>
              </a:spcAft>
              <a:buSzPts val="1600"/>
              <a:buChar char="●"/>
            </a:pPr>
            <a:r>
              <a:rPr lang="en"/>
              <a:t>Make a level solved when all boxes but one are on goals</a:t>
            </a:r>
            <a:endParaRPr/>
          </a:p>
          <a:p>
            <a:pPr indent="-330200" lvl="0" marL="457200" rtl="0" algn="l">
              <a:spcBef>
                <a:spcPts val="0"/>
              </a:spcBef>
              <a:spcAft>
                <a:spcPts val="0"/>
              </a:spcAft>
              <a:buSzPts val="1600"/>
              <a:buChar char="●"/>
            </a:pPr>
            <a:r>
              <a:rPr lang="en"/>
              <a:t>Which class did each change need?</a:t>
            </a:r>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Unit Tests</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You change Level.Move. How do you know pushing still works?</a:t>
            </a:r>
            <a:endParaRPr/>
          </a:p>
        </p:txBody>
      </p:sp>
      <p:sp>
        <p:nvSpPr>
          <p:cNvPr id="295" name="Rounded Rectangle 294"/>
          <p:cNvSpPr/>
          <p:nvPr/>
        </p:nvSpPr>
        <p:spPr>
          <a:xfrm>
            <a:off x="548640" y="1417320"/>
            <a:ext cx="3749039" cy="114300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By playing</a:t>
            </a:r>
          </a:p>
          <a:p>
            <a:pPr algn="ctr"/>
            <a:r>
              <a:rPr sz="1400" b="0">
                <a:solidFill>
                  <a:srgbClr val="9AA3AB"/>
                </a:solidFill>
              </a:rPr>
              <a:t>slow, easy to skip a case,</a:t>
            </a:r>
          </a:p>
          <a:p>
            <a:pPr algn="ctr"/>
            <a:r>
              <a:rPr sz="1400" b="0">
                <a:solidFill>
                  <a:srgbClr val="9AA3AB"/>
                </a:solidFill>
              </a:rPr>
              <a:t>and again after every change</a:t>
            </a:r>
          </a:p>
        </p:txBody>
      </p:sp>
      <p:sp>
        <p:nvSpPr>
          <p:cNvPr id="296" name="Rounded Rectangle 295"/>
          <p:cNvSpPr/>
          <p:nvPr/>
        </p:nvSpPr>
        <p:spPr>
          <a:xfrm>
            <a:off x="4846320" y="1417320"/>
            <a:ext cx="3749039" cy="114300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A unit test</a:t>
            </a:r>
          </a:p>
          <a:p>
            <a:pPr algn="ctr"/>
            <a:r>
              <a:rPr sz="1400" b="0">
                <a:solidFill>
                  <a:srgbClr val="9AA3AB"/>
                </a:solidFill>
              </a:rPr>
              <a:t>checks one thing, automatically;</a:t>
            </a:r>
          </a:p>
          <a:p>
            <a:pPr algn="ctr"/>
            <a:r>
              <a:rPr sz="1400" b="0">
                <a:solidFill>
                  <a:srgbClr val="9AA3AB"/>
                </a:solidFill>
              </a:rPr>
              <a:t>hundreds run in a second</a:t>
            </a:r>
          </a:p>
        </p:txBody>
      </p:sp>
      <p:sp>
        <p:nvSpPr>
          <p:cNvPr id="297" name="Rounded Rectangle 296"/>
          <p:cNvSpPr/>
          <p:nvPr/>
        </p:nvSpPr>
        <p:spPr>
          <a:xfrm>
            <a:off x="1280160" y="2926080"/>
            <a:ext cx="2011680" cy="7772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Arrange</a:t>
            </a:r>
          </a:p>
          <a:p>
            <a:pPr algn="ctr"/>
            <a:r>
              <a:rPr sz="1300" b="0">
                <a:solidFill>
                  <a:srgbClr val="9AA3AB"/>
                </a:solidFill>
              </a:rPr>
              <a:t>set up a level</a:t>
            </a:r>
          </a:p>
        </p:txBody>
      </p:sp>
      <p:cxnSp>
        <p:nvCxnSpPr>
          <p:cNvPr id="298" name="Connector 297"/>
          <p:cNvCxnSpPr/>
          <p:nvPr/>
        </p:nvCxnSpPr>
        <p:spPr>
          <a:xfrm>
            <a:off x="3310128" y="331470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3566160" y="2926080"/>
            <a:ext cx="2011680" cy="7772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Act</a:t>
            </a:r>
          </a:p>
          <a:p>
            <a:pPr algn="ctr"/>
            <a:r>
              <a:rPr sz="1300" b="0">
                <a:solidFill>
                  <a:srgbClr val="9AA3AB"/>
                </a:solidFill>
              </a:rPr>
              <a:t>do one thing</a:t>
            </a:r>
          </a:p>
        </p:txBody>
      </p:sp>
      <p:cxnSp>
        <p:nvCxnSpPr>
          <p:cNvPr id="300" name="Connector 299"/>
          <p:cNvCxnSpPr/>
          <p:nvPr/>
        </p:nvCxnSpPr>
        <p:spPr>
          <a:xfrm>
            <a:off x="5596127" y="3314700"/>
            <a:ext cx="237745"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301" name="Rounded Rectangle 300"/>
          <p:cNvSpPr/>
          <p:nvPr/>
        </p:nvSpPr>
        <p:spPr>
          <a:xfrm>
            <a:off x="5852160" y="2926080"/>
            <a:ext cx="2011680" cy="7772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Assert</a:t>
            </a:r>
          </a:p>
          <a:p>
            <a:pPr algn="ctr"/>
            <a:r>
              <a:rPr sz="1300" b="0">
                <a:solidFill>
                  <a:srgbClr val="9AA3AB"/>
                </a:solidFill>
              </a:rPr>
              <a:t>check the result</a:t>
            </a:r>
          </a:p>
        </p:txBody>
      </p:sp>
      <p:sp>
        <p:nvSpPr>
          <p:cNvPr id="302" name="TextBox 301"/>
          <p:cNvSpPr txBox="1"/>
          <p:nvPr/>
        </p:nvSpPr>
        <p:spPr>
          <a:xfrm>
            <a:off x="548640" y="3840480"/>
            <a:ext cx="8046720" cy="365760"/>
          </a:xfrm>
          <a:prstGeom prst="rect">
            <a:avLst/>
          </a:prstGeom>
          <a:noFill/>
        </p:spPr>
        <p:txBody>
          <a:bodyPr wrap="square">
            <a:spAutoFit/>
          </a:bodyPr>
          <a:lstStyle/>
          <a:p>
            <a:pPr algn="ctr"/>
            <a:r>
              <a:rPr sz="1300" b="0" i="0">
                <a:solidFill>
                  <a:srgbClr val="9AA3AB"/>
                </a:solidFill>
              </a:rPr>
              <a:t>Possible only because Level needs no window, graphics or keys.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Test Project</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Tests live in their own project</a:t>
            </a:r>
            <a:endParaRPr/>
          </a:p>
          <a:p>
            <a:pPr indent="-317500" lvl="1" marL="914400" rtl="0" algn="l">
              <a:buClr>
                <a:srgbClr val="6C757D"/>
              </a:buClr>
              <a:spcBef>
                <a:spcPts val="0"/>
              </a:spcBef>
              <a:spcAft>
                <a:spcPts val="0"/>
              </a:spcAft>
              <a:buSzPts val="1400"/>
              <a:buChar char="○"/>
            </a:pPr>
            <a:r>
              <a:rPr lang="en" sz="1400">
                <a:solidFill>
                  <a:srgbClr val="6C757D"/>
                </a:solidFill>
              </a:rPr>
              <a:t>Sokoban.Tests, next to the game</a:t>
            </a:r>
            <a:endParaRPr/>
          </a:p>
          <a:p>
            <a:pPr indent="-317500" lvl="1" marL="914400" rtl="0" algn="l">
              <a:buClr>
                <a:srgbClr val="6C757D"/>
              </a:buClr>
              <a:spcBef>
                <a:spcPts val="0"/>
              </a:spcBef>
              <a:spcAft>
                <a:spcPts val="0"/>
              </a:spcAft>
              <a:buSzPts val="1400"/>
              <a:buChar char="○"/>
            </a:pPr>
            <a:r>
              <a:rPr lang="en" sz="1400">
                <a:solidFill>
                  <a:srgbClr val="6C757D"/>
                </a:solidFill>
              </a:rPr>
              <a:t>It references the game project</a:t>
            </a:r>
            <a:endParaRPr/>
          </a:p>
          <a:p>
            <a:pPr indent="-330200" lvl="0" marL="457200" rtl="0" algn="l">
              <a:buClr>
                <a:srgbClr val="DEE2E6"/>
              </a:buClr>
              <a:spcBef>
                <a:spcPts val="0"/>
              </a:spcBef>
              <a:spcAft>
                <a:spcPts val="0"/>
              </a:spcAft>
              <a:buSzPts val="1600"/>
              <a:buChar char="●"/>
            </a:pPr>
            <a:r>
              <a:rPr lang="en" sz="1600">
                <a:solidFill>
                  <a:srgbClr val="DEE2E6"/>
                </a:solidFill>
              </a:rPr>
              <a:t>xUnit: a test framework</a:t>
            </a:r>
            <a:endParaRPr/>
          </a:p>
          <a:p>
            <a:pPr indent="-317500" lvl="1" marL="914400" rtl="0" algn="l">
              <a:buClr>
                <a:srgbClr val="6C757D"/>
              </a:buClr>
              <a:spcBef>
                <a:spcPts val="0"/>
              </a:spcBef>
              <a:spcAft>
                <a:spcPts val="0"/>
              </a:spcAft>
              <a:buSzPts val="1400"/>
              <a:buChar char="○"/>
            </a:pPr>
            <a:r>
              <a:rPr lang="en" sz="1400">
                <a:solidFill>
                  <a:srgbClr val="6C757D"/>
                </a:solidFill>
              </a:rPr>
              <a:t>Finds the tests, runs them, reports</a:t>
            </a:r>
            <a:endParaRPr/>
          </a:p>
          <a:p>
            <a:pPr indent="-330200" lvl="0" marL="457200" rtl="0" algn="l">
              <a:buClr>
                <a:srgbClr val="DEE2E6"/>
              </a:buClr>
              <a:spcBef>
                <a:spcPts val="0"/>
              </a:spcBef>
              <a:spcAft>
                <a:spcPts val="0"/>
              </a:spcAft>
              <a:buSzPts val="1600"/>
              <a:buChar char="●"/>
            </a:pPr>
            <a:r>
              <a:rPr lang="en" sz="1600">
                <a:solidFill>
                  <a:srgbClr val="DEE2E6"/>
                </a:solidFill>
              </a:rPr>
              <a:t>The game knows nothing about its tests</a:t>
            </a:r>
            <a:endParaRPr/>
          </a:p>
          <a:p>
            <a:pPr indent="-317500" lvl="1" marL="914400" rtl="0" algn="l">
              <a:buClr>
                <a:srgbClr val="6C757D"/>
              </a:buClr>
              <a:spcBef>
                <a:spcPts val="0"/>
              </a:spcBef>
              <a:spcAft>
                <a:spcPts val="0"/>
              </a:spcAft>
              <a:buSzPts val="1400"/>
              <a:buChar char="○"/>
            </a:pPr>
            <a:r>
              <a:rPr lang="en" sz="1400">
                <a:solidFill>
                  <a:srgbClr val="6C757D"/>
                </a:solidFill>
              </a:rPr>
              <a:t>They never ship with the game</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&lt;!-- Sokoban.Tests.csproj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&lt;ItemGroup&gt;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&lt;PackageReference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Include="Microsoft.NET.Test.Sdk"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&lt;PackageReference Include="xunit"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&lt;PackageReference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Include="xunit.runner.visualstudio"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&lt;/ItemGroup&gt;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&lt;ItemGroup&gt;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&lt;ProjectReference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Include="..\Sokoban4\Sokoban4.csproj"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&lt;/ItemGroup&gt;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Anatomy of a Test</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[Fact] marks a method as a test</a:t>
            </a:r>
            <a:endParaRPr/>
          </a:p>
          <a:p>
            <a:pPr indent="-330200" lvl="0" marL="457200" rtl="0" algn="l">
              <a:buClr>
                <a:srgbClr val="DEE2E6"/>
              </a:buClr>
              <a:spcBef>
                <a:spcPts val="0"/>
              </a:spcBef>
              <a:spcAft>
                <a:spcPts val="0"/>
              </a:spcAft>
              <a:buSzPts val="1600"/>
              <a:buChar char="●"/>
            </a:pPr>
            <a:r>
              <a:rPr lang="en" sz="1600">
                <a:solidFill>
                  <a:srgbClr val="DEE2E6"/>
                </a:solidFill>
              </a:rPr>
              <a:t>The name says what it checks</a:t>
            </a:r>
            <a:endParaRPr/>
          </a:p>
          <a:p>
            <a:pPr indent="-317500" lvl="1" marL="914400" rtl="0" algn="l">
              <a:buClr>
                <a:srgbClr val="6C757D"/>
              </a:buClr>
              <a:spcBef>
                <a:spcPts val="0"/>
              </a:spcBef>
              <a:spcAft>
                <a:spcPts val="0"/>
              </a:spcAft>
              <a:buSzPts val="1400"/>
              <a:buChar char="○"/>
            </a:pPr>
            <a:r>
              <a:rPr lang="en" sz="1400">
                <a:solidFill>
                  <a:srgbClr val="6C757D"/>
                </a:solidFill>
              </a:rPr>
              <a:t>The first thing you see when it fails</a:t>
            </a:r>
            <a:endParaRPr/>
          </a:p>
          <a:p>
            <a:pPr indent="-330200" lvl="0" marL="457200" rtl="0" algn="l">
              <a:buClr>
                <a:srgbClr val="DEE2E6"/>
              </a:buClr>
              <a:spcBef>
                <a:spcPts val="0"/>
              </a:spcBef>
              <a:spcAft>
                <a:spcPts val="0"/>
              </a:spcAft>
              <a:buSzPts val="1600"/>
              <a:buChar char="●"/>
            </a:pPr>
            <a:r>
              <a:rPr lang="en" sz="1600">
                <a:solidFill>
                  <a:srgbClr val="DEE2E6"/>
                </a:solidFill>
              </a:rPr>
              <a:t>Arrange, act, assert</a:t>
            </a:r>
            <a:endParaRPr/>
          </a:p>
          <a:p>
            <a:pPr indent="-317500" lvl="1" marL="914400" rtl="0" algn="l">
              <a:buClr>
                <a:srgbClr val="6C757D"/>
              </a:buClr>
              <a:spcBef>
                <a:spcPts val="0"/>
              </a:spcBef>
              <a:spcAft>
                <a:spcPts val="0"/>
              </a:spcAft>
              <a:buSzPts val="1400"/>
              <a:buChar char="○"/>
            </a:pPr>
            <a:r>
              <a:rPr lang="en" sz="1400">
                <a:solidFill>
                  <a:srgbClr val="6C757D"/>
                </a:solidFill>
              </a:rPr>
              <a:t>One situation, one action</a:t>
            </a:r>
            <a:endParaRPr/>
          </a:p>
          <a:p>
            <a:pPr indent="-330200" lvl="0" marL="457200" rtl="0" algn="l">
              <a:buClr>
                <a:srgbClr val="DEE2E6"/>
              </a:buClr>
              <a:spcBef>
                <a:spcPts val="0"/>
              </a:spcBef>
              <a:spcAft>
                <a:spcPts val="0"/>
              </a:spcAft>
              <a:buSzPts val="1600"/>
              <a:buChar char="●"/>
            </a:pPr>
            <a:r>
              <a:rPr lang="en" sz="1600">
                <a:solidFill>
                  <a:srgbClr val="DEE2E6"/>
                </a:solidFill>
              </a:rPr>
              <a:t>Assert.Equal(expected, actual)</a:t>
            </a:r>
            <a:endParaRPr/>
          </a:p>
          <a:p>
            <a:pPr indent="-317500" lvl="1" marL="914400" rtl="0" algn="l">
              <a:buClr>
                <a:srgbClr val="6C757D"/>
              </a:buClr>
              <a:spcBef>
                <a:spcPts val="0"/>
              </a:spcBef>
              <a:spcAft>
                <a:spcPts val="0"/>
              </a:spcAft>
              <a:buSzPts val="1400"/>
              <a:buChar char="○"/>
            </a:pPr>
            <a:r>
              <a:rPr lang="en" sz="1400">
                <a:solidFill>
                  <a:srgbClr val="6C757D"/>
                </a:solidFill>
              </a:rPr>
              <a:t>Fails when the values differ</a:t>
            </a:r>
            <a:endParaRPr/>
          </a:p>
          <a:p>
            <a:pPr indent="-330200" lvl="0" marL="457200" rtl="0" algn="l">
              <a:buClr>
                <a:srgbClr val="DEE2E6"/>
              </a:buClr>
              <a:spcBef>
                <a:spcPts val="0"/>
              </a:spcBef>
              <a:spcAft>
                <a:spcPts val="0"/>
              </a:spcAft>
              <a:buSzPts val="1600"/>
              <a:buChar char="●"/>
            </a:pPr>
            <a:r>
              <a:rPr lang="en" sz="1600">
                <a:solidFill>
                  <a:srgbClr val="DEE2E6"/>
                </a:solidFill>
              </a:rPr>
              <a:t>The level is written in the test</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const string Corridor =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[Fact]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void Walking_into_a_box_pushes_it()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Arrange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Level level = Level.Parse(Corridor);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Act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MoveResult result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level.Move(Direction.Right);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Assert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Assert.Equal(MoveResult.Pushed, result);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Assert.Equal(new Point(3, 1), level.Player);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Assert.Equal([new Point(4, 1)], level.Boxes);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Running the Tests</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dotnet test, in the game folder</a:t>
            </a:r>
            <a:endParaRPr/>
          </a:p>
          <a:p>
            <a:pPr indent="-330200" lvl="0" marL="457200" rtl="0" algn="l">
              <a:buClr>
                <a:srgbClr val="DEE2E6"/>
              </a:buClr>
              <a:spcBef>
                <a:spcPts val="0"/>
              </a:spcBef>
              <a:spcAft>
                <a:spcPts val="0"/>
              </a:spcAft>
              <a:buSzPts val="1600"/>
              <a:buChar char="●"/>
            </a:pPr>
            <a:r>
              <a:rPr lang="en" sz="1600">
                <a:solidFill>
                  <a:srgbClr val="DEE2E6"/>
                </a:solidFill>
              </a:rPr>
              <a:t>Or your editor’s test explorer</a:t>
            </a:r>
            <a:endParaRPr/>
          </a:p>
          <a:p>
            <a:pPr indent="-317500" lvl="1" marL="914400" rtl="0" algn="l">
              <a:buClr>
                <a:srgbClr val="6C757D"/>
              </a:buClr>
              <a:spcBef>
                <a:spcPts val="0"/>
              </a:spcBef>
              <a:spcAft>
                <a:spcPts val="0"/>
              </a:spcAft>
              <a:buSzPts val="1400"/>
              <a:buChar char="○"/>
            </a:pPr>
            <a:r>
              <a:rPr lang="en" sz="1400">
                <a:solidFill>
                  <a:srgbClr val="6C757D"/>
                </a:solidFill>
              </a:rPr>
              <a:t>Green and red marks per test</a:t>
            </a:r>
            <a:endParaRPr/>
          </a:p>
          <a:p>
            <a:pPr indent="-330200" lvl="0" marL="457200" rtl="0" algn="l">
              <a:buClr>
                <a:srgbClr val="DEE2E6"/>
              </a:buClr>
              <a:spcBef>
                <a:spcPts val="0"/>
              </a:spcBef>
              <a:spcAft>
                <a:spcPts val="0"/>
              </a:spcAft>
              <a:buSzPts val="1600"/>
              <a:buChar char="●"/>
            </a:pPr>
            <a:r>
              <a:rPr lang="en" sz="1600">
                <a:solidFill>
                  <a:srgbClr val="DEE2E6"/>
                </a:solidFill>
              </a:rPr>
              <a:t>A failing test names the rule that broke</a:t>
            </a:r>
            <a:endParaRPr/>
          </a:p>
          <a:p>
            <a:pPr indent="-317500" lvl="1" marL="914400" rtl="0" algn="l">
              <a:buClr>
                <a:srgbClr val="6C757D"/>
              </a:buClr>
              <a:spcBef>
                <a:spcPts val="0"/>
              </a:spcBef>
              <a:spcAft>
                <a:spcPts val="0"/>
              </a:spcAft>
              <a:buSzPts val="1400"/>
              <a:buChar char="○"/>
            </a:pPr>
            <a:r>
              <a:rPr lang="en" sz="1400">
                <a:solidFill>
                  <a:srgbClr val="6C757D"/>
                </a:solidFill>
              </a:rPr>
              <a:t>What it expected, what it got, the line</a:t>
            </a:r>
            <a:endParaRPr/>
          </a:p>
          <a:p>
            <a:pPr indent="-330200" lvl="0" marL="457200" rtl="0" algn="l">
              <a:buClr>
                <a:srgbClr val="DEE2E6"/>
              </a:buClr>
              <a:spcBef>
                <a:spcPts val="0"/>
              </a:spcBef>
              <a:spcAft>
                <a:spcPts val="0"/>
              </a:spcAft>
              <a:buSzPts val="1600"/>
              <a:buChar char="●"/>
            </a:pPr>
            <a:r>
              <a:rPr lang="en" sz="1600">
                <a:solidFill>
                  <a:srgbClr val="DEE2E6"/>
                </a:solidFill>
              </a:rPr>
              <a:t>What to test: the rules</a:t>
            </a:r>
            <a:endParaRPr/>
          </a:p>
          <a:p>
            <a:pPr indent="-317500" lvl="1" marL="914400" rtl="0" algn="l">
              <a:buClr>
                <a:srgbClr val="6C757D"/>
              </a:buClr>
              <a:spcBef>
                <a:spcPts val="0"/>
              </a:spcBef>
              <a:spcAft>
                <a:spcPts val="0"/>
              </a:spcAft>
              <a:buSzPts val="1400"/>
              <a:buChar char="○"/>
            </a:pPr>
            <a:r>
              <a:rPr lang="en" sz="1400">
                <a:solidFill>
                  <a:srgbClr val="6C757D"/>
                </a:solidFill>
              </a:rPr>
              <a:t>Moving, pushing, solving, undo</a:t>
            </a:r>
            <a:endParaRPr/>
          </a:p>
          <a:p>
            <a:pPr indent="-317500" lvl="1" marL="914400" rtl="0" algn="l">
              <a:buClr>
                <a:srgbClr val="6C757D"/>
              </a:buClr>
              <a:spcBef>
                <a:spcPts val="0"/>
              </a:spcBef>
              <a:spcAft>
                <a:spcPts val="0"/>
              </a:spcAft>
              <a:buSzPts val="1400"/>
              <a:buChar char="○"/>
            </a:pPr>
            <a:r>
              <a:rPr lang="en" sz="1400">
                <a:solidFill>
                  <a:srgbClr val="6C757D"/>
                </a:solidFill>
              </a:rPr>
              <a:t>Not drawing: look at it instead</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&gt; dotnet test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Passed!  - Failed: 0, Passed: 12, Total: 12</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After breaking Level.Move on purpose: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Failed LevelTests.Walking_into_a_box_pushes_it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Assert.Equal() Failure: Collections differ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Expected: [{X:4 Y:1}]</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Actual:   [{X:5 Y:1}]</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...\LevelTests.cs:line 70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Failed!  - Failed: 1, Passed: 11, Total: 12</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Unit Tests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Sokoban.Tests: run the tests, then break a rule and watch one fail</a:t>
            </a:r>
            <a:endParaRPr sz="18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Your First Test</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the 04-sokoban folder: dotnet test</a:t>
            </a:r>
            <a:endParaRPr/>
          </a:p>
          <a:p>
            <a:pPr indent="-330200" lvl="0" marL="457200" rtl="0" algn="l">
              <a:spcBef>
                <a:spcPts val="0"/>
              </a:spcBef>
              <a:spcAft>
                <a:spcPts val="0"/>
              </a:spcAft>
              <a:buSzPts val="1600"/>
              <a:buChar char="●"/>
            </a:pPr>
            <a:r>
              <a:rPr lang="en"/>
              <a:t>Copy one test in LevelTests.cs, and make it check walking left</a:t>
            </a:r>
            <a:endParaRPr/>
          </a:p>
          <a:p>
            <a:pPr indent="-330200" lvl="0" marL="457200" rtl="0" algn="l">
              <a:spcBef>
                <a:spcPts val="0"/>
              </a:spcBef>
              <a:spcAft>
                <a:spcPts val="0"/>
              </a:spcAft>
              <a:buSzPts val="1600"/>
              <a:buChar char="●"/>
            </a:pPr>
            <a:r>
              <a:rPr lang="en"/>
              <a:t>Make it fail on purpose, and read the message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Command Pattern</a:t>
            </a:r>
            <a:endParaRPr/>
          </a:p>
        </p:txBody>
      </p:sp>
      <p:pic>
        <p:nvPicPr>
          <p:cNvPr id="135" name="Google Shape;135;p22"/>
          <p:cNvPicPr preferRelativeResize="0"/>
          <p:nvPr/>
        </p:nvPicPr>
        <p:blipFill>
          <a:blip r:embed="rId3">
            <a:alphaModFix/>
          </a:blip>
          <a:stretch>
            <a:fillRect/>
          </a:stretch>
        </p:blipFill>
        <p:spPr>
          <a:xfrm>
            <a:off x="1315688" y="813790"/>
            <a:ext cx="6512616" cy="407038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Command Pattern: Problem</a:t>
            </a:r>
            <a:endParaRPr/>
          </a:p>
        </p:txBody>
      </p:sp>
      <p:sp>
        <p:nvSpPr>
          <p:cNvPr id="141" name="Google Shape;141;p23"/>
          <p:cNvSpPr txBox="1"/>
          <p:nvPr>
            <p:ph idx="2" type="body"/>
          </p:nvPr>
        </p:nvSpPr>
        <p:spPr>
          <a:xfrm>
            <a:off x="4832400" y="1782800"/>
            <a:ext cx="3999900" cy="1783800"/>
          </a:xfrm>
          <a:prstGeom prst="rect">
            <a:avLst/>
          </a:prstGeom>
        </p:spPr>
        <p:txBody>
          <a:bodyPr anchorCtr="0" anchor="t" bIns="91425" lIns="91425" spcFirstLastPara="1" rIns="91425" wrap="square" tIns="91425">
            <a:noAutofit/>
          </a:bodyPr>
          <a:lstStyle/>
          <a:p>
            <a:pPr indent="0" lvl="0" marL="0" rtl="0" algn="l">
              <a:lnSpc>
                <a:spcPct val="157500"/>
              </a:lnSpc>
              <a:spcBef>
                <a:spcPts val="0"/>
              </a:spcBef>
              <a:spcAft>
                <a:spcPts val="0"/>
              </a:spcAft>
              <a:buNone/>
            </a:pPr>
            <a:r>
              <a:rPr lang="en" sz="1000">
                <a:solidFill>
                  <a:srgbClr val="569CD6"/>
                </a:solidFill>
                <a:highlight>
                  <a:schemeClr val="dk2"/>
                </a:highlight>
                <a:latin typeface="Consolas"/>
                <a:ea typeface="Consolas"/>
                <a:cs typeface="Consolas"/>
                <a:sym typeface="Consolas"/>
              </a:rPr>
              <a:t>public</a:t>
            </a:r>
            <a:r>
              <a:rPr lang="en" sz="1000">
                <a:solidFill>
                  <a:srgbClr val="CCCCCC"/>
                </a:solidFill>
                <a:highlight>
                  <a:schemeClr val="dk2"/>
                </a:highlight>
                <a:latin typeface="Consolas"/>
                <a:ea typeface="Consolas"/>
                <a:cs typeface="Consolas"/>
                <a:sym typeface="Consolas"/>
              </a:rPr>
              <a:t> </a:t>
            </a:r>
            <a:r>
              <a:rPr lang="en" sz="1000">
                <a:solidFill>
                  <a:srgbClr val="569CD6"/>
                </a:solidFill>
                <a:highlight>
                  <a:schemeClr val="dk2"/>
                </a:highlight>
                <a:latin typeface="Consolas"/>
                <a:ea typeface="Consolas"/>
                <a:cs typeface="Consolas"/>
                <a:sym typeface="Consolas"/>
              </a:rPr>
              <a:t>void</a:t>
            </a:r>
            <a:r>
              <a:rPr lang="en" sz="1000">
                <a:solidFill>
                  <a:srgbClr val="CCCCCC"/>
                </a:solidFill>
                <a:highlight>
                  <a:schemeClr val="dk2"/>
                </a:highlight>
                <a:latin typeface="Consolas"/>
                <a:ea typeface="Consolas"/>
                <a:cs typeface="Consolas"/>
                <a:sym typeface="Consolas"/>
              </a:rPr>
              <a:t> </a:t>
            </a:r>
            <a:r>
              <a:rPr lang="en" sz="1000">
                <a:solidFill>
                  <a:srgbClr val="DCDCAA"/>
                </a:solidFill>
                <a:highlight>
                  <a:schemeClr val="dk2"/>
                </a:highlight>
                <a:latin typeface="Consolas"/>
                <a:ea typeface="Consolas"/>
                <a:cs typeface="Consolas"/>
                <a:sym typeface="Consolas"/>
              </a:rPr>
              <a:t>Update</a:t>
            </a:r>
            <a:r>
              <a:rPr lang="en" sz="1000">
                <a:solidFill>
                  <a:srgbClr val="CCCCCC"/>
                </a:solidFill>
                <a:highlight>
                  <a:schemeClr val="dk2"/>
                </a:highlight>
                <a:latin typeface="Consolas"/>
                <a:ea typeface="Consolas"/>
                <a:cs typeface="Consolas"/>
                <a:sym typeface="Consolas"/>
              </a:rPr>
              <a:t>(</a:t>
            </a:r>
            <a:r>
              <a:rPr lang="en" sz="1000">
                <a:solidFill>
                  <a:srgbClr val="4EC9B0"/>
                </a:solidFill>
                <a:highlight>
                  <a:schemeClr val="dk2"/>
                </a:highlight>
                <a:latin typeface="Consolas"/>
                <a:ea typeface="Consolas"/>
                <a:cs typeface="Consolas"/>
                <a:sym typeface="Consolas"/>
              </a:rPr>
              <a:t>GameTime</a:t>
            </a:r>
            <a:r>
              <a:rPr lang="en" sz="1000">
                <a:solidFill>
                  <a:srgbClr val="CCCCCC"/>
                </a:solidFill>
                <a:highlight>
                  <a:schemeClr val="dk2"/>
                </a:highlight>
                <a:latin typeface="Consolas"/>
                <a:ea typeface="Consolas"/>
                <a:cs typeface="Consolas"/>
                <a:sym typeface="Consolas"/>
              </a:rPr>
              <a:t> </a:t>
            </a:r>
            <a:r>
              <a:rPr lang="en" sz="1000">
                <a:solidFill>
                  <a:srgbClr val="9CDCFE"/>
                </a:solidFill>
                <a:highlight>
                  <a:schemeClr val="dk2"/>
                </a:highlight>
                <a:latin typeface="Consolas"/>
                <a:ea typeface="Consolas"/>
                <a:cs typeface="Consolas"/>
                <a:sym typeface="Consolas"/>
              </a:rPr>
              <a:t>gameTime</a:t>
            </a:r>
            <a:r>
              <a:rPr lang="en" sz="1000">
                <a:solidFill>
                  <a:srgbClr val="CCCCCC"/>
                </a:solidFill>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chemeClr val="dk2"/>
                </a:highlight>
                <a:latin typeface="Consolas"/>
                <a:ea typeface="Consolas"/>
                <a:cs typeface="Consolas"/>
                <a:sym typeface="Consolas"/>
              </a:rPr>
              <a:t>    </a:t>
            </a:r>
            <a:r>
              <a:rPr lang="en" sz="1000">
                <a:solidFill>
                  <a:srgbClr val="C586C0"/>
                </a:solidFill>
                <a:highlight>
                  <a:schemeClr val="dk2"/>
                </a:highlight>
                <a:latin typeface="Consolas"/>
                <a:ea typeface="Consolas"/>
                <a:cs typeface="Consolas"/>
                <a:sym typeface="Consolas"/>
              </a:rPr>
              <a:t>if</a:t>
            </a:r>
            <a:r>
              <a:rPr lang="en" sz="1000">
                <a:solidFill>
                  <a:srgbClr val="CCCCCC"/>
                </a:solidFill>
                <a:highlight>
                  <a:schemeClr val="dk2"/>
                </a:highlight>
                <a:latin typeface="Consolas"/>
                <a:ea typeface="Consolas"/>
                <a:cs typeface="Consolas"/>
                <a:sym typeface="Consolas"/>
              </a:rPr>
              <a:t> (</a:t>
            </a:r>
            <a:r>
              <a:rPr lang="en" sz="1000">
                <a:solidFill>
                  <a:srgbClr val="9CDCFE"/>
                </a:solidFill>
                <a:highlight>
                  <a:schemeClr val="dk2"/>
                </a:highlight>
                <a:latin typeface="Consolas"/>
                <a:ea typeface="Consolas"/>
                <a:cs typeface="Consolas"/>
                <a:sym typeface="Consolas"/>
              </a:rPr>
              <a:t>isPressed</a:t>
            </a:r>
            <a:r>
              <a:rPr lang="en" sz="1000">
                <a:solidFill>
                  <a:srgbClr val="CCCCCC"/>
                </a:solidFill>
                <a:highlight>
                  <a:schemeClr val="dk2"/>
                </a:highlight>
                <a:latin typeface="Consolas"/>
                <a:ea typeface="Consolas"/>
                <a:cs typeface="Consolas"/>
                <a:sym typeface="Consolas"/>
              </a:rPr>
              <a:t>(</a:t>
            </a:r>
            <a:r>
              <a:rPr lang="en" sz="1000">
                <a:solidFill>
                  <a:srgbClr val="9CDCFE"/>
                </a:solidFill>
                <a:highlight>
                  <a:schemeClr val="dk2"/>
                </a:highlight>
                <a:latin typeface="Consolas"/>
                <a:ea typeface="Consolas"/>
                <a:cs typeface="Consolas"/>
                <a:sym typeface="Consolas"/>
              </a:rPr>
              <a:t>BUTTON_X</a:t>
            </a:r>
            <a:r>
              <a:rPr lang="en" sz="1000">
                <a:solidFill>
                  <a:srgbClr val="CCCCCC"/>
                </a:solidFill>
                <a:highlight>
                  <a:schemeClr val="dk2"/>
                </a:highlight>
                <a:latin typeface="Consolas"/>
                <a:ea typeface="Consolas"/>
                <a:cs typeface="Consolas"/>
                <a:sym typeface="Consolas"/>
              </a:rPr>
              <a:t>)) </a:t>
            </a:r>
            <a:r>
              <a:rPr lang="en" sz="1000">
                <a:solidFill>
                  <a:srgbClr val="9CDCFE"/>
                </a:solidFill>
                <a:highlight>
                  <a:schemeClr val="dk2"/>
                </a:highlight>
                <a:latin typeface="Consolas"/>
                <a:ea typeface="Consolas"/>
                <a:cs typeface="Consolas"/>
                <a:sym typeface="Consolas"/>
              </a:rPr>
              <a:t>Jump</a:t>
            </a:r>
            <a:r>
              <a:rPr lang="en" sz="1000">
                <a:solidFill>
                  <a:srgbClr val="CCCCCC"/>
                </a:solidFill>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chemeClr val="dk2"/>
                </a:highlight>
                <a:latin typeface="Consolas"/>
                <a:ea typeface="Consolas"/>
                <a:cs typeface="Consolas"/>
                <a:sym typeface="Consolas"/>
              </a:rPr>
              <a:t>    </a:t>
            </a:r>
            <a:r>
              <a:rPr lang="en" sz="1000">
                <a:solidFill>
                  <a:srgbClr val="C586C0"/>
                </a:solidFill>
                <a:highlight>
                  <a:schemeClr val="dk2"/>
                </a:highlight>
                <a:latin typeface="Consolas"/>
                <a:ea typeface="Consolas"/>
                <a:cs typeface="Consolas"/>
                <a:sym typeface="Consolas"/>
              </a:rPr>
              <a:t>if</a:t>
            </a:r>
            <a:r>
              <a:rPr lang="en" sz="1000">
                <a:solidFill>
                  <a:srgbClr val="CCCCCC"/>
                </a:solidFill>
                <a:highlight>
                  <a:schemeClr val="dk2"/>
                </a:highlight>
                <a:latin typeface="Consolas"/>
                <a:ea typeface="Consolas"/>
                <a:cs typeface="Consolas"/>
                <a:sym typeface="Consolas"/>
              </a:rPr>
              <a:t> (</a:t>
            </a:r>
            <a:r>
              <a:rPr lang="en" sz="1000">
                <a:solidFill>
                  <a:srgbClr val="9CDCFE"/>
                </a:solidFill>
                <a:highlight>
                  <a:schemeClr val="dk2"/>
                </a:highlight>
                <a:latin typeface="Consolas"/>
                <a:ea typeface="Consolas"/>
                <a:cs typeface="Consolas"/>
                <a:sym typeface="Consolas"/>
              </a:rPr>
              <a:t>isPressed</a:t>
            </a:r>
            <a:r>
              <a:rPr lang="en" sz="1000">
                <a:solidFill>
                  <a:srgbClr val="CCCCCC"/>
                </a:solidFill>
                <a:highlight>
                  <a:schemeClr val="dk2"/>
                </a:highlight>
                <a:latin typeface="Consolas"/>
                <a:ea typeface="Consolas"/>
                <a:cs typeface="Consolas"/>
                <a:sym typeface="Consolas"/>
              </a:rPr>
              <a:t>(</a:t>
            </a:r>
            <a:r>
              <a:rPr lang="en" sz="1000">
                <a:solidFill>
                  <a:srgbClr val="9CDCFE"/>
                </a:solidFill>
                <a:highlight>
                  <a:schemeClr val="dk2"/>
                </a:highlight>
                <a:latin typeface="Consolas"/>
                <a:ea typeface="Consolas"/>
                <a:cs typeface="Consolas"/>
                <a:sym typeface="Consolas"/>
              </a:rPr>
              <a:t>BUTTON_Y</a:t>
            </a:r>
            <a:r>
              <a:rPr lang="en" sz="1000">
                <a:solidFill>
                  <a:srgbClr val="CCCCCC"/>
                </a:solidFill>
                <a:highlight>
                  <a:schemeClr val="dk2"/>
                </a:highlight>
                <a:latin typeface="Consolas"/>
                <a:ea typeface="Consolas"/>
                <a:cs typeface="Consolas"/>
                <a:sym typeface="Consolas"/>
              </a:rPr>
              <a:t>)) </a:t>
            </a:r>
            <a:r>
              <a:rPr lang="en" sz="1000">
                <a:solidFill>
                  <a:srgbClr val="9CDCFE"/>
                </a:solidFill>
                <a:highlight>
                  <a:schemeClr val="dk2"/>
                </a:highlight>
                <a:latin typeface="Consolas"/>
                <a:ea typeface="Consolas"/>
                <a:cs typeface="Consolas"/>
                <a:sym typeface="Consolas"/>
              </a:rPr>
              <a:t>FireGun</a:t>
            </a:r>
            <a:r>
              <a:rPr lang="en" sz="1000">
                <a:solidFill>
                  <a:srgbClr val="CCCCCC"/>
                </a:solidFill>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chemeClr val="dk2"/>
                </a:highlight>
                <a:latin typeface="Consolas"/>
                <a:ea typeface="Consolas"/>
                <a:cs typeface="Consolas"/>
                <a:sym typeface="Consolas"/>
              </a:rPr>
              <a:t>    </a:t>
            </a:r>
            <a:r>
              <a:rPr lang="en" sz="1000">
                <a:solidFill>
                  <a:srgbClr val="C586C0"/>
                </a:solidFill>
                <a:highlight>
                  <a:schemeClr val="dk2"/>
                </a:highlight>
                <a:latin typeface="Consolas"/>
                <a:ea typeface="Consolas"/>
                <a:cs typeface="Consolas"/>
                <a:sym typeface="Consolas"/>
              </a:rPr>
              <a:t>if</a:t>
            </a:r>
            <a:r>
              <a:rPr lang="en" sz="1000">
                <a:solidFill>
                  <a:srgbClr val="CCCCCC"/>
                </a:solidFill>
                <a:highlight>
                  <a:schemeClr val="dk2"/>
                </a:highlight>
                <a:latin typeface="Consolas"/>
                <a:ea typeface="Consolas"/>
                <a:cs typeface="Consolas"/>
                <a:sym typeface="Consolas"/>
              </a:rPr>
              <a:t> (</a:t>
            </a:r>
            <a:r>
              <a:rPr lang="en" sz="1000">
                <a:solidFill>
                  <a:srgbClr val="9CDCFE"/>
                </a:solidFill>
                <a:highlight>
                  <a:schemeClr val="dk2"/>
                </a:highlight>
                <a:latin typeface="Consolas"/>
                <a:ea typeface="Consolas"/>
                <a:cs typeface="Consolas"/>
                <a:sym typeface="Consolas"/>
              </a:rPr>
              <a:t>isPressed</a:t>
            </a:r>
            <a:r>
              <a:rPr lang="en" sz="1000">
                <a:solidFill>
                  <a:srgbClr val="CCCCCC"/>
                </a:solidFill>
                <a:highlight>
                  <a:schemeClr val="dk2"/>
                </a:highlight>
                <a:latin typeface="Consolas"/>
                <a:ea typeface="Consolas"/>
                <a:cs typeface="Consolas"/>
                <a:sym typeface="Consolas"/>
              </a:rPr>
              <a:t>(</a:t>
            </a:r>
            <a:r>
              <a:rPr lang="en" sz="1000">
                <a:solidFill>
                  <a:srgbClr val="9CDCFE"/>
                </a:solidFill>
                <a:highlight>
                  <a:schemeClr val="dk2"/>
                </a:highlight>
                <a:latin typeface="Consolas"/>
                <a:ea typeface="Consolas"/>
                <a:cs typeface="Consolas"/>
                <a:sym typeface="Consolas"/>
              </a:rPr>
              <a:t>BUTTON_A</a:t>
            </a:r>
            <a:r>
              <a:rPr lang="en" sz="1000">
                <a:solidFill>
                  <a:srgbClr val="CCCCCC"/>
                </a:solidFill>
                <a:highlight>
                  <a:schemeClr val="dk2"/>
                </a:highlight>
                <a:latin typeface="Consolas"/>
                <a:ea typeface="Consolas"/>
                <a:cs typeface="Consolas"/>
                <a:sym typeface="Consolas"/>
              </a:rPr>
              <a:t>)) </a:t>
            </a:r>
            <a:r>
              <a:rPr lang="en" sz="1000">
                <a:solidFill>
                  <a:srgbClr val="9CDCFE"/>
                </a:solidFill>
                <a:highlight>
                  <a:schemeClr val="dk2"/>
                </a:highlight>
                <a:latin typeface="Consolas"/>
                <a:ea typeface="Consolas"/>
                <a:cs typeface="Consolas"/>
                <a:sym typeface="Consolas"/>
              </a:rPr>
              <a:t>SwapWeapon</a:t>
            </a:r>
            <a:r>
              <a:rPr lang="en" sz="1000">
                <a:solidFill>
                  <a:srgbClr val="CCCCCC"/>
                </a:solidFill>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chemeClr val="dk2"/>
                </a:highlight>
                <a:latin typeface="Consolas"/>
                <a:ea typeface="Consolas"/>
                <a:cs typeface="Consolas"/>
                <a:sym typeface="Consolas"/>
              </a:rPr>
              <a:t>    </a:t>
            </a:r>
            <a:r>
              <a:rPr lang="en" sz="1000">
                <a:solidFill>
                  <a:srgbClr val="C586C0"/>
                </a:solidFill>
                <a:highlight>
                  <a:schemeClr val="dk2"/>
                </a:highlight>
                <a:latin typeface="Consolas"/>
                <a:ea typeface="Consolas"/>
                <a:cs typeface="Consolas"/>
                <a:sym typeface="Consolas"/>
              </a:rPr>
              <a:t>if</a:t>
            </a:r>
            <a:r>
              <a:rPr lang="en" sz="1000">
                <a:solidFill>
                  <a:srgbClr val="CCCCCC"/>
                </a:solidFill>
                <a:highlight>
                  <a:schemeClr val="dk2"/>
                </a:highlight>
                <a:latin typeface="Consolas"/>
                <a:ea typeface="Consolas"/>
                <a:cs typeface="Consolas"/>
                <a:sym typeface="Consolas"/>
              </a:rPr>
              <a:t> (</a:t>
            </a:r>
            <a:r>
              <a:rPr lang="en" sz="1000">
                <a:solidFill>
                  <a:srgbClr val="9CDCFE"/>
                </a:solidFill>
                <a:highlight>
                  <a:schemeClr val="dk2"/>
                </a:highlight>
                <a:latin typeface="Consolas"/>
                <a:ea typeface="Consolas"/>
                <a:cs typeface="Consolas"/>
                <a:sym typeface="Consolas"/>
              </a:rPr>
              <a:t>isPressed</a:t>
            </a:r>
            <a:r>
              <a:rPr lang="en" sz="1000">
                <a:solidFill>
                  <a:srgbClr val="CCCCCC"/>
                </a:solidFill>
                <a:highlight>
                  <a:schemeClr val="dk2"/>
                </a:highlight>
                <a:latin typeface="Consolas"/>
                <a:ea typeface="Consolas"/>
                <a:cs typeface="Consolas"/>
                <a:sym typeface="Consolas"/>
              </a:rPr>
              <a:t>(</a:t>
            </a:r>
            <a:r>
              <a:rPr lang="en" sz="1000">
                <a:solidFill>
                  <a:srgbClr val="9CDCFE"/>
                </a:solidFill>
                <a:highlight>
                  <a:schemeClr val="dk2"/>
                </a:highlight>
                <a:latin typeface="Consolas"/>
                <a:ea typeface="Consolas"/>
                <a:cs typeface="Consolas"/>
                <a:sym typeface="Consolas"/>
              </a:rPr>
              <a:t>BUTTON_B</a:t>
            </a:r>
            <a:r>
              <a:rPr lang="en" sz="1000">
                <a:solidFill>
                  <a:srgbClr val="CCCCCC"/>
                </a:solidFill>
                <a:highlight>
                  <a:schemeClr val="dk2"/>
                </a:highlight>
                <a:latin typeface="Consolas"/>
                <a:ea typeface="Consolas"/>
                <a:cs typeface="Consolas"/>
                <a:sym typeface="Consolas"/>
              </a:rPr>
              <a:t>)) </a:t>
            </a:r>
            <a:r>
              <a:rPr lang="en" sz="1000">
                <a:solidFill>
                  <a:srgbClr val="9CDCFE"/>
                </a:solidFill>
                <a:highlight>
                  <a:schemeClr val="dk2"/>
                </a:highlight>
                <a:latin typeface="Consolas"/>
                <a:ea typeface="Consolas"/>
                <a:cs typeface="Consolas"/>
                <a:sym typeface="Consolas"/>
              </a:rPr>
              <a:t>Lurch</a:t>
            </a:r>
            <a:r>
              <a:rPr lang="en" sz="1000">
                <a:solidFill>
                  <a:srgbClr val="CCCCCC"/>
                </a:solidFill>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chemeClr val="dk2"/>
                </a:highlight>
                <a:latin typeface="Consolas"/>
                <a:ea typeface="Consolas"/>
                <a:cs typeface="Consolas"/>
                <a:sym typeface="Consolas"/>
              </a:rPr>
              <a:t>}</a:t>
            </a:r>
            <a:endParaRPr sz="1000">
              <a:solidFill>
                <a:srgbClr val="569CD6"/>
              </a:solidFill>
              <a:highlight>
                <a:srgbClr val="1F1F1F"/>
              </a:highlight>
              <a:latin typeface="Consolas"/>
              <a:ea typeface="Consolas"/>
              <a:cs typeface="Consolas"/>
              <a:sym typeface="Consolas"/>
            </a:endParaRPr>
          </a:p>
        </p:txBody>
      </p:sp>
      <p:pic>
        <p:nvPicPr>
          <p:cNvPr id="142" name="Google Shape;142;p23"/>
          <p:cNvPicPr preferRelativeResize="0"/>
          <p:nvPr/>
        </p:nvPicPr>
        <p:blipFill rotWithShape="1">
          <a:blip r:embed="rId3">
            <a:alphaModFix/>
          </a:blip>
          <a:srcRect b="0" l="8498" r="28649" t="0"/>
          <a:stretch/>
        </p:blipFill>
        <p:spPr>
          <a:xfrm>
            <a:off x="144975" y="1782788"/>
            <a:ext cx="4512576" cy="2229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Command Pattern: Solution</a:t>
            </a:r>
            <a:endParaRPr/>
          </a:p>
        </p:txBody>
      </p:sp>
      <p:pic>
        <p:nvPicPr>
          <p:cNvPr id="148" name="Google Shape;148;p24"/>
          <p:cNvPicPr preferRelativeResize="0"/>
          <p:nvPr/>
        </p:nvPicPr>
        <p:blipFill rotWithShape="1">
          <a:blip r:embed="rId3">
            <a:alphaModFix/>
          </a:blip>
          <a:srcRect b="0" l="6367" r="5074" t="0"/>
          <a:stretch/>
        </p:blipFill>
        <p:spPr>
          <a:xfrm>
            <a:off x="1126375" y="1319825"/>
            <a:ext cx="6993449" cy="2672950"/>
          </a:xfrm>
          <a:prstGeom prst="rect">
            <a:avLst/>
          </a:prstGeom>
          <a:noFill/>
          <a:ln>
            <a:noFill/>
          </a:ln>
        </p:spPr>
      </p:pic>
      <p:sp>
        <p:nvSpPr>
          <p:cNvPr id="149" name="Google Shape;149;p24"/>
          <p:cNvSpPr txBox="1"/>
          <p:nvPr/>
        </p:nvSpPr>
        <p:spPr>
          <a:xfrm>
            <a:off x="2684550" y="4402100"/>
            <a:ext cx="3774900" cy="492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600">
                <a:solidFill>
                  <a:schemeClr val="dk1"/>
                </a:solidFill>
                <a:latin typeface="Roboto Light"/>
                <a:ea typeface="Roboto Light"/>
                <a:cs typeface="Roboto Light"/>
                <a:sym typeface="Roboto Light"/>
              </a:rPr>
              <a:t>“A command is a reified method call.”</a:t>
            </a:r>
            <a:endParaRPr sz="1600">
              <a:solidFill>
                <a:schemeClr val="dk1"/>
              </a:solidFill>
              <a:latin typeface="Roboto Light"/>
              <a:ea typeface="Roboto Light"/>
              <a:cs typeface="Roboto Light"/>
              <a:sym typeface="Roboto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Command Pattern: Solution</a:t>
            </a:r>
            <a:endParaRPr/>
          </a:p>
        </p:txBody>
      </p:sp>
      <p:pic>
        <p:nvPicPr>
          <p:cNvPr id="155" name="Google Shape;155;p25"/>
          <p:cNvPicPr preferRelativeResize="0"/>
          <p:nvPr/>
        </p:nvPicPr>
        <p:blipFill>
          <a:blip r:embed="rId3">
            <a:alphaModFix/>
          </a:blip>
          <a:stretch>
            <a:fillRect/>
          </a:stretch>
        </p:blipFill>
        <p:spPr>
          <a:xfrm>
            <a:off x="501613" y="824490"/>
            <a:ext cx="8140770" cy="407038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Command Pattern: Solution</a:t>
            </a:r>
            <a:endParaRPr/>
          </a:p>
        </p:txBody>
      </p:sp>
      <p:sp>
        <p:nvSpPr>
          <p:cNvPr id="161" name="Google Shape;161;p26"/>
          <p:cNvSpPr txBox="1"/>
          <p:nvPr>
            <p:ph idx="1" type="body"/>
          </p:nvPr>
        </p:nvSpPr>
        <p:spPr>
          <a:xfrm>
            <a:off x="311700" y="1463400"/>
            <a:ext cx="3039000" cy="11082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interface</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ICommand</a:t>
            </a:r>
            <a:endParaRPr sz="1000">
              <a:solidFill>
                <a:srgbClr val="4EC9B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void</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Execute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p:txBody>
      </p:sp>
      <p:sp>
        <p:nvSpPr>
          <p:cNvPr id="162" name="Google Shape;162;p26"/>
          <p:cNvSpPr txBox="1"/>
          <p:nvPr>
            <p:ph idx="2" type="body"/>
          </p:nvPr>
        </p:nvSpPr>
        <p:spPr>
          <a:xfrm>
            <a:off x="3564450" y="1463400"/>
            <a:ext cx="5139600" cy="3133800"/>
          </a:xfrm>
          <a:prstGeom prst="rect">
            <a:avLst/>
          </a:prstGeom>
        </p:spPr>
        <p:txBody>
          <a:bodyPr anchorCtr="0" anchor="t" bIns="91425" lIns="91425" spcFirstLastPara="1" rIns="91425" wrap="square" tIns="91425">
            <a:noAutofit/>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ICommand</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ButtonX</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set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JumpCommand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ICommand</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ButtonY</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set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FireCommand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ICommand</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ButtonB</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set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LurchCommand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ICommand</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ButtonA</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set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new</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SwapCommand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t/>
            </a:r>
            <a:endParaRPr sz="1000">
              <a:solidFill>
                <a:srgbClr val="569CD6"/>
              </a:solidFill>
              <a:highlight>
                <a:schemeClr val="dk2"/>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chemeClr val="dk2"/>
                </a:highlight>
                <a:latin typeface="Consolas"/>
                <a:ea typeface="Consolas"/>
                <a:cs typeface="Consolas"/>
                <a:sym typeface="Consolas"/>
              </a:rPr>
              <a:t>public</a:t>
            </a:r>
            <a:r>
              <a:rPr lang="en" sz="1000">
                <a:solidFill>
                  <a:srgbClr val="CCCCCC"/>
                </a:solidFill>
                <a:highlight>
                  <a:schemeClr val="dk2"/>
                </a:highlight>
                <a:latin typeface="Consolas"/>
                <a:ea typeface="Consolas"/>
                <a:cs typeface="Consolas"/>
                <a:sym typeface="Consolas"/>
              </a:rPr>
              <a:t> </a:t>
            </a:r>
            <a:r>
              <a:rPr lang="en" sz="1000">
                <a:solidFill>
                  <a:srgbClr val="569CD6"/>
                </a:solidFill>
                <a:highlight>
                  <a:schemeClr val="dk2"/>
                </a:highlight>
                <a:latin typeface="Consolas"/>
                <a:ea typeface="Consolas"/>
                <a:cs typeface="Consolas"/>
                <a:sym typeface="Consolas"/>
              </a:rPr>
              <a:t>void</a:t>
            </a:r>
            <a:r>
              <a:rPr lang="en" sz="1000">
                <a:solidFill>
                  <a:srgbClr val="CCCCCC"/>
                </a:solidFill>
                <a:highlight>
                  <a:schemeClr val="dk2"/>
                </a:highlight>
                <a:latin typeface="Consolas"/>
                <a:ea typeface="Consolas"/>
                <a:cs typeface="Consolas"/>
                <a:sym typeface="Consolas"/>
              </a:rPr>
              <a:t> </a:t>
            </a:r>
            <a:r>
              <a:rPr lang="en" sz="1000">
                <a:solidFill>
                  <a:srgbClr val="DCDCAA"/>
                </a:solidFill>
                <a:highlight>
                  <a:schemeClr val="dk2"/>
                </a:highlight>
                <a:latin typeface="Consolas"/>
                <a:ea typeface="Consolas"/>
                <a:cs typeface="Consolas"/>
                <a:sym typeface="Consolas"/>
              </a:rPr>
              <a:t>Update</a:t>
            </a:r>
            <a:r>
              <a:rPr lang="en" sz="1000">
                <a:solidFill>
                  <a:srgbClr val="CCCCCC"/>
                </a:solidFill>
                <a:highlight>
                  <a:schemeClr val="dk2"/>
                </a:highlight>
                <a:latin typeface="Consolas"/>
                <a:ea typeface="Consolas"/>
                <a:cs typeface="Consolas"/>
                <a:sym typeface="Consolas"/>
              </a:rPr>
              <a:t>(</a:t>
            </a:r>
            <a:r>
              <a:rPr lang="en" sz="1000">
                <a:solidFill>
                  <a:srgbClr val="4EC9B0"/>
                </a:solidFill>
                <a:highlight>
                  <a:schemeClr val="dk2"/>
                </a:highlight>
                <a:latin typeface="Consolas"/>
                <a:ea typeface="Consolas"/>
                <a:cs typeface="Consolas"/>
                <a:sym typeface="Consolas"/>
              </a:rPr>
              <a:t>GameTime</a:t>
            </a:r>
            <a:r>
              <a:rPr lang="en" sz="1000">
                <a:solidFill>
                  <a:srgbClr val="CCCCCC"/>
                </a:solidFill>
                <a:highlight>
                  <a:schemeClr val="dk2"/>
                </a:highlight>
                <a:latin typeface="Consolas"/>
                <a:ea typeface="Consolas"/>
                <a:cs typeface="Consolas"/>
                <a:sym typeface="Consolas"/>
              </a:rPr>
              <a:t> </a:t>
            </a:r>
            <a:r>
              <a:rPr lang="en" sz="1000">
                <a:solidFill>
                  <a:srgbClr val="9CDCFE"/>
                </a:solidFill>
                <a:highlight>
                  <a:schemeClr val="dk2"/>
                </a:highlight>
                <a:latin typeface="Consolas"/>
                <a:ea typeface="Consolas"/>
                <a:cs typeface="Consolas"/>
                <a:sym typeface="Consolas"/>
              </a:rPr>
              <a:t>gameTime</a:t>
            </a:r>
            <a:r>
              <a:rPr lang="en" sz="1000">
                <a:solidFill>
                  <a:srgbClr val="CCCCCC"/>
                </a:solidFill>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if</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isPressed</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BUTTON_X</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ButtonX</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Execute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if</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isPressed</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BUTTON_Y</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ButtonY</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Execute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if</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isPressed</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BUTTON_A</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ButtonA</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Execute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if</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isPressed</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BUTTON_B</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ButtonB</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Execute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chemeClr val="dk2"/>
                </a:highlight>
                <a:latin typeface="Consolas"/>
                <a:ea typeface="Consolas"/>
                <a:cs typeface="Consolas"/>
                <a:sym typeface="Consolas"/>
              </a:rPr>
              <a:t>}</a:t>
            </a:r>
            <a:endParaRPr/>
          </a:p>
        </p:txBody>
      </p:sp>
      <p:sp>
        <p:nvSpPr>
          <p:cNvPr id="163" name="Google Shape;163;p26"/>
          <p:cNvSpPr txBox="1"/>
          <p:nvPr>
            <p:ph idx="1" type="body"/>
          </p:nvPr>
        </p:nvSpPr>
        <p:spPr>
          <a:xfrm>
            <a:off x="311700" y="2749300"/>
            <a:ext cx="3039000" cy="18480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class</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JumpCommand</a:t>
            </a:r>
            <a:r>
              <a:rPr lang="en" sz="1000">
                <a:solidFill>
                  <a:srgbClr val="CCCCCC"/>
                </a:solidFill>
                <a:highlight>
                  <a:srgbClr val="1F1F1F"/>
                </a:highlight>
                <a:latin typeface="Consolas"/>
                <a:ea typeface="Consolas"/>
                <a:cs typeface="Consolas"/>
                <a:sym typeface="Consolas"/>
              </a:rPr>
              <a:t>() : </a:t>
            </a:r>
            <a:r>
              <a:rPr lang="en" sz="1000">
                <a:solidFill>
                  <a:srgbClr val="4EC9B0"/>
                </a:solidFill>
                <a:highlight>
                  <a:srgbClr val="1F1F1F"/>
                </a:highlight>
                <a:latin typeface="Consolas"/>
                <a:ea typeface="Consolas"/>
                <a:cs typeface="Consolas"/>
                <a:sym typeface="Consolas"/>
              </a:rPr>
              <a:t>ICommand</a:t>
            </a:r>
            <a:endParaRPr sz="1000">
              <a:solidFill>
                <a:srgbClr val="4EC9B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void</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Execute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Jump</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Command Pattern</a:t>
            </a:r>
            <a:endParaRPr/>
          </a:p>
        </p:txBody>
      </p:sp>
      <p:pic>
        <p:nvPicPr>
          <p:cNvPr id="169" name="Google Shape;169;p27"/>
          <p:cNvPicPr preferRelativeResize="0"/>
          <p:nvPr/>
        </p:nvPicPr>
        <p:blipFill>
          <a:blip r:embed="rId3">
            <a:alphaModFix/>
          </a:blip>
          <a:stretch>
            <a:fillRect/>
          </a:stretch>
        </p:blipFill>
        <p:spPr>
          <a:xfrm>
            <a:off x="152400" y="2011440"/>
            <a:ext cx="8839199" cy="161485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Command Pattern</a:t>
            </a:r>
            <a:endParaRPr/>
          </a:p>
        </p:txBody>
      </p:sp>
      <p:pic>
        <p:nvPicPr>
          <p:cNvPr id="175" name="Google Shape;175;p28"/>
          <p:cNvPicPr preferRelativeResize="0"/>
          <p:nvPr/>
        </p:nvPicPr>
        <p:blipFill>
          <a:blip r:embed="rId3">
            <a:alphaModFix/>
          </a:blip>
          <a:stretch>
            <a:fillRect/>
          </a:stretch>
        </p:blipFill>
        <p:spPr>
          <a:xfrm>
            <a:off x="152400" y="1428340"/>
            <a:ext cx="8839201" cy="228680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Command Pattern: Usage</a:t>
            </a:r>
            <a:endParaRPr/>
          </a:p>
        </p:txBody>
      </p:sp>
      <p:sp>
        <p:nvSpPr>
          <p:cNvPr id="181" name="Google Shape;181;p29"/>
          <p:cNvSpPr txBox="1"/>
          <p:nvPr>
            <p:ph idx="1" type="body"/>
          </p:nvPr>
        </p:nvSpPr>
        <p:spPr>
          <a:xfrm>
            <a:off x="311700" y="885950"/>
            <a:ext cx="1263900" cy="1046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Input</a:t>
            </a:r>
            <a:endParaRPr/>
          </a:p>
          <a:p>
            <a:pPr indent="-330200" lvl="0" marL="457200" rtl="0" algn="l">
              <a:spcBef>
                <a:spcPts val="0"/>
              </a:spcBef>
              <a:spcAft>
                <a:spcPts val="0"/>
              </a:spcAft>
              <a:buSzPts val="1600"/>
              <a:buChar char="●"/>
            </a:pPr>
            <a:r>
              <a:rPr lang="en"/>
              <a:t>Undo</a:t>
            </a:r>
            <a:endParaRPr/>
          </a:p>
          <a:p>
            <a:pPr indent="-330200" lvl="0" marL="457200" rtl="0" algn="l">
              <a:spcBef>
                <a:spcPts val="0"/>
              </a:spcBef>
              <a:spcAft>
                <a:spcPts val="0"/>
              </a:spcAft>
              <a:buSzPts val="1600"/>
              <a:buChar char="●"/>
            </a:pPr>
            <a:r>
              <a:rPr lang="en"/>
              <a:t>Redo</a:t>
            </a:r>
            <a:endParaRPr/>
          </a:p>
        </p:txBody>
      </p:sp>
      <p:pic>
        <p:nvPicPr>
          <p:cNvPr id="182" name="Google Shape;182;p29"/>
          <p:cNvPicPr preferRelativeResize="0"/>
          <p:nvPr/>
        </p:nvPicPr>
        <p:blipFill>
          <a:blip r:embed="rId3">
            <a:alphaModFix/>
          </a:blip>
          <a:stretch>
            <a:fillRect/>
          </a:stretch>
        </p:blipFill>
        <p:spPr>
          <a:xfrm>
            <a:off x="4924950" y="322075"/>
            <a:ext cx="3864576" cy="2173826"/>
          </a:xfrm>
          <a:prstGeom prst="rect">
            <a:avLst/>
          </a:prstGeom>
          <a:noFill/>
          <a:ln>
            <a:noFill/>
          </a:ln>
        </p:spPr>
      </p:pic>
      <p:pic>
        <p:nvPicPr>
          <p:cNvPr id="183" name="Google Shape;183;p29"/>
          <p:cNvPicPr preferRelativeResize="0"/>
          <p:nvPr/>
        </p:nvPicPr>
        <p:blipFill>
          <a:blip r:embed="rId4">
            <a:alphaModFix/>
          </a:blip>
          <a:stretch>
            <a:fillRect/>
          </a:stretch>
        </p:blipFill>
        <p:spPr>
          <a:xfrm>
            <a:off x="643175" y="2765500"/>
            <a:ext cx="3864576" cy="2173824"/>
          </a:xfrm>
          <a:prstGeom prst="rect">
            <a:avLst/>
          </a:prstGeom>
          <a:noFill/>
          <a:ln>
            <a:noFill/>
          </a:ln>
        </p:spPr>
      </p:pic>
      <p:pic>
        <p:nvPicPr>
          <p:cNvPr id="184" name="Google Shape;184;p29"/>
          <p:cNvPicPr preferRelativeResize="0"/>
          <p:nvPr/>
        </p:nvPicPr>
        <p:blipFill>
          <a:blip r:embed="rId5">
            <a:alphaModFix/>
          </a:blip>
          <a:stretch>
            <a:fillRect/>
          </a:stretch>
        </p:blipFill>
        <p:spPr>
          <a:xfrm>
            <a:off x="4924950" y="2765501"/>
            <a:ext cx="3864576" cy="2173837"/>
          </a:xfrm>
          <a:prstGeom prst="rect">
            <a:avLst/>
          </a:prstGeom>
          <a:noFill/>
          <a:ln>
            <a:noFill/>
          </a:ln>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Moves as Commands</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Each move becomes a MoveCommand</a:t>
            </a:r>
            <a:endParaRPr/>
          </a:p>
          <a:p>
            <a:pPr indent="-330200" lvl="0" marL="457200" rtl="0" algn="l">
              <a:buClr>
                <a:srgbClr val="DEE2E6"/>
              </a:buClr>
              <a:spcBef>
                <a:spcPts val="0"/>
              </a:spcBef>
              <a:spcAft>
                <a:spcPts val="0"/>
              </a:spcAft>
              <a:buSzPts val="1600"/>
              <a:buChar char="●"/>
            </a:pPr>
            <a:r>
              <a:rPr lang="en" sz="1600">
                <a:solidFill>
                  <a:srgbClr val="DEE2E6"/>
                </a:solidFill>
              </a:rPr>
              <a:t>Only moves that change something</a:t>
            </a:r>
            <a:endParaRPr/>
          </a:p>
          <a:p>
            <a:pPr indent="-317500" lvl="1" marL="914400" rtl="0" algn="l">
              <a:buClr>
                <a:srgbClr val="6C757D"/>
              </a:buClr>
              <a:spcBef>
                <a:spcPts val="0"/>
              </a:spcBef>
              <a:spcAft>
                <a:spcPts val="0"/>
              </a:spcAft>
              <a:buSzPts val="1400"/>
              <a:buChar char="○"/>
            </a:pPr>
            <a:r>
              <a:rPr lang="en" sz="1400">
                <a:solidFill>
                  <a:srgbClr val="6C757D"/>
                </a:solidFill>
              </a:rPr>
              <a:t>Walking into a wall is not a move</a:t>
            </a:r>
            <a:endParaRPr/>
          </a:p>
          <a:p>
            <a:pPr indent="-330200" lvl="0" marL="457200" rtl="0" algn="l">
              <a:buClr>
                <a:srgbClr val="DEE2E6"/>
              </a:buClr>
              <a:spcBef>
                <a:spcPts val="0"/>
              </a:spcBef>
              <a:spcAft>
                <a:spcPts val="0"/>
              </a:spcAft>
              <a:buSzPts val="1600"/>
              <a:buChar char="●"/>
            </a:pPr>
            <a:r>
              <a:rPr lang="en" sz="1600">
                <a:solidFill>
                  <a:srgbClr val="DEE2E6"/>
                </a:solidFill>
              </a:rPr>
              <a:t>Sokoban2 keeps a list, to count the moves</a:t>
            </a:r>
            <a:endParaRPr/>
          </a:p>
          <a:p>
            <a:pPr indent="-330200" lvl="0" marL="457200" rtl="0" algn="l">
              <a:buClr>
                <a:srgbClr val="DEE2E6"/>
              </a:buClr>
              <a:spcBef>
                <a:spcPts val="0"/>
              </a:spcBef>
              <a:spcAft>
                <a:spcPts val="0"/>
              </a:spcAft>
              <a:buSzPts val="1600"/>
              <a:buChar char="●"/>
            </a:pPr>
            <a:r>
              <a:rPr lang="en" sz="1600">
                <a:solidFill>
                  <a:srgbClr val="DEE2E6"/>
                </a:solidFill>
              </a:rPr>
              <a:t>A move that is an object can be kept</a:t>
            </a:r>
            <a:endParaRPr/>
          </a:p>
          <a:p>
            <a:pPr indent="-317500" lvl="1" marL="914400" rtl="0" algn="l">
              <a:buClr>
                <a:srgbClr val="6C757D"/>
              </a:buClr>
              <a:spcBef>
                <a:spcPts val="0"/>
              </a:spcBef>
              <a:spcAft>
                <a:spcPts val="0"/>
              </a:spcAft>
              <a:buSzPts val="1400"/>
              <a:buChar char="○"/>
            </a:pPr>
            <a:r>
              <a:rPr lang="en" sz="1400">
                <a:solidFill>
                  <a:srgbClr val="6C757D"/>
                </a:solidFill>
              </a:rPr>
              <a:t>Queued, logged, replayed, sent, undone</a:t>
            </a:r>
            <a:endParaRPr/>
          </a:p>
          <a:p>
            <a:pPr indent="-330200" lvl="0" marL="457200" rtl="0" algn="l">
              <a:buClr>
                <a:srgbClr val="DEE2E6"/>
              </a:buClr>
              <a:spcBef>
                <a:spcPts val="0"/>
              </a:spcBef>
              <a:spcAft>
                <a:spcPts val="0"/>
              </a:spcAft>
              <a:buSzPts val="1600"/>
              <a:buChar char="●"/>
            </a:pPr>
            <a:r>
              <a:rPr lang="en" sz="1600">
                <a:solidFill>
                  <a:srgbClr val="DEE2E6"/>
                </a:solidFill>
              </a:rPr>
              <a:t>GameController: keys → actions</a:t>
            </a:r>
            <a:endParaRPr/>
          </a:p>
          <a:p>
            <a:pPr indent="-317500" lvl="1" marL="914400" rtl="0" algn="l">
              <a:buClr>
                <a:srgbClr val="6C757D"/>
              </a:buClr>
              <a:spcBef>
                <a:spcPts val="0"/>
              </a:spcBef>
              <a:spcAft>
                <a:spcPts val="0"/>
              </a:spcAft>
              <a:buSzPts val="1400"/>
              <a:buChar char="○"/>
            </a:pPr>
            <a:r>
              <a:rPr lang="en" sz="1400">
                <a:solidFill>
                  <a:srgbClr val="6C757D"/>
                </a:solidFill>
              </a:rPr>
              <a:t>A command: what the game does with one</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class MoveCommand(Level level,</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Point direction) : ICommand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void Execute()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level.Move(direction);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Game1.cs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if (!_level.CanMove(direction))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return;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ICommand command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new MoveCommand(_level, 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command.Execute();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_moves.Add(command);</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What a Move Remembers</a:t>
            </a:r>
            <a:endParaRPr/>
          </a:p>
        </p:txBody>
      </p:sp>
      <p:sp>
        <p:nvSpPr>
          <p:cNvPr id="3" name="Text Placeholder 2"/>
          <p:cNvSpPr>
            <a:spLocks noGrp="1"/>
          </p:cNvSpPr>
          <p:nvPr>
            <p:ph type="body" idx="1"/>
          </p:nvPr>
        </p:nvSpPr>
        <p:spPr>
          <a:xfrm>
            <a:off x="311700" y="885950"/>
            <a:ext cx="8520600" cy="1673352"/>
          </a:xfrm>
        </p:spPr>
        <p:txBody>
          <a:bodyPr/>
          <a:lstStyle/>
          <a:p>
            <a:pPr indent="-330200" lvl="0" marL="457200" rtl="0" algn="l">
              <a:spcBef>
                <a:spcPts val="0"/>
              </a:spcBef>
              <a:spcAft>
                <a:spcPts val="0"/>
              </a:spcAft>
              <a:buSzPts val="1600"/>
              <a:buChar char="●"/>
            </a:pPr>
            <a:r>
              <a:rPr lang="en"/>
              <a:t>In Sokoban2:</a:t>
            </a:r>
            <a:endParaRPr/>
          </a:p>
          <a:p>
            <a:pPr indent="-330200" lvl="0" marL="457200" rtl="0" algn="l">
              <a:spcBef>
                <a:spcPts val="0"/>
              </a:spcBef>
              <a:spcAft>
                <a:spcPts val="0"/>
              </a:spcAft>
              <a:buSzPts val="1600"/>
              <a:buChar char="●"/>
            </a:pPr>
            <a:r>
              <a:rPr lang="en"/>
              <a:t>Give MoveCommand a Direction property</a:t>
            </a:r>
            <a:endParaRPr/>
          </a:p>
          <a:p>
            <a:pPr indent="-330200" lvl="0" marL="457200" rtl="0" algn="l">
              <a:spcBef>
                <a:spcPts val="0"/>
              </a:spcBef>
              <a:spcAft>
                <a:spcPts val="0"/>
              </a:spcAft>
              <a:buSzPts val="1600"/>
              <a:buChar char="●"/>
            </a:pPr>
            <a:r>
              <a:rPr lang="en"/>
              <a:t>Show the last move’s direction in the window title</a:t>
            </a:r>
            <a:endParaRPr/>
          </a:p>
          <a:p>
            <a:pPr indent="-330200" lvl="0" marL="457200" rtl="0" algn="l">
              <a:spcBef>
                <a:spcPts val="0"/>
              </a:spcBef>
              <a:spcAft>
                <a:spcPts val="0"/>
              </a:spcAft>
              <a:buSzPts val="1600"/>
              <a:buChar char="●"/>
            </a:pPr>
            <a:r>
              <a:rPr lang="en"/>
              <a:t>To undo a move, what else would it need to remember?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Adding Undo/Redo Functionality</a:t>
            </a:r>
            <a:endParaRPr/>
          </a:p>
        </p:txBody>
      </p:sp>
      <p:pic>
        <p:nvPicPr>
          <p:cNvPr id="196" name="Google Shape;196;p31"/>
          <p:cNvPicPr preferRelativeResize="0"/>
          <p:nvPr/>
        </p:nvPicPr>
        <p:blipFill>
          <a:blip r:embed="rId3">
            <a:alphaModFix/>
          </a:blip>
          <a:stretch>
            <a:fillRect/>
          </a:stretch>
        </p:blipFill>
        <p:spPr>
          <a:xfrm>
            <a:off x="2427287" y="1418650"/>
            <a:ext cx="4289425" cy="3101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32"/>
          <p:cNvPicPr preferRelativeResize="0"/>
          <p:nvPr/>
        </p:nvPicPr>
        <p:blipFill>
          <a:blip r:embed="rId3">
            <a:alphaModFix/>
          </a:blip>
          <a:stretch>
            <a:fillRect/>
          </a:stretch>
        </p:blipFill>
        <p:spPr>
          <a:xfrm>
            <a:off x="1064150" y="1958750"/>
            <a:ext cx="7015700" cy="1753925"/>
          </a:xfrm>
          <a:prstGeom prst="rect">
            <a:avLst/>
          </a:prstGeom>
          <a:noFill/>
          <a:ln>
            <a:noFill/>
          </a:ln>
        </p:spPr>
      </p:pic>
      <p:sp>
        <p:nvSpPr>
          <p:cNvPr id="202" name="Google Shape;202;p3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Adding Undo/Redo Functionality</a:t>
            </a:r>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Undoable Moves</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A command must reverse exactly what it did</a:t>
            </a:r>
            <a:endParaRPr/>
          </a:p>
          <a:p>
            <a:pPr indent="-330200" lvl="0" marL="457200" rtl="0" algn="l">
              <a:buClr>
                <a:srgbClr val="DEE2E6"/>
              </a:buClr>
              <a:spcBef>
                <a:spcPts val="0"/>
              </a:spcBef>
              <a:spcAft>
                <a:spcPts val="0"/>
              </a:spcAft>
              <a:buSzPts val="1600"/>
              <a:buChar char="●"/>
            </a:pPr>
            <a:r>
              <a:rPr lang="en" sz="1600">
                <a:solidFill>
                  <a:srgbClr val="DEE2E6"/>
                </a:solidFill>
              </a:rPr>
              <a:t>Moving the player back is not enough</a:t>
            </a:r>
            <a:endParaRPr/>
          </a:p>
          <a:p>
            <a:pPr indent="-317500" lvl="1" marL="914400" rtl="0" algn="l">
              <a:buClr>
                <a:srgbClr val="6C757D"/>
              </a:buClr>
              <a:spcBef>
                <a:spcPts val="0"/>
              </a:spcBef>
              <a:spcAft>
                <a:spcPts val="0"/>
              </a:spcAft>
              <a:buSzPts val="1400"/>
              <a:buChar char="○"/>
            </a:pPr>
            <a:r>
              <a:rPr lang="en" sz="1400">
                <a:solidFill>
                  <a:srgbClr val="6C757D"/>
                </a:solidFill>
              </a:rPr>
              <a:t>A push must pull the box back too</a:t>
            </a:r>
            <a:endParaRPr/>
          </a:p>
          <a:p>
            <a:pPr indent="-330200" lvl="0" marL="457200" rtl="0" algn="l">
              <a:buClr>
                <a:srgbClr val="DEE2E6"/>
              </a:buClr>
              <a:spcBef>
                <a:spcPts val="0"/>
              </a:spcBef>
              <a:spcAft>
                <a:spcPts val="0"/>
              </a:spcAft>
              <a:buSzPts val="1600"/>
              <a:buChar char="●"/>
            </a:pPr>
            <a:r>
              <a:rPr lang="en" sz="1600">
                <a:solidFill>
                  <a:srgbClr val="DEE2E6"/>
                </a:solidFill>
              </a:rPr>
              <a:t>So MoveCommand remembers the MoveResult</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private MoveResult _result;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void Execute()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_result = level.Move(direction);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void Undo()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level.UndoMove(direction, _result);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Level.cs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void UndoMove(Point 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MoveResult result)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if (result == MoveResult.Pushed)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_boxes.Remove(Player + 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_boxes.Add(Player);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if (result != MoveResult.Blocked)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Player -= direction;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Command History</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Two stacks: done and undone</a:t>
            </a:r>
            <a:endParaRPr/>
          </a:p>
          <a:p>
            <a:pPr indent="-330200" lvl="0" marL="457200" rtl="0" algn="l">
              <a:buClr>
                <a:srgbClr val="DEE2E6"/>
              </a:buClr>
              <a:spcBef>
                <a:spcPts val="0"/>
              </a:spcBef>
              <a:spcAft>
                <a:spcPts val="0"/>
              </a:spcAft>
              <a:buSzPts val="1600"/>
              <a:buChar char="●"/>
            </a:pPr>
            <a:r>
              <a:rPr lang="en" sz="1600">
                <a:solidFill>
                  <a:srgbClr val="DEE2E6"/>
                </a:solidFill>
              </a:rPr>
              <a:t>Z undoes, Y redoes</a:t>
            </a:r>
            <a:endParaRPr/>
          </a:p>
          <a:p>
            <a:pPr indent="-330200" lvl="0" marL="457200" rtl="0" algn="l">
              <a:buClr>
                <a:srgbClr val="DEE2E6"/>
              </a:buClr>
              <a:spcBef>
                <a:spcPts val="0"/>
              </a:spcBef>
              <a:spcAft>
                <a:spcPts val="0"/>
              </a:spcAft>
              <a:buSzPts val="1600"/>
              <a:buChar char="●"/>
            </a:pPr>
            <a:r>
              <a:rPr lang="en" sz="1600">
                <a:solidFill>
                  <a:srgbClr val="DEE2E6"/>
                </a:solidFill>
              </a:rPr>
              <a:t>A new command clears the redo stack</a:t>
            </a:r>
            <a:endParaRPr/>
          </a:p>
          <a:p>
            <a:pPr indent="-317500" lvl="1" marL="914400" rtl="0" algn="l">
              <a:buClr>
                <a:srgbClr val="6C757D"/>
              </a:buClr>
              <a:spcBef>
                <a:spcPts val="0"/>
              </a:spcBef>
              <a:spcAft>
                <a:spcPts val="0"/>
              </a:spcAft>
              <a:buSzPts val="1400"/>
              <a:buChar char="○"/>
            </a:pPr>
            <a:r>
              <a:rPr lang="en" sz="1400">
                <a:solidFill>
                  <a:srgbClr val="6C757D"/>
                </a:solidFill>
              </a:rPr>
              <a:t>The undone moves can’t be redone any more</a:t>
            </a:r>
            <a:endParaRPr/>
          </a:p>
          <a:p>
            <a:pPr indent="-330200" lvl="0" marL="457200" rtl="0" algn="l">
              <a:buClr>
                <a:srgbClr val="DEE2E6"/>
              </a:buClr>
              <a:spcBef>
                <a:spcPts val="0"/>
              </a:spcBef>
              <a:spcAft>
                <a:spcPts val="0"/>
              </a:spcAft>
              <a:buSzPts val="1600"/>
              <a:buChar char="●"/>
            </a:pPr>
            <a:r>
              <a:rPr lang="en" sz="1600">
                <a:solidFill>
                  <a:srgbClr val="DEE2E6"/>
                </a:solidFill>
              </a:rPr>
              <a:t>The move counter is the undo stack’s size</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void Execute(ICommand command)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command.Execute();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_done.Push(command);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_undone.Clear();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void Undo()</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if (_done.TryPop(out ICommand command))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command.Undo();</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_undone.Push(command);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Redo: the same, the other way around</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Two Ways to Undo</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Undo by reversing each command, or by restoring a snapshot.</a:t>
            </a:r>
            <a:endParaRPr/>
          </a:p>
        </p:txBody>
      </p:sp>
      <p:sp>
        <p:nvSpPr>
          <p:cNvPr id="295" name="Rounded Rectangle 294"/>
          <p:cNvSpPr/>
          <p:nvPr/>
        </p:nvSpPr>
        <p:spPr>
          <a:xfrm>
            <a:off x="548640" y="1417320"/>
            <a:ext cx="3749039" cy="146304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Reverse the command</a:t>
            </a:r>
          </a:p>
          <a:p>
            <a:pPr algn="ctr"/>
            <a:r>
              <a:rPr sz="1400" b="0">
                <a:solidFill>
                  <a:srgbClr val="9AA3AB"/>
                </a:solidFill>
              </a:rPr>
              <a:t>each command knows its opposite</a:t>
            </a:r>
          </a:p>
          <a:p>
            <a:pPr algn="ctr"/>
            <a:r>
              <a:rPr sz="1400" b="0">
                <a:solidFill>
                  <a:srgbClr val="9AA3AB"/>
                </a:solidFill>
              </a:rPr>
              <a:t>cheap, but every undo</a:t>
            </a:r>
          </a:p>
          <a:p>
            <a:pPr algn="ctr"/>
            <a:r>
              <a:rPr sz="1400" b="0">
                <a:solidFill>
                  <a:srgbClr val="9AA3AB"/>
                </a:solidFill>
              </a:rPr>
              <a:t>must be exactly right</a:t>
            </a:r>
          </a:p>
        </p:txBody>
      </p:sp>
      <p:sp>
        <p:nvSpPr>
          <p:cNvPr id="296" name="Rounded Rectangle 295"/>
          <p:cNvSpPr/>
          <p:nvPr/>
        </p:nvSpPr>
        <p:spPr>
          <a:xfrm>
            <a:off x="4846320" y="1417320"/>
            <a:ext cx="3749039" cy="14630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Save snapshots</a:t>
            </a:r>
          </a:p>
          <a:p>
            <a:pPr algn="ctr"/>
            <a:r>
              <a:rPr sz="1400" b="0">
                <a:solidFill>
                  <a:srgbClr val="9AA3AB"/>
                </a:solidFill>
              </a:rPr>
              <a:t>copy the state before each command</a:t>
            </a:r>
          </a:p>
          <a:p>
            <a:pPr algn="ctr"/>
            <a:r>
              <a:rPr sz="1400" b="0">
                <a:solidFill>
                  <a:srgbClr val="9AA3AB"/>
                </a:solidFill>
              </a:rPr>
              <a:t>simple and always correct,</a:t>
            </a:r>
          </a:p>
          <a:p>
            <a:pPr algn="ctr"/>
            <a:r>
              <a:rPr sz="1400" b="0">
                <a:solidFill>
                  <a:srgbClr val="9AA3AB"/>
                </a:solidFill>
              </a:rPr>
              <a:t>but costs memory</a:t>
            </a:r>
          </a:p>
        </p:txBody>
      </p:sp>
      <p:sp>
        <p:nvSpPr>
          <p:cNvPr id="297" name="TextBox 296"/>
          <p:cNvSpPr txBox="1"/>
          <p:nvPr/>
        </p:nvSpPr>
        <p:spPr>
          <a:xfrm>
            <a:off x="457200" y="3154680"/>
            <a:ext cx="8229600" cy="731520"/>
          </a:xfrm>
          <a:prstGeom prst="rect">
            <a:avLst/>
          </a:prstGeom>
          <a:noFill/>
        </p:spPr>
        <p:txBody>
          <a:bodyPr wrap="square">
            <a:spAutoFit/>
          </a:bodyPr>
          <a:lstStyle/>
          <a:p>
            <a:pPr algn="ctr"/>
            <a:r>
              <a:rPr sz="1800" b="1" i="0">
                <a:solidFill>
                  <a:srgbClr val="DEE2E6"/>
                </a:solidFill>
              </a:rPr>
              <a:t>Sokoban’s state is tiny. What about a big open world?</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Command Pattern Implementation</a:t>
            </a:r>
            <a:endParaRPr>
              <a:solidFill>
                <a:schemeClr val="accent5"/>
              </a:solidFill>
            </a:endParaRPr>
          </a:p>
        </p:txBody>
      </p:sp>
      <p:sp>
        <p:nvSpPr>
          <p:cNvPr id="208" name="Google Shape;208;p33"/>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Sokoban2 → Sokoban3 → Sokoban4: commands, undo &amp; redo, the whole game</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Exercises</a:t>
            </a:r>
            <a:endParaRPr>
              <a:solidFill>
                <a:schemeClr val="accent5"/>
              </a:solidFill>
            </a:endParaRPr>
          </a:p>
        </p:txBody>
      </p:sp>
      <p:sp>
        <p:nvSpPr>
          <p:cNvPr id="294" name="Google Shape;294;p45"/>
          <p:cNvSpPr txBox="1"/>
          <p:nvPr>
            <p:ph idx="1" type="body"/>
          </p:nvPr>
        </p:nvSpPr>
        <p:spPr>
          <a:xfrm>
            <a:off x="311700" y="885950"/>
            <a:ext cx="8520600" cy="2057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Start from Sokoban4. Full instructions are on the course site.</a:t>
            </a:r>
            <a:endParaRPr/>
          </a:p>
          <a:p>
            <a:pPr indent="-330200" lvl="0" marL="457200" rtl="0" algn="l">
              <a:spcBef>
                <a:spcPts val="0"/>
              </a:spcBef>
              <a:spcAft>
                <a:spcPts val="0"/>
              </a:spcAft>
              <a:buSzPts val="1600"/>
              <a:buChar char="●"/>
            </a:pPr>
            <a:r>
              <a:rPr lang="en"/>
              <a:t>A new level: design level8.txt. Is it solvable?</a:t>
            </a:r>
            <a:endParaRPr/>
          </a:p>
          <a:p>
            <a:pPr indent="-330200" lvl="0" marL="457200" rtl="0" algn="l">
              <a:spcBef>
                <a:spcPts val="0"/>
              </a:spcBef>
              <a:spcAft>
                <a:spcPts val="0"/>
              </a:spcAft>
              <a:buSzPts val="1600"/>
              <a:buChar char="●"/>
            </a:pPr>
            <a:r>
              <a:rPr lang="en"/>
              <a:t>Two more tests: pushing a box off a goal, walking onto a goal</a:t>
            </a:r>
            <a:endParaRPr/>
          </a:p>
          <a:p>
            <a:pPr indent="-330200" lvl="0" marL="457200" rtl="0" algn="l">
              <a:spcBef>
                <a:spcPts val="0"/>
              </a:spcBef>
              <a:spcAft>
                <a:spcPts val="0"/>
              </a:spcAft>
              <a:buSzPts val="1600"/>
              <a:buChar char="●"/>
            </a:pPr>
            <a:r>
              <a:rPr lang="en"/>
              <a:t>Test first: boxes can’t be pushed onto ice (~)</a:t>
            </a:r>
            <a:endParaRPr/>
          </a:p>
          <a:p>
            <a:pPr indent="-330200" lvl="0" marL="457200" rtl="0" algn="l">
              <a:spcBef>
                <a:spcPts val="0"/>
              </a:spcBef>
              <a:spcAft>
                <a:spcPts val="0"/>
              </a:spcAft>
              <a:buSzPts val="1600"/>
              <a:buChar char="●"/>
            </a:pPr>
            <a:r>
              <a:rPr lang="en"/>
              <a:t>Replay: when a level is solved, replay the solution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Exercise: Commands</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Restart as a command</a:t>
            </a:r>
            <a:endParaRPr/>
          </a:p>
          <a:p>
            <a:pPr indent="-317500" lvl="1" marL="914400" rtl="0" algn="l">
              <a:spcBef>
                <a:spcPts val="0"/>
              </a:spcBef>
              <a:spcAft>
                <a:spcPts val="0"/>
              </a:spcAft>
              <a:buSzPts val="1400"/>
              <a:buChar char="○"/>
            </a:pPr>
            <a:r>
              <a:rPr lang="en"/>
              <a:t>Make R a command too, so a restart can be undone</a:t>
            </a:r>
            <a:endParaRPr/>
          </a:p>
          <a:p>
            <a:pPr indent="-317500" lvl="1" marL="914400" rtl="0" algn="l">
              <a:spcBef>
                <a:spcPts val="0"/>
              </a:spcBef>
              <a:spcAft>
                <a:spcPts val="0"/>
              </a:spcAft>
              <a:buSzPts val="1400"/>
              <a:buChar char="○"/>
            </a:pPr>
            <a:r>
              <a:rPr lang="en"/>
              <a:t>What must it remember?</a:t>
            </a:r>
            <a:endParaRPr/>
          </a:p>
          <a:p>
            <a:pPr indent="-330200" lvl="0" marL="457200" rtl="0" algn="l">
              <a:spcBef>
                <a:spcPts val="0"/>
              </a:spcBef>
              <a:spcAft>
                <a:spcPts val="0"/>
              </a:spcAft>
              <a:buSzPts val="1600"/>
              <a:buChar char="●"/>
            </a:pPr>
            <a:r>
              <a:rPr lang="en"/>
              <a:t>Stretch: snapshot undo</a:t>
            </a:r>
            <a:endParaRPr/>
          </a:p>
          <a:p>
            <a:pPr indent="-317500" lvl="1" marL="914400" rtl="0" algn="l">
              <a:spcBef>
                <a:spcPts val="0"/>
              </a:spcBef>
              <a:spcAft>
                <a:spcPts val="0"/>
              </a:spcAft>
              <a:buSzPts val="1400"/>
              <a:buChar char="○"/>
            </a:pPr>
            <a:r>
              <a:rPr lang="en"/>
              <a:t>Replace CommandHistory with a history of Level snapshots</a:t>
            </a:r>
            <a:endParaRPr/>
          </a:p>
          <a:p>
            <a:pPr indent="-317500" lvl="1" marL="914400" rtl="0" algn="l">
              <a:spcBef>
                <a:spcPts val="0"/>
              </a:spcBef>
              <a:spcAft>
                <a:spcPts val="0"/>
              </a:spcAft>
              <a:buSzPts val="1400"/>
              <a:buChar char="○"/>
            </a:pPr>
            <a:r>
              <a:rPr lang="en"/>
              <a:t>Compare: code, memory, and how easy each is to get wrong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Check Yourself</a:t>
            </a:r>
            <a:endParaRPr/>
          </a:p>
        </p:txBody>
      </p:sp>
      <p:sp>
        <p:nvSpPr>
          <p:cNvPr id="3" name="Text Placeholder 2"/>
          <p:cNvSpPr>
            <a:spLocks noGrp="1"/>
          </p:cNvSpPr>
          <p:nvPr>
            <p:ph type="body" idx="1"/>
          </p:nvPr>
        </p:nvSpPr>
        <p:spPr>
          <a:xfrm>
            <a:off x="311700" y="885950"/>
            <a:ext cx="8520600" cy="1719072"/>
          </a:xfrm>
        </p:spPr>
        <p:txBody>
          <a:bodyPr/>
          <a:lstStyle/>
          <a:p>
            <a:pPr indent="-330200" lvl="0" marL="457200" rtl="0" algn="l">
              <a:spcBef>
                <a:spcPts val="0"/>
              </a:spcBef>
              <a:spcAft>
                <a:spcPts val="0"/>
              </a:spcAft>
              <a:buSzPts val="1600"/>
              <a:buChar char="●"/>
            </a:pPr>
            <a:r>
              <a:rPr lang="en"/>
              <a:t>What does turning a request into an object make possible?</a:t>
            </a:r>
            <a:endParaRPr/>
          </a:p>
          <a:p>
            <a:pPr indent="-330200" lvl="0" marL="457200" rtl="0" algn="l">
              <a:spcBef>
                <a:spcPts val="0"/>
              </a:spcBef>
              <a:spcAft>
                <a:spcPts val="0"/>
              </a:spcAft>
              <a:buSzPts val="1600"/>
              <a:buChar char="●"/>
            </a:pPr>
            <a:r>
              <a:rPr lang="en"/>
              <a:t>Why does a move command remember whether it pushed a box?</a:t>
            </a:r>
            <a:endParaRPr/>
          </a:p>
          <a:p>
            <a:pPr indent="-330200" lvl="0" marL="457200" rtl="0" algn="l">
              <a:spcBef>
                <a:spcPts val="0"/>
              </a:spcBef>
              <a:spcAft>
                <a:spcPts val="0"/>
              </a:spcAft>
              <a:buSzPts val="1600"/>
              <a:buChar char="●"/>
            </a:pPr>
            <a:r>
              <a:rPr lang="en"/>
              <a:t>Why is the redo stack cleared when a new command is executed?</a:t>
            </a:r>
            <a:endParaRPr/>
          </a:p>
          <a:p>
            <a:pPr indent="-330200" lvl="0" marL="457200" rtl="0" algn="l">
              <a:spcBef>
                <a:spcPts val="0"/>
              </a:spcBef>
              <a:spcAft>
                <a:spcPts val="0"/>
              </a:spcAft>
              <a:buSzPts val="1600"/>
              <a:buChar char="●"/>
            </a:pPr>
            <a:r>
              <a:rPr lang="en"/>
              <a:t>Why can Level be unit-tested, but not code in Game1.Update?</a:t>
            </a:r>
            <a:endParaRPr/>
          </a:p>
        </p:txBody>
      </p:sp>
      <p:sp>
        <p:nvSpPr>
          <p:cNvPr id="4" name="TextBox 3"/>
          <p:cNvSpPr txBox="1"/>
          <p:nvPr/>
        </p:nvSpPr>
        <p:spPr>
          <a:xfrm>
            <a:off x="457200" y="3182112"/>
            <a:ext cx="8229600" cy="457200"/>
          </a:xfrm>
          <a:prstGeom prst="rect">
            <a:avLst/>
          </a:prstGeom>
          <a:noFill/>
        </p:spPr>
        <p:txBody>
          <a:bodyPr wrap="square">
            <a:spAutoFit/>
          </a:bodyPr>
          <a:lstStyle/>
          <a:p>
            <a:pPr algn="ctr"/>
            <a:r>
              <a:rPr sz="1400" b="0" i="0">
                <a:solidFill>
                  <a:srgbClr val="9AA3AB"/>
                </a:solidFill>
              </a:rPr>
              <a:t>The answers, and more questions, are on the course site.</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Apply It to Your Project</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Which rules could be separated from drawing and input?</a:t>
            </a:r>
            <a:endParaRPr/>
          </a:p>
          <a:p>
            <a:pPr indent="-317500" lvl="1" marL="914400" rtl="0" algn="l">
              <a:spcBef>
                <a:spcPts val="0"/>
              </a:spcBef>
              <a:spcAft>
                <a:spcPts val="0"/>
              </a:spcAft>
              <a:buSzPts val="1400"/>
              <a:buChar char="○"/>
            </a:pPr>
            <a:r>
              <a:rPr lang="en"/>
              <a:t>Write one unit test for one of them</a:t>
            </a:r>
            <a:endParaRPr/>
          </a:p>
          <a:p>
            <a:pPr indent="-330200" lvl="0" marL="457200" rtl="0" algn="l">
              <a:spcBef>
                <a:spcPts val="0"/>
              </a:spcBef>
              <a:spcAft>
                <a:spcPts val="0"/>
              </a:spcAft>
              <a:buSzPts val="1600"/>
              <a:buChar char="●"/>
            </a:pPr>
            <a:r>
              <a:rPr lang="en"/>
              <a:t>Would undo, replays or queued actions be useful in your game?</a:t>
            </a:r>
            <a:endParaRPr/>
          </a:p>
          <a:p>
            <a:pPr indent="-317500" lvl="1" marL="914400" rtl="0" algn="l">
              <a:spcBef>
                <a:spcPts val="0"/>
              </a:spcBef>
              <a:spcAft>
                <a:spcPts val="0"/>
              </a:spcAft>
              <a:buSzPts val="1400"/>
              <a:buChar char="○"/>
            </a:pPr>
            <a:r>
              <a:rPr lang="en"/>
              <a:t>Which actions would become commands, and what would each remember?</a:t>
            </a:r>
            <a:endParaRPr/>
          </a:p>
          <a:p>
            <a:pPr indent="-330200" lvl="0" marL="457200" rtl="0" algn="l">
              <a:spcBef>
                <a:spcPts val="0"/>
              </a:spcBef>
              <a:spcAft>
                <a:spcPts val="0"/>
              </a:spcAft>
              <a:buSzPts val="1600"/>
              <a:buChar char="●"/>
            </a:pPr>
            <a:r>
              <a:rPr lang="en"/>
              <a:t>Could your levels, or part of them, be data files?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GMD">
  <a:themeElements>
    <a:clrScheme name="Simple Light">
      <a:dk1>
        <a:srgbClr val="DEE2E6"/>
      </a:dk1>
      <a:lt1>
        <a:srgbClr val="818387"/>
      </a:lt1>
      <a:dk2>
        <a:srgbClr val="1F1F1F"/>
      </a:dk2>
      <a:lt2>
        <a:srgbClr val="DEE2E6"/>
      </a:lt2>
      <a:accent1>
        <a:srgbClr val="D45D35"/>
      </a:accent1>
      <a:accent2>
        <a:srgbClr val="212121"/>
      </a:accent2>
      <a:accent3>
        <a:srgbClr val="78909C"/>
      </a:accent3>
      <a:accent4>
        <a:srgbClr val="FFAB40"/>
      </a:accent4>
      <a:accent5>
        <a:srgbClr val="0097A7"/>
      </a:accent5>
      <a:accent6>
        <a:srgbClr val="EEFF41"/>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