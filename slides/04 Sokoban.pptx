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1" r:id="rId40"/>
    <p:sldId id="257" r:id="rId7"/>
    <p:sldId id="258" r:id="rId8"/>
    <p:sldId id="259" r:id="rId9"/>
    <p:sldId id="297" r:id="rId56"/>
    <p:sldId id="298" r:id="rId57"/>
    <p:sldId id="315" r:id="rId36"/>
    <p:sldId id="299" r:id="rId58"/>
    <p:sldId id="320" r:id="rId33"/>
    <p:sldId id="300" r:id="rId59"/>
    <p:sldId id="314" r:id="rId37"/>
    <p:sldId id="301" r:id="rId60"/>
    <p:sldId id="302" r:id="rId61"/>
    <p:sldId id="303" r:id="rId62"/>
    <p:sldId id="304" r:id="rId63"/>
    <p:sldId id="305" r:id="rId64"/>
    <p:sldId id="313" r:id="rId38"/>
    <p:sldId id="269" r:id="rId19"/>
    <p:sldId id="270" r:id="rId20"/>
    <p:sldId id="271" r:id="rId21"/>
    <p:sldId id="272" r:id="rId22"/>
    <p:sldId id="273" r:id="rId23"/>
    <p:sldId id="274" r:id="rId24"/>
    <p:sldId id="276" r:id="rId26"/>
    <p:sldId id="306" r:id="rId65"/>
    <p:sldId id="312" r:id="rId39"/>
    <p:sldId id="319" r:id="rId55"/>
    <p:sldId id="307" r:id="rId66"/>
    <p:sldId id="308" r:id="rId67"/>
    <p:sldId id="318" r:id="rId54"/>
    <p:sldId id="309" r:id="rId68"/>
    <p:sldId id="280" r:id="rId30"/>
    <p:sldId id="317" r:id="rId34"/>
    <p:sldId id="316" r:id="rId35"/>
    <p:sldId id="292" r:id="rId42"/>
    <p:sldId id="293" r:id="rId52"/>
    <p:sldId id="310"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6" Type="http://schemas.openxmlformats.org/officeDocument/2006/relationships/slide" Target="slides/slide26.xml"/><Relationship Id="rId30" Type="http://schemas.openxmlformats.org/officeDocument/2006/relationships/slide" Target="slides/slide36.xml"/><Relationship Id="rId33" Type="http://schemas.openxmlformats.org/officeDocument/2006/relationships/slide" Target="slides/slide10.xml"/><Relationship Id="rId34" Type="http://schemas.openxmlformats.org/officeDocument/2006/relationships/slide" Target="slides/slide37.xml"/><Relationship Id="rId35" Type="http://schemas.openxmlformats.org/officeDocument/2006/relationships/slide" Target="slides/slide38.xml"/><Relationship Id="rId36" Type="http://schemas.openxmlformats.org/officeDocument/2006/relationships/slide" Target="slides/slide8.xml"/><Relationship Id="rId37" Type="http://schemas.openxmlformats.org/officeDocument/2006/relationships/slide" Target="slides/slide12.xml"/><Relationship Id="rId38" Type="http://schemas.openxmlformats.org/officeDocument/2006/relationships/slide" Target="slides/slide18.xml"/><Relationship Id="rId39" Type="http://schemas.openxmlformats.org/officeDocument/2006/relationships/slide" Target="slides/slide28.xml"/><Relationship Id="rId40" Type="http://schemas.openxmlformats.org/officeDocument/2006/relationships/slide" Target="slides/slide2.xml"/><Relationship Id="rId41" Type="http://schemas.openxmlformats.org/officeDocument/2006/relationships/slide" Target="slides/slide41.xml"/><Relationship Id="rId42" Type="http://schemas.openxmlformats.org/officeDocument/2006/relationships/slide" Target="slides/slide39.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40.xml"/><Relationship Id="rId53" Type="http://schemas.openxmlformats.org/officeDocument/2006/relationships/slide" Target="slides/slide42.xml"/><Relationship Id="rId54" Type="http://schemas.openxmlformats.org/officeDocument/2006/relationships/slide" Target="slides/slide34.xml"/><Relationship Id="rId55" Type="http://schemas.openxmlformats.org/officeDocument/2006/relationships/slide" Target="slides/slide31.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9.xml"/><Relationship Id="rId59" Type="http://schemas.openxmlformats.org/officeDocument/2006/relationships/slide" Target="slides/slide11.xml"/><Relationship Id="rId60" Type="http://schemas.openxmlformats.org/officeDocument/2006/relationships/slide" Target="slides/slide13.xml"/><Relationship Id="rId61" Type="http://schemas.openxmlformats.org/officeDocument/2006/relationships/slide" Target="slides/slide14.xml"/><Relationship Id="rId62" Type="http://schemas.openxmlformats.org/officeDocument/2006/relationships/slide" Target="slides/slide15.xml"/><Relationship Id="rId63" Type="http://schemas.openxmlformats.org/officeDocument/2006/relationships/slide" Target="slides/slide16.xml"/><Relationship Id="rId64" Type="http://schemas.openxmlformats.org/officeDocument/2006/relationships/slide" Target="slides/slide17.xml"/><Relationship Id="rId65" Type="http://schemas.openxmlformats.org/officeDocument/2006/relationships/slide" Target="slides/slide27.xml"/><Relationship Id="rId66" Type="http://schemas.openxmlformats.org/officeDocument/2006/relationships/slide" Target="slides/slide32.xml"/><Relationship Id="rId67" Type="http://schemas.openxmlformats.org/officeDocument/2006/relationships/slide" Target="slides/slide33.xml"/><Relationship Id="rId68"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Sokoban. The main topic: command and undo.</a:t>
            </a:r>
          </a:p>
          <a:p>
            <a:r>
              <a:t>Start by playing the finished game, Sokoban4,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Sokoban4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command and undo. Before we get there we load levels from text, keep the rules apart from the drawing, and write our first unit tests.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gar-games/04-sokoban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Looks: LevelView (swap the tile numbers). Rule: Level.IsSolved.</a:t>
            </a:r>
          </a:p>
          <a:p>
            <a:r>
              <a:t>Ask: did either change touch the other class? No, and that is why the split was made.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test together: the level is written in the test, one move, three asserts. The name says what it checks.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Tests live in their own project that references the game. xUnit finds and runs them. The game knows nothing about its tests.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Sokoban0 and Sokoban1 side by side (a diff tool, or two editor panes), then run Sokoban1.</a:t>
            </a:r>
          </a:p>
          <a:p>
            <a:r>
              <a:t>- Level.Move returns what happened: walked, pushed, blocked</a:t>
            </a:r>
          </a:p>
          <a:p>
            <a:r>
              <a:t>- LevelView only reads the level</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Sokoban0.</a:t>
            </a:r>
          </a:p>
          <a:p>
            <a:r>
              <a:t>- level1.txt drawn character by character</a:t>
            </a:r>
          </a:p>
          <a:p>
            <a:r>
              <a:t>- ask: what is the state of the game here? Only the text.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Sokoban levels have been plain text for decades. Read the level on the right together: where are the box and the goal?</a:t>
            </a:r>
          </a:p>
          <a:p>
            <a:r>
              <a:t>Builder.cs copies .txt files as they are; the game reads them itself.</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does it mean to turn a request into an object, and what does it make possible?</a:t>
            </a:r>
          </a:p>
          <a:p>
            <a:r>
              <a:t>A: Instead of calling a method directly, you create an object that represents the call. It can then be stored, queued, logged, replayed, sent over the network, or undone, because it still exists after it has run.</a:t>
            </a:r>
          </a:p>
          <a:p/>
          <a:p>
            <a:r>
              <a:t>Q: Why does a move command have to remember whether it pushed a box?</a:t>
            </a:r>
          </a:p>
          <a:p>
            <a:r>
              <a:t>A: Undoing a walk only moves the player back. Undoing a push must also move the box back. The level after the move doesn't tell which one happened, so the command must remember it.</a:t>
            </a:r>
          </a:p>
          <a:p/>
          <a:p>
            <a:r>
              <a:t>Q: Why is the redo stack cleared when a new command is executed?</a:t>
            </a:r>
          </a:p>
          <a:p>
            <a:r>
              <a:t>A: The undone commands belong to a different future. After a new move, the state they were made for no longer exists, so redoing them could leave the level in an impossible state.</a:t>
            </a:r>
          </a:p>
          <a:p/>
          <a:p>
            <a:r>
              <a:t>Q: What is a unit test, and what are its three parts?</a:t>
            </a:r>
          </a:p>
          <a:p>
            <a:r>
              <a:t>A: A small piece of code that checks one thing about your code automatically. It arranges a situation, acts (does one thing), and asserts that the result is what it should be.</a:t>
            </a:r>
          </a:p>
          <a:p/>
          <a:p>
            <a:r>
              <a:t>Q: Why can Level be unit-tested, but not code in Game1.Update?</a:t>
            </a:r>
          </a:p>
          <a:p>
            <a:r>
              <a:t>A: Level only depends on its own data, so a test can create one from a string. Game1 needs a window, a graphics device, content and real key presses.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Reverse each command, or restore a snapshot. Ask the question at the bottom: in a big open world, you can’t copy everything; store only what changed.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at the top first: how would you know pushing still works? Playing: slow, and easy to skip a case.</a:t>
            </a:r>
          </a:p>
          <a:p>
            <a:r>
              <a:t>A test checks one thing automatically. Arrange, act, assert. Only possible because Level needs no window.</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954230080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g3954230080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“Turn a request into an object.” Once a request is an object, you can store it, queue it, log it, undo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cbd7a28ff6_0_1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cbd7a28ff6_0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button is hardwired to one action. Ask: how would you let players remap buttons? Or record a replay?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cbd7a28ff6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3cbd7a28ff6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command is a reified method call: the call, made into an object you can hold on to.</a:t>
            </a:r>
          </a:p>
          <a:p>
            <a:r>
              <a:t>“A command is a reified method call.”</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bd7a28ff6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bd7a28ff6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an invoker holds commands and calls Execute; each command knows its receiver.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b190ae9b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b190ae9b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buttons now hold commands. Remapping is assigning a different command.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cbd7a28ff6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3cbd7a28ff6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Commands can come from the player, from an AI or from a replay. The actor that executes them does not know which.</a:t>
            </a:r>
          </a:p>
          <a:p>
            <a:r>
              <a:t>Ask: what would a replay of a Sokoban level be? Answer: the list of commands, executed again from the start.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cb190ae9b0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cb190ae9b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Input, undo and redo: three uses of the same idea. Today we do all three.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 holds the state and the rules; LevelView draws it and never changes it.</a:t>
            </a:r>
          </a:p>
          <a:p>
            <a:r>
              <a:t>Ask: new art, which class? LevelView. A new rule? Level.</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Sokoban2 and Sokoban3 side by side (a diff tool, or two editor panes), then run Sokoban3.</a:t>
            </a:r>
          </a:p>
          <a:p>
            <a:r>
              <a:t>- MoveCommand and CommandHistory</a:t>
            </a:r>
          </a:p>
          <a:p>
            <a:r>
              <a:t>- Z and Y in the running game</a:t>
            </a:r>
          </a:p>
          <a:p>
            <a:r>
              <a:t>- then Sokoban4: seven levels, restart, the move counter</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dotnet test in the game folder, or the test explorer. A failure names the rule, the expected and actual values, and the line.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dotnet test in 04-sokoban. Then break Level.Move on purpose (push the box two cells), run again, and read the failure together. Undo the change.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Sokoban, every move is a MoveCommand. Only moves that change something become commands.</a:t>
            </a:r>
          </a:p>
          <a:p>
            <a:r>
              <a:t>Ask: why keep a list of them? To count moves; and, next, to undo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is moving the player back enough? No: a push must pull the box back too. So the command remembers what happened.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Execute and Undo. Ask: why clear the redo stack on a new command? Those undone moves belong to another future.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Restart as a command: ask what it must remember (the whole level before). Stretch: snapshot undo, and compare.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Game1 needs using System.Collections.Generic and Microsoft.Xna.Framework.Input.</a:t>
            </a:r>
          </a:p>
          <a:p>
            <a:r>
              <a:t>The swap: (_moveKeys[Keys.Up], _moveKeys[Keys.Down]) = (_moveKeys[Keys.Down], _moveKeys[Keys.Up]). Only the dictionary changed: Level, MoveCommand and the history never knew which key was pressed.</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Sokoban. Ask who has played it, and what they remember of how it plays.</a:t>
            </a:r>
          </a:p>
          <a:p>
            <a:r>
              <a:t>Today we build the parts that matter for the architecture.</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command already gets the direction; it only has to keep it.</a:t>
            </a:r>
          </a:p>
          <a:p>
            <a:r>
              <a:t>Answer to the question: whether it pushed a box (the MoveResult). Undo comes next.</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Everyone should see one test pass and one fail. The failure message names the test, the expected and the actual value, and the line.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Sokoban4. The tests exercises matter most: after the first test in class, everyone should add the two missing cases.</a:t>
            </a:r>
          </a:p>
          <a:p>
            <a:r>
              <a:t>The new level only shows up once LevelCount in Game1 is raised. Ask: why is that constant a smell for levels that are data? The game could count the level files instead.</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Sokoban0 only draws the text, so anything draws.</a:t>
            </a:r>
          </a:p>
          <a:p>
            <a:r>
              <a:t>Answer: one player, as many goals as boxes, walls all round, and every box able to reach a goal.</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other half of Command: configuring input. The book’s first example is a button that holds a command object.</a:t>
            </a:r>
          </a:p>
          <a:p>
            <a:r>
              <a:t>Ask: why not keep one MoveCommand per key and execute it again? The history must keep each move to undo it, so each press needs its own object. The book says the same: with undo, the input handler hands out new commands.</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the four panels. Undo moves the top command to the undone stack; redo moves it back.</a:t>
            </a:r>
          </a:p>
          <a:p>
            <a:r>
              <a:t>Ask: why is C dropped when D is made? Answer: C was made for a level that no longer exists.</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After a walk and after a push the player stands on the same cell. The level alone cannot tell which happened.</a:t>
            </a:r>
          </a:p>
          <a:p>
            <a:r>
              <a:t>Ask: what must the command keep to undo itself? Answer: whether it pushed a box (the MoveResult).</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move looks at two cells: the next one, and the one behind it. Three outcomes: walked, pushed, blocked.</a:t>
            </a:r>
          </a:p>
          <a:p>
            <a:r>
              <a:t>Ask: which of the three becomes a command later? Answer: walked and pushed. A blocked move changes nothing.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4-sokoban"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4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4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png"/><Relationship Id="rId3" Type="http://schemas.openxmlformats.org/officeDocument/2006/relationships/notesSlide" Target="../notesSlides/notesSlide4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04: Sokoban</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Sokoban</a:t>
            </a:r>
            <a:endParaRPr/>
          </a:p>
        </p:txBody>
      </p:sp>
      <p:pic>
        <p:nvPicPr>
          <p:cNvPr id="3" name="Picture 2" descr="sokoban.png"/>
          <p:cNvPicPr>
            <a:picLocks noChangeAspect="1"/>
          </p:cNvPicPr>
          <p:nvPr/>
        </p:nvPicPr>
        <p:blipFill>
          <a:blip r:embed="rId2"/>
          <a:stretch>
            <a:fillRect/>
          </a:stretch>
        </p:blipFill>
        <p:spPr>
          <a:xfrm>
            <a:off x="1652067" y="960120"/>
            <a:ext cx="5839865"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Sokoban (Thinking Rabbit, 1982). Screenshot © Thinking Rabbit.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okoban.gif"/>
          <p:cNvPicPr>
            <a:picLocks noChangeAspect="1"/>
          </p:cNvPicPr>
          <p:nvPr/>
        </p:nvPicPr>
        <p:blipFill>
          <a:blip r:embed="rId3"/>
          <a:stretch>
            <a:fillRect/>
          </a:stretch>
        </p:blipFill>
        <p:spPr>
          <a:xfrm>
            <a:off x="2642135" y="1531275"/>
            <a:ext cx="3859729" cy="325664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44144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Command and undo</a:t>
            </a:r>
            <a:endParaRPr/>
          </a:p>
          <a:p>
            <a:pPr indent="-330200" lvl="0" marL="457200" rtl="0" algn="l">
              <a:spcBef>
                <a:spcPts val="0"/>
              </a:spcBef>
              <a:spcAft>
                <a:spcPts val="0"/>
              </a:spcAft>
              <a:buSzPts val="1600"/>
              <a:buChar char="●"/>
            </a:pPr>
            <a:r>
              <a:rPr lang="en"/>
              <a:t>Levels as Data</a:t>
            </a:r>
            <a:endParaRPr/>
          </a:p>
          <a:p>
            <a:pPr indent="-330200" lvl="0" marL="457200" rtl="0" algn="l">
              <a:spcBef>
                <a:spcPts val="0"/>
              </a:spcBef>
              <a:spcAft>
                <a:spcPts val="0"/>
              </a:spcAft>
              <a:buSzPts val="1600"/>
              <a:buChar char="●"/>
            </a:pPr>
            <a:r>
              <a:rPr lang="en"/>
              <a:t>Rules Apart From Drawing</a:t>
            </a:r>
            <a:endParaRPr/>
          </a:p>
          <a:p>
            <a:pPr indent="-330200" lvl="0" marL="457200" rtl="0" algn="l">
              <a:spcBef>
                <a:spcPts val="0"/>
              </a:spcBef>
              <a:spcAft>
                <a:spcPts val="0"/>
              </a:spcAft>
              <a:buSzPts val="1600"/>
              <a:buChar char="●"/>
            </a:pPr>
            <a:r>
              <a:rPr lang="en"/>
              <a:t>Unit Tests</a:t>
            </a:r>
            <a:endParaRPr/>
          </a:p>
          <a:p>
            <a:pPr indent="-330200" lvl="0" marL="457200" rtl="0" algn="l">
              <a:spcBef>
                <a:spcPts val="0"/>
              </a:spcBef>
              <a:spcAft>
                <a:spcPts val="0"/>
              </a:spcAft>
              <a:buSzPts val="1600"/>
              <a:buChar char="●"/>
            </a:pPr>
            <a:r>
              <a:rPr lang="en"/>
              <a:t>Command Pattern</a:t>
            </a:r>
            <a:endParaRPr/>
          </a:p>
          <a:p>
            <a:pPr indent="-330200" lvl="0" marL="457200" rtl="0" algn="l">
              <a:spcBef>
                <a:spcPts val="0"/>
              </a:spcBef>
              <a:spcAft>
                <a:spcPts val="0"/>
              </a:spcAft>
              <a:buSzPts val="1600"/>
              <a:buChar char="●"/>
            </a:pPr>
            <a:r>
              <a:rPr lang="en"/>
              <a:t>Undo &amp; Redo</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04-sokoban</a:t>
            </a:r>
            <a:endParaRPr/>
          </a:p>
          <a:p>
            <a:pPr indent="-330200" lvl="0" marL="457200" rtl="0" algn="l">
              <a:spcBef>
                <a:spcPts val="0"/>
              </a:spcBef>
              <a:spcAft>
                <a:spcPts val="0"/>
              </a:spcAft>
              <a:buSzPts val="1600"/>
              <a:buChar char="●"/>
            </a:pPr>
            <a:r>
              <a:rPr lang="en"/>
              <a:t>Its README: the steps (Sokoban0 to Sokoban4, and Sokoban.Tests),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as Data</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Sokoban levels have been text for decades</a:t>
            </a:r>
            <a:endParaRPr/>
          </a:p>
          <a:p>
            <a:pPr indent="-317500" lvl="1" marL="914400" rtl="0" algn="l">
              <a:buClr>
                <a:srgbClr val="6C757D"/>
              </a:buClr>
              <a:spcBef>
                <a:spcPts val="0"/>
              </a:spcBef>
              <a:spcAft>
                <a:spcPts val="0"/>
              </a:spcAft>
              <a:buSzPts val="1400"/>
              <a:buChar char="○"/>
            </a:pPr>
            <a:r>
              <a:rPr lang="en" sz="1400">
                <a:solidFill>
                  <a:srgbClr val="6C757D"/>
                </a:solidFill>
              </a:rPr>
              <a:t># wall   $ box   . goal   @ player</a:t>
            </a:r>
            <a:endParaRPr/>
          </a:p>
          <a:p>
            <a:pPr indent="-317500" lvl="1" marL="914400" rtl="0" algn="l">
              <a:buClr>
                <a:srgbClr val="6C757D"/>
              </a:buClr>
              <a:spcBef>
                <a:spcPts val="0"/>
              </a:spcBef>
              <a:spcAft>
                <a:spcPts val="0"/>
              </a:spcAft>
              <a:buSzPts val="1400"/>
              <a:buChar char="○"/>
            </a:pPr>
            <a:r>
              <a:rPr lang="en" sz="1400">
                <a:solidFill>
                  <a:srgbClr val="6C757D"/>
                </a:solidFill>
              </a:rPr>
              <a:t>* box on a goal   + player on a goal</a:t>
            </a:r>
            <a:endParaRPr/>
          </a:p>
          <a:p>
            <a:pPr indent="-330200" lvl="0" marL="457200" rtl="0" algn="l">
              <a:buClr>
                <a:srgbClr val="DEE2E6"/>
              </a:buClr>
              <a:spcBef>
                <a:spcPts val="0"/>
              </a:spcBef>
              <a:spcAft>
                <a:spcPts val="0"/>
              </a:spcAft>
              <a:buSzPts val="1600"/>
              <a:buChar char="●"/>
            </a:pPr>
            <a:r>
              <a:rPr lang="en" sz="1600">
                <a:solidFill>
                  <a:srgbClr val="DEE2E6"/>
                </a:solidFill>
              </a:rPr>
              <a:t>Small, readable, easy to edit</a:t>
            </a:r>
            <a:endParaRPr/>
          </a:p>
          <a:p>
            <a:pPr indent="-330200" lvl="0" marL="457200" rtl="0" algn="l">
              <a:buClr>
                <a:srgbClr val="DEE2E6"/>
              </a:buClr>
              <a:spcBef>
                <a:spcPts val="0"/>
              </a:spcBef>
              <a:spcAft>
                <a:spcPts val="0"/>
              </a:spcAft>
              <a:buSzPts val="1600"/>
              <a:buChar char="●"/>
            </a:pPr>
            <a:r>
              <a:rPr lang="en" sz="1600">
                <a:solidFill>
                  <a:srgbClr val="DEE2E6"/>
                </a:solidFill>
              </a:rPr>
              <a:t>Copied as they are, and read by our own code</a:t>
            </a:r>
            <a:endParaRPr/>
          </a:p>
          <a:p>
            <a:pPr indent="-330200" lvl="0" marL="457200" rtl="0" algn="l">
              <a:buClr>
                <a:srgbClr val="DEE2E6"/>
              </a:buClr>
              <a:spcBef>
                <a:spcPts val="0"/>
              </a:spcBef>
              <a:spcAft>
                <a:spcPts val="0"/>
              </a:spcAft>
              <a:buSzPts val="1600"/>
              <a:buChar char="●"/>
            </a:pPr>
            <a:r>
              <a:rPr lang="en" sz="1600">
                <a:solidFill>
                  <a:srgbClr val="DEE2E6"/>
                </a:solidFill>
              </a:rPr>
              <a:t>Sokoban0 draws the text directly</a:t>
            </a:r>
            <a:endParaRPr/>
          </a:p>
          <a:p>
            <a:pPr indent="-317500" lvl="1" marL="914400" rtl="0" algn="l">
              <a:buClr>
                <a:srgbClr val="6C757D"/>
              </a:buClr>
              <a:spcBef>
                <a:spcPts val="0"/>
              </a:spcBef>
              <a:spcAft>
                <a:spcPts val="0"/>
              </a:spcAft>
              <a:buSzPts val="1400"/>
              <a:buChar char="○"/>
            </a:pPr>
            <a:r>
              <a:rPr lang="en" sz="1400">
                <a:solidFill>
                  <a:srgbClr val="6C757D"/>
                </a:solidFill>
              </a:rPr>
              <a:t>But then the text is the only state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Builder.cs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content.IncludeCopy&lt;WildcardRule&gt;("*.txt");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Stream stream = TitleContainer.OpenStream(</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Path.Combine(Content.RootDirectory,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"levels/level1.txt"));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Levels as Data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a level file, drawn character by character</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Text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Add a second box, a second goal, and a wall in the middle</a:t>
            </a:r>
            <a:endParaRPr/>
          </a:p>
          <a:p>
            <a:pPr indent="-330200" lvl="0" marL="457200" rtl="0" algn="l">
              <a:spcBef>
                <a:spcPts val="0"/>
              </a:spcBef>
              <a:spcAft>
                <a:spcPts val="0"/>
              </a:spcAft>
              <a:buSzPts val="1600"/>
              <a:buChar char="●"/>
            </a:pPr>
            <a:r>
              <a:rPr lang="en"/>
              <a:t>What must be true for a level to be playable?</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Rules Apart From Drawing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Level: the state and the rules</a:t>
            </a:r>
            <a:endParaRPr/>
          </a:p>
          <a:p>
            <a:pPr indent="-317500" lvl="1" marL="914400" rtl="0" algn="l">
              <a:buClr>
                <a:srgbClr val="6C757D"/>
              </a:buClr>
              <a:spcBef>
                <a:spcPts val="0"/>
              </a:spcBef>
              <a:spcAft>
                <a:spcPts val="0"/>
              </a:spcAft>
              <a:buSzPts val="1400"/>
              <a:buChar char="○"/>
            </a:pPr>
            <a:r>
              <a:rPr lang="en" sz="1400">
                <a:solidFill>
                  <a:srgbClr val="6C757D"/>
                </a:solidFill>
              </a:rPr>
              <a:t>Walls, goals, boxes, the player</a:t>
            </a:r>
            <a:endParaRPr/>
          </a:p>
          <a:p>
            <a:pPr indent="-317500" lvl="1" marL="914400" rtl="0" algn="l">
              <a:buClr>
                <a:srgbClr val="6C757D"/>
              </a:buClr>
              <a:spcBef>
                <a:spcPts val="0"/>
              </a:spcBef>
              <a:spcAft>
                <a:spcPts val="0"/>
              </a:spcAft>
              <a:buSzPts val="1400"/>
              <a:buChar char="○"/>
            </a:pPr>
            <a:r>
              <a:rPr lang="en" sz="1400">
                <a:solidFill>
                  <a:srgbClr val="6C757D"/>
                </a:solidFill>
              </a:rPr>
              <a:t>No textures, no keys, no screen</a:t>
            </a:r>
            <a:endParaRPr/>
          </a:p>
          <a:p>
            <a:pPr indent="-330200" lvl="0" marL="457200" rtl="0" algn="l">
              <a:buClr>
                <a:srgbClr val="DEE2E6"/>
              </a:buClr>
              <a:spcBef>
                <a:spcPts val="0"/>
              </a:spcBef>
              <a:spcAft>
                <a:spcPts val="0"/>
              </a:spcAft>
              <a:buSzPts val="1600"/>
              <a:buChar char="●"/>
            </a:pPr>
            <a:r>
              <a:rPr lang="en" sz="1600">
                <a:solidFill>
                  <a:srgbClr val="DEE2E6"/>
                </a:solidFill>
              </a:rPr>
              <a:t>LevelView: draws a level, never changes it</a:t>
            </a:r>
            <a:endParaRPr/>
          </a:p>
          <a:p>
            <a:pPr indent="-317500" lvl="1" marL="914400" rtl="0" algn="l">
              <a:buClr>
                <a:srgbClr val="6C757D"/>
              </a:buClr>
              <a:spcBef>
                <a:spcPts val="0"/>
              </a:spcBef>
              <a:spcAft>
                <a:spcPts val="0"/>
              </a:spcAft>
              <a:buSzPts val="1400"/>
              <a:buChar char="○"/>
            </a:pPr>
            <a:r>
              <a:rPr lang="en" sz="1400">
                <a:solidFill>
                  <a:srgbClr val="6C757D"/>
                </a:solidFill>
              </a:rPr>
              <a:t>Which way the player faces is only drawing</a:t>
            </a:r>
            <a:endParaRPr/>
          </a:p>
          <a:p>
            <a:pPr indent="-330200" lvl="0" marL="457200" rtl="0" algn="l">
              <a:buClr>
                <a:srgbClr val="DEE2E6"/>
              </a:buClr>
              <a:spcBef>
                <a:spcPts val="0"/>
              </a:spcBef>
              <a:spcAft>
                <a:spcPts val="0"/>
              </a:spcAft>
              <a:buSzPts val="1600"/>
              <a:buChar char="●"/>
            </a:pPr>
            <a:r>
              <a:rPr lang="en" sz="1600">
                <a:solidFill>
                  <a:srgbClr val="DEE2E6"/>
                </a:solidFill>
              </a:rPr>
              <a:t>Each part changes on its own</a:t>
            </a:r>
            <a:endParaRPr/>
          </a:p>
          <a:p>
            <a:pPr indent="-317500" lvl="1" marL="914400" rtl="0" algn="l">
              <a:buClr>
                <a:srgbClr val="6C757D"/>
              </a:buClr>
              <a:spcBef>
                <a:spcPts val="0"/>
              </a:spcBef>
              <a:spcAft>
                <a:spcPts val="0"/>
              </a:spcAft>
              <a:buSzPts val="1400"/>
              <a:buChar char="○"/>
            </a:pPr>
            <a:r>
              <a:rPr lang="en" sz="1400">
                <a:solidFill>
                  <a:srgbClr val="6C757D"/>
                </a:solidFill>
              </a:rPr>
              <a:t>New art: LevelView. New rule: Level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MoveResult 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(HasBox(Player))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MoveResult.Walked;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bool IsSolved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_boxes.All(_goals.Contains);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The Rules of a Move</a:t>
            </a:r>
            <a:endParaRPr/>
          </a:p>
        </p:txBody>
      </p:sp>
      <p:pic>
        <p:nvPicPr>
          <p:cNvPr id="3" name="Picture 2" descr="push-rule.png"/>
          <p:cNvPicPr>
            <a:picLocks noChangeAspect="1"/>
          </p:cNvPicPr>
          <p:nvPr/>
        </p:nvPicPr>
        <p:blipFill>
          <a:blip r:embed="rId2"/>
          <a:stretch>
            <a:fillRect/>
          </a:stretch>
        </p:blipFill>
        <p:spPr>
          <a:xfrm>
            <a:off x="320039" y="1051560"/>
            <a:ext cx="8503920" cy="389763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Rules Apart From Drawing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 Sokoban1: Level and LevelView</a:t>
            </a:r>
            <a:endParaRPr sz="1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Rules or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Sokoban1:</a:t>
            </a:r>
            <a:endParaRPr/>
          </a:p>
          <a:p>
            <a:pPr indent="-330200" lvl="0" marL="457200" rtl="0" algn="l">
              <a:spcBef>
                <a:spcPts val="0"/>
              </a:spcBef>
              <a:spcAft>
                <a:spcPts val="0"/>
              </a:spcAft>
              <a:buSzPts val="1600"/>
              <a:buChar char="●"/>
            </a:pPr>
            <a:r>
              <a:rPr lang="en"/>
              <a:t>Make the walls look like floor</a:t>
            </a:r>
            <a:endParaRPr/>
          </a:p>
          <a:p>
            <a:pPr indent="-330200" lvl="0" marL="457200" rtl="0" algn="l">
              <a:spcBef>
                <a:spcPts val="0"/>
              </a:spcBef>
              <a:spcAft>
                <a:spcPts val="0"/>
              </a:spcAft>
              <a:buSzPts val="1600"/>
              <a:buChar char="●"/>
            </a:pPr>
            <a:r>
              <a:rPr lang="en"/>
              <a:t>Make a level solved when all boxes but one are on goals</a:t>
            </a:r>
            <a:endParaRPr/>
          </a:p>
          <a:p>
            <a:pPr indent="-330200" lvl="0" marL="457200" rtl="0" algn="l">
              <a:spcBef>
                <a:spcPts val="0"/>
              </a:spcBef>
              <a:spcAft>
                <a:spcPts val="0"/>
              </a:spcAft>
              <a:buSzPts val="1600"/>
              <a:buChar char="●"/>
            </a:pPr>
            <a:r>
              <a:rPr lang="en"/>
              <a:t>Which class did each change need?</a:t>
            </a: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You change Level.Move. How do you know pushing still works?</a:t>
            </a:r>
            <a:endParaRPr/>
          </a:p>
        </p:txBody>
      </p:sp>
      <p:sp>
        <p:nvSpPr>
          <p:cNvPr id="295" name="Rounded Rectangle 294"/>
          <p:cNvSpPr/>
          <p:nvPr/>
        </p:nvSpPr>
        <p:spPr>
          <a:xfrm>
            <a:off x="548640" y="1417320"/>
            <a:ext cx="3749039"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By playing</a:t>
            </a:r>
          </a:p>
          <a:p>
            <a:pPr algn="ctr"/>
            <a:r>
              <a:rPr sz="1400" b="0">
                <a:solidFill>
                  <a:srgbClr val="9AA3AB"/>
                </a:solidFill>
              </a:rPr>
              <a:t>slow, easy to skip a case,</a:t>
            </a:r>
          </a:p>
          <a:p>
            <a:pPr algn="ctr"/>
            <a:r>
              <a:rPr sz="1400" b="0">
                <a:solidFill>
                  <a:srgbClr val="9AA3AB"/>
                </a:solidFill>
              </a:rPr>
              <a:t>and again after every change</a:t>
            </a:r>
          </a:p>
        </p:txBody>
      </p:sp>
      <p:sp>
        <p:nvSpPr>
          <p:cNvPr id="296" name="Rounded Rectangle 295"/>
          <p:cNvSpPr/>
          <p:nvPr/>
        </p:nvSpPr>
        <p:spPr>
          <a:xfrm>
            <a:off x="4846320" y="1417320"/>
            <a:ext cx="3749039"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A unit test</a:t>
            </a:r>
          </a:p>
          <a:p>
            <a:pPr algn="ctr"/>
            <a:r>
              <a:rPr sz="1400" b="0">
                <a:solidFill>
                  <a:srgbClr val="9AA3AB"/>
                </a:solidFill>
              </a:rPr>
              <a:t>checks one thing, automatically;</a:t>
            </a:r>
          </a:p>
          <a:p>
            <a:pPr algn="ctr"/>
            <a:r>
              <a:rPr sz="1400" b="0">
                <a:solidFill>
                  <a:srgbClr val="9AA3AB"/>
                </a:solidFill>
              </a:rPr>
              <a:t>hundreds run in a second</a:t>
            </a:r>
          </a:p>
        </p:txBody>
      </p:sp>
      <p:sp>
        <p:nvSpPr>
          <p:cNvPr id="297" name="Rounded Rectangle 296"/>
          <p:cNvSpPr/>
          <p:nvPr/>
        </p:nvSpPr>
        <p:spPr>
          <a:xfrm>
            <a:off x="1280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Arrange</a:t>
            </a:r>
          </a:p>
          <a:p>
            <a:pPr algn="ctr"/>
            <a:r>
              <a:rPr sz="1300" b="0">
                <a:solidFill>
                  <a:srgbClr val="9AA3AB"/>
                </a:solidFill>
              </a:rPr>
              <a:t>set up a level</a:t>
            </a:r>
          </a:p>
        </p:txBody>
      </p:sp>
      <p:cxnSp>
        <p:nvCxnSpPr>
          <p:cNvPr id="298" name="Connector 297"/>
          <p:cNvCxnSpPr/>
          <p:nvPr/>
        </p:nvCxnSpPr>
        <p:spPr>
          <a:xfrm>
            <a:off x="3310128" y="331470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566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Act</a:t>
            </a:r>
          </a:p>
          <a:p>
            <a:pPr algn="ctr"/>
            <a:r>
              <a:rPr sz="1300" b="0">
                <a:solidFill>
                  <a:srgbClr val="9AA3AB"/>
                </a:solidFill>
              </a:rPr>
              <a:t>do one thing</a:t>
            </a:r>
          </a:p>
        </p:txBody>
      </p:sp>
      <p:cxnSp>
        <p:nvCxnSpPr>
          <p:cNvPr id="300" name="Connector 299"/>
          <p:cNvCxnSpPr/>
          <p:nvPr/>
        </p:nvCxnSpPr>
        <p:spPr>
          <a:xfrm>
            <a:off x="5596127" y="3314700"/>
            <a:ext cx="237745"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852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Assert</a:t>
            </a:r>
          </a:p>
          <a:p>
            <a:pPr algn="ctr"/>
            <a:r>
              <a:rPr sz="1300" b="0">
                <a:solidFill>
                  <a:srgbClr val="9AA3AB"/>
                </a:solidFill>
              </a:rPr>
              <a:t>check the result</a:t>
            </a:r>
          </a:p>
        </p:txBody>
      </p:sp>
      <p:sp>
        <p:nvSpPr>
          <p:cNvPr id="302" name="TextBox 301"/>
          <p:cNvSpPr txBox="1"/>
          <p:nvPr/>
        </p:nvSpPr>
        <p:spPr>
          <a:xfrm>
            <a:off x="548640" y="3840480"/>
            <a:ext cx="8046720" cy="365760"/>
          </a:xfrm>
          <a:prstGeom prst="rect">
            <a:avLst/>
          </a:prstGeom>
          <a:noFill/>
        </p:spPr>
        <p:txBody>
          <a:bodyPr wrap="square">
            <a:spAutoFit/>
          </a:bodyPr>
          <a:lstStyle/>
          <a:p>
            <a:pPr algn="ctr"/>
            <a:r>
              <a:rPr sz="1300" b="0" i="0">
                <a:solidFill>
                  <a:srgbClr val="9AA3AB"/>
                </a:solidFill>
              </a:rPr>
              <a:t>Possible only because Level needs no window, graphics or keys.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Test Project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Tests live in their own project</a:t>
            </a:r>
            <a:endParaRPr/>
          </a:p>
          <a:p>
            <a:pPr indent="-317500" lvl="1" marL="914400" rtl="0" algn="l">
              <a:buClr>
                <a:srgbClr val="6C757D"/>
              </a:buClr>
              <a:spcBef>
                <a:spcPts val="0"/>
              </a:spcBef>
              <a:spcAft>
                <a:spcPts val="0"/>
              </a:spcAft>
              <a:buSzPts val="1400"/>
              <a:buChar char="○"/>
            </a:pPr>
            <a:r>
              <a:rPr lang="en" sz="1400">
                <a:solidFill>
                  <a:srgbClr val="6C757D"/>
                </a:solidFill>
              </a:rPr>
              <a:t>Sokoban.Tests, next to the game</a:t>
            </a:r>
            <a:endParaRPr/>
          </a:p>
          <a:p>
            <a:pPr indent="-317500" lvl="1" marL="914400" rtl="0" algn="l">
              <a:buClr>
                <a:srgbClr val="6C757D"/>
              </a:buClr>
              <a:spcBef>
                <a:spcPts val="0"/>
              </a:spcBef>
              <a:spcAft>
                <a:spcPts val="0"/>
              </a:spcAft>
              <a:buSzPts val="1400"/>
              <a:buChar char="○"/>
            </a:pPr>
            <a:r>
              <a:rPr lang="en" sz="1400">
                <a:solidFill>
                  <a:srgbClr val="6C757D"/>
                </a:solidFill>
              </a:rPr>
              <a:t>It references the game project</a:t>
            </a:r>
            <a:endParaRPr/>
          </a:p>
          <a:p>
            <a:pPr indent="-330200" lvl="0" marL="457200" rtl="0" algn="l">
              <a:buClr>
                <a:srgbClr val="DEE2E6"/>
              </a:buClr>
              <a:spcBef>
                <a:spcPts val="0"/>
              </a:spcBef>
              <a:spcAft>
                <a:spcPts val="0"/>
              </a:spcAft>
              <a:buSzPts val="1600"/>
              <a:buChar char="●"/>
            </a:pPr>
            <a:r>
              <a:rPr lang="en" sz="1600">
                <a:solidFill>
                  <a:srgbClr val="DEE2E6"/>
                </a:solidFill>
              </a:rPr>
              <a:t>xUnit: a test framework</a:t>
            </a:r>
            <a:endParaRPr/>
          </a:p>
          <a:p>
            <a:pPr indent="-317500" lvl="1" marL="914400" rtl="0" algn="l">
              <a:buClr>
                <a:srgbClr val="6C757D"/>
              </a:buClr>
              <a:spcBef>
                <a:spcPts val="0"/>
              </a:spcBef>
              <a:spcAft>
                <a:spcPts val="0"/>
              </a:spcAft>
              <a:buSzPts val="1400"/>
              <a:buChar char="○"/>
            </a:pPr>
            <a:r>
              <a:rPr lang="en" sz="1400">
                <a:solidFill>
                  <a:srgbClr val="6C757D"/>
                </a:solidFill>
              </a:rPr>
              <a:t>Finds the tests, runs them, reports</a:t>
            </a:r>
            <a:endParaRPr/>
          </a:p>
          <a:p>
            <a:pPr indent="-330200" lvl="0" marL="457200" rtl="0" algn="l">
              <a:buClr>
                <a:srgbClr val="DEE2E6"/>
              </a:buClr>
              <a:spcBef>
                <a:spcPts val="0"/>
              </a:spcBef>
              <a:spcAft>
                <a:spcPts val="0"/>
              </a:spcAft>
              <a:buSzPts val="1600"/>
              <a:buChar char="●"/>
            </a:pPr>
            <a:r>
              <a:rPr lang="en" sz="1600">
                <a:solidFill>
                  <a:srgbClr val="DEE2E6"/>
                </a:solidFill>
              </a:rPr>
              <a:t>The game knows nothing about its tests</a:t>
            </a:r>
            <a:endParaRPr/>
          </a:p>
          <a:p>
            <a:pPr indent="-317500" lvl="1" marL="914400" rtl="0" algn="l">
              <a:buClr>
                <a:srgbClr val="6C757D"/>
              </a:buClr>
              <a:spcBef>
                <a:spcPts val="0"/>
              </a:spcBef>
              <a:spcAft>
                <a:spcPts val="0"/>
              </a:spcAft>
              <a:buSzPts val="1400"/>
              <a:buChar char="○"/>
            </a:pPr>
            <a:r>
              <a:rPr lang="en" sz="1400">
                <a:solidFill>
                  <a:srgbClr val="6C757D"/>
                </a:solidFill>
              </a:rPr>
              <a:t>They never ship with the game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 Sokoban.Tests.csproj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Include="Microsoft.NET.Test.Sdk"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 Include="xunit"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Include="xunit.runner.visualstudio"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&lt;ProjectReference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Include="..\Sokoban4\Sokoban4.csproj"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Anatomy of a Test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[Fact] marks a method as a test</a:t>
            </a:r>
            <a:endParaRPr/>
          </a:p>
          <a:p>
            <a:pPr indent="-330200" lvl="0" marL="457200" rtl="0" algn="l">
              <a:buClr>
                <a:srgbClr val="DEE2E6"/>
              </a:buClr>
              <a:spcBef>
                <a:spcPts val="0"/>
              </a:spcBef>
              <a:spcAft>
                <a:spcPts val="0"/>
              </a:spcAft>
              <a:buSzPts val="1600"/>
              <a:buChar char="●"/>
            </a:pPr>
            <a:r>
              <a:rPr lang="en" sz="1600">
                <a:solidFill>
                  <a:srgbClr val="DEE2E6"/>
                </a:solidFill>
              </a:rPr>
              <a:t>The name says what it checks</a:t>
            </a:r>
            <a:endParaRPr/>
          </a:p>
          <a:p>
            <a:pPr indent="-317500" lvl="1" marL="914400" rtl="0" algn="l">
              <a:buClr>
                <a:srgbClr val="6C757D"/>
              </a:buClr>
              <a:spcBef>
                <a:spcPts val="0"/>
              </a:spcBef>
              <a:spcAft>
                <a:spcPts val="0"/>
              </a:spcAft>
              <a:buSzPts val="1400"/>
              <a:buChar char="○"/>
            </a:pPr>
            <a:r>
              <a:rPr lang="en" sz="1400">
                <a:solidFill>
                  <a:srgbClr val="6C757D"/>
                </a:solidFill>
              </a:rPr>
              <a:t>The first thing you see when it fails</a:t>
            </a:r>
            <a:endParaRPr/>
          </a:p>
          <a:p>
            <a:pPr indent="-330200" lvl="0" marL="457200" rtl="0" algn="l">
              <a:buClr>
                <a:srgbClr val="DEE2E6"/>
              </a:buClr>
              <a:spcBef>
                <a:spcPts val="0"/>
              </a:spcBef>
              <a:spcAft>
                <a:spcPts val="0"/>
              </a:spcAft>
              <a:buSzPts val="1600"/>
              <a:buChar char="●"/>
            </a:pPr>
            <a:r>
              <a:rPr lang="en" sz="1600">
                <a:solidFill>
                  <a:srgbClr val="DEE2E6"/>
                </a:solidFill>
              </a:rPr>
              <a:t>Arrange, act, assert</a:t>
            </a:r>
            <a:endParaRPr/>
          </a:p>
          <a:p>
            <a:pPr indent="-317500" lvl="1" marL="914400" rtl="0" algn="l">
              <a:buClr>
                <a:srgbClr val="6C757D"/>
              </a:buClr>
              <a:spcBef>
                <a:spcPts val="0"/>
              </a:spcBef>
              <a:spcAft>
                <a:spcPts val="0"/>
              </a:spcAft>
              <a:buSzPts val="1400"/>
              <a:buChar char="○"/>
            </a:pPr>
            <a:r>
              <a:rPr lang="en" sz="1400">
                <a:solidFill>
                  <a:srgbClr val="6C757D"/>
                </a:solidFill>
              </a:rPr>
              <a:t>One situation, one action</a:t>
            </a:r>
            <a:endParaRPr/>
          </a:p>
          <a:p>
            <a:pPr indent="-330200" lvl="0" marL="457200" rtl="0" algn="l">
              <a:buClr>
                <a:srgbClr val="DEE2E6"/>
              </a:buClr>
              <a:spcBef>
                <a:spcPts val="0"/>
              </a:spcBef>
              <a:spcAft>
                <a:spcPts val="0"/>
              </a:spcAft>
              <a:buSzPts val="1600"/>
              <a:buChar char="●"/>
            </a:pPr>
            <a:r>
              <a:rPr lang="en" sz="1600">
                <a:solidFill>
                  <a:srgbClr val="DEE2E6"/>
                </a:solidFill>
              </a:rPr>
              <a:t>Assert.Equal(expected, actual)</a:t>
            </a:r>
            <a:endParaRPr/>
          </a:p>
          <a:p>
            <a:pPr indent="-317500" lvl="1" marL="914400" rtl="0" algn="l">
              <a:buClr>
                <a:srgbClr val="6C757D"/>
              </a:buClr>
              <a:spcBef>
                <a:spcPts val="0"/>
              </a:spcBef>
              <a:spcAft>
                <a:spcPts val="0"/>
              </a:spcAft>
              <a:buSzPts val="1400"/>
              <a:buChar char="○"/>
            </a:pPr>
            <a:r>
              <a:rPr lang="en" sz="1400">
                <a:solidFill>
                  <a:srgbClr val="6C757D"/>
                </a:solidFill>
              </a:rPr>
              <a:t>Fails when the values differ</a:t>
            </a:r>
            <a:endParaRPr/>
          </a:p>
          <a:p>
            <a:pPr indent="-330200" lvl="0" marL="457200" rtl="0" algn="l">
              <a:buClr>
                <a:srgbClr val="DEE2E6"/>
              </a:buClr>
              <a:spcBef>
                <a:spcPts val="0"/>
              </a:spcBef>
              <a:spcAft>
                <a:spcPts val="0"/>
              </a:spcAft>
              <a:buSzPts val="1600"/>
              <a:buChar char="●"/>
            </a:pPr>
            <a:r>
              <a:rPr lang="en" sz="1600">
                <a:solidFill>
                  <a:srgbClr val="DEE2E6"/>
                </a:solidFill>
              </a:rPr>
              <a:t>The level is written in the test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const string Corridor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Arrange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 level = Level.Parse(Corridor);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level.Move(Direction.Right);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Assert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Assert.Equal(MoveResult.Pushed,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Point(3, 1), level.Player);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Point(4, 1)], level.Boxes);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Running the Tests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dotnet test, in the game folder</a:t>
            </a:r>
            <a:endParaRPr/>
          </a:p>
          <a:p>
            <a:pPr indent="-330200" lvl="0" marL="457200" rtl="0" algn="l">
              <a:buClr>
                <a:srgbClr val="DEE2E6"/>
              </a:buClr>
              <a:spcBef>
                <a:spcPts val="0"/>
              </a:spcBef>
              <a:spcAft>
                <a:spcPts val="0"/>
              </a:spcAft>
              <a:buSzPts val="1600"/>
              <a:buChar char="●"/>
            </a:pPr>
            <a:r>
              <a:rPr lang="en" sz="1600">
                <a:solidFill>
                  <a:srgbClr val="DEE2E6"/>
                </a:solidFill>
              </a:rPr>
              <a:t>Or your editor’s test explorer</a:t>
            </a:r>
            <a:endParaRPr/>
          </a:p>
          <a:p>
            <a:pPr indent="-317500" lvl="1" marL="914400" rtl="0" algn="l">
              <a:buClr>
                <a:srgbClr val="6C757D"/>
              </a:buClr>
              <a:spcBef>
                <a:spcPts val="0"/>
              </a:spcBef>
              <a:spcAft>
                <a:spcPts val="0"/>
              </a:spcAft>
              <a:buSzPts val="1400"/>
              <a:buChar char="○"/>
            </a:pPr>
            <a:r>
              <a:rPr lang="en" sz="1400">
                <a:solidFill>
                  <a:srgbClr val="6C757D"/>
                </a:solidFill>
              </a:rPr>
              <a:t>Green and red marks per test</a:t>
            </a:r>
            <a:endParaRPr/>
          </a:p>
          <a:p>
            <a:pPr indent="-330200" lvl="0" marL="457200" rtl="0" algn="l">
              <a:buClr>
                <a:srgbClr val="DEE2E6"/>
              </a:buClr>
              <a:spcBef>
                <a:spcPts val="0"/>
              </a:spcBef>
              <a:spcAft>
                <a:spcPts val="0"/>
              </a:spcAft>
              <a:buSzPts val="1600"/>
              <a:buChar char="●"/>
            </a:pPr>
            <a:r>
              <a:rPr lang="en" sz="1600">
                <a:solidFill>
                  <a:srgbClr val="DEE2E6"/>
                </a:solidFill>
              </a:rPr>
              <a:t>A failing test names the rule that broke</a:t>
            </a:r>
            <a:endParaRPr/>
          </a:p>
          <a:p>
            <a:pPr indent="-317500" lvl="1" marL="914400" rtl="0" algn="l">
              <a:buClr>
                <a:srgbClr val="6C757D"/>
              </a:buClr>
              <a:spcBef>
                <a:spcPts val="0"/>
              </a:spcBef>
              <a:spcAft>
                <a:spcPts val="0"/>
              </a:spcAft>
              <a:buSzPts val="1400"/>
              <a:buChar char="○"/>
            </a:pPr>
            <a:r>
              <a:rPr lang="en" sz="1400">
                <a:solidFill>
                  <a:srgbClr val="6C757D"/>
                </a:solidFill>
              </a:rPr>
              <a:t>What it expected, what it got, the line</a:t>
            </a:r>
            <a:endParaRPr/>
          </a:p>
          <a:p>
            <a:pPr indent="-330200" lvl="0" marL="457200" rtl="0" algn="l">
              <a:buClr>
                <a:srgbClr val="DEE2E6"/>
              </a:buClr>
              <a:spcBef>
                <a:spcPts val="0"/>
              </a:spcBef>
              <a:spcAft>
                <a:spcPts val="0"/>
              </a:spcAft>
              <a:buSzPts val="1600"/>
              <a:buChar char="●"/>
            </a:pPr>
            <a:r>
              <a:rPr lang="en" sz="1600">
                <a:solidFill>
                  <a:srgbClr val="DEE2E6"/>
                </a:solidFill>
              </a:rPr>
              <a:t>What to test: the rules</a:t>
            </a:r>
            <a:endParaRPr/>
          </a:p>
          <a:p>
            <a:pPr indent="-317500" lvl="1" marL="914400" rtl="0" algn="l">
              <a:buClr>
                <a:srgbClr val="6C757D"/>
              </a:buClr>
              <a:spcBef>
                <a:spcPts val="0"/>
              </a:spcBef>
              <a:spcAft>
                <a:spcPts val="0"/>
              </a:spcAft>
              <a:buSzPts val="1400"/>
              <a:buChar char="○"/>
            </a:pPr>
            <a:r>
              <a:rPr lang="en" sz="1400">
                <a:solidFill>
                  <a:srgbClr val="6C757D"/>
                </a:solidFill>
              </a:rPr>
              <a:t>Moving, pushing, solving, undo</a:t>
            </a:r>
            <a:endParaRPr/>
          </a:p>
          <a:p>
            <a:pPr indent="-317500" lvl="1" marL="914400" rtl="0" algn="l">
              <a:buClr>
                <a:srgbClr val="6C757D"/>
              </a:buClr>
              <a:spcBef>
                <a:spcPts val="0"/>
              </a:spcBef>
              <a:spcAft>
                <a:spcPts val="0"/>
              </a:spcAft>
              <a:buSzPts val="1400"/>
              <a:buChar char="○"/>
            </a:pPr>
            <a:r>
              <a:rPr lang="en" sz="1400">
                <a:solidFill>
                  <a:srgbClr val="6C757D"/>
                </a:solidFill>
              </a:rPr>
              <a:t>Not drawing: look at it instead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&gt; dotnet test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Passed!  - Failed: 0, Passed: 12, Total: 12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After breaking Level.Move on purpose: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LevelTests.Walking_into_a_box_pushes_it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 Failure: Collections differ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Expected: [{X:4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Actual:   [{X:5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...\LevelTests.cs:line 70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 Failed: 1, Passed: 11, Total: 12</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Sokoban.Tests: run the tests, then break a rule and watch one fail</a:t>
            </a:r>
            <a:endParaRPr sz="18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Your First Test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the 04-sokoban folder: dotnet test</a:t>
            </a:r>
            <a:endParaRPr/>
          </a:p>
          <a:p>
            <a:pPr indent="-330200" lvl="0" marL="457200" rtl="0" algn="l">
              <a:spcBef>
                <a:spcPts val="0"/>
              </a:spcBef>
              <a:spcAft>
                <a:spcPts val="0"/>
              </a:spcAft>
              <a:buSzPts val="1600"/>
              <a:buChar char="●"/>
            </a:pPr>
            <a:r>
              <a:rPr lang="en"/>
              <a:t>Copy one test in LevelTests.cs, and make it check walking left</a:t>
            </a:r>
            <a:endParaRPr/>
          </a:p>
          <a:p>
            <a:pPr indent="-330200" lvl="0" marL="457200" rtl="0" algn="l">
              <a:spcBef>
                <a:spcPts val="0"/>
              </a:spcBef>
              <a:spcAft>
                <a:spcPts val="0"/>
              </a:spcAft>
              <a:buSzPts val="1600"/>
              <a:buChar char="●"/>
            </a:pPr>
            <a:r>
              <a:rPr lang="en"/>
              <a:t>Make it fail on purpose, and read the message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35" name="Picture 134" descr="command-idea.png"/>
          <p:cNvPicPr>
            <a:picLocks noChangeAspect="1"/>
          </p:cNvPicPr>
          <p:nvPr/>
        </p:nvPicPr>
        <p:blipFill>
          <a:blip r:embed="rId4"/>
          <a:stretch>
            <a:fillRect/>
          </a:stretch>
        </p:blipFill>
        <p:spPr>
          <a:xfrm>
            <a:off x="320039" y="1051560"/>
            <a:ext cx="8503920" cy="330708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Problem</a:t>
            </a:r>
            <a:endParaRPr/>
          </a:p>
        </p:txBody>
      </p:sp>
      <p:sp>
        <p:nvSpPr>
          <p:cNvPr id="141" name="Google Shape;141;p23"/>
          <p:cNvSpPr txBox="1"/>
          <p:nvPr>
            <p:ph idx="2" type="body"/>
          </p:nvPr>
        </p:nvSpPr>
        <p:spPr>
          <a:xfrm>
            <a:off x="1371600" y="1782800"/>
            <a:ext cx="6400800" cy="178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BUTTON_X</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Jump</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BUTTON_Y</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FireGun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BUTTON_A</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SwapWeapon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BUTTON_B</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Lurch</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48" name="Picture 147" descr="command-object.png"/>
          <p:cNvPicPr>
            <a:picLocks noChangeAspect="1"/>
          </p:cNvPicPr>
          <p:nvPr/>
        </p:nvPicPr>
        <p:blipFill>
          <a:blip r:embed="rId4"/>
          <a:stretch>
            <a:fillRect/>
          </a:stretch>
        </p:blipFill>
        <p:spPr>
          <a:xfrm>
            <a:off x="320039" y="1051560"/>
            <a:ext cx="8503920" cy="37795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55" name="Picture 154" descr="command-structure.png"/>
          <p:cNvPicPr>
            <a:picLocks noChangeAspect="1"/>
          </p:cNvPicPr>
          <p:nvPr/>
        </p:nvPicPr>
        <p:blipFill>
          <a:blip r:embed="rId4"/>
          <a:stretch>
            <a:fillRect/>
          </a:stretch>
        </p:blipFill>
        <p:spPr>
          <a:xfrm>
            <a:off x="320039" y="1051560"/>
            <a:ext cx="8503920" cy="342519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sp>
        <p:nvSpPr>
          <p:cNvPr id="161" name="Google Shape;161;p26"/>
          <p:cNvSpPr txBox="1"/>
          <p:nvPr>
            <p:ph idx="1" type="body"/>
          </p:nvPr>
        </p:nvSpPr>
        <p:spPr>
          <a:xfrm>
            <a:off x="311700" y="1463400"/>
            <a:ext cx="3039000" cy="11082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162" name="Google Shape;162;p26"/>
          <p:cNvSpPr txBox="1"/>
          <p:nvPr>
            <p:ph idx="2" type="body"/>
          </p:nvPr>
        </p:nvSpPr>
        <p:spPr>
          <a:xfrm>
            <a:off x="3564450" y="1463400"/>
            <a:ext cx="5139600" cy="313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FireCommand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LurchCommand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SwapCommand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569CD6"/>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BUTTON_B</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a:p>
        </p:txBody>
      </p:sp>
      <p:sp>
        <p:nvSpPr>
          <p:cNvPr id="163" name="Google Shape;163;p26"/>
          <p:cNvSpPr txBox="1"/>
          <p:nvPr>
            <p:ph idx="1" type="body"/>
          </p:nvPr>
        </p:nvSpPr>
        <p:spPr>
          <a:xfrm>
            <a:off x="311700" y="2749300"/>
            <a:ext cx="3039000" cy="1848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Jump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69" name="Picture 168" descr="command-stream.png"/>
          <p:cNvPicPr>
            <a:picLocks noChangeAspect="1"/>
          </p:cNvPicPr>
          <p:nvPr/>
        </p:nvPicPr>
        <p:blipFill>
          <a:blip r:embed="rId4"/>
          <a:stretch>
            <a:fillRect/>
          </a:stretch>
        </p:blipFill>
        <p:spPr>
          <a:xfrm>
            <a:off x="320039" y="1051560"/>
            <a:ext cx="8503920" cy="330708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Usage</a:t>
            </a:r>
            <a:endParaRPr/>
          </a:p>
        </p:txBody>
      </p:sp>
      <p:sp>
        <p:nvSpPr>
          <p:cNvPr id="181" name="Google Shape;181;p29"/>
          <p:cNvSpPr txBox="1"/>
          <p:nvPr>
            <p:ph idx="1" type="body"/>
          </p:nvPr>
        </p:nvSpPr>
        <p:spPr>
          <a:xfrm>
            <a:off x="311700" y="885950"/>
            <a:ext cx="1263900" cy="10461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Input</a:t>
            </a:r>
            <a:endParaRPr/>
          </a:p>
          <a:p>
            <a:pPr indent="-330200" lvl="0" marL="457200" rtl="0" algn="l">
              <a:spcBef>
                <a:spcPts val="0"/>
              </a:spcBef>
              <a:spcAft>
                <a:spcPts val="0"/>
              </a:spcAft>
              <a:buSzPts val="1600"/>
              <a:buChar char="●"/>
            </a:pPr>
            <a:r>
              <a:rPr lang="en"/>
              <a:t>Undo</a:t>
            </a:r>
            <a:endParaRPr/>
          </a:p>
          <a:p>
            <a:pPr indent="-330200" lvl="0" marL="457200" rtl="0" algn="l">
              <a:spcBef>
                <a:spcPts val="0"/>
              </a:spcBef>
              <a:spcAft>
                <a:spcPts val="0"/>
              </a:spcAft>
              <a:buSzPts val="1600"/>
              <a:buChar char="●"/>
            </a:pPr>
            <a:r>
              <a:rPr lang="en"/>
              <a:t>Redo</a:t>
            </a:r>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Moves as Commands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Each move becomes a MoveCommand</a:t>
            </a:r>
            <a:endParaRPr/>
          </a:p>
          <a:p>
            <a:pPr indent="-330200" lvl="0" marL="457200" rtl="0" algn="l">
              <a:buClr>
                <a:srgbClr val="DEE2E6"/>
              </a:buClr>
              <a:spcBef>
                <a:spcPts val="0"/>
              </a:spcBef>
              <a:spcAft>
                <a:spcPts val="0"/>
              </a:spcAft>
              <a:buSzPts val="1600"/>
              <a:buChar char="●"/>
            </a:pPr>
            <a:r>
              <a:rPr lang="en" sz="1600">
                <a:solidFill>
                  <a:srgbClr val="DEE2E6"/>
                </a:solidFill>
              </a:rPr>
              <a:t>Only moves that change something</a:t>
            </a:r>
            <a:endParaRPr/>
          </a:p>
          <a:p>
            <a:pPr indent="-317500" lvl="1" marL="914400" rtl="0" algn="l">
              <a:buClr>
                <a:srgbClr val="6C757D"/>
              </a:buClr>
              <a:spcBef>
                <a:spcPts val="0"/>
              </a:spcBef>
              <a:spcAft>
                <a:spcPts val="0"/>
              </a:spcAft>
              <a:buSzPts val="1400"/>
              <a:buChar char="○"/>
            </a:pPr>
            <a:r>
              <a:rPr lang="en" sz="1400">
                <a:solidFill>
                  <a:srgbClr val="6C757D"/>
                </a:solidFill>
              </a:rPr>
              <a:t>Walking into a wall is not a move</a:t>
            </a:r>
            <a:endParaRPr/>
          </a:p>
          <a:p>
            <a:pPr indent="-330200" lvl="0" marL="457200" rtl="0" algn="l">
              <a:buClr>
                <a:srgbClr val="DEE2E6"/>
              </a:buClr>
              <a:spcBef>
                <a:spcPts val="0"/>
              </a:spcBef>
              <a:spcAft>
                <a:spcPts val="0"/>
              </a:spcAft>
              <a:buSzPts val="1600"/>
              <a:buChar char="●"/>
            </a:pPr>
            <a:r>
              <a:rPr lang="en" sz="1600">
                <a:solidFill>
                  <a:srgbClr val="DEE2E6"/>
                </a:solidFill>
              </a:rPr>
              <a:t>Sokoban2 keeps a list, to count the moves</a:t>
            </a:r>
            <a:endParaRPr/>
          </a:p>
          <a:p>
            <a:pPr indent="-330200" lvl="0" marL="457200" rtl="0" algn="l">
              <a:buClr>
                <a:srgbClr val="DEE2E6"/>
              </a:buClr>
              <a:spcBef>
                <a:spcPts val="0"/>
              </a:spcBef>
              <a:spcAft>
                <a:spcPts val="0"/>
              </a:spcAft>
              <a:buSzPts val="1600"/>
              <a:buChar char="●"/>
            </a:pPr>
            <a:r>
              <a:rPr lang="en" sz="1600">
                <a:solidFill>
                  <a:srgbClr val="DEE2E6"/>
                </a:solidFill>
              </a:rPr>
              <a:t>A move that is an object can be kept</a:t>
            </a:r>
            <a:endParaRPr/>
          </a:p>
          <a:p>
            <a:pPr indent="-317500" lvl="1" marL="914400" rtl="0" algn="l">
              <a:buClr>
                <a:srgbClr val="6C757D"/>
              </a:buClr>
              <a:spcBef>
                <a:spcPts val="0"/>
              </a:spcBef>
              <a:spcAft>
                <a:spcPts val="0"/>
              </a:spcAft>
              <a:buSzPts val="1400"/>
              <a:buChar char="○"/>
            </a:pPr>
            <a:r>
              <a:rPr lang="en" sz="1400">
                <a:solidFill>
                  <a:srgbClr val="6C757D"/>
                </a:solidFill>
              </a:rPr>
              <a:t>Queued, logged, replayed, sent, undone</a:t>
            </a:r>
            <a:endParaRPr/>
          </a:p>
          <a:p>
            <a:pPr indent="-330200" lvl="0" marL="457200" rtl="0" algn="l">
              <a:buClr>
                <a:srgbClr val="DEE2E6"/>
              </a:buClr>
              <a:spcBef>
                <a:spcPts val="0"/>
              </a:spcBef>
              <a:spcAft>
                <a:spcPts val="0"/>
              </a:spcAft>
              <a:buSzPts val="1600"/>
              <a:buChar char="●"/>
            </a:pPr>
            <a:r>
              <a:rPr lang="en" sz="1600">
                <a:solidFill>
                  <a:srgbClr val="DEE2E6"/>
                </a:solidFill>
              </a:rPr>
              <a:t>GameController: keys → actions</a:t>
            </a:r>
            <a:endParaRPr/>
          </a:p>
          <a:p>
            <a:pPr indent="-317500" lvl="1" marL="914400" rtl="0" algn="l">
              <a:buClr>
                <a:srgbClr val="6C757D"/>
              </a:buClr>
              <a:spcBef>
                <a:spcPts val="0"/>
              </a:spcBef>
              <a:spcAft>
                <a:spcPts val="0"/>
              </a:spcAft>
              <a:buSzPts val="1400"/>
              <a:buChar char="○"/>
            </a:pPr>
            <a:r>
              <a:rPr lang="en" sz="1400">
                <a:solidFill>
                  <a:srgbClr val="6C757D"/>
                </a:solidFill>
              </a:rPr>
              <a:t>A command: what the game does with one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class MoveCommand(Level level,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direction) : ICommand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if (!_level.CanMove(direction))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ICommand command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MoveCommand(_level,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_moves.Add(command);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What a Move Remembers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Sokoban2:</a:t>
            </a:r>
            <a:endParaRPr/>
          </a:p>
          <a:p>
            <a:pPr indent="-330200" lvl="0" marL="457200" rtl="0" algn="l">
              <a:spcBef>
                <a:spcPts val="0"/>
              </a:spcBef>
              <a:spcAft>
                <a:spcPts val="0"/>
              </a:spcAft>
              <a:buSzPts val="1600"/>
              <a:buChar char="●"/>
            </a:pPr>
            <a:r>
              <a:rPr lang="en"/>
              <a:t>Give MoveCommand a Direction property</a:t>
            </a:r>
            <a:endParaRPr/>
          </a:p>
          <a:p>
            <a:pPr indent="-330200" lvl="0" marL="457200" rtl="0" algn="l">
              <a:spcBef>
                <a:spcPts val="0"/>
              </a:spcBef>
              <a:spcAft>
                <a:spcPts val="0"/>
              </a:spcAft>
              <a:buSzPts val="1600"/>
              <a:buChar char="●"/>
            </a:pPr>
            <a:r>
              <a:rPr lang="en"/>
              <a:t>Show the last move’s direction in the window title</a:t>
            </a:r>
            <a:endParaRPr/>
          </a:p>
          <a:p>
            <a:pPr indent="-330200" lvl="0" marL="457200" rtl="0" algn="l">
              <a:spcBef>
                <a:spcPts val="0"/>
              </a:spcBef>
              <a:spcAft>
                <a:spcPts val="0"/>
              </a:spcAft>
              <a:buSzPts val="1600"/>
              <a:buChar char="●"/>
            </a:pPr>
            <a:r>
              <a:rPr lang="en"/>
              <a:t>To undo a move, what else would it need to remember?</a:t>
            </a:r>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What a Command Remembers</a:t>
            </a:r>
            <a:endParaRPr/>
          </a:p>
        </p:txBody>
      </p:sp>
      <p:pic>
        <p:nvPicPr>
          <p:cNvPr id="3" name="Picture 2" descr="remember.png"/>
          <p:cNvPicPr>
            <a:picLocks noChangeAspect="1"/>
          </p:cNvPicPr>
          <p:nvPr/>
        </p:nvPicPr>
        <p:blipFill>
          <a:blip r:embed="rId2"/>
          <a:stretch>
            <a:fillRect/>
          </a:stretch>
        </p:blipFill>
        <p:spPr>
          <a:xfrm>
            <a:off x="320039" y="1051560"/>
            <a:ext cx="8503920" cy="35433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Undoable Moves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command must be able to reverse what it did</a:t>
            </a:r>
            <a:endParaRPr/>
          </a:p>
          <a:p>
            <a:pPr indent="-330200" lvl="0" marL="457200" rtl="0" algn="l">
              <a:buClr>
                <a:srgbClr val="DEE2E6"/>
              </a:buClr>
              <a:spcBef>
                <a:spcPts val="0"/>
              </a:spcBef>
              <a:spcAft>
                <a:spcPts val="0"/>
              </a:spcAft>
              <a:buSzPts val="1600"/>
              <a:buChar char="●"/>
            </a:pPr>
            <a:r>
              <a:rPr lang="en" sz="1600">
                <a:solidFill>
                  <a:srgbClr val="DEE2E6"/>
                </a:solidFill>
              </a:rPr>
              <a:t>Moving the player back is not enough</a:t>
            </a:r>
            <a:endParaRPr/>
          </a:p>
          <a:p>
            <a:pPr indent="-317500" lvl="1" marL="914400" rtl="0" algn="l">
              <a:buClr>
                <a:srgbClr val="6C757D"/>
              </a:buClr>
              <a:spcBef>
                <a:spcPts val="0"/>
              </a:spcBef>
              <a:spcAft>
                <a:spcPts val="0"/>
              </a:spcAft>
              <a:buSzPts val="1400"/>
              <a:buChar char="○"/>
            </a:pPr>
            <a:r>
              <a:rPr lang="en" sz="1400">
                <a:solidFill>
                  <a:srgbClr val="6C757D"/>
                </a:solidFill>
              </a:rPr>
              <a:t>A push must pull the box back too</a:t>
            </a:r>
            <a:endParaRPr/>
          </a:p>
          <a:p>
            <a:pPr indent="-330200" lvl="0" marL="457200" rtl="0" algn="l">
              <a:buClr>
                <a:srgbClr val="DEE2E6"/>
              </a:buClr>
              <a:spcBef>
                <a:spcPts val="0"/>
              </a:spcBef>
              <a:spcAft>
                <a:spcPts val="0"/>
              </a:spcAft>
              <a:buSzPts val="1600"/>
              <a:buChar char="●"/>
            </a:pPr>
            <a:r>
              <a:rPr lang="en" sz="1600">
                <a:solidFill>
                  <a:srgbClr val="DEE2E6"/>
                </a:solidFill>
              </a:rPr>
              <a:t>MoveCommand remembers the MoveResult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private MoveResult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_result =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level.UndoMove(direction,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History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Two stacks: done and undone</a:t>
            </a:r>
            <a:endParaRPr/>
          </a:p>
          <a:p>
            <a:pPr indent="-330200" lvl="0" marL="457200" rtl="0" algn="l">
              <a:buClr>
                <a:srgbClr val="DEE2E6"/>
              </a:buClr>
              <a:spcBef>
                <a:spcPts val="0"/>
              </a:spcBef>
              <a:spcAft>
                <a:spcPts val="0"/>
              </a:spcAft>
              <a:buSzPts val="1600"/>
              <a:buChar char="●"/>
            </a:pPr>
            <a:r>
              <a:rPr lang="en" sz="1600">
                <a:solidFill>
                  <a:srgbClr val="DEE2E6"/>
                </a:solidFill>
              </a:rPr>
              <a:t>Z undoes, Y redoes</a:t>
            </a:r>
            <a:endParaRPr/>
          </a:p>
          <a:p>
            <a:pPr indent="-330200" lvl="0" marL="457200" rtl="0" algn="l">
              <a:buClr>
                <a:srgbClr val="DEE2E6"/>
              </a:buClr>
              <a:spcBef>
                <a:spcPts val="0"/>
              </a:spcBef>
              <a:spcAft>
                <a:spcPts val="0"/>
              </a:spcAft>
              <a:buSzPts val="1600"/>
              <a:buChar char="●"/>
            </a:pPr>
            <a:r>
              <a:rPr lang="en" sz="1600">
                <a:solidFill>
                  <a:srgbClr val="DEE2E6"/>
                </a:solidFill>
              </a:rPr>
              <a:t>A new command clears the redo stack</a:t>
            </a:r>
            <a:endParaRPr/>
          </a:p>
          <a:p>
            <a:pPr indent="-317500" lvl="1" marL="914400" rtl="0" algn="l">
              <a:buClr>
                <a:srgbClr val="6C757D"/>
              </a:buClr>
              <a:spcBef>
                <a:spcPts val="0"/>
              </a:spcBef>
              <a:spcAft>
                <a:spcPts val="0"/>
              </a:spcAft>
              <a:buSzPts val="1400"/>
              <a:buChar char="○"/>
            </a:pPr>
            <a:r>
              <a:rPr lang="en" sz="1400">
                <a:solidFill>
                  <a:srgbClr val="6C757D"/>
                </a:solidFill>
              </a:rPr>
              <a:t>The undone moves can’t be redone any more</a:t>
            </a:r>
            <a:endParaRPr/>
          </a:p>
          <a:p>
            <a:pPr indent="-330200" lvl="0" marL="457200" rtl="0" algn="l">
              <a:buClr>
                <a:srgbClr val="DEE2E6"/>
              </a:buClr>
              <a:spcBef>
                <a:spcPts val="0"/>
              </a:spcBef>
              <a:spcAft>
                <a:spcPts val="0"/>
              </a:spcAft>
              <a:buSzPts val="1600"/>
              <a:buChar char="●"/>
            </a:pPr>
            <a:r>
              <a:rPr lang="en" sz="1600">
                <a:solidFill>
                  <a:srgbClr val="DEE2E6"/>
                </a:solidFill>
              </a:rPr>
              <a:t>The move counter is the undo stack’s size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(_done.TryPop(out 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Redo: the same, the other way around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Undo and Redo, Step by Step</a:t>
            </a:r>
            <a:endParaRPr/>
          </a:p>
        </p:txBody>
      </p:sp>
      <p:pic>
        <p:nvPicPr>
          <p:cNvPr id="3" name="Picture 2" descr="undo-stacks.png"/>
          <p:cNvPicPr>
            <a:picLocks noChangeAspect="1"/>
          </p:cNvPicPr>
          <p:nvPr/>
        </p:nvPicPr>
        <p:blipFill>
          <a:blip r:embed="rId2"/>
          <a:stretch>
            <a:fillRect/>
          </a:stretch>
        </p:blipFill>
        <p:spPr>
          <a:xfrm>
            <a:off x="594360" y="1051560"/>
            <a:ext cx="7955279" cy="3977639"/>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Ways to Undo</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Undo by reversing each command, or by restoring a snapshot.</a:t>
            </a:r>
            <a:endParaRPr/>
          </a:p>
        </p:txBody>
      </p:sp>
      <p:sp>
        <p:nvSpPr>
          <p:cNvPr id="295" name="Rounded Rectangle 294"/>
          <p:cNvSpPr/>
          <p:nvPr/>
        </p:nvSpPr>
        <p:spPr>
          <a:xfrm>
            <a:off x="548640" y="1417320"/>
            <a:ext cx="3749039" cy="14630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Reverse the command</a:t>
            </a:r>
          </a:p>
          <a:p>
            <a:pPr algn="ctr"/>
            <a:r>
              <a:rPr sz="1400" b="0">
                <a:solidFill>
                  <a:srgbClr val="9AA3AB"/>
                </a:solidFill>
              </a:rPr>
              <a:t>each command knows its opposite</a:t>
            </a:r>
          </a:p>
          <a:p>
            <a:pPr algn="ctr"/>
            <a:r>
              <a:rPr sz="1400" b="0">
                <a:solidFill>
                  <a:srgbClr val="9AA3AB"/>
                </a:solidFill>
              </a:rPr>
              <a:t>cheap, but every undo</a:t>
            </a:r>
          </a:p>
          <a:p>
            <a:pPr algn="ctr"/>
            <a:r>
              <a:rPr sz="1400" b="0">
                <a:solidFill>
                  <a:srgbClr val="9AA3AB"/>
                </a:solidFill>
              </a:rPr>
              <a:t>must be right</a:t>
            </a:r>
          </a:p>
        </p:txBody>
      </p:sp>
      <p:sp>
        <p:nvSpPr>
          <p:cNvPr id="296" name="Rounded Rectangle 295"/>
          <p:cNvSpPr/>
          <p:nvPr/>
        </p:nvSpPr>
        <p:spPr>
          <a:xfrm>
            <a:off x="4846320" y="1417320"/>
            <a:ext cx="3749039" cy="14630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Save snapshots</a:t>
            </a:r>
          </a:p>
          <a:p>
            <a:pPr algn="ctr"/>
            <a:r>
              <a:rPr sz="1400" b="0">
                <a:solidFill>
                  <a:srgbClr val="9AA3AB"/>
                </a:solidFill>
              </a:rPr>
              <a:t>copy the state before each command</a:t>
            </a:r>
          </a:p>
          <a:p>
            <a:pPr algn="ctr"/>
            <a:r>
              <a:rPr sz="1400" b="0">
                <a:solidFill>
                  <a:srgbClr val="9AA3AB"/>
                </a:solidFill>
              </a:rPr>
              <a:t>simple and always correct,</a:t>
            </a:r>
          </a:p>
          <a:p>
            <a:pPr algn="ctr"/>
            <a:r>
              <a:rPr sz="1400" b="0">
                <a:solidFill>
                  <a:srgbClr val="9AA3AB"/>
                </a:solidFill>
              </a:rPr>
              <a:t>but costs memory</a:t>
            </a:r>
          </a:p>
        </p:txBody>
      </p:sp>
      <p:sp>
        <p:nvSpPr>
          <p:cNvPr id="297" name="TextBox 296"/>
          <p:cNvSpPr txBox="1"/>
          <p:nvPr/>
        </p:nvSpPr>
        <p:spPr>
          <a:xfrm>
            <a:off x="457200" y="3154680"/>
            <a:ext cx="8229600" cy="731520"/>
          </a:xfrm>
          <a:prstGeom prst="rect">
            <a:avLst/>
          </a:prstGeom>
          <a:noFill/>
        </p:spPr>
        <p:txBody>
          <a:bodyPr wrap="square">
            <a:spAutoFit/>
          </a:bodyPr>
          <a:lstStyle/>
          <a:p>
            <a:pPr algn="ctr"/>
            <a:r>
              <a:rPr sz="1800" b="1" i="0">
                <a:solidFill>
                  <a:srgbClr val="DEE2E6"/>
                </a:solidFill>
              </a:rPr>
              <a:t>Sokoban’s state is tiny. What about a big open world?</a:t>
            </a: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Command Pattern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Sokoban2 → Sokoban3 → Sokoban4: commands, undo &amp; redo, the whole game</a:t>
            </a:r>
            <a:endParaRPr sz="180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Commands and Input</a:t>
            </a:r>
            <a:endParaRPr/>
          </a:p>
        </p:txBody>
      </p:sp>
      <p:sp>
        <p:nvSpPr>
          <p:cNvPr id="3" name="Text Placeholder 2"/>
          <p:cNvSpPr>
            <a:spLocks noGrp="1"/>
          </p:cNvSpPr>
          <p:nvPr>
            <p:ph type="body" idx="1"/>
          </p:nvPr>
        </p:nvSpPr>
        <p:spPr>
          <a:xfrm>
            <a:off x="311700" y="885950"/>
            <a:ext cx="8520600" cy="2057400"/>
          </a:xfrm>
        </p:spPr>
        <p:txBody>
          <a:bodyPr/>
          <a:lstStyle/>
          <a:p>
            <a:pPr indent="-330200" lvl="0" marL="457200" rtl="0" algn="l">
              <a:spcBef>
                <a:spcPts val="0"/>
              </a:spcBef>
              <a:spcAft>
                <a:spcPts val="0"/>
              </a:spcAft>
              <a:buSzPts val="1600"/>
              <a:buChar char="●"/>
            </a:pPr>
            <a:r>
              <a:rPr lang="en"/>
              <a:t>Game Programming Patterns starts the chapter with input: each button holds a command</a:t>
            </a:r>
            <a:endParaRPr/>
          </a:p>
          <a:p>
            <a:pPr indent="-330200" lvl="0" marL="457200" rtl="0" algn="l">
              <a:spcBef>
                <a:spcPts val="0"/>
              </a:spcBef>
              <a:spcAft>
                <a:spcPts val="0"/>
              </a:spcAft>
              <a:buSzPts val="1600"/>
              <a:buChar char="●"/>
            </a:pPr>
            <a:r>
              <a:rPr lang="en"/>
              <a:t>Rebinding: give the button a different one</a:t>
            </a:r>
            <a:endParaRPr/>
          </a:p>
          <a:p>
            <a:pPr indent="-330200" lvl="0" marL="457200" rtl="0" algn="l">
              <a:spcBef>
                <a:spcPts val="0"/>
              </a:spcBef>
              <a:spcAft>
                <a:spcPts val="0"/>
              </a:spcAft>
              <a:buSzPts val="1600"/>
              <a:buChar char="●"/>
            </a:pPr>
            <a:r>
              <a:rPr lang="en"/>
              <a:t>Our GameController names actions, but the mapping is code</a:t>
            </a:r>
            <a:endParaRPr/>
          </a:p>
          <a:p>
            <a:pPr indent="-330200" lvl="0" marL="457200" rtl="0" algn="l">
              <a:spcBef>
                <a:spcPts val="0"/>
              </a:spcBef>
              <a:spcAft>
                <a:spcPts val="0"/>
              </a:spcAft>
              <a:buSzPts val="1600"/>
              <a:buChar char="●"/>
            </a:pPr>
            <a:r>
              <a:rPr lang="en"/>
              <a:t>As data (a dictionary), it can change while the game runs</a:t>
            </a:r>
            <a:endParaRPr/>
          </a:p>
          <a:p>
            <a:pPr indent="-330200" lvl="0" marL="457200" rtl="0" algn="l">
              <a:spcBef>
                <a:spcPts val="0"/>
              </a:spcBef>
              <a:spcAft>
                <a:spcPts val="0"/>
              </a:spcAft>
              <a:buSzPts val="1600"/>
              <a:buChar char="●"/>
            </a:pPr>
            <a:r>
              <a:rPr lang="en"/>
              <a:t>Each press still makes a new MoveCommand: each move is undone on its own</a:t>
            </a:r>
            <a:endParaRP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Swap Two Keys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Sokoban4, HandleInput:</a:t>
            </a:r>
            <a:endParaRPr/>
          </a:p>
          <a:p>
            <a:pPr indent="-330200" lvl="0" marL="457200" rtl="0" algn="l">
              <a:spcBef>
                <a:spcPts val="0"/>
              </a:spcBef>
              <a:spcAft>
                <a:spcPts val="0"/>
              </a:spcAft>
              <a:buSzPts val="1600"/>
              <a:buChar char="●"/>
            </a:pPr>
            <a:r>
              <a:rPr lang="en"/>
              <a:t>Replace the four move lines with a Keys → direction dictionary</a:t>
            </a:r>
            <a:endParaRPr/>
          </a:p>
          <a:p>
            <a:pPr indent="-330200" lvl="0" marL="457200" rtl="0" algn="l">
              <a:spcBef>
                <a:spcPts val="0"/>
              </a:spcBef>
              <a:spcAft>
                <a:spcPts val="0"/>
              </a:spcAft>
              <a:buSzPts val="1600"/>
              <a:buChar char="●"/>
            </a:pPr>
            <a:r>
              <a:rPr lang="en"/>
              <a:t>Add a key that swaps the up and down bindings while you play</a:t>
            </a:r>
            <a:endParaRPr/>
          </a:p>
          <a:p>
            <a:pPr indent="-330200" lvl="0" marL="457200" rtl="0" algn="l">
              <a:spcBef>
                <a:spcPts val="0"/>
              </a:spcBef>
              <a:spcAft>
                <a:spcPts val="0"/>
              </a:spcAft>
              <a:buSzPts val="1600"/>
              <a:buChar char="●"/>
            </a:pPr>
            <a:r>
              <a:rPr lang="en"/>
              <a:t>What changed, and what didn’t need to know?</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Sokoban4. Full instructions are on the course site.</a:t>
            </a:r>
            <a:endParaRPr/>
          </a:p>
          <a:p>
            <a:pPr indent="-330200" lvl="0" marL="457200" rtl="0" algn="l">
              <a:spcBef>
                <a:spcPts val="0"/>
              </a:spcBef>
              <a:spcAft>
                <a:spcPts val="0"/>
              </a:spcAft>
              <a:buSzPts val="1600"/>
              <a:buChar char="●"/>
            </a:pPr>
            <a:r>
              <a:rPr lang="en"/>
              <a:t>A new level: design level8.txt. Is it solvable?</a:t>
            </a:r>
            <a:endParaRPr/>
          </a:p>
          <a:p>
            <a:pPr indent="-330200" lvl="0" marL="457200" rtl="0" algn="l">
              <a:spcBef>
                <a:spcPts val="0"/>
              </a:spcBef>
              <a:spcAft>
                <a:spcPts val="0"/>
              </a:spcAft>
              <a:buSzPts val="1600"/>
              <a:buChar char="●"/>
            </a:pPr>
            <a:r>
              <a:rPr lang="en"/>
              <a:t>Two more tests: pushing a box off a goal, walking onto a goal</a:t>
            </a:r>
            <a:endParaRPr/>
          </a:p>
          <a:p>
            <a:pPr indent="-330200" lvl="0" marL="457200" rtl="0" algn="l">
              <a:spcBef>
                <a:spcPts val="0"/>
              </a:spcBef>
              <a:spcAft>
                <a:spcPts val="0"/>
              </a:spcAft>
              <a:buSzPts val="1600"/>
              <a:buChar char="●"/>
            </a:pPr>
            <a:r>
              <a:rPr lang="en"/>
              <a:t>Test first: boxes can’t be pushed onto ice (~)</a:t>
            </a:r>
            <a:endParaRPr/>
          </a:p>
          <a:p>
            <a:pPr indent="-330200" lvl="0" marL="457200" rtl="0" algn="l">
              <a:spcBef>
                <a:spcPts val="0"/>
              </a:spcBef>
              <a:spcAft>
                <a:spcPts val="0"/>
              </a:spcAft>
              <a:buSzPts val="1600"/>
              <a:buChar char="●"/>
            </a:pPr>
            <a:r>
              <a:rPr lang="en"/>
              <a:t>Replay: when a level is solved, replay the solution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Commands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Restart as a command</a:t>
            </a:r>
            <a:endParaRPr/>
          </a:p>
          <a:p>
            <a:pPr indent="-317500" lvl="1" marL="914400" rtl="0" algn="l">
              <a:spcBef>
                <a:spcPts val="0"/>
              </a:spcBef>
              <a:spcAft>
                <a:spcPts val="0"/>
              </a:spcAft>
              <a:buSzPts val="1400"/>
              <a:buChar char="○"/>
            </a:pPr>
            <a:r>
              <a:rPr lang="en"/>
              <a:t>Make R a command too, so a restart can be undone</a:t>
            </a:r>
            <a:endParaRPr/>
          </a:p>
          <a:p>
            <a:pPr indent="-317500" lvl="1" marL="914400" rtl="0" algn="l">
              <a:spcBef>
                <a:spcPts val="0"/>
              </a:spcBef>
              <a:spcAft>
                <a:spcPts val="0"/>
              </a:spcAft>
              <a:buSzPts val="1400"/>
              <a:buChar char="○"/>
            </a:pPr>
            <a:r>
              <a:rPr lang="en"/>
              <a:t>What must it remember?</a:t>
            </a:r>
            <a:endParaRPr/>
          </a:p>
          <a:p>
            <a:pPr indent="-330200" lvl="0" marL="457200" rtl="0" algn="l">
              <a:spcBef>
                <a:spcPts val="0"/>
              </a:spcBef>
              <a:spcAft>
                <a:spcPts val="0"/>
              </a:spcAft>
              <a:buSzPts val="1600"/>
              <a:buChar char="●"/>
            </a:pPr>
            <a:r>
              <a:rPr lang="en"/>
              <a:t>Stretch: snapshot undo</a:t>
            </a:r>
            <a:endParaRPr/>
          </a:p>
          <a:p>
            <a:pPr indent="-317500" lvl="1" marL="914400" rtl="0" algn="l">
              <a:spcBef>
                <a:spcPts val="0"/>
              </a:spcBef>
              <a:spcAft>
                <a:spcPts val="0"/>
              </a:spcAft>
              <a:buSzPts val="1400"/>
              <a:buChar char="○"/>
            </a:pPr>
            <a:r>
              <a:rPr lang="en"/>
              <a:t>Replace CommandHistory with a history of Level snapshots</a:t>
            </a:r>
            <a:endParaRPr/>
          </a:p>
          <a:p>
            <a:pPr indent="-317500" lvl="1" marL="914400" rtl="0" algn="l">
              <a:spcBef>
                <a:spcPts val="0"/>
              </a:spcBef>
              <a:spcAft>
                <a:spcPts val="0"/>
              </a:spcAft>
              <a:buSzPts val="1400"/>
              <a:buChar char="○"/>
            </a:pPr>
            <a:r>
              <a:rPr lang="en"/>
              <a:t>Compare: code, memory, and how easy each is to get wrong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does turning a request into an object make possible?</a:t>
            </a:r>
            <a:endParaRPr/>
          </a:p>
          <a:p>
            <a:pPr indent="-330200" lvl="0" marL="457200" rtl="0" algn="l">
              <a:spcBef>
                <a:spcPts val="0"/>
              </a:spcBef>
              <a:spcAft>
                <a:spcPts val="0"/>
              </a:spcAft>
              <a:buSzPts val="1600"/>
              <a:buChar char="●"/>
            </a:pPr>
            <a:r>
              <a:rPr lang="en"/>
              <a:t>Why does a move command remember whether it pushed a box?</a:t>
            </a:r>
            <a:endParaRPr/>
          </a:p>
          <a:p>
            <a:pPr indent="-330200" lvl="0" marL="457200" rtl="0" algn="l">
              <a:spcBef>
                <a:spcPts val="0"/>
              </a:spcBef>
              <a:spcAft>
                <a:spcPts val="0"/>
              </a:spcAft>
              <a:buSzPts val="1600"/>
              <a:buChar char="●"/>
            </a:pPr>
            <a:r>
              <a:rPr lang="en"/>
              <a:t>Why is the redo stack cleared when a new command is executed?</a:t>
            </a:r>
            <a:endParaRPr/>
          </a:p>
          <a:p>
            <a:pPr indent="-330200" lvl="0" marL="457200" rtl="0" algn="l">
              <a:spcBef>
                <a:spcPts val="0"/>
              </a:spcBef>
              <a:spcAft>
                <a:spcPts val="0"/>
              </a:spcAft>
              <a:buSzPts val="1600"/>
              <a:buChar char="●"/>
            </a:pPr>
            <a:r>
              <a:rPr lang="en"/>
              <a:t>Why can Level be unit-tested, but not code in Game1.Update?</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rules could be separated from drawing and input?</a:t>
            </a:r>
            <a:endParaRPr/>
          </a:p>
          <a:p>
            <a:pPr indent="-317500" lvl="1" marL="914400" rtl="0" algn="l">
              <a:spcBef>
                <a:spcPts val="0"/>
              </a:spcBef>
              <a:spcAft>
                <a:spcPts val="0"/>
              </a:spcAft>
              <a:buSzPts val="1400"/>
              <a:buChar char="○"/>
            </a:pPr>
            <a:r>
              <a:rPr lang="en"/>
              <a:t>Write one unit test for one of them</a:t>
            </a:r>
            <a:endParaRPr/>
          </a:p>
          <a:p>
            <a:pPr indent="-330200" lvl="0" marL="457200" rtl="0" algn="l">
              <a:spcBef>
                <a:spcPts val="0"/>
              </a:spcBef>
              <a:spcAft>
                <a:spcPts val="0"/>
              </a:spcAft>
              <a:buSzPts val="1600"/>
              <a:buChar char="●"/>
            </a:pPr>
            <a:r>
              <a:rPr lang="en"/>
              <a:t>Would undo, replays or queued actions be useful in your game?</a:t>
            </a:r>
            <a:endParaRPr/>
          </a:p>
          <a:p>
            <a:pPr indent="-317500" lvl="1" marL="914400" rtl="0" algn="l">
              <a:spcBef>
                <a:spcPts val="0"/>
              </a:spcBef>
              <a:spcAft>
                <a:spcPts val="0"/>
              </a:spcAft>
              <a:buSzPts val="1400"/>
              <a:buChar char="○"/>
            </a:pPr>
            <a:r>
              <a:rPr lang="en"/>
              <a:t>Which actions would become commands, and what would each remember?</a:t>
            </a:r>
            <a:endParaRPr/>
          </a:p>
          <a:p>
            <a:pPr indent="-330200" lvl="0" marL="457200" rtl="0" algn="l">
              <a:spcBef>
                <a:spcPts val="0"/>
              </a:spcBef>
              <a:spcAft>
                <a:spcPts val="0"/>
              </a:spcAft>
              <a:buSzPts val="1600"/>
              <a:buChar char="●"/>
            </a:pPr>
            <a:r>
              <a:rPr lang="en"/>
              <a:t>Could your levels, or part of them, be data files?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