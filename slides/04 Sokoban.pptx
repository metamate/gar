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306" r:id="rId65"/>
    <p:sldId id="278" r:id="rId28"/>
    <p:sldId id="279" r:id="rId29"/>
    <p:sldId id="307" r:id="rId66"/>
    <p:sldId id="308" r:id="rId67"/>
    <p:sldId id="309" r:id="rId68"/>
    <p:sldId id="280" r:id="rId30"/>
    <p:sldId id="292" r:id="rId42"/>
    <p:sldId id="293" r:id="rId52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42" Type="http://schemas.openxmlformats.org/officeDocument/2006/relationships/slide" Target="slides/slide3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slide" Target="slides/slide45.xml"/><Relationship Id="rId60" Type="http://schemas.openxmlformats.org/officeDocument/2006/relationships/slide" Target="slides/slide46.xml"/><Relationship Id="rId61" Type="http://schemas.openxmlformats.org/officeDocument/2006/relationships/slide" Target="slides/slide47.xml"/><Relationship Id="rId62" Type="http://schemas.openxmlformats.org/officeDocument/2006/relationships/slide" Target="slides/slide48.xml"/><Relationship Id="rId63" Type="http://schemas.openxmlformats.org/officeDocument/2006/relationships/slide" Target="slides/slide49.xml"/><Relationship Id="rId64" Type="http://schemas.openxmlformats.org/officeDocument/2006/relationships/slide" Target="slides/slide50.xml"/><Relationship Id="rId65" Type="http://schemas.openxmlformats.org/officeDocument/2006/relationships/slide" Target="slides/slide51.xml"/><Relationship Id="rId66" Type="http://schemas.openxmlformats.org/officeDocument/2006/relationships/slide" Target="slides/slide52.xml"/><Relationship Id="rId67" Type="http://schemas.openxmlformats.org/officeDocument/2006/relationships/slide" Target="slides/slide53.xml"/><Relationship Id="rId68" Type="http://schemas.openxmlformats.org/officeDocument/2006/relationships/slide" Target="slides/slide5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54230080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54230080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is a behavioral design pattern that turns a request into a stand-alone object that contains all information about the request. This transformation lets you pass requests as a method arguments, delay or queue a request’s execution, and support undoable operations.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cbd7a28ff6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cbd7a28ff6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cbd7a28ff6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cbd7a28ff6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cbd7a28ff6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cbd7a28ff6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cb190ae9b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cb190ae9b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cbd7a28ff6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cbd7a28ff6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bd7a28ff6_0_1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bd7a28ff6_0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cb190ae9b0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cb190ae9b0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cbd7a28ff6_0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cbd7a28ff6_0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cbd7a28ff6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cbd7a28ff6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4-sokoban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Relationship Id="rId4" Type="http://schemas.openxmlformats.org/officeDocument/2006/relationships/image" Target="../media/image13.png"/><Relationship Id="rId5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04: Sokoban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77201" y="1531275"/>
            <a:ext cx="5789598" cy="3256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Rules Apart From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Unit Tests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Command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Undo &amp; Redo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04-sokoban)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Sokoban0 → Sokoban4, and the tests in Sokoban.Tests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Sokoban4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35" name="Google Shape;13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15688" y="813790"/>
            <a:ext cx="6512616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Problem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832400" y="1782800"/>
            <a:ext cx="3999900" cy="178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BUTTON_X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BUTTON_Y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FireGun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BUTTON_A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SwapWeapon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BUTTON_B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Lurch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42" name="Google Shape;142;p23"/>
          <p:cNvPicPr preferRelativeResize="0"/>
          <p:nvPr/>
        </p:nvPicPr>
        <p:blipFill rotWithShape="1">
          <a:blip r:embed="rId3">
            <a:alphaModFix/>
          </a:blip>
          <a:srcRect b="0" l="8498" r="28649" t="0"/>
          <a:stretch/>
        </p:blipFill>
        <p:spPr>
          <a:xfrm>
            <a:off x="144975" y="1782788"/>
            <a:ext cx="4512576" cy="22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pic>
        <p:nvPicPr>
          <p:cNvPr id="148" name="Google Shape;148;p24"/>
          <p:cNvPicPr preferRelativeResize="0"/>
          <p:nvPr/>
        </p:nvPicPr>
        <p:blipFill rotWithShape="1">
          <a:blip r:embed="rId3">
            <a:alphaModFix/>
          </a:blip>
          <a:srcRect b="0" l="6367" r="5074" t="0"/>
          <a:stretch/>
        </p:blipFill>
        <p:spPr>
          <a:xfrm>
            <a:off x="1126375" y="1319825"/>
            <a:ext cx="6993449" cy="267295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4"/>
          <p:cNvSpPr txBox="1"/>
          <p:nvPr/>
        </p:nvSpPr>
        <p:spPr>
          <a:xfrm>
            <a:off x="2684550" y="4402100"/>
            <a:ext cx="3774900" cy="4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“A command is a reified method call.”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pic>
        <p:nvPicPr>
          <p:cNvPr id="155" name="Google Shape;15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613" y="824490"/>
            <a:ext cx="8140770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11700" y="1463400"/>
            <a:ext cx="3039000" cy="11082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3564450" y="1463400"/>
            <a:ext cx="5139600" cy="313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FireCommand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LurchCommand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SwapCommand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569CD6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63" name="Google Shape;163;p26"/>
          <p:cNvSpPr txBox="1"/>
          <p:nvPr>
            <p:ph idx="1" type="body"/>
          </p:nvPr>
        </p:nvSpPr>
        <p:spPr>
          <a:xfrm>
            <a:off x="311700" y="2749300"/>
            <a:ext cx="3039000" cy="1848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69" name="Google Shape;16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011440"/>
            <a:ext cx="8839199" cy="16148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75" name="Google Shape;175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28340"/>
            <a:ext cx="8839201" cy="2286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Usage</a:t>
            </a:r>
            <a:endParaRPr/>
          </a:p>
        </p:txBody>
      </p:sp>
      <p:sp>
        <p:nvSpPr>
          <p:cNvPr id="181" name="Google Shape;181;p29"/>
          <p:cNvSpPr txBox="1"/>
          <p:nvPr>
            <p:ph idx="1" type="body"/>
          </p:nvPr>
        </p:nvSpPr>
        <p:spPr>
          <a:xfrm>
            <a:off x="311700" y="885950"/>
            <a:ext cx="1263900" cy="104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Undo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Redo</a:t>
            </a:r>
            <a:endParaRPr/>
          </a:p>
        </p:txBody>
      </p:sp>
      <p:pic>
        <p:nvPicPr>
          <p:cNvPr id="182" name="Google Shape;182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4950" y="322075"/>
            <a:ext cx="3864576" cy="2173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3175" y="2765500"/>
            <a:ext cx="3864576" cy="2173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24950" y="2765501"/>
            <a:ext cx="3864576" cy="2173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  <p:pic>
        <p:nvPicPr>
          <p:cNvPr id="196" name="Google Shape;196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7287" y="1418650"/>
            <a:ext cx="4289425" cy="310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4150" y="1958750"/>
            <a:ext cx="7015700" cy="1753925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Command Pattern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Sokoban2 → Sokoban3 → Sokoban4: commands, undo &amp; redo, the whole game</a:t>
            </a:r>
            <a:endParaRPr sz="18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Sokoban4,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level: design level8.txt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Is it solvable? How do you know?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first tests: add two to LevelTests.cs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Pushing a box off a goal; walking onto a goal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Then break Level.Move on purpose and watch them fail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 first: boxes can’t be pushed onto ice (~)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the tests before the code, see them fail, make them pass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Replay: when a level is solved, replay the solution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One command every 200 ms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Commands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Restart as a command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R a command too, so a restart can be undone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must it remember?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Stretch: snapshot undo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Replace CommandHistory with a history of Level snapshots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Compare: code, memory, and how easy each is to get wrong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rules could be separated from drawing and input?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one unit test for one of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undo, replays or queued actions be useful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actions would become commands, and what would each remember?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your levels, or part of them, be data files?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Groups formed and game concept written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Repository created from the gar-starter template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Repository link uploaded to itslearning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06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 and a first class diagram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Levels as Data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levels have been text for decades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$ box   . goal   @ player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* box on a goal   + player on a goal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Small, readable, easy to edit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Copied as they are, and read by our own code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Sokoban0 draws the text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But then the text is the only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level1.txt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     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 @$ 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     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Builder.cs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content.IncludeCopy&lt;WildcardRule&gt;("*.txt");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Game1.cs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using Stream stream = TitleContainer.OpenStream(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Path.Combine(Content.RootDirectory,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 "levels/level1.txt"));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Levels as Data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Sokoban0: a level file, drawn character by character</a:t>
            </a:r>
            <a:endParaRPr sz="18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Rules Apart From Drawing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Level: the state and the rules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Walls, goals, boxes, the player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No textures, no keys, no screen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LevelView: draws a level, never changes it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Which way the player faces is only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part changes on its own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New art: LevelView. New rule: Level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MoveResult Move(Point direction)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(!CanMove(direction))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MoveResult.Blocked;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Player += direction;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(HasBox(Player))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_boxes.Remove(Player);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_boxes.Add(Player + direction);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MoveResult.Pushed;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MoveResult.Walked;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bool IsSolved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_boxes.All(_goals.Contains);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Rules Apart From Drawing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Sokoban0 → Sokoban1: Level and LevelView</a:t>
            </a:r>
            <a:endParaRPr sz="180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Unit Tests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we know the rules work? So far: by playing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Slow, easy to skip a case, and again after every change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unit test checks one thing about your code, automatically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Set up a situation, do one thing, check the result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Pass or fail; hundreds run in about a second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Change the code, run the tests again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They tell you at once if something that worked is now broken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Only possible because Level needs no window, graphics or keys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Test Project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Tests live in their own project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Sokoban.Tests, next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references the game project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xUnit: a test framework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Finds the tests, runs them, reports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game knows nothing about its tests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never ship with the game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&lt;!-- Sokoban.Tests.csproj --&gt;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&lt;ItemGroup&gt;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&lt;PackageReference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Include="Microsoft.NET.Test.Sdk" /&gt;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&lt;PackageReference Include="xunit" /&gt;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&lt;PackageReference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Include="xunit.runner.visualstudio" /&gt;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&lt;/ItemGroup&gt;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&lt;ItemGroup&gt;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&lt;ProjectReference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Include="..\Sokoban4\Sokoban4.csproj" /&gt;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&lt;/ItemGroup&gt;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Anatomy of a Test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[Fact] marks a method as a test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name says what it checks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first thing you see when it fails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Arrange, act, assert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One situation, one action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Assert.Equal(expected, actual)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Fails when the values differ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level is written in the test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const string Corridor = """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# @$ 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""";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Walking_into_a_box_pushes_it()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Arrange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Level level = Level.Parse(Corridor);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Act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MoveResult result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level.Move(Direction.Right);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Assert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Assert.Equal(MoveResult.Pushed, result);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Point(3, 1), level.Player);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Assert.Equal([new Point(4, 1)], level.Boxes);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Running the Tests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dotnet test, in the game folder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Or your editor’s test explorer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Green and red marks per test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failing test names the rule that broke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What it expected, what it got, the line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to test: the rules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Moving, pushing, solving, undo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Not drawing: look at it instead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&gt; dotnet test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Passed!  - Failed: 0, Passed: 12, Total: 12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After breaking Level.Move on purpose: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Failed LevelTests.Walking_into_a_box_pushes_it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Assert.Equal() Failure: Collections differ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Expected: [{X:4 Y:1}]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Actual:   [{X:5 Y:1}]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at ...\LevelTests.cs:line 70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Failed!  - Failed: 1, Passed: 11, Total: 12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Unit Tests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Sokoban.Tests: run the tests, then break a rule and watch one fail</a:t>
            </a:r>
            <a:endParaRPr sz="180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Moves as Commands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move becomes a MoveCommand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Only moves that change something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Walking into a wall is not a move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Sokoban2 keeps a list, to count the moves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move that is an object can be kept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Queued, logged, replayed, sent, undone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GameController: keys →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command: what the game does with one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MoveCommand(Level level,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direction) : ICommand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Execute()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level.Move(direction);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Game1.cs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(!_level.CanMove(direction))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ICommand command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MoveCommand(_level, direction);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command.Execute();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_moves.Add(command);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Undoable Moves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command must reverse exactly what it did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Moving the player back is not enough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push must pull the box back too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 MoveCommand remembers the MoveResult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private MoveResult _result;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Execute()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_result = level.Move(direction);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Undo()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level.UndoMove(direction, _result);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Level.cs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UndoMove(Point direction,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     MoveResult result)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(result == MoveResult.Pushed)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_boxes.Remove(Player + direction);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_boxes.Add(Player);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(result != MoveResult.Blocked)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Player -= direction;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History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Two stacks: done and undone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Z undoes, Y redoes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command clears the redo stack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undone moves belong to another future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move counter is the undo stack’s size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Execute(ICommand command)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command.Execute();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_done.Push(command);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_undone.Clear();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Undo()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(_done.TryPop(out ICommand command))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command.Undo();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_undone.Push(command);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Redo: the same, the other way around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Two Ways to Undo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Reverse the command (as in Sokoban3)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command knows its own opposite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Cheap, but every undo must be exactly right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snapshots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Copy the state before each command, restore it to undo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Simple and always correct, but costs memory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Sokoban’s state is small: both work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 a large world, only the changes are worth storing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