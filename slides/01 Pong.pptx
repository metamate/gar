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301" r:id="rId60"/>
    <p:sldId id="302" r:id="rId61"/>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303" r:id="rId62"/>
    <p:sldId id="290" r:id="rId40"/>
    <p:sldId id="291" r:id="rId41"/>
    <p:sldId id="292" r:id="rId42"/>
    <p:sldId id="293" r:id="rId43"/>
    <p:sldId id="294" r:id="rId44"/>
    <p:sldId id="295" r:id="rId45"/>
    <p:sldId id="296" r:id="rId46"/>
    <p:sldId id="297" r:id="rId47"/>
    <p:sldId id="298" r:id="rId48"/>
    <p:sldId id="299" r:id="rId49"/>
    <p:sldId id="300" r:id="rId50"/>
  </p:sldIdLst>
  <p:sldSz cy="5143500" cx="9144000"/>
  <p:notesSz cx="6858000" cy="9144000"/>
  <p:embeddedFontLst>
    <p:embeddedFont>
      <p:font typeface="Roboto"/>
      <p:regular r:id="rId51"/>
      <p:bold r:id="rId52"/>
      <p:italic r:id="rId53"/>
      <p:boldItalic r:id="rId54"/>
    </p:embeddedFont>
    <p:embeddedFont>
      <p:font typeface="VT323"/>
      <p:regular r:id="rId55"/>
    </p:embeddedFont>
    <p:embeddedFont>
      <p:font typeface="Roboto Light"/>
      <p:regular r:id="rId56"/>
      <p:bold r:id="rId57"/>
      <p:italic r:id="rId58"/>
      <p:boldItalic r:id="rId5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font" Target="fonts/Roboto-regular.fntdata"/><Relationship Id="rId52" Type="http://schemas.openxmlformats.org/officeDocument/2006/relationships/font" Target="fonts/Roboto-bold.fntdata"/><Relationship Id="rId53" Type="http://schemas.openxmlformats.org/officeDocument/2006/relationships/font" Target="fonts/Roboto-italic.fntdata"/><Relationship Id="rId54" Type="http://schemas.openxmlformats.org/officeDocument/2006/relationships/font" Target="fonts/Roboto-boldItalic.fntdata"/><Relationship Id="rId55" Type="http://schemas.openxmlformats.org/officeDocument/2006/relationships/font" Target="fonts/VT323-regular.fntdata"/><Relationship Id="rId56" Type="http://schemas.openxmlformats.org/officeDocument/2006/relationships/font" Target="fonts/RobotoLight-regular.fntdata"/><Relationship Id="rId57" Type="http://schemas.openxmlformats.org/officeDocument/2006/relationships/font" Target="fonts/RobotoLight-bold.fntdata"/><Relationship Id="rId58" Type="http://schemas.openxmlformats.org/officeDocument/2006/relationships/font" Target="fonts/RobotoLight-italic.fntdata"/><Relationship Id="rId59" Type="http://schemas.openxmlformats.org/officeDocument/2006/relationships/font" Target="fonts/RobotoLight-boldItalic.fntdata"/><Relationship Id="rId60" Type="http://schemas.openxmlformats.org/officeDocument/2006/relationships/slide" Target="slides/slide46.xml"/><Relationship Id="rId61" Type="http://schemas.openxmlformats.org/officeDocument/2006/relationships/slide" Target="slides/slide47.xml"/><Relationship Id="rId62"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20e943c05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20e943c05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g3932a601320_0_1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 name="Google Shape;51;g3932a601320_0_1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g3932a601320_0_1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 name="Google Shape;57;g3932a601320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g3932a601320_0_1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 name="Google Shape;62;g3932a601320_0_1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 name="Shape 66"/>
        <p:cNvGrpSpPr/>
        <p:nvPr/>
      </p:nvGrpSpPr>
      <p:grpSpPr>
        <a:xfrm>
          <a:off x="0" y="0"/>
          <a:ext cx="0" cy="0"/>
          <a:chOff x="0" y="0"/>
          <a:chExt cx="0" cy="0"/>
        </a:xfrm>
      </p:grpSpPr>
      <p:sp>
        <p:nvSpPr>
          <p:cNvPr id="67" name="Google Shape;67;g39336b1372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 name="Google Shape;68;g39336b1372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9336b13721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9336b13721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c20e943c05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c20e943c05_1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c20e943c05_1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c20e943c05_1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g3932a601320_0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 name="Google Shape;92;g3932a601320_0_1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932a601320_0_1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932a601320_0_1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g3932a601320_0_1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3932a601320_0_1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g3c20e943c05_1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 name="Google Shape;110;g3c20e943c05_1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20e943c05_1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20e943c05_1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g39343ef94d7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 name="Google Shape;121;g39343ef94d7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c20e943c05_1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c20e943c05_1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c2ab6540c5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c2ab6540c5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g3c2ab6540c5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9" name="Google Shape;139;g3c2ab6540c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9343ef94d7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9343ef94d7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932a601320_0_1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932a601320_0_1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9336b13721_0_2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9336b13721_0_2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c2ab6540c5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4" name="Google Shape;164;g3c2ab6540c5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c2ab6540c5_0_3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c2ab6540c5_0_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g3c2ab6540c5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7" name="Google Shape;177;g3c2ab6540c5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932a601320_0_1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932a601320_0_1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c2ab6540c5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1" name="Google Shape;191;g3c2ab6540c5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c2ab6540c5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c2ab6540c5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39336b13721_0_2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4" name="Google Shape;204;g39336b13721_0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g39336b13721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g39336b13721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2ab6540c5_0_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2ab6540c5_0_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c2ab6540c5_0_6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3" name="Google Shape;223;g3c2ab6540c5_0_6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c2ab6540c5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9" name="Google Shape;229;g3c2ab6540c5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39336b13721_0_1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6" name="Google Shape;236;g39336b13721_0_1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g39343ef94d7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3" name="Google Shape;243;g39343ef94d7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c2ab6540c5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0" name="Google Shape;250;g3c2ab6540c5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932a601320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6" name="Google Shape;256;g3932a601320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g3c2ab6540c5_0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3" name="Google Shape;263;g3c2ab6540c5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c2ab6540c5_0_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9" name="Google Shape;269;g3c2ab6540c5_0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932a60132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6" name="Google Shape;276;g3932a60132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c2ab6540c5_0_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3" name="Google Shape;283;g3c2ab6540c5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g3c2ab6540c5_0_1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0" name="Google Shape;290;g3c2ab6540c5_0_1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2ab6540c5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2ab6540c5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3932a60132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3" name="Google Shape;303;g3932a60132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2ab6540c5_0_1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2ab6540c5_0_1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9336b13721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6" name="Google Shape;316;g39336b13721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2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hyperlink" Target="https://gameprogrammingpatterns.com/contents.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hyperlink" Target="https://github.com/Metamate/gmd2-pon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hyperlink" Target="https://docs.monogame.net/articles/getting_to_know/howto/graphics/HowTo_Draw_Text.html" TargetMode="External"/><Relationship Id="rId4"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hyperlink" Target="https://drive.google.com/file/d/1WL5c1jFGq4ZBwqACP-6nO2RcUN0IbpRo/view?usp=sharing" TargetMode="External"/><Relationship Id="rId4" Type="http://schemas.openxmlformats.org/officeDocument/2006/relationships/image" Target="../media/image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1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s://gameprogrammingpatterns.com/update-method.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hyperlink" Target="https://docs.monogame.net/api/Microsoft.Xna.Framework.Audio.SoundEffect.html" TargetMode="External"/><Relationship Id="rId4" Type="http://schemas.openxmlformats.org/officeDocument/2006/relationships/hyperlink" Target="https://docs.monogame.net/api/Microsoft.Xna.Framework.Media.Song.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19.png"/><Relationship Id="rId4" Type="http://schemas.openxmlformats.org/officeDocument/2006/relationships/hyperlink" Target="https://www.bfxr.net"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hyperlink" Target="https://drive.google.com/file/d/1CWX_xtry4YbpcdMa1xv_avio8rvjeiE3/view?usp=drive_link" TargetMode="External"/><Relationship Id="rId4" Type="http://schemas.openxmlformats.org/officeDocument/2006/relationships/hyperlink" Target="https://drive.google.com/file/d/1T9egCZ4n9ddwItry0sKYzok5tK_OfEDE/view?usp=drive_link" TargetMode="External"/><Relationship Id="rId5" Type="http://schemas.openxmlformats.org/officeDocument/2006/relationships/hyperlink" Target="https://drive.google.com/file/d/1ZyGhLxdnboI3KhQ3_8yIBvY0qc6jiqMM/view?usp=drive_link"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01: Pong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am I?</a:t>
            </a:r>
            <a:endParaRPr/>
          </a:p>
        </p:txBody>
      </p:sp>
      <p:sp>
        <p:nvSpPr>
          <p:cNvPr id="46" name="Google Shape;46;p10"/>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Jakob Trigger Knop</a:t>
            </a:r>
            <a:endParaRPr/>
          </a:p>
          <a:p>
            <a:pPr indent="0" lvl="0" marL="0" rtl="0" algn="l">
              <a:spcBef>
                <a:spcPts val="1200"/>
              </a:spcBef>
              <a:spcAft>
                <a:spcPts val="0"/>
              </a:spcAft>
              <a:buNone/>
            </a:pPr>
            <a:r>
              <a:rPr lang="en"/>
              <a:t>Cand.Scient. Comp. Science</a:t>
            </a:r>
            <a:endParaRPr/>
          </a:p>
          <a:p>
            <a:pPr indent="0" lvl="0" marL="0" rtl="0" algn="l">
              <a:spcBef>
                <a:spcPts val="1200"/>
              </a:spcBef>
              <a:spcAft>
                <a:spcPts val="0"/>
              </a:spcAft>
              <a:buNone/>
            </a:pPr>
            <a:r>
              <a:rPr lang="en"/>
              <a:t>E-mail:   jknr@via.dk</a:t>
            </a:r>
            <a:endParaRPr/>
          </a:p>
          <a:p>
            <a:pPr indent="0" lvl="0" marL="0" rtl="0" algn="l">
              <a:spcBef>
                <a:spcPts val="1200"/>
              </a:spcBef>
              <a:spcAft>
                <a:spcPts val="0"/>
              </a:spcAft>
              <a:buNone/>
            </a:pPr>
            <a:r>
              <a:rPr lang="en"/>
              <a:t>Office:   C03.01 (Horsens💀)</a:t>
            </a:r>
            <a:endParaRPr/>
          </a:p>
          <a:p>
            <a:pPr indent="0" lvl="0" marL="0" rtl="0" algn="l">
              <a:spcBef>
                <a:spcPts val="1200"/>
              </a:spcBef>
              <a:spcAft>
                <a:spcPts val="1200"/>
              </a:spcAft>
              <a:buNone/>
            </a:pPr>
            <a:r>
              <a:t/>
            </a:r>
            <a:endParaRPr/>
          </a:p>
        </p:txBody>
      </p:sp>
      <p:sp>
        <p:nvSpPr>
          <p:cNvPr id="47" name="Google Shape;47;p10"/>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48" name="Google Shape;48;p10"/>
          <p:cNvPicPr preferRelativeResize="0"/>
          <p:nvPr/>
        </p:nvPicPr>
        <p:blipFill>
          <a:blip r:embed="rId3">
            <a:alphaModFix/>
          </a:blip>
          <a:stretch>
            <a:fillRect/>
          </a:stretch>
        </p:blipFill>
        <p:spPr>
          <a:xfrm>
            <a:off x="3008925" y="885950"/>
            <a:ext cx="1563065" cy="16643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 name="Shape 52"/>
        <p:cNvGrpSpPr/>
        <p:nvPr/>
      </p:nvGrpSpPr>
      <p:grpSpPr>
        <a:xfrm>
          <a:off x="0" y="0"/>
          <a:ext cx="0" cy="0"/>
          <a:chOff x="0" y="0"/>
          <a:chExt cx="0" cy="0"/>
        </a:xfrm>
      </p:grpSpPr>
      <p:sp>
        <p:nvSpPr>
          <p:cNvPr id="53" name="Google Shape;53;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Who Are You?</a:t>
            </a:r>
            <a:endParaRPr/>
          </a:p>
        </p:txBody>
      </p:sp>
      <p:pic>
        <p:nvPicPr>
          <p:cNvPr id="54" name="Google Shape;54;p11"/>
          <p:cNvPicPr preferRelativeResize="0"/>
          <p:nvPr/>
        </p:nvPicPr>
        <p:blipFill>
          <a:blip r:embed="rId3">
            <a:alphaModFix/>
          </a:blip>
          <a:stretch>
            <a:fillRect/>
          </a:stretch>
        </p:blipFill>
        <p:spPr>
          <a:xfrm>
            <a:off x="2385650" y="1563194"/>
            <a:ext cx="4372700" cy="245090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Your Expectations?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 name="Shape 63"/>
        <p:cNvGrpSpPr/>
        <p:nvPr/>
      </p:nvGrpSpPr>
      <p:grpSpPr>
        <a:xfrm>
          <a:off x="0" y="0"/>
          <a:ext cx="0" cy="0"/>
          <a:chOff x="0" y="0"/>
          <a:chExt cx="0" cy="0"/>
        </a:xfrm>
      </p:grpSpPr>
      <p:sp>
        <p:nvSpPr>
          <p:cNvPr id="64" name="Google Shape;64;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My Expectations</a:t>
            </a:r>
            <a:endParaRPr/>
          </a:p>
        </p:txBody>
      </p:sp>
      <p:sp>
        <p:nvSpPr>
          <p:cNvPr id="65" name="Google Shape;65;p1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0"/>
              </a:spcAft>
              <a:buNone/>
            </a:pPr>
            <a:r>
              <a:rPr lang="en" sz="2400"/>
              <a:t>Engaged students</a:t>
            </a:r>
            <a:endParaRPr sz="2400"/>
          </a:p>
          <a:p>
            <a:pPr indent="0" lvl="0" marL="0" rtl="0" algn="ctr">
              <a:spcBef>
                <a:spcPts val="1200"/>
              </a:spcBef>
              <a:spcAft>
                <a:spcPts val="0"/>
              </a:spcAft>
              <a:buNone/>
            </a:pPr>
            <a:r>
              <a:rPr lang="en" sz="2400"/>
              <a:t>who build cool stuff</a:t>
            </a:r>
            <a:endParaRPr sz="2400"/>
          </a:p>
          <a:p>
            <a:pPr indent="0" lvl="0" marL="0" rtl="0" algn="ctr">
              <a:spcBef>
                <a:spcPts val="1200"/>
              </a:spcBef>
              <a:spcAft>
                <a:spcPts val="1200"/>
              </a:spcAft>
              <a:buNone/>
            </a:pPr>
            <a:r>
              <a:rPr lang="en" sz="2400"/>
              <a:t>and learn at the same time</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 name="Shape 69"/>
        <p:cNvGrpSpPr/>
        <p:nvPr/>
      </p:nvGrpSpPr>
      <p:grpSpPr>
        <a:xfrm>
          <a:off x="0" y="0"/>
          <a:ext cx="0" cy="0"/>
          <a:chOff x="0" y="0"/>
          <a:chExt cx="0" cy="0"/>
        </a:xfrm>
      </p:grpSpPr>
      <p:sp>
        <p:nvSpPr>
          <p:cNvPr id="70" name="Google Shape;70;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Purpose</a:t>
            </a:r>
            <a:endParaRPr/>
          </a:p>
        </p:txBody>
      </p:sp>
      <p:sp>
        <p:nvSpPr>
          <p:cNvPr id="71" name="Google Shape;71;p1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i="1" lang="en">
                <a:solidFill>
                  <a:schemeClr val="lt1"/>
                </a:solidFill>
              </a:rPr>
              <a:t>“The course introduces the student to engine-level game programming using a low-level game framework. The student learns by implementing classic video games, gaining direct control over essential systems like game loop, rendering, asset pipeline and game physics.</a:t>
            </a:r>
            <a:r>
              <a:rPr i="1" lang="en"/>
              <a:t> The purpose is to teach </a:t>
            </a:r>
            <a:r>
              <a:rPr i="1" lang="en">
                <a:solidFill>
                  <a:schemeClr val="accent1"/>
                </a:solidFill>
              </a:rPr>
              <a:t>software engineering in a game context</a:t>
            </a:r>
            <a:r>
              <a:rPr i="1" lang="en"/>
              <a:t>, including </a:t>
            </a:r>
            <a:r>
              <a:rPr i="1" lang="en">
                <a:solidFill>
                  <a:schemeClr val="accent1"/>
                </a:solidFill>
              </a:rPr>
              <a:t>architecture</a:t>
            </a:r>
            <a:r>
              <a:rPr i="1" lang="en"/>
              <a:t>, </a:t>
            </a:r>
            <a:r>
              <a:rPr i="1" lang="en">
                <a:solidFill>
                  <a:schemeClr val="accent1"/>
                </a:solidFill>
              </a:rPr>
              <a:t>design patterns</a:t>
            </a:r>
            <a:r>
              <a:rPr i="1" lang="en"/>
              <a:t>, decoupling, component systems and data-driven design.”</a:t>
            </a:r>
            <a:endParaRPr i="1"/>
          </a:p>
          <a:p>
            <a:pPr indent="0" lvl="0" marL="0" rtl="0" algn="l">
              <a:spcBef>
                <a:spcPts val="1200"/>
              </a:spcBef>
              <a:spcAft>
                <a:spcPts val="0"/>
              </a:spcAft>
              <a:buNone/>
            </a:pPr>
            <a:r>
              <a:t/>
            </a:r>
            <a:endParaRPr b="1" i="1">
              <a:latin typeface="Roboto"/>
              <a:ea typeface="Roboto"/>
              <a:cs typeface="Roboto"/>
              <a:sym typeface="Roboto"/>
            </a:endParaRPr>
          </a:p>
          <a:p>
            <a:pPr indent="0" lvl="0" marL="0" rtl="0" algn="l">
              <a:spcBef>
                <a:spcPts val="1200"/>
              </a:spcBef>
              <a:spcAft>
                <a:spcPts val="1200"/>
              </a:spcAft>
              <a:buNone/>
            </a:pPr>
            <a:r>
              <a:rPr lang="en"/>
              <a:t>Detailed course description on itslearning</a:t>
            </a:r>
            <a:endParaRPr b="1" i="1">
              <a:latin typeface="Roboto"/>
              <a:ea typeface="Roboto"/>
              <a:cs typeface="Roboto"/>
              <a:sym typeface="Robo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Topics</a:t>
            </a:r>
            <a:endParaRPr/>
          </a:p>
        </p:txBody>
      </p:sp>
      <p:sp>
        <p:nvSpPr>
          <p:cNvPr id="77" name="Google Shape;77;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 Architecture</a:t>
            </a:r>
            <a:endParaRPr/>
          </a:p>
          <a:p>
            <a:pPr indent="-330200" lvl="0" marL="457200" rtl="0" algn="l">
              <a:spcBef>
                <a:spcPts val="0"/>
              </a:spcBef>
              <a:spcAft>
                <a:spcPts val="0"/>
              </a:spcAft>
              <a:buSzPts val="1600"/>
              <a:buChar char="●"/>
            </a:pPr>
            <a:r>
              <a:rPr lang="en"/>
              <a:t>Software Design Principles</a:t>
            </a:r>
            <a:endParaRPr/>
          </a:p>
          <a:p>
            <a:pPr indent="-330200" lvl="0" marL="457200" rtl="0" algn="l">
              <a:spcBef>
                <a:spcPts val="0"/>
              </a:spcBef>
              <a:spcAft>
                <a:spcPts val="0"/>
              </a:spcAft>
              <a:buSzPts val="1600"/>
              <a:buChar char="●"/>
            </a:pPr>
            <a:r>
              <a:rPr lang="en"/>
              <a:t>Design Patterns</a:t>
            </a:r>
            <a:endParaRPr/>
          </a:p>
          <a:p>
            <a:pPr indent="-317500" lvl="1" marL="914400" rtl="0" algn="l">
              <a:spcBef>
                <a:spcPts val="0"/>
              </a:spcBef>
              <a:spcAft>
                <a:spcPts val="0"/>
              </a:spcAft>
              <a:buSzPts val="1400"/>
              <a:buChar char="○"/>
            </a:pPr>
            <a:r>
              <a:rPr lang="en"/>
              <a:t>State, Observer, Command, Component, Singleton, Service Locator, Prototype, Object Pool, etc..</a:t>
            </a:r>
            <a:endParaRPr/>
          </a:p>
          <a:p>
            <a:pPr indent="-330200" lvl="0" marL="457200" rtl="0" algn="l">
              <a:spcBef>
                <a:spcPts val="0"/>
              </a:spcBef>
              <a:spcAft>
                <a:spcPts val="0"/>
              </a:spcAft>
              <a:buSzPts val="1600"/>
              <a:buChar char="●"/>
            </a:pPr>
            <a:r>
              <a:rPr lang="en"/>
              <a:t>Game Loop &amp; Rendering</a:t>
            </a:r>
            <a:endParaRPr/>
          </a:p>
          <a:p>
            <a:pPr indent="-330200" lvl="0" marL="457200" rtl="0" algn="l">
              <a:spcBef>
                <a:spcPts val="0"/>
              </a:spcBef>
              <a:spcAft>
                <a:spcPts val="0"/>
              </a:spcAft>
              <a:buSzPts val="1600"/>
              <a:buChar char="●"/>
            </a:pPr>
            <a:r>
              <a:rPr lang="en"/>
              <a:t>Input Handling</a:t>
            </a:r>
            <a:endParaRPr/>
          </a:p>
          <a:p>
            <a:pPr indent="-330200" lvl="0" marL="457200" rtl="0" algn="l">
              <a:spcBef>
                <a:spcPts val="0"/>
              </a:spcBef>
              <a:spcAft>
                <a:spcPts val="0"/>
              </a:spcAft>
              <a:buSzPts val="1600"/>
              <a:buChar char="●"/>
            </a:pPr>
            <a:r>
              <a:rPr lang="en"/>
              <a:t>Asset Pipeline</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Game Physics</a:t>
            </a:r>
            <a:endParaRPr/>
          </a:p>
          <a:p>
            <a:pPr indent="-330200" lvl="0" marL="457200" rtl="0" algn="l">
              <a:spcBef>
                <a:spcPts val="0"/>
              </a:spcBef>
              <a:spcAft>
                <a:spcPts val="0"/>
              </a:spcAft>
              <a:buSzPts val="1600"/>
              <a:buChar char="●"/>
            </a:pPr>
            <a:r>
              <a:rPr lang="en"/>
              <a:t>Tilemaps</a:t>
            </a:r>
            <a:endParaRPr/>
          </a:p>
          <a:p>
            <a:pPr indent="-330200" lvl="0" marL="457200" rtl="0" algn="l">
              <a:spcBef>
                <a:spcPts val="0"/>
              </a:spcBef>
              <a:spcAft>
                <a:spcPts val="0"/>
              </a:spcAft>
              <a:buSzPts val="1600"/>
              <a:buChar char="●"/>
            </a:pPr>
            <a:r>
              <a:rPr lang="en"/>
              <a:t>Serialization</a:t>
            </a:r>
            <a:endParaRPr/>
          </a:p>
          <a:p>
            <a:pPr indent="-330200" lvl="0" marL="457200" rtl="0" algn="l">
              <a:spcBef>
                <a:spcPts val="0"/>
              </a:spcBef>
              <a:spcAft>
                <a:spcPts val="0"/>
              </a:spcAft>
              <a:buSzPts val="1600"/>
              <a:buChar char="●"/>
            </a:pPr>
            <a:r>
              <a:rPr lang="en"/>
              <a:t>Data-Driven Design</a:t>
            </a:r>
            <a:endParaRPr/>
          </a:p>
          <a:p>
            <a:pPr indent="-330200" lvl="0" marL="457200" rtl="0" algn="l">
              <a:spcBef>
                <a:spcPts val="0"/>
              </a:spcBef>
              <a:spcAft>
                <a:spcPts val="0"/>
              </a:spcAft>
              <a:buSzPts val="1600"/>
              <a:buChar char="●"/>
            </a:pPr>
            <a:r>
              <a:rPr lang="en"/>
              <a:t>Optimization</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Session Plan</a:t>
            </a:r>
            <a:endParaRPr/>
          </a:p>
        </p:txBody>
      </p:sp>
      <p:sp>
        <p:nvSpPr>
          <p:cNvPr id="83" name="Google Shape;83;p1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AutoNum type="arabicPeriod"/>
            </a:pPr>
            <a:r>
              <a:rPr lang="en"/>
              <a:t>Pong</a:t>
            </a:r>
            <a:endParaRPr/>
          </a:p>
          <a:p>
            <a:pPr indent="-330200" lvl="0" marL="457200" rtl="0" algn="l">
              <a:spcBef>
                <a:spcPts val="0"/>
              </a:spcBef>
              <a:spcAft>
                <a:spcPts val="0"/>
              </a:spcAft>
              <a:buSzPts val="1600"/>
              <a:buAutoNum type="arabicPeriod"/>
            </a:pPr>
            <a:r>
              <a:rPr lang="en"/>
              <a:t>Flappy Bird</a:t>
            </a:r>
            <a:endParaRPr/>
          </a:p>
          <a:p>
            <a:pPr indent="-330200" lvl="0" marL="457200" rtl="0" algn="l">
              <a:spcBef>
                <a:spcPts val="0"/>
              </a:spcBef>
              <a:spcAft>
                <a:spcPts val="0"/>
              </a:spcAft>
              <a:buSzPts val="1600"/>
              <a:buAutoNum type="arabicPeriod"/>
            </a:pPr>
            <a:r>
              <a:rPr lang="en"/>
              <a:t>Snake</a:t>
            </a:r>
            <a:endParaRPr/>
          </a:p>
          <a:p>
            <a:pPr indent="-330200" lvl="0" marL="457200" rtl="0" algn="l">
              <a:spcBef>
                <a:spcPts val="0"/>
              </a:spcBef>
              <a:spcAft>
                <a:spcPts val="0"/>
              </a:spcAft>
              <a:buClr>
                <a:schemeClr val="lt1"/>
              </a:buClr>
              <a:buSzPts val="1600"/>
              <a:buAutoNum type="arabicPeriod"/>
            </a:pPr>
            <a:r>
              <a:rPr lang="en">
                <a:solidFill>
                  <a:schemeClr val="lt1"/>
                </a:solidFill>
              </a:rPr>
              <a:t>Project Kick-Off</a:t>
            </a:r>
            <a:endParaRPr>
              <a:solidFill>
                <a:schemeClr val="lt1"/>
              </a:solidFill>
            </a:endParaRPr>
          </a:p>
          <a:p>
            <a:pPr indent="-330200" lvl="0" marL="457200" rtl="0" algn="l">
              <a:spcBef>
                <a:spcPts val="0"/>
              </a:spcBef>
              <a:spcAft>
                <a:spcPts val="0"/>
              </a:spcAft>
              <a:buSzPts val="1600"/>
              <a:buAutoNum type="arabicPeriod"/>
            </a:pPr>
            <a:r>
              <a:rPr lang="en"/>
              <a:t>Super Mario Bros</a:t>
            </a:r>
            <a:endParaRPr/>
          </a:p>
          <a:p>
            <a:pPr indent="-330200" lvl="0" marL="457200" rtl="0" algn="l">
              <a:spcBef>
                <a:spcPts val="0"/>
              </a:spcBef>
              <a:spcAft>
                <a:spcPts val="0"/>
              </a:spcAft>
              <a:buSzPts val="1600"/>
              <a:buAutoNum type="arabicPeriod"/>
            </a:pPr>
            <a:r>
              <a:rPr lang="en"/>
              <a:t>The Legend of Zelda</a:t>
            </a:r>
            <a:endParaRPr/>
          </a:p>
          <a:p>
            <a:pPr indent="-330200" lvl="0" marL="457200" rtl="0" algn="l">
              <a:spcBef>
                <a:spcPts val="0"/>
              </a:spcBef>
              <a:spcAft>
                <a:spcPts val="0"/>
              </a:spcAft>
              <a:buClr>
                <a:schemeClr val="lt1"/>
              </a:buClr>
              <a:buSzPts val="1600"/>
              <a:buAutoNum type="arabicPeriod"/>
            </a:pPr>
            <a:r>
              <a:rPr lang="en">
                <a:solidFill>
                  <a:schemeClr val="lt1"/>
                </a:solidFill>
              </a:rPr>
              <a:t>Project Checkpoint</a:t>
            </a:r>
            <a:endParaRPr>
              <a:solidFill>
                <a:schemeClr val="lt1"/>
              </a:solidFill>
            </a:endParaRPr>
          </a:p>
          <a:p>
            <a:pPr indent="-330200" lvl="0" marL="457200" rtl="0" algn="l">
              <a:spcBef>
                <a:spcPts val="0"/>
              </a:spcBef>
              <a:spcAft>
                <a:spcPts val="0"/>
              </a:spcAft>
              <a:buSzPts val="1600"/>
              <a:buAutoNum type="arabicPeriod"/>
            </a:pPr>
            <a:r>
              <a:rPr lang="en"/>
              <a:t>Pokemon</a:t>
            </a:r>
            <a:endParaRPr/>
          </a:p>
          <a:p>
            <a:pPr indent="-330200" lvl="0" marL="457200" rtl="0" algn="l">
              <a:spcBef>
                <a:spcPts val="0"/>
              </a:spcBef>
              <a:spcAft>
                <a:spcPts val="0"/>
              </a:spcAft>
              <a:buSzPts val="1600"/>
              <a:buAutoNum type="arabicPeriod"/>
            </a:pPr>
            <a:r>
              <a:rPr lang="en"/>
              <a:t>Geometry Wars</a:t>
            </a:r>
            <a:endParaRPr/>
          </a:p>
          <a:p>
            <a:pPr indent="-330200" lvl="0" marL="457200" rtl="0" algn="l">
              <a:spcBef>
                <a:spcPts val="0"/>
              </a:spcBef>
              <a:spcAft>
                <a:spcPts val="0"/>
              </a:spcAft>
              <a:buClr>
                <a:schemeClr val="lt1"/>
              </a:buClr>
              <a:buSzPts val="1600"/>
              <a:buAutoNum type="arabicPeriod"/>
            </a:pPr>
            <a:r>
              <a:rPr lang="en">
                <a:solidFill>
                  <a:schemeClr val="lt1"/>
                </a:solidFill>
              </a:rPr>
              <a:t>Release</a:t>
            </a:r>
            <a:endParaRPr>
              <a:solidFill>
                <a:schemeClr val="lt1"/>
              </a:solidFill>
            </a:endParaRPr>
          </a:p>
          <a:p>
            <a:pPr indent="-330200" lvl="0" marL="457200" rtl="0" algn="l">
              <a:spcBef>
                <a:spcPts val="0"/>
              </a:spcBef>
              <a:spcAft>
                <a:spcPts val="0"/>
              </a:spcAft>
              <a:buClr>
                <a:schemeClr val="lt1"/>
              </a:buClr>
              <a:buSzPts val="1600"/>
              <a:buAutoNum type="arabicPeriod"/>
            </a:pPr>
            <a:r>
              <a:rPr lang="en">
                <a:solidFill>
                  <a:schemeClr val="lt1"/>
                </a:solidFill>
              </a:rPr>
              <a:t>Architecture Review</a:t>
            </a:r>
            <a:endParaRPr>
              <a:solidFill>
                <a:schemeClr val="lt1"/>
              </a:solidFill>
            </a:endParaRPr>
          </a:p>
          <a:p>
            <a:pPr indent="-330200" lvl="0" marL="457200" rtl="0" algn="l">
              <a:spcBef>
                <a:spcPts val="0"/>
              </a:spcBef>
              <a:spcAft>
                <a:spcPts val="0"/>
              </a:spcAft>
              <a:buSzPts val="1600"/>
              <a:buAutoNum type="arabicPeriod"/>
            </a:pPr>
            <a:r>
              <a:rPr lang="en"/>
              <a:t>Wrapping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p17"/>
          <p:cNvPicPr preferRelativeResize="0"/>
          <p:nvPr/>
        </p:nvPicPr>
        <p:blipFill>
          <a:blip r:embed="rId3">
            <a:alphaModFix/>
          </a:blip>
          <a:stretch>
            <a:fillRect/>
          </a:stretch>
        </p:blipFill>
        <p:spPr>
          <a:xfrm>
            <a:off x="3013825" y="533775"/>
            <a:ext cx="3116351" cy="3842575"/>
          </a:xfrm>
          <a:prstGeom prst="rect">
            <a:avLst/>
          </a:prstGeom>
          <a:noFill/>
          <a:ln>
            <a:noFill/>
          </a:ln>
        </p:spPr>
      </p:pic>
      <p:sp>
        <p:nvSpPr>
          <p:cNvPr id="89" name="Google Shape;89;p17"/>
          <p:cNvSpPr txBox="1"/>
          <p:nvPr/>
        </p:nvSpPr>
        <p:spPr>
          <a:xfrm>
            <a:off x="3013800" y="4453575"/>
            <a:ext cx="3116400" cy="391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u="sng">
                <a:solidFill>
                  <a:schemeClr val="hlink"/>
                </a:solidFill>
                <a:latin typeface="Roboto Light"/>
                <a:ea typeface="Roboto Light"/>
                <a:cs typeface="Roboto Light"/>
                <a:sym typeface="Roboto Light"/>
                <a:hlinkClick r:id="rId4"/>
              </a:rPr>
              <a:t>gameprogrammingpatterns.com</a:t>
            </a:r>
            <a:endParaRPr>
              <a:solidFill>
                <a:schemeClr val="dk1"/>
              </a:solidFill>
              <a:latin typeface="Roboto Light"/>
              <a:ea typeface="Roboto Light"/>
              <a:cs typeface="Roboto Light"/>
              <a:sym typeface="Roboto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Course Project</a:t>
            </a:r>
            <a:endParaRPr/>
          </a:p>
        </p:txBody>
      </p:sp>
      <p:sp>
        <p:nvSpPr>
          <p:cNvPr id="95" name="Google Shape;95;p1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The goal of the project is to create a simple 2D game that uses best practices for organizing and architecting a game project. That is, the project must include gameplay systems and design elements solved through patterns and principles taught in the course.</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Details on the course website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Exam</a:t>
            </a:r>
            <a:endParaRPr/>
          </a:p>
        </p:txBody>
      </p:sp>
      <p:sp>
        <p:nvSpPr>
          <p:cNvPr id="101" name="Google Shape;101;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Individual oral exam, 20 minutes, without preparation.</a:t>
            </a:r>
            <a:endParaRPr/>
          </a:p>
          <a:p>
            <a:pPr indent="0" lvl="0" marL="0" rtl="0" algn="l">
              <a:spcBef>
                <a:spcPts val="1200"/>
              </a:spcBef>
              <a:spcAft>
                <a:spcPts val="0"/>
              </a:spcAft>
              <a:buNone/>
            </a:pPr>
            <a:r>
              <a:rPr lang="en"/>
              <a:t>The student will draw from a pool of known questions and is expected to reference their course project as part of the answer. This involves analyzing source code, as well as potentially writing or modifying source code during the exam. The final grade will be based on an overall assessment of the project presented and the oral examination.</a:t>
            </a:r>
            <a:endParaRPr/>
          </a:p>
          <a:p>
            <a:pPr indent="0" lvl="0" marL="0" rtl="0" algn="l">
              <a:spcBef>
                <a:spcPts val="1200"/>
              </a:spcBef>
              <a:spcAft>
                <a:spcPts val="1200"/>
              </a:spcAft>
              <a:buNone/>
            </a:pPr>
            <a:r>
              <a:rPr lang="en"/>
              <a:t>Internal assessment.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107" name="Google Shape;107;p20" title="pong.gif"/>
          <p:cNvPicPr preferRelativeResize="0"/>
          <p:nvPr/>
        </p:nvPicPr>
        <p:blipFill>
          <a:blip r:embed="rId3">
            <a:alphaModFix/>
          </a:blip>
          <a:stretch>
            <a:fillRect/>
          </a:stretch>
        </p:blipFill>
        <p:spPr>
          <a:xfrm>
            <a:off x="1533525" y="1281973"/>
            <a:ext cx="6076950" cy="34099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113" name="Google Shape;113;p2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MonoGame &amp; Tooling</a:t>
            </a:r>
            <a:endParaRPr/>
          </a:p>
          <a:p>
            <a:pPr indent="-330200" lvl="0" marL="457200" rtl="0" algn="l">
              <a:spcBef>
                <a:spcPts val="0"/>
              </a:spcBef>
              <a:spcAft>
                <a:spcPts val="0"/>
              </a:spcAft>
              <a:buSzPts val="1600"/>
              <a:buChar char="●"/>
            </a:pPr>
            <a:r>
              <a:rPr lang="en"/>
              <a:t>Game Loop</a:t>
            </a:r>
            <a:endParaRPr/>
          </a:p>
          <a:p>
            <a:pPr indent="-330200" lvl="0" marL="457200" rtl="0" algn="l">
              <a:spcBef>
                <a:spcPts val="0"/>
              </a:spcBef>
              <a:spcAft>
                <a:spcPts val="0"/>
              </a:spcAft>
              <a:buSzPts val="1600"/>
              <a:buChar char="●"/>
            </a:pPr>
            <a:r>
              <a:rPr lang="en"/>
              <a:t>Content Pipeline</a:t>
            </a:r>
            <a:endParaRPr/>
          </a:p>
          <a:p>
            <a:pPr indent="-330200" lvl="0" marL="457200" rtl="0" algn="l">
              <a:spcBef>
                <a:spcPts val="0"/>
              </a:spcBef>
              <a:spcAft>
                <a:spcPts val="0"/>
              </a:spcAft>
              <a:buSzPts val="1600"/>
              <a:buChar char="●"/>
            </a:pPr>
            <a:r>
              <a:rPr lang="en"/>
              <a:t>Drawing to the Screen</a:t>
            </a:r>
            <a:endParaRPr/>
          </a:p>
          <a:p>
            <a:pPr indent="-330200" lvl="0" marL="457200" rtl="0" algn="l">
              <a:spcBef>
                <a:spcPts val="0"/>
              </a:spcBef>
              <a:spcAft>
                <a:spcPts val="0"/>
              </a:spcAft>
              <a:buSzPts val="1600"/>
              <a:buChar char="●"/>
            </a:pPr>
            <a:r>
              <a:rPr lang="en"/>
              <a:t>DeltaTime &amp; Velocity</a:t>
            </a:r>
            <a:endParaRPr/>
          </a:p>
          <a:p>
            <a:pPr indent="-330200" lvl="0" marL="457200" rtl="0" algn="l">
              <a:spcBef>
                <a:spcPts val="0"/>
              </a:spcBef>
              <a:spcAft>
                <a:spcPts val="0"/>
              </a:spcAft>
              <a:buSzPts val="1600"/>
              <a:buChar char="●"/>
            </a:pPr>
            <a:r>
              <a:rPr lang="en"/>
              <a:t>Game State</a:t>
            </a:r>
            <a:endParaRPr/>
          </a:p>
          <a:p>
            <a:pPr indent="-330200" lvl="0" marL="457200" rtl="0" algn="l">
              <a:spcBef>
                <a:spcPts val="0"/>
              </a:spcBef>
              <a:spcAft>
                <a:spcPts val="0"/>
              </a:spcAft>
              <a:buSzPts val="1600"/>
              <a:buChar char="●"/>
            </a:pPr>
            <a:r>
              <a:rPr lang="en"/>
              <a:t>Encapsulation &amp; the Update Method Pattern</a:t>
            </a:r>
            <a:endParaRPr/>
          </a:p>
          <a:p>
            <a:pPr indent="-330200" lvl="0" marL="457200" rtl="0" algn="l">
              <a:spcBef>
                <a:spcPts val="0"/>
              </a:spcBef>
              <a:spcAft>
                <a:spcPts val="0"/>
              </a:spcAft>
              <a:buSzPts val="1600"/>
              <a:buChar char="●"/>
            </a:pPr>
            <a:r>
              <a:rPr lang="en"/>
              <a:t>Collision Detection</a:t>
            </a:r>
            <a:endParaRPr/>
          </a:p>
          <a:p>
            <a:pPr indent="-330200" lvl="0" marL="457200" rtl="0" algn="l">
              <a:spcBef>
                <a:spcPts val="0"/>
              </a:spcBef>
              <a:spcAft>
                <a:spcPts val="0"/>
              </a:spcAft>
              <a:buSzPts val="1600"/>
              <a:buChar char="●"/>
            </a:pPr>
            <a:r>
              <a:rPr lang="en"/>
              <a:t>Sound Effects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pic>
        <p:nvPicPr>
          <p:cNvPr id="118" name="Google Shape;118;p22"/>
          <p:cNvPicPr preferRelativeResize="0"/>
          <p:nvPr/>
        </p:nvPicPr>
        <p:blipFill>
          <a:blip r:embed="rId3">
            <a:alphaModFix/>
          </a:blip>
          <a:stretch>
            <a:fillRect/>
          </a:stretch>
        </p:blipFill>
        <p:spPr>
          <a:xfrm>
            <a:off x="2547938" y="2146354"/>
            <a:ext cx="4048125" cy="850792"/>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MonoGame?</a:t>
            </a:r>
            <a:endParaRPr/>
          </a:p>
        </p:txBody>
      </p:sp>
      <p:sp>
        <p:nvSpPr>
          <p:cNvPr id="124" name="Google Shape;124;p2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At its core, MonoGame offers a set of libraries and APIs to handle common game development tasks</a:t>
            </a:r>
            <a:endParaRPr/>
          </a:p>
          <a:p>
            <a:pPr indent="-330200" lvl="0" marL="457200" rtl="0" algn="l">
              <a:spcBef>
                <a:spcPts val="1200"/>
              </a:spcBef>
              <a:spcAft>
                <a:spcPts val="0"/>
              </a:spcAft>
              <a:buSzPts val="1600"/>
              <a:buChar char="●"/>
            </a:pPr>
            <a:r>
              <a:rPr lang="en"/>
              <a:t>Graphics Rendering</a:t>
            </a:r>
            <a:endParaRPr/>
          </a:p>
          <a:p>
            <a:pPr indent="-317500" lvl="1" marL="914400" rtl="0" algn="l">
              <a:spcBef>
                <a:spcPts val="0"/>
              </a:spcBef>
              <a:spcAft>
                <a:spcPts val="0"/>
              </a:spcAft>
              <a:buSzPts val="1400"/>
              <a:buChar char="○"/>
            </a:pPr>
            <a:r>
              <a:rPr lang="en"/>
              <a:t>2D and 3D rendering are supported through the graphics API offered by MonoGame</a:t>
            </a:r>
            <a:endParaRPr/>
          </a:p>
          <a:p>
            <a:pPr indent="-330200" lvl="0" marL="457200" rtl="0" algn="l">
              <a:spcBef>
                <a:spcPts val="0"/>
              </a:spcBef>
              <a:spcAft>
                <a:spcPts val="0"/>
              </a:spcAft>
              <a:buSzPts val="1600"/>
              <a:buChar char="●"/>
            </a:pPr>
            <a:r>
              <a:rPr lang="en"/>
              <a:t>Input Handling</a:t>
            </a:r>
            <a:endParaRPr/>
          </a:p>
          <a:p>
            <a:pPr indent="-317500" lvl="1" marL="914400" rtl="0" algn="l">
              <a:spcBef>
                <a:spcPts val="0"/>
              </a:spcBef>
              <a:spcAft>
                <a:spcPts val="0"/>
              </a:spcAft>
              <a:buSzPts val="1400"/>
              <a:buChar char="○"/>
            </a:pPr>
            <a:r>
              <a:rPr lang="en"/>
              <a:t>Input from keyboard, mouse, gamepads, and touchscreens is supported</a:t>
            </a:r>
            <a:endParaRPr/>
          </a:p>
          <a:p>
            <a:pPr indent="-330200" lvl="0" marL="457200" rtl="0" algn="l">
              <a:spcBef>
                <a:spcPts val="0"/>
              </a:spcBef>
              <a:spcAft>
                <a:spcPts val="0"/>
              </a:spcAft>
              <a:buSzPts val="1600"/>
              <a:buChar char="●"/>
            </a:pPr>
            <a:r>
              <a:rPr lang="en"/>
              <a:t>Audio</a:t>
            </a:r>
            <a:endParaRPr/>
          </a:p>
          <a:p>
            <a:pPr indent="-317500" lvl="1" marL="914400" rtl="0" algn="l">
              <a:spcBef>
                <a:spcPts val="0"/>
              </a:spcBef>
              <a:spcAft>
                <a:spcPts val="0"/>
              </a:spcAft>
              <a:buSzPts val="1400"/>
              <a:buChar char="○"/>
            </a:pPr>
            <a:r>
              <a:rPr lang="en"/>
              <a:t>A comprehensive audio system that can be used to create sound effects as well as play music</a:t>
            </a:r>
            <a:endParaRPr/>
          </a:p>
          <a:p>
            <a:pPr indent="-330200" lvl="0" marL="457200" rtl="0" algn="l">
              <a:spcBef>
                <a:spcPts val="0"/>
              </a:spcBef>
              <a:spcAft>
                <a:spcPts val="0"/>
              </a:spcAft>
              <a:buSzPts val="1600"/>
              <a:buChar char="●"/>
            </a:pPr>
            <a:r>
              <a:rPr lang="en"/>
              <a:t>Content Pipeline</a:t>
            </a:r>
            <a:endParaRPr/>
          </a:p>
          <a:p>
            <a:pPr indent="-317500" lvl="1" marL="914400" rtl="0" algn="l">
              <a:spcBef>
                <a:spcPts val="0"/>
              </a:spcBef>
              <a:spcAft>
                <a:spcPts val="0"/>
              </a:spcAft>
              <a:buSzPts val="1400"/>
              <a:buChar char="○"/>
            </a:pPr>
            <a:r>
              <a:rPr lang="en"/>
              <a:t>An out-of-the-box workflow for importing and processing game assets</a:t>
            </a:r>
            <a:endParaRPr/>
          </a:p>
          <a:p>
            <a:pPr indent="-330200" lvl="0" marL="457200" rtl="0" algn="l">
              <a:spcBef>
                <a:spcPts val="0"/>
              </a:spcBef>
              <a:spcAft>
                <a:spcPts val="0"/>
              </a:spcAft>
              <a:buSzPts val="1600"/>
              <a:buChar char="●"/>
            </a:pPr>
            <a:r>
              <a:rPr lang="en"/>
              <a:t>Math Library</a:t>
            </a:r>
            <a:endParaRPr/>
          </a:p>
          <a:p>
            <a:pPr indent="-317500" lvl="1" marL="914400" rtl="0" algn="l">
              <a:spcBef>
                <a:spcPts val="0"/>
              </a:spcBef>
              <a:spcAft>
                <a:spcPts val="0"/>
              </a:spcAft>
              <a:buSzPts val="1400"/>
              <a:buChar char="○"/>
            </a:pPr>
            <a:r>
              <a:rPr lang="en"/>
              <a:t>A math library specifically optimized for game development</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sp>
        <p:nvSpPr>
          <p:cNvPr id="130" name="Google Shape;130;p2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.NET 10 SDK</a:t>
            </a:r>
            <a:endParaRPr/>
          </a:p>
          <a:p>
            <a:pPr indent="-330200" lvl="0" marL="457200" rtl="0" algn="l">
              <a:spcBef>
                <a:spcPts val="0"/>
              </a:spcBef>
              <a:spcAft>
                <a:spcPts val="0"/>
              </a:spcAft>
              <a:buSzPts val="1600"/>
              <a:buChar char="●"/>
            </a:pPr>
            <a:r>
              <a:rPr lang="en"/>
              <a:t>VS Code</a:t>
            </a:r>
            <a:endParaRPr/>
          </a:p>
          <a:p>
            <a:pPr indent="-317500" lvl="1" marL="914400" rtl="0" algn="l">
              <a:spcBef>
                <a:spcPts val="0"/>
              </a:spcBef>
              <a:spcAft>
                <a:spcPts val="0"/>
              </a:spcAft>
              <a:buSzPts val="1400"/>
              <a:buChar char="○"/>
            </a:pPr>
            <a:r>
              <a:rPr lang="en"/>
              <a:t>C# Dev Kit extension</a:t>
            </a:r>
            <a:endParaRPr/>
          </a:p>
          <a:p>
            <a:pPr indent="-330200" lvl="0" marL="457200" rtl="0" algn="l">
              <a:spcBef>
                <a:spcPts val="0"/>
              </a:spcBef>
              <a:spcAft>
                <a:spcPts val="0"/>
              </a:spcAft>
              <a:buSzPts val="1600"/>
              <a:buChar char="●"/>
            </a:pPr>
            <a:r>
              <a:rPr lang="en"/>
              <a:t>Git</a:t>
            </a:r>
            <a:endParaRPr/>
          </a:p>
          <a:p>
            <a:pPr indent="-330200" lvl="0" marL="457200" rtl="0" algn="l">
              <a:spcBef>
                <a:spcPts val="0"/>
              </a:spcBef>
              <a:spcAft>
                <a:spcPts val="0"/>
              </a:spcAft>
              <a:buSzPts val="1600"/>
              <a:buChar char="●"/>
            </a:pPr>
            <a:r>
              <a:rPr lang="en"/>
              <a:t>The course repositories on GitHub (Metamate/gmd2-*)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136" name="Google Shape;136;p2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 Source code for today’s game can be found here:</a:t>
            </a:r>
            <a:endParaRPr/>
          </a:p>
          <a:p>
            <a:pPr indent="-317500" lvl="1" marL="914400" rtl="0" algn="l">
              <a:spcBef>
                <a:spcPts val="0"/>
              </a:spcBef>
              <a:spcAft>
                <a:spcPts val="0"/>
              </a:spcAft>
              <a:buSzPts val="1400"/>
              <a:buChar char="○"/>
            </a:pPr>
            <a:r>
              <a:rPr lang="en" u="sng">
                <a:solidFill>
                  <a:schemeClr val="hlink"/>
                </a:solidFill>
                <a:hlinkClick r:id="rId3"/>
              </a:rPr>
              <a:t>https://github.com/Metamate/gmd2-pong</a:t>
            </a:r>
            <a:endParaRPr/>
          </a:p>
          <a:p>
            <a:pPr indent="-330200" lvl="0" marL="457200" rtl="0" algn="l">
              <a:spcBef>
                <a:spcPts val="0"/>
              </a:spcBef>
              <a:spcAft>
                <a:spcPts val="0"/>
              </a:spcAft>
              <a:buSzPts val="1600"/>
              <a:buChar char="●"/>
            </a:pPr>
            <a:r>
              <a:rPr lang="en"/>
              <a:t>Each exercise is its own project: Pong0 → Pong11</a:t>
            </a:r>
            <a:endParaRPr/>
          </a:p>
          <a:p>
            <a:pPr indent="-317500" lvl="1" marL="914400" rtl="0" algn="l">
              <a:spcBef>
                <a:spcPts val="0"/>
              </a:spcBef>
              <a:spcAft>
                <a:spcPts val="0"/>
              </a:spcAft>
              <a:buSzPts val="1400"/>
              <a:buChar char="○"/>
            </a:pPr>
            <a:r>
              <a:rPr lang="en"/>
              <a:t>Compare neighbouring steps to see exactly what changed</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0: New Game</a:t>
            </a:r>
            <a:endParaRPr>
              <a:solidFill>
                <a:schemeClr val="accent5"/>
              </a:solidFill>
            </a:endParaRPr>
          </a:p>
        </p:txBody>
      </p:sp>
      <p:sp>
        <p:nvSpPr>
          <p:cNvPr id="142" name="Google Shape;142;p2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Install the tooling from the previous slide</a:t>
            </a:r>
            <a:endParaRPr/>
          </a:p>
          <a:p>
            <a:pPr indent="-330200" lvl="0" marL="457200" rtl="0" algn="l">
              <a:spcBef>
                <a:spcPts val="0"/>
              </a:spcBef>
              <a:spcAft>
                <a:spcPts val="0"/>
              </a:spcAft>
              <a:buSzPts val="1600"/>
              <a:buChar char="●"/>
            </a:pPr>
            <a:r>
              <a:rPr lang="en"/>
              <a:t>Clone the course repository and open Pong0</a:t>
            </a:r>
            <a:endParaRPr/>
          </a:p>
          <a:p>
            <a:pPr indent="-317500" lvl="1" marL="914400" rtl="0" algn="l">
              <a:spcBef>
                <a:spcPts val="0"/>
              </a:spcBef>
              <a:spcAft>
                <a:spcPts val="0"/>
              </a:spcAft>
              <a:buSzPts val="1400"/>
              <a:buChar char="○"/>
            </a:pPr>
            <a:r>
              <a:rPr lang="en"/>
              <a:t>An empty MonoGame game, already set up with the content builder</a:t>
            </a:r>
            <a:endParaRPr/>
          </a:p>
          <a:p>
            <a:pPr indent="-330200" lvl="0" marL="457200" rtl="0" algn="l">
              <a:spcBef>
                <a:spcPts val="0"/>
              </a:spcBef>
              <a:spcAft>
                <a:spcPts val="0"/>
              </a:spcAft>
              <a:buSzPts val="1600"/>
              <a:buChar char="●"/>
            </a:pPr>
            <a:r>
              <a:rPr lang="en"/>
              <a:t>Run the game: dotnet run --project Pong0</a:t>
            </a:r>
            <a:endParaRPr/>
          </a:p>
        </p:txBody>
      </p:sp>
      <p:pic>
        <p:nvPicPr>
          <p:cNvPr id="143" name="Google Shape;143;p26"/>
          <p:cNvPicPr preferRelativeResize="0"/>
          <p:nvPr/>
        </p:nvPicPr>
        <p:blipFill>
          <a:blip r:embed="rId3">
            <a:alphaModFix/>
          </a:blip>
          <a:stretch>
            <a:fillRect/>
          </a:stretch>
        </p:blipFill>
        <p:spPr>
          <a:xfrm>
            <a:off x="2970663" y="2571750"/>
            <a:ext cx="3202675" cy="20446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Loop Pattern</a:t>
            </a:r>
            <a:endParaRPr/>
          </a:p>
        </p:txBody>
      </p:sp>
      <p:pic>
        <p:nvPicPr>
          <p:cNvPr id="149" name="Google Shape;149;p27"/>
          <p:cNvPicPr preferRelativeResize="0"/>
          <p:nvPr/>
        </p:nvPicPr>
        <p:blipFill>
          <a:blip r:embed="rId3">
            <a:alphaModFix/>
          </a:blip>
          <a:stretch>
            <a:fillRect/>
          </a:stretch>
        </p:blipFill>
        <p:spPr>
          <a:xfrm>
            <a:off x="1390388" y="1826262"/>
            <a:ext cx="6363224" cy="2086400"/>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8"/>
          <p:cNvPicPr preferRelativeResize="0"/>
          <p:nvPr/>
        </p:nvPicPr>
        <p:blipFill>
          <a:blip r:embed="rId3">
            <a:alphaModFix/>
          </a:blip>
          <a:stretch>
            <a:fillRect/>
          </a:stretch>
        </p:blipFill>
        <p:spPr>
          <a:xfrm>
            <a:off x="1908925" y="993652"/>
            <a:ext cx="5326150" cy="3591525"/>
          </a:xfrm>
          <a:prstGeom prst="rect">
            <a:avLst/>
          </a:prstGeom>
          <a:noFill/>
          <a:ln>
            <a:noFill/>
          </a:ln>
        </p:spPr>
      </p:pic>
      <p:sp>
        <p:nvSpPr>
          <p:cNvPr id="155" name="Google Shape;15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MonoGame Game Loop</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Content Pipeline</a:t>
            </a:r>
            <a:endParaRPr/>
          </a:p>
        </p:txBody>
      </p:sp>
      <p:sp>
        <p:nvSpPr>
          <p:cNvPr id="161" name="Rounded Rectangle 160"/>
          <p:cNvSpPr/>
          <p:nvPr/>
        </p:nvSpPr>
        <p:spPr>
          <a:xfrm>
            <a:off x="34290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Raw assets</a:t>
            </a:r>
          </a:p>
          <a:p>
            <a:pPr algn="ctr"/>
            <a:r>
              <a:rPr sz="1000" b="0">
                <a:solidFill>
                  <a:srgbClr val="FFFFFF"/>
                </a:solidFill>
              </a:rPr>
              <a:t>Content/Assets</a:t>
            </a:r>
          </a:p>
        </p:txBody>
      </p:sp>
      <p:sp>
        <p:nvSpPr>
          <p:cNvPr id="162" name="TextBox 161"/>
          <p:cNvSpPr txBox="1"/>
          <p:nvPr/>
        </p:nvSpPr>
        <p:spPr>
          <a:xfrm>
            <a:off x="342900" y="2743200"/>
            <a:ext cx="1508760" cy="457200"/>
          </a:xfrm>
          <a:prstGeom prst="rect">
            <a:avLst/>
          </a:prstGeom>
          <a:noFill/>
        </p:spPr>
        <p:txBody>
          <a:bodyPr wrap="square" anchor="t" lIns="45720" rIns="45720">
            <a:spAutoFit/>
          </a:bodyPr>
          <a:lstStyle/>
          <a:p>
            <a:pPr algn="ctr"/>
            <a:r>
              <a:rPr sz="1000" b="0">
                <a:solidFill>
                  <a:srgbClr val="818387"/>
                </a:solidFill>
              </a:rPr>
              <a:t>Images, fonts, sounds</a:t>
            </a:r>
          </a:p>
        </p:txBody>
      </p:sp>
      <p:cxnSp>
        <p:nvCxnSpPr>
          <p:cNvPr id="163" name="Connector 162"/>
          <p:cNvCxnSpPr/>
          <p:nvPr/>
        </p:nvCxnSpPr>
        <p:spPr>
          <a:xfrm>
            <a:off x="188823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208026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Builder.cs</a:t>
            </a:r>
          </a:p>
          <a:p>
            <a:pPr algn="ctr"/>
            <a:r>
              <a:rPr sz="1000" b="0">
                <a:solidFill>
                  <a:srgbClr val="FFFFFF"/>
                </a:solidFill>
              </a:rPr>
              <a:t>Rules in C#</a:t>
            </a:r>
          </a:p>
        </p:txBody>
      </p:sp>
      <p:sp>
        <p:nvSpPr>
          <p:cNvPr id="165" name="TextBox 164"/>
          <p:cNvSpPr txBox="1"/>
          <p:nvPr/>
        </p:nvSpPr>
        <p:spPr>
          <a:xfrm>
            <a:off x="2080260" y="2743200"/>
            <a:ext cx="1508760" cy="457200"/>
          </a:xfrm>
          <a:prstGeom prst="rect">
            <a:avLst/>
          </a:prstGeom>
          <a:noFill/>
        </p:spPr>
        <p:txBody>
          <a:bodyPr wrap="square" anchor="t" lIns="45720" rIns="45720">
            <a:spAutoFit/>
          </a:bodyPr>
          <a:lstStyle/>
          <a:p>
            <a:pPr algn="ctr"/>
            <a:r>
              <a:rPr sz="1000" b="0">
                <a:solidFill>
                  <a:srgbClr val="818387"/>
                </a:solidFill>
              </a:rPr>
              <a:t>Which importer and processor</a:t>
            </a:r>
          </a:p>
        </p:txBody>
      </p:sp>
      <p:cxnSp>
        <p:nvCxnSpPr>
          <p:cNvPr id="166" name="Connector 165"/>
          <p:cNvCxnSpPr/>
          <p:nvPr/>
        </p:nvCxnSpPr>
        <p:spPr>
          <a:xfrm>
            <a:off x="362559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67" name="Rounded Rectangle 166"/>
          <p:cNvSpPr/>
          <p:nvPr/>
        </p:nvSpPr>
        <p:spPr>
          <a:xfrm>
            <a:off x="381762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 builder</a:t>
            </a:r>
          </a:p>
          <a:p>
            <a:pPr algn="ctr"/>
            <a:r>
              <a:rPr sz="1000" b="0">
                <a:solidFill>
                  <a:srgbClr val="FFFFFF"/>
                </a:solidFill>
              </a:rPr>
              <a:t>Runs on build</a:t>
            </a:r>
          </a:p>
        </p:txBody>
      </p:sp>
      <p:sp>
        <p:nvSpPr>
          <p:cNvPr id="168" name="TextBox 167"/>
          <p:cNvSpPr txBox="1"/>
          <p:nvPr/>
        </p:nvSpPr>
        <p:spPr>
          <a:xfrm>
            <a:off x="3817620" y="2743200"/>
            <a:ext cx="1508760" cy="457200"/>
          </a:xfrm>
          <a:prstGeom prst="rect">
            <a:avLst/>
          </a:prstGeom>
          <a:noFill/>
        </p:spPr>
        <p:txBody>
          <a:bodyPr wrap="square" anchor="t" lIns="45720" rIns="45720">
            <a:spAutoFit/>
          </a:bodyPr>
          <a:lstStyle/>
          <a:p>
            <a:pPr algn="ctr"/>
            <a:r>
              <a:rPr sz="1000" b="0">
                <a:solidFill>
                  <a:srgbClr val="818387"/>
                </a:solidFill>
              </a:rPr>
              <a:t>BuildContent.targets</a:t>
            </a:r>
          </a:p>
        </p:txBody>
      </p:sp>
      <p:cxnSp>
        <p:nvCxnSpPr>
          <p:cNvPr id="169" name="Connector 168"/>
          <p:cNvCxnSpPr/>
          <p:nvPr/>
        </p:nvCxnSpPr>
        <p:spPr>
          <a:xfrm>
            <a:off x="536295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0" name="Rounded Rectangle 169"/>
          <p:cNvSpPr/>
          <p:nvPr/>
        </p:nvSpPr>
        <p:spPr>
          <a:xfrm>
            <a:off x="555498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.xnb files</a:t>
            </a:r>
          </a:p>
          <a:p>
            <a:pPr algn="ctr"/>
            <a:r>
              <a:rPr sz="1000" b="0">
                <a:solidFill>
                  <a:srgbClr val="FFFFFF"/>
                </a:solidFill>
              </a:rPr>
              <a:t>bin/…/Content</a:t>
            </a:r>
          </a:p>
        </p:txBody>
      </p:sp>
      <p:sp>
        <p:nvSpPr>
          <p:cNvPr id="171" name="TextBox 170"/>
          <p:cNvSpPr txBox="1"/>
          <p:nvPr/>
        </p:nvSpPr>
        <p:spPr>
          <a:xfrm>
            <a:off x="5554980" y="2743200"/>
            <a:ext cx="1508760" cy="457200"/>
          </a:xfrm>
          <a:prstGeom prst="rect">
            <a:avLst/>
          </a:prstGeom>
          <a:noFill/>
        </p:spPr>
        <p:txBody>
          <a:bodyPr wrap="square" anchor="t" lIns="45720" rIns="45720">
            <a:spAutoFit/>
          </a:bodyPr>
          <a:lstStyle/>
          <a:p>
            <a:pPr algn="ctr"/>
            <a:r>
              <a:rPr sz="1000" b="0">
                <a:solidFill>
                  <a:srgbClr val="818387"/>
                </a:solidFill>
              </a:rPr>
              <a:t>Built for the platform</a:t>
            </a:r>
          </a:p>
        </p:txBody>
      </p:sp>
      <p:cxnSp>
        <p:nvCxnSpPr>
          <p:cNvPr id="172" name="Connector 171"/>
          <p:cNvCxnSpPr/>
          <p:nvPr/>
        </p:nvCxnSpPr>
        <p:spPr>
          <a:xfrm>
            <a:off x="7100316" y="2194560"/>
            <a:ext cx="155448" cy="0"/>
          </a:xfrm>
          <a:prstGeom prst="line">
            <a:avLst/>
          </a:prstGeom>
          <a:ln w="1905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292340" y="1737360"/>
            <a:ext cx="1508760" cy="914400"/>
          </a:xfrm>
          <a:prstGeom prst="roundRect">
            <a:avLst/>
          </a:prstGeom>
          <a:solidFill>
            <a:srgbClr val="E73C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200" b="1">
                <a:solidFill>
                  <a:srgbClr val="FFFFFF"/>
                </a:solidFill>
              </a:rPr>
              <a:t>ContentManager</a:t>
            </a:r>
          </a:p>
          <a:p>
            <a:pPr algn="ctr"/>
            <a:r>
              <a:rPr sz="1000" b="0">
                <a:solidFill>
                  <a:srgbClr val="FFFFFF"/>
                </a:solidFill>
              </a:rPr>
              <a:t>Content.Load&lt;T&gt;()</a:t>
            </a:r>
          </a:p>
        </p:txBody>
      </p:sp>
      <p:sp>
        <p:nvSpPr>
          <p:cNvPr id="174" name="TextBox 173"/>
          <p:cNvSpPr txBox="1"/>
          <p:nvPr/>
        </p:nvSpPr>
        <p:spPr>
          <a:xfrm>
            <a:off x="7292340" y="2743200"/>
            <a:ext cx="1508760" cy="457200"/>
          </a:xfrm>
          <a:prstGeom prst="rect">
            <a:avLst/>
          </a:prstGeom>
          <a:noFill/>
        </p:spPr>
        <p:txBody>
          <a:bodyPr wrap="square" anchor="t" lIns="45720" rIns="45720">
            <a:spAutoFit/>
          </a:bodyPr>
          <a:lstStyle/>
          <a:p>
            <a:pPr algn="ctr"/>
            <a:r>
              <a:rPr sz="1000" b="0">
                <a:solidFill>
                  <a:srgbClr val="818387"/>
                </a:solidFill>
              </a:rPr>
              <a:t>At runtime</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a:t>
            </a:r>
            <a:r>
              <a:rPr lang="en">
                <a:solidFill>
                  <a:schemeClr val="accent5"/>
                </a:solidFill>
              </a:rPr>
              <a:t> 1: Hello Pong</a:t>
            </a:r>
            <a:endParaRPr>
              <a:solidFill>
                <a:schemeClr val="accent5"/>
              </a:solidFill>
            </a:endParaRPr>
          </a:p>
        </p:txBody>
      </p:sp>
      <p:sp>
        <p:nvSpPr>
          <p:cNvPr id="167" name="Google Shape;167;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your Pong game to display “Hello Pong!” exactly in the center of the screen.</a:t>
            </a:r>
            <a:endParaRPr/>
          </a:p>
          <a:p>
            <a:pPr indent="-317500" lvl="1" marL="914400" rtl="0" algn="l">
              <a:spcBef>
                <a:spcPts val="0"/>
              </a:spcBef>
              <a:spcAft>
                <a:spcPts val="0"/>
              </a:spcAft>
              <a:buSzPts val="1400"/>
              <a:buChar char="○"/>
            </a:pPr>
            <a:r>
              <a:rPr lang="en"/>
              <a:t>White text, black background</a:t>
            </a:r>
            <a:endParaRPr/>
          </a:p>
          <a:p>
            <a:pPr indent="-317500" lvl="1" marL="914400" rtl="0" algn="l">
              <a:spcBef>
                <a:spcPts val="0"/>
              </a:spcBef>
              <a:spcAft>
                <a:spcPts val="0"/>
              </a:spcAft>
              <a:buSzPts val="1400"/>
              <a:buChar char="○"/>
            </a:pPr>
            <a:r>
              <a:rPr lang="en"/>
              <a:t>You will need a SpriteFont asset</a:t>
            </a:r>
            <a:endParaRPr/>
          </a:p>
          <a:p>
            <a:pPr indent="-317500" lvl="1" marL="914400" rtl="0" algn="l">
              <a:spcBef>
                <a:spcPts val="0"/>
              </a:spcBef>
              <a:spcAft>
                <a:spcPts val="0"/>
              </a:spcAft>
              <a:buSzPts val="1400"/>
              <a:buChar char="○"/>
            </a:pPr>
            <a:r>
              <a:rPr lang="en" u="sng">
                <a:solidFill>
                  <a:schemeClr val="hlink"/>
                </a:solidFill>
                <a:hlinkClick r:id="rId3"/>
              </a:rPr>
              <a:t>How to Draw Text</a:t>
            </a:r>
            <a:endParaRPr/>
          </a:p>
          <a:p>
            <a:pPr indent="-330200" lvl="0" marL="457200" rtl="0" algn="l">
              <a:spcBef>
                <a:spcPts val="0"/>
              </a:spcBef>
              <a:spcAft>
                <a:spcPts val="0"/>
              </a:spcAft>
              <a:buSzPts val="1600"/>
              <a:buChar char="●"/>
            </a:pPr>
            <a:r>
              <a:rPr lang="en"/>
              <a:t>Set the window resolution to 1280x720</a:t>
            </a:r>
            <a:endParaRPr/>
          </a:p>
          <a:p>
            <a:pPr indent="-317500" lvl="1" marL="914400" rtl="0" algn="l">
              <a:spcBef>
                <a:spcPts val="0"/>
              </a:spcBef>
              <a:spcAft>
                <a:spcPts val="0"/>
              </a:spcAft>
              <a:buSzPts val="1400"/>
              <a:buChar char="○"/>
            </a:pPr>
            <a:r>
              <a:rPr lang="en"/>
              <a:t>Use PreferredBackBuffer[Width/Height] property on GraphicsDeviceManager</a:t>
            </a:r>
            <a:endParaRPr/>
          </a:p>
        </p:txBody>
      </p:sp>
      <p:pic>
        <p:nvPicPr>
          <p:cNvPr id="168" name="Google Shape;168;p30"/>
          <p:cNvPicPr preferRelativeResize="0"/>
          <p:nvPr/>
        </p:nvPicPr>
        <p:blipFill>
          <a:blip r:embed="rId4">
            <a:alphaModFix/>
          </a:blip>
          <a:stretch>
            <a:fillRect/>
          </a:stretch>
        </p:blipFill>
        <p:spPr>
          <a:xfrm>
            <a:off x="2703898" y="2755975"/>
            <a:ext cx="3736200" cy="219160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Texture Filtering</a:t>
            </a:r>
            <a:endParaRPr/>
          </a:p>
        </p:txBody>
      </p:sp>
      <p:pic>
        <p:nvPicPr>
          <p:cNvPr id="174" name="Google Shape;174;p31"/>
          <p:cNvPicPr preferRelativeResize="0"/>
          <p:nvPr/>
        </p:nvPicPr>
        <p:blipFill>
          <a:blip r:embed="rId3">
            <a:alphaModFix/>
          </a:blip>
          <a:stretch>
            <a:fillRect/>
          </a:stretch>
        </p:blipFill>
        <p:spPr>
          <a:xfrm>
            <a:off x="2743884" y="1374759"/>
            <a:ext cx="3656224" cy="3045675"/>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 name="Shape 178"/>
        <p:cNvGrpSpPr/>
        <p:nvPr/>
      </p:nvGrpSpPr>
      <p:grpSpPr>
        <a:xfrm>
          <a:off x="0" y="0"/>
          <a:ext cx="0" cy="0"/>
          <a:chOff x="0" y="0"/>
          <a:chExt cx="0" cy="0"/>
        </a:xfrm>
      </p:grpSpPr>
      <p:sp>
        <p:nvSpPr>
          <p:cNvPr id="179" name="Google Shape;179;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2: Virtual Resolution</a:t>
            </a:r>
            <a:endParaRPr>
              <a:solidFill>
                <a:schemeClr val="accent5"/>
              </a:solidFill>
            </a:endParaRPr>
          </a:p>
        </p:txBody>
      </p:sp>
      <p:sp>
        <p:nvSpPr>
          <p:cNvPr id="180" name="Google Shape;180;p3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Make the game resolution </a:t>
            </a:r>
            <a:r>
              <a:rPr lang="en"/>
              <a:t>independent</a:t>
            </a:r>
            <a:r>
              <a:rPr lang="en"/>
              <a:t> of window resolution</a:t>
            </a:r>
            <a:endParaRPr/>
          </a:p>
          <a:p>
            <a:pPr indent="-330200" lvl="0" marL="457200" rtl="0" algn="l">
              <a:spcBef>
                <a:spcPts val="0"/>
              </a:spcBef>
              <a:spcAft>
                <a:spcPts val="0"/>
              </a:spcAft>
              <a:buSzPts val="1600"/>
              <a:buChar char="●"/>
            </a:pPr>
            <a:r>
              <a:rPr lang="en"/>
              <a:t>Make the game window resizable</a:t>
            </a:r>
            <a:endParaRPr/>
          </a:p>
          <a:p>
            <a:pPr indent="-330200" lvl="0" marL="457200" rtl="0" algn="l">
              <a:spcBef>
                <a:spcPts val="0"/>
              </a:spcBef>
              <a:spcAft>
                <a:spcPts val="0"/>
              </a:spcAft>
              <a:buSzPts val="1600"/>
              <a:buChar char="●"/>
            </a:pPr>
            <a:r>
              <a:rPr lang="en"/>
              <a:t>Update the game to use Point filtering</a:t>
            </a:r>
            <a:endParaRPr/>
          </a:p>
        </p:txBody>
      </p:sp>
      <p:pic>
        <p:nvPicPr>
          <p:cNvPr id="181" name="Google Shape;181;p32"/>
          <p:cNvPicPr preferRelativeResize="0"/>
          <p:nvPr/>
        </p:nvPicPr>
        <p:blipFill>
          <a:blip r:embed="rId3">
            <a:alphaModFix/>
          </a:blip>
          <a:stretch>
            <a:fillRect/>
          </a:stretch>
        </p:blipFill>
        <p:spPr>
          <a:xfrm>
            <a:off x="2541213" y="2380100"/>
            <a:ext cx="4061575" cy="2382451"/>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2D Coordinate System</a:t>
            </a:r>
            <a:endParaRPr/>
          </a:p>
        </p:txBody>
      </p:sp>
      <p:sp>
        <p:nvSpPr>
          <p:cNvPr id="187" name="Google Shape;187;p3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88" name="Google Shape;188;p33"/>
          <p:cNvPicPr preferRelativeResize="0"/>
          <p:nvPr/>
        </p:nvPicPr>
        <p:blipFill>
          <a:blip r:embed="rId3">
            <a:alphaModFix/>
          </a:blip>
          <a:stretch>
            <a:fillRect/>
          </a:stretch>
        </p:blipFill>
        <p:spPr>
          <a:xfrm>
            <a:off x="2505075" y="1731955"/>
            <a:ext cx="4133850" cy="21717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Drawing to The Screen</a:t>
            </a:r>
            <a:endParaRPr/>
          </a:p>
        </p:txBody>
      </p:sp>
      <p:sp>
        <p:nvSpPr>
          <p:cNvPr id="194" name="Google Shape;194;p3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Normally a texture is needed to draw to the screen</a:t>
            </a:r>
            <a:endParaRPr/>
          </a:p>
          <a:p>
            <a:pPr indent="-330200" lvl="0" marL="457200" rtl="0" algn="l">
              <a:spcBef>
                <a:spcPts val="0"/>
              </a:spcBef>
              <a:spcAft>
                <a:spcPts val="0"/>
              </a:spcAft>
              <a:buSzPts val="1600"/>
              <a:buChar char="●"/>
            </a:pPr>
            <a:r>
              <a:rPr lang="en"/>
              <a:t>A Pong game doesn’t need explicit texture assets, but we do need to draw rectangles</a:t>
            </a:r>
            <a:endParaRPr/>
          </a:p>
          <a:p>
            <a:pPr indent="0" lvl="0" marL="0" rtl="0" algn="l">
              <a:spcBef>
                <a:spcPts val="1200"/>
              </a:spcBef>
              <a:spcAft>
                <a:spcPts val="0"/>
              </a:spcAft>
              <a:buNone/>
            </a:pPr>
            <a:r>
              <a:t/>
            </a:r>
            <a:endParaRPr/>
          </a:p>
          <a:p>
            <a:pPr indent="0" lvl="0" marL="457200" rtl="0" algn="l">
              <a:lnSpc>
                <a:spcPct val="157500"/>
              </a:lnSpc>
              <a:spcBef>
                <a:spcPts val="120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Texture2D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GraphicsDevice</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45720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_texture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SetData</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Color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White</a:t>
            </a:r>
            <a:r>
              <a:rPr lang="en" sz="1000">
                <a:solidFill>
                  <a:srgbClr val="CCCCCC"/>
                </a:solidFill>
                <a:highlight>
                  <a:srgbClr val="1F1F1F"/>
                </a:highlight>
                <a:latin typeface="Consolas"/>
                <a:ea typeface="Consolas"/>
                <a:cs typeface="Consolas"/>
                <a:sym typeface="Consolas"/>
              </a:rPr>
              <a:t>]);</a:t>
            </a:r>
            <a:endParaRPr/>
          </a:p>
          <a:p>
            <a:pPr indent="0" lvl="0" marL="0" rtl="0" algn="l">
              <a:spcBef>
                <a:spcPts val="0"/>
              </a:spcBef>
              <a:spcAft>
                <a:spcPts val="0"/>
              </a:spcAft>
              <a:buNone/>
            </a:pPr>
            <a:r>
              <a:t/>
            </a:r>
            <a:endParaRPr/>
          </a:p>
          <a:p>
            <a:pPr indent="-330200" lvl="0" marL="457200" rtl="0" algn="l">
              <a:spcBef>
                <a:spcPts val="1200"/>
              </a:spcBef>
              <a:spcAft>
                <a:spcPts val="0"/>
              </a:spcAft>
              <a:buSzPts val="1600"/>
              <a:buChar char="●"/>
            </a:pPr>
            <a:r>
              <a:rPr lang="en"/>
              <a:t>Use the texture as an argument to SpriteBatch.Draw()</a:t>
            </a:r>
            <a:endParaRPr/>
          </a:p>
          <a:p>
            <a:pPr indent="-317500" lvl="1" marL="914400" rtl="0" algn="l">
              <a:spcBef>
                <a:spcPts val="0"/>
              </a:spcBef>
              <a:spcAft>
                <a:spcPts val="0"/>
              </a:spcAft>
              <a:buSzPts val="1400"/>
              <a:buChar char="○"/>
            </a:pPr>
            <a:r>
              <a:rPr lang="en"/>
              <a:t>SpriteBatch.Draw() has a method overload that receives a Rectangle</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3: Drawing Rectangles</a:t>
            </a:r>
            <a:endParaRPr>
              <a:solidFill>
                <a:schemeClr val="accent5"/>
              </a:solidFill>
            </a:endParaRPr>
          </a:p>
        </p:txBody>
      </p:sp>
      <p:sp>
        <p:nvSpPr>
          <p:cNvPr id="200" name="Google Shape;200;p3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Draw the three rectangles present in a Pong game (Paddle, Paddle, Ball)</a:t>
            </a:r>
            <a:endParaRPr/>
          </a:p>
          <a:p>
            <a:pPr indent="-317500" lvl="1" marL="914400" rtl="0" algn="l">
              <a:spcBef>
                <a:spcPts val="0"/>
              </a:spcBef>
              <a:spcAft>
                <a:spcPts val="0"/>
              </a:spcAft>
              <a:buSzPts val="1400"/>
              <a:buChar char="○"/>
            </a:pPr>
            <a:r>
              <a:rPr lang="en"/>
              <a:t>Choose appropriate starting positions for each entity</a:t>
            </a:r>
            <a:endParaRPr/>
          </a:p>
          <a:p>
            <a:pPr indent="-330200" lvl="0" marL="457200" rtl="0" algn="l">
              <a:spcBef>
                <a:spcPts val="0"/>
              </a:spcBef>
              <a:spcAft>
                <a:spcPts val="0"/>
              </a:spcAft>
              <a:buSzPts val="1600"/>
              <a:buChar char="●"/>
            </a:pPr>
            <a:r>
              <a:rPr lang="en"/>
              <a:t>Update the font to a custom </a:t>
            </a:r>
            <a:r>
              <a:rPr lang="en" u="sng">
                <a:solidFill>
                  <a:schemeClr val="hlink"/>
                </a:solidFill>
                <a:hlinkClick r:id="rId3"/>
              </a:rPr>
              <a:t>retro font</a:t>
            </a:r>
            <a:endParaRPr/>
          </a:p>
          <a:p>
            <a:pPr indent="-330200" lvl="0" marL="457200" rtl="0" algn="l">
              <a:spcBef>
                <a:spcPts val="0"/>
              </a:spcBef>
              <a:spcAft>
                <a:spcPts val="0"/>
              </a:spcAft>
              <a:buSzPts val="1600"/>
              <a:buChar char="●"/>
            </a:pPr>
            <a:r>
              <a:rPr lang="en"/>
              <a:t>Update the background color to RGBA value (40, 45, 52, 255)</a:t>
            </a:r>
            <a:endParaRPr/>
          </a:p>
        </p:txBody>
      </p:sp>
      <p:pic>
        <p:nvPicPr>
          <p:cNvPr id="201" name="Google Shape;201;p35"/>
          <p:cNvPicPr preferRelativeResize="0"/>
          <p:nvPr/>
        </p:nvPicPr>
        <p:blipFill>
          <a:blip r:embed="rId4">
            <a:alphaModFix/>
          </a:blip>
          <a:stretch>
            <a:fillRect/>
          </a:stretch>
        </p:blipFill>
        <p:spPr>
          <a:xfrm>
            <a:off x="2393662" y="2353700"/>
            <a:ext cx="4356675" cy="25555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Basic Keyboard Input</a:t>
            </a:r>
            <a:endParaRPr/>
          </a:p>
        </p:txBody>
      </p:sp>
      <p:sp>
        <p:nvSpPr>
          <p:cNvPr id="207" name="Google Shape;207;p3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keyboardState</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IsKeyDown</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Keys</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_player1Y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PADDLE_SPEED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deltaTime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9CDCFE"/>
              </a:solidFill>
              <a:highlight>
                <a:schemeClr val="dk2"/>
              </a:highlight>
              <a:latin typeface="Consolas"/>
              <a:ea typeface="Consolas"/>
              <a:cs typeface="Consolas"/>
              <a:sym typeface="Consola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DeltaTime &amp; Velocity</a:t>
            </a:r>
            <a:endParaRPr/>
          </a:p>
        </p:txBody>
      </p:sp>
      <p:sp>
        <p:nvSpPr>
          <p:cNvPr id="213" name="Google Shape;213;p37"/>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Why do we care about deltatime?</a:t>
            </a:r>
            <a:endParaRPr/>
          </a:p>
          <a:p>
            <a:pPr indent="0" lvl="0" marL="0" rtl="0" algn="l">
              <a:lnSpc>
                <a:spcPct val="157500"/>
              </a:lnSpc>
              <a:spcBef>
                <a:spcPts val="120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ElapsedGameTime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TotalSeconds</a:t>
            </a:r>
            <a:endParaRPr sz="1000">
              <a:solidFill>
                <a:srgbClr val="9CDCFE"/>
              </a:solidFill>
              <a:highlight>
                <a:srgbClr val="1F1F1F"/>
              </a:highlight>
              <a:latin typeface="Consolas"/>
              <a:ea typeface="Consolas"/>
              <a:cs typeface="Consolas"/>
              <a:sym typeface="Consolas"/>
            </a:endParaRPr>
          </a:p>
          <a:p>
            <a:pPr indent="0" lvl="0" marL="0" rtl="0" algn="l">
              <a:spcBef>
                <a:spcPts val="0"/>
              </a:spcBef>
              <a:spcAft>
                <a:spcPts val="0"/>
              </a:spcAft>
              <a:buNone/>
            </a:pPr>
            <a:r>
              <a:t/>
            </a:r>
            <a:endParaRPr/>
          </a:p>
          <a:p>
            <a:pPr indent="-330200" lvl="0" marL="457200" rtl="0" algn="l">
              <a:spcBef>
                <a:spcPts val="1200"/>
              </a:spcBef>
              <a:spcAft>
                <a:spcPts val="0"/>
              </a:spcAft>
              <a:buSzPts val="1600"/>
              <a:buChar char="●"/>
            </a:pPr>
            <a:r>
              <a:rPr lang="en"/>
              <a:t>What do we need velocity for?</a:t>
            </a:r>
            <a:endParaRPr/>
          </a:p>
          <a:p>
            <a:pPr indent="0" lvl="0" marL="0" rtl="0" algn="l">
              <a:spcBef>
                <a:spcPts val="1200"/>
              </a:spcBef>
              <a:spcAft>
                <a:spcPts val="1200"/>
              </a:spcAft>
              <a:buNone/>
            </a:pPr>
            <a:r>
              <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4: Paddle Movement</a:t>
            </a:r>
            <a:endParaRPr>
              <a:solidFill>
                <a:schemeClr val="accent5"/>
              </a:solidFill>
            </a:endParaRPr>
          </a:p>
        </p:txBody>
      </p:sp>
      <p:sp>
        <p:nvSpPr>
          <p:cNvPr id="219" name="Google Shape;219;p3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interactivity by letting players move the paddles</a:t>
            </a:r>
            <a:endParaRPr/>
          </a:p>
          <a:p>
            <a:pPr indent="-317500" lvl="1" marL="914400" rtl="0" algn="l">
              <a:spcBef>
                <a:spcPts val="0"/>
              </a:spcBef>
              <a:spcAft>
                <a:spcPts val="0"/>
              </a:spcAft>
              <a:buSzPts val="1400"/>
              <a:buChar char="○"/>
            </a:pPr>
            <a:r>
              <a:rPr lang="en"/>
              <a:t>W and S keys move Paddle 1 up and down</a:t>
            </a:r>
            <a:endParaRPr/>
          </a:p>
          <a:p>
            <a:pPr indent="-317500" lvl="1" marL="914400" rtl="0" algn="l">
              <a:spcBef>
                <a:spcPts val="0"/>
              </a:spcBef>
              <a:spcAft>
                <a:spcPts val="0"/>
              </a:spcAft>
              <a:buSzPts val="1400"/>
              <a:buChar char="○"/>
            </a:pPr>
            <a:r>
              <a:rPr lang="en"/>
              <a:t>Up and Down arrow keys move Paddle 2 up and down</a:t>
            </a:r>
            <a:endParaRPr/>
          </a:p>
          <a:p>
            <a:pPr indent="-330200" lvl="0" marL="457200" rtl="0" algn="l">
              <a:spcBef>
                <a:spcPts val="0"/>
              </a:spcBef>
              <a:spcAft>
                <a:spcPts val="0"/>
              </a:spcAft>
              <a:buSzPts val="1600"/>
              <a:buChar char="●"/>
            </a:pPr>
            <a:r>
              <a:rPr lang="en"/>
              <a:t>Ensure that movement is framerate independent</a:t>
            </a:r>
            <a:endParaRPr/>
          </a:p>
        </p:txBody>
      </p:sp>
      <p:pic>
        <p:nvPicPr>
          <p:cNvPr id="220" name="Google Shape;220;p38"/>
          <p:cNvPicPr preferRelativeResize="0"/>
          <p:nvPr/>
        </p:nvPicPr>
        <p:blipFill>
          <a:blip r:embed="rId3">
            <a:alphaModFix/>
          </a:blip>
          <a:stretch>
            <a:fillRect/>
          </a:stretch>
        </p:blipFill>
        <p:spPr>
          <a:xfrm>
            <a:off x="2542227" y="2527975"/>
            <a:ext cx="4059549" cy="2381276"/>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“Key Pressed”</a:t>
            </a:r>
            <a:endParaRPr/>
          </a:p>
        </p:txBody>
      </p:sp>
      <p:sp>
        <p:nvSpPr>
          <p:cNvPr id="226" name="Google Shape;226;p3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How to emulate “GetKeyDown”?</a:t>
            </a:r>
            <a:endParaRPr/>
          </a:p>
          <a:p>
            <a:pPr indent="0" lvl="0" marL="0" rtl="0" algn="l">
              <a:lnSpc>
                <a:spcPct val="157500"/>
              </a:lnSpc>
              <a:spcBef>
                <a:spcPts val="1200"/>
              </a:spcBef>
              <a:spcAft>
                <a:spcPts val="0"/>
              </a:spcAft>
              <a:buNone/>
            </a:pPr>
            <a:r>
              <a:rPr lang="en" sz="1000">
                <a:solidFill>
                  <a:srgbClr val="4EC9B0"/>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4EC9B0"/>
                </a:solidFill>
                <a:highlight>
                  <a:schemeClr val="dk2"/>
                </a:highlight>
                <a:latin typeface="Consolas"/>
                <a:ea typeface="Consolas"/>
                <a:cs typeface="Consolas"/>
                <a:sym typeface="Consolas"/>
              </a:rPr>
              <a:t>Keyboard</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GetState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&amp;&amp;</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oldKeyboardState</a:t>
            </a:r>
            <a:r>
              <a:rPr lang="en" sz="1000">
                <a:solidFill>
                  <a:srgbClr val="D4D4D4"/>
                </a:solidFill>
                <a:highlight>
                  <a:schemeClr val="dk2"/>
                </a:highlight>
                <a:latin typeface="Consolas"/>
                <a:ea typeface="Consolas"/>
                <a:cs typeface="Consolas"/>
                <a:sym typeface="Consolas"/>
              </a:rPr>
              <a:t>.</a:t>
            </a:r>
            <a:r>
              <a:rPr lang="en" sz="1000">
                <a:solidFill>
                  <a:srgbClr val="DCDCAA"/>
                </a:solidFill>
                <a:highlight>
                  <a:schemeClr val="dk2"/>
                </a:highlight>
                <a:latin typeface="Consolas"/>
                <a:ea typeface="Consolas"/>
                <a:cs typeface="Consolas"/>
                <a:sym typeface="Consolas"/>
              </a:rPr>
              <a:t>IsKeyDown</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Keys</a:t>
            </a:r>
            <a:r>
              <a:rPr lang="en" sz="1000">
                <a:solidFill>
                  <a:srgbClr val="D4D4D4"/>
                </a:solidFill>
                <a:highlight>
                  <a:schemeClr val="dk2"/>
                </a:highlight>
                <a:latin typeface="Consolas"/>
                <a:ea typeface="Consolas"/>
                <a:cs typeface="Consolas"/>
                <a:sym typeface="Consolas"/>
              </a:rPr>
              <a:t>.</a:t>
            </a:r>
            <a:r>
              <a:rPr lang="en" sz="1000">
                <a:solidFill>
                  <a:srgbClr val="4FC1FF"/>
                </a:solidFill>
                <a:highlight>
                  <a:schemeClr val="dk2"/>
                </a:highlight>
                <a:latin typeface="Consolas"/>
                <a:ea typeface="Consolas"/>
                <a:cs typeface="Consolas"/>
                <a:sym typeface="Consolas"/>
              </a:rPr>
              <a:t>Enter</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chemeClr val="dk2"/>
                </a:highlight>
                <a:latin typeface="Consolas"/>
                <a:ea typeface="Consolas"/>
                <a:cs typeface="Consolas"/>
                <a:sym typeface="Consolas"/>
              </a:rPr>
              <a:t>oldKeyboardState</a:t>
            </a:r>
            <a:r>
              <a:rPr lang="en" sz="1000">
                <a:solidFill>
                  <a:srgbClr val="CCCCCC"/>
                </a:solidFill>
                <a:highlight>
                  <a:schemeClr val="dk2"/>
                </a:highlight>
                <a:latin typeface="Consolas"/>
                <a:ea typeface="Consolas"/>
                <a:cs typeface="Consolas"/>
                <a:sym typeface="Consolas"/>
              </a:rPr>
              <a:t> </a:t>
            </a:r>
            <a:r>
              <a:rPr lang="en" sz="1000">
                <a:solidFill>
                  <a:srgbClr val="D4D4D4"/>
                </a:solidFill>
                <a:highlight>
                  <a:schemeClr val="dk2"/>
                </a:highlight>
                <a:latin typeface="Consolas"/>
                <a:ea typeface="Consolas"/>
                <a:cs typeface="Consolas"/>
                <a:sym typeface="Consolas"/>
              </a:rPr>
              <a:t>=</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keyboardState</a:t>
            </a:r>
            <a:r>
              <a:rPr lang="en" sz="1000">
                <a:solidFill>
                  <a:srgbClr val="CCCCCC"/>
                </a:solidFill>
                <a:highlight>
                  <a:schemeClr val="dk2"/>
                </a:highlight>
                <a:latin typeface="Consolas"/>
                <a:ea typeface="Consolas"/>
                <a:cs typeface="Consolas"/>
                <a:sym typeface="Consolas"/>
              </a:rPr>
              <a:t>;</a:t>
            </a:r>
            <a:endParaRPr/>
          </a:p>
          <a:p>
            <a:pPr indent="0" lvl="0" marL="0" rtl="0" algn="l">
              <a:spcBef>
                <a:spcPts val="0"/>
              </a:spcBef>
              <a:spcAft>
                <a:spcPts val="1200"/>
              </a:spcAft>
              <a:buNone/>
            </a:pPr>
            <a:r>
              <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0" name="Shape 230"/>
        <p:cNvGrpSpPr/>
        <p:nvPr/>
      </p:nvGrpSpPr>
      <p:grpSpPr>
        <a:xfrm>
          <a:off x="0" y="0"/>
          <a:ext cx="0" cy="0"/>
          <a:chOff x="0" y="0"/>
          <a:chExt cx="0" cy="0"/>
        </a:xfrm>
      </p:grpSpPr>
      <p:sp>
        <p:nvSpPr>
          <p:cNvPr id="231" name="Google Shape;231;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5: Ball Movement</a:t>
            </a:r>
            <a:endParaRPr>
              <a:solidFill>
                <a:schemeClr val="accent5"/>
              </a:solidFill>
            </a:endParaRPr>
          </a:p>
        </p:txBody>
      </p:sp>
      <p:sp>
        <p:nvSpPr>
          <p:cNvPr id="232" name="Google Shape;232;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motion to the ball upon the user pressing “Enter”.</a:t>
            </a:r>
            <a:endParaRPr/>
          </a:p>
          <a:p>
            <a:pPr indent="-317500" lvl="1" marL="914400" rtl="0" algn="l">
              <a:spcBef>
                <a:spcPts val="0"/>
              </a:spcBef>
              <a:spcAft>
                <a:spcPts val="0"/>
              </a:spcAft>
              <a:buSzPts val="1400"/>
              <a:buChar char="○"/>
            </a:pPr>
            <a:r>
              <a:rPr lang="en"/>
              <a:t>You will need to keep track of the state of the game, e.g. using a simple string field</a:t>
            </a:r>
            <a:endParaRPr/>
          </a:p>
          <a:p>
            <a:pPr indent="-317500" lvl="1" marL="914400" rtl="0" algn="l">
              <a:spcBef>
                <a:spcPts val="0"/>
              </a:spcBef>
              <a:spcAft>
                <a:spcPts val="0"/>
              </a:spcAft>
              <a:buSzPts val="1400"/>
              <a:buChar char="○"/>
            </a:pPr>
            <a:r>
              <a:rPr lang="en"/>
              <a:t>Use the Random class to ensure the ball starts with different movement vectors</a:t>
            </a:r>
            <a:endParaRPr/>
          </a:p>
          <a:p>
            <a:pPr indent="-330200" lvl="0" marL="457200" rtl="0" algn="l">
              <a:spcBef>
                <a:spcPts val="0"/>
              </a:spcBef>
              <a:spcAft>
                <a:spcPts val="0"/>
              </a:spcAft>
              <a:buSzPts val="1600"/>
              <a:buChar char="●"/>
            </a:pPr>
            <a:r>
              <a:rPr lang="en"/>
              <a:t>Ensure the Paddles can’t move offscreen</a:t>
            </a:r>
            <a:endParaRPr/>
          </a:p>
          <a:p>
            <a:pPr indent="-317500" lvl="1" marL="914400" rtl="0" algn="l">
              <a:spcBef>
                <a:spcPts val="0"/>
              </a:spcBef>
              <a:spcAft>
                <a:spcPts val="0"/>
              </a:spcAft>
              <a:buSzPts val="1400"/>
              <a:buChar char="○"/>
            </a:pPr>
            <a:r>
              <a:rPr lang="en"/>
              <a:t>Math.Min() and Math.Max() methods are helpful here</a:t>
            </a:r>
            <a:endParaRPr/>
          </a:p>
        </p:txBody>
      </p:sp>
      <p:pic>
        <p:nvPicPr>
          <p:cNvPr id="233" name="Google Shape;233;p40"/>
          <p:cNvPicPr preferRelativeResize="0"/>
          <p:nvPr/>
        </p:nvPicPr>
        <p:blipFill>
          <a:blip r:embed="rId3">
            <a:alphaModFix/>
          </a:blip>
          <a:stretch>
            <a:fillRect/>
          </a:stretch>
        </p:blipFill>
        <p:spPr>
          <a:xfrm>
            <a:off x="2579537" y="2571750"/>
            <a:ext cx="3984937" cy="2337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Encapsulation</a:t>
            </a:r>
            <a:endParaRPr/>
          </a:p>
        </p:txBody>
      </p:sp>
      <p:sp>
        <p:nvSpPr>
          <p:cNvPr id="239" name="Google Shape;239;p4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40" name="Google Shape;240;p41"/>
          <p:cNvPicPr preferRelativeResize="0"/>
          <p:nvPr/>
        </p:nvPicPr>
        <p:blipFill>
          <a:blip r:embed="rId3">
            <a:alphaModFix/>
          </a:blip>
          <a:stretch>
            <a:fillRect/>
          </a:stretch>
        </p:blipFill>
        <p:spPr>
          <a:xfrm>
            <a:off x="2785562" y="1488650"/>
            <a:ext cx="3572875" cy="281790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4" name="Shape 244"/>
        <p:cNvGrpSpPr/>
        <p:nvPr/>
      </p:nvGrpSpPr>
      <p:grpSpPr>
        <a:xfrm>
          <a:off x="0" y="0"/>
          <a:ext cx="0" cy="0"/>
          <a:chOff x="0" y="0"/>
          <a:chExt cx="0" cy="0"/>
        </a:xfrm>
      </p:grpSpPr>
      <p:sp>
        <p:nvSpPr>
          <p:cNvPr id="245" name="Google Shape;245;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Pattern</a:t>
            </a:r>
            <a:endParaRPr/>
          </a:p>
        </p:txBody>
      </p:sp>
      <p:sp>
        <p:nvSpPr>
          <p:cNvPr id="246" name="Google Shape;246;p4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247" name="Google Shape;247;p42"/>
          <p:cNvPicPr preferRelativeResize="0"/>
          <p:nvPr/>
        </p:nvPicPr>
        <p:blipFill>
          <a:blip r:embed="rId3">
            <a:alphaModFix/>
          </a:blip>
          <a:stretch>
            <a:fillRect/>
          </a:stretch>
        </p:blipFill>
        <p:spPr>
          <a:xfrm>
            <a:off x="2317452" y="1351938"/>
            <a:ext cx="4509099" cy="3091326"/>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1" name="Shape 251"/>
        <p:cNvGrpSpPr/>
        <p:nvPr/>
      </p:nvGrpSpPr>
      <p:grpSpPr>
        <a:xfrm>
          <a:off x="0" y="0"/>
          <a:ext cx="0" cy="0"/>
          <a:chOff x="0" y="0"/>
          <a:chExt cx="0" cy="0"/>
        </a:xfrm>
      </p:grpSpPr>
      <p:sp>
        <p:nvSpPr>
          <p:cNvPr id="252" name="Google Shape;252;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6: Encapsulation </a:t>
            </a:r>
            <a:endParaRPr>
              <a:solidFill>
                <a:schemeClr val="accent5"/>
              </a:solidFill>
            </a:endParaRPr>
          </a:p>
        </p:txBody>
      </p:sp>
      <p:sp>
        <p:nvSpPr>
          <p:cNvPr id="253" name="Google Shape;253;p4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Refactor the Pong code by creating two classes, Paddle and Ball, that encapsulates the data and behaviour of the two entities</a:t>
            </a:r>
            <a:endParaRPr/>
          </a:p>
          <a:p>
            <a:pPr indent="-317500" lvl="1" marL="914400" rtl="0" algn="l">
              <a:spcBef>
                <a:spcPts val="0"/>
              </a:spcBef>
              <a:spcAft>
                <a:spcPts val="0"/>
              </a:spcAft>
              <a:buSzPts val="1400"/>
              <a:buChar char="○"/>
            </a:pPr>
            <a:r>
              <a:rPr lang="en"/>
              <a:t>The behaviour of the Pong game will remain identical from the previous iteration</a:t>
            </a:r>
            <a:endParaRPr/>
          </a:p>
          <a:p>
            <a:pPr indent="-317500" lvl="1" marL="914400" rtl="0" algn="l">
              <a:spcBef>
                <a:spcPts val="0"/>
              </a:spcBef>
              <a:spcAft>
                <a:spcPts val="0"/>
              </a:spcAft>
              <a:buSzPts val="1400"/>
              <a:buChar char="○"/>
            </a:pPr>
            <a:r>
              <a:rPr lang="en"/>
              <a:t>You will need to take advantage of </a:t>
            </a:r>
            <a:r>
              <a:rPr lang="en" u="sng">
                <a:solidFill>
                  <a:schemeClr val="hlink"/>
                </a:solidFill>
                <a:hlinkClick r:id="rId3"/>
              </a:rPr>
              <a:t>Update Method</a:t>
            </a:r>
            <a:r>
              <a:rPr lang="en"/>
              <a:t> pattern</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Detection (AABB)</a:t>
            </a:r>
            <a:endParaRPr/>
          </a:p>
        </p:txBody>
      </p:sp>
      <p:sp>
        <p:nvSpPr>
          <p:cNvPr id="259" name="Google Shape;259;p44"/>
          <p:cNvSpPr txBox="1"/>
          <p:nvPr>
            <p:ph idx="2" type="body"/>
          </p:nvPr>
        </p:nvSpPr>
        <p:spPr>
          <a:xfrm>
            <a:off x="4787600" y="1675200"/>
            <a:ext cx="4044600" cy="17931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static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AABB</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boxA</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boxB</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Top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pic>
        <p:nvPicPr>
          <p:cNvPr id="260" name="Google Shape;260;p44"/>
          <p:cNvPicPr preferRelativeResize="0"/>
          <p:nvPr/>
        </p:nvPicPr>
        <p:blipFill>
          <a:blip r:embed="rId3">
            <a:alphaModFix/>
          </a:blip>
          <a:stretch>
            <a:fillRect/>
          </a:stretch>
        </p:blipFill>
        <p:spPr>
          <a:xfrm>
            <a:off x="595656" y="1625188"/>
            <a:ext cx="3365555" cy="189312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7: Collision Detection</a:t>
            </a:r>
            <a:endParaRPr>
              <a:solidFill>
                <a:schemeClr val="accent5"/>
              </a:solidFill>
            </a:endParaRPr>
          </a:p>
        </p:txBody>
      </p:sp>
      <p:sp>
        <p:nvSpPr>
          <p:cNvPr id="266" name="Google Shape;266;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for the ball to bounce off the Paddles and window boundaries using AABB collision detection</a:t>
            </a:r>
            <a:endParaRPr/>
          </a:p>
          <a:p>
            <a:pPr indent="-317500" lvl="1" marL="914400" rtl="0" algn="l">
              <a:spcBef>
                <a:spcPts val="0"/>
              </a:spcBef>
              <a:spcAft>
                <a:spcPts val="0"/>
              </a:spcAft>
              <a:buSzPts val="1400"/>
              <a:buChar char="○"/>
            </a:pPr>
            <a:r>
              <a:rPr lang="en"/>
              <a:t>Implement the Collides(Paddle paddle) method on the Ball to check for collision</a:t>
            </a:r>
            <a:endParaRPr/>
          </a:p>
          <a:p>
            <a:pPr indent="-317500" lvl="1" marL="914400" rtl="0" algn="l">
              <a:spcBef>
                <a:spcPts val="0"/>
              </a:spcBef>
              <a:spcAft>
                <a:spcPts val="0"/>
              </a:spcAft>
              <a:buSzPts val="1400"/>
              <a:buChar char="○"/>
            </a:pPr>
            <a:r>
              <a:rPr lang="en"/>
              <a:t>Calculate a new random Y velocity of the Ball based on its current Y direction (up/down)</a:t>
            </a:r>
            <a:endParaRPr/>
          </a:p>
          <a:p>
            <a:pPr indent="-317500" lvl="1" marL="914400" rtl="0" algn="l">
              <a:spcBef>
                <a:spcPts val="0"/>
              </a:spcBef>
              <a:spcAft>
                <a:spcPts val="0"/>
              </a:spcAft>
              <a:buSzPts val="1400"/>
              <a:buChar char="○"/>
            </a:pPr>
            <a:r>
              <a:rPr lang="en"/>
              <a:t>For every bounce on a Paddle, increase Ball X velocity by 10%</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0" name="Shape 270"/>
        <p:cNvGrpSpPr/>
        <p:nvPr/>
      </p:nvGrpSpPr>
      <p:grpSpPr>
        <a:xfrm>
          <a:off x="0" y="0"/>
          <a:ext cx="0" cy="0"/>
          <a:chOff x="0" y="0"/>
          <a:chExt cx="0" cy="0"/>
        </a:xfrm>
      </p:grpSpPr>
      <p:sp>
        <p:nvSpPr>
          <p:cNvPr id="271" name="Google Shape;271;p4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8: Scoring</a:t>
            </a:r>
            <a:endParaRPr>
              <a:solidFill>
                <a:schemeClr val="accent5"/>
              </a:solidFill>
            </a:endParaRPr>
          </a:p>
        </p:txBody>
      </p:sp>
      <p:sp>
        <p:nvSpPr>
          <p:cNvPr id="272" name="Google Shape;272;p46"/>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track of scoring</a:t>
            </a:r>
            <a:endParaRPr/>
          </a:p>
          <a:p>
            <a:pPr indent="-317500" lvl="1" marL="914400" rtl="0" algn="l">
              <a:spcBef>
                <a:spcPts val="0"/>
              </a:spcBef>
              <a:spcAft>
                <a:spcPts val="0"/>
              </a:spcAft>
              <a:buSzPts val="1400"/>
              <a:buChar char="○"/>
            </a:pPr>
            <a:r>
              <a:rPr lang="en"/>
              <a:t>The scoring UI must use a bigger font than the text</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273" name="Google Shape;273;p46"/>
          <p:cNvPicPr preferRelativeResize="0"/>
          <p:nvPr/>
        </p:nvPicPr>
        <p:blipFill>
          <a:blip r:embed="rId3">
            <a:alphaModFix/>
          </a:blip>
          <a:stretch>
            <a:fillRect/>
          </a:stretch>
        </p:blipFill>
        <p:spPr>
          <a:xfrm>
            <a:off x="2120062" y="1975400"/>
            <a:ext cx="4903894" cy="28765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 State</a:t>
            </a:r>
            <a:endParaRPr/>
          </a:p>
        </p:txBody>
      </p:sp>
      <p:pic>
        <p:nvPicPr>
          <p:cNvPr id="279" name="Google Shape;279;p47"/>
          <p:cNvPicPr preferRelativeResize="0"/>
          <p:nvPr/>
        </p:nvPicPr>
        <p:blipFill>
          <a:blip r:embed="rId3">
            <a:alphaModFix/>
          </a:blip>
          <a:stretch>
            <a:fillRect/>
          </a:stretch>
        </p:blipFill>
        <p:spPr>
          <a:xfrm>
            <a:off x="1926587" y="1041776"/>
            <a:ext cx="5290826" cy="3393251"/>
          </a:xfrm>
          <a:prstGeom prst="rect">
            <a:avLst/>
          </a:prstGeom>
          <a:noFill/>
          <a:ln>
            <a:noFill/>
          </a:ln>
        </p:spPr>
      </p:pic>
      <p:sp>
        <p:nvSpPr>
          <p:cNvPr id="280" name="Google Shape;280;p47"/>
          <p:cNvSpPr txBox="1"/>
          <p:nvPr/>
        </p:nvSpPr>
        <p:spPr>
          <a:xfrm>
            <a:off x="3038400" y="4514350"/>
            <a:ext cx="3067200" cy="305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lt1"/>
                </a:solidFill>
                <a:latin typeface="Roboto"/>
                <a:ea typeface="Roboto"/>
                <a:cs typeface="Roboto"/>
                <a:sym typeface="Roboto"/>
              </a:rPr>
              <a:t>https://gameprogrammingpatterns.com/state.html</a:t>
            </a:r>
            <a:endParaRPr sz="1000">
              <a:solidFill>
                <a:schemeClr val="lt1"/>
              </a:solidFill>
              <a:latin typeface="Roboto"/>
              <a:ea typeface="Roboto"/>
              <a:cs typeface="Roboto"/>
              <a:sym typeface="Robot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9: Serve State</a:t>
            </a:r>
            <a:endParaRPr>
              <a:solidFill>
                <a:schemeClr val="accent5"/>
              </a:solidFill>
            </a:endParaRPr>
          </a:p>
        </p:txBody>
      </p:sp>
      <p:sp>
        <p:nvSpPr>
          <p:cNvPr id="286" name="Google Shape;286;p48"/>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a new Serve state to the game</a:t>
            </a:r>
            <a:endParaRPr/>
          </a:p>
          <a:p>
            <a:pPr indent="-317500" lvl="1" marL="914400" rtl="0" algn="l">
              <a:spcBef>
                <a:spcPts val="0"/>
              </a:spcBef>
              <a:spcAft>
                <a:spcPts val="0"/>
              </a:spcAft>
              <a:buSzPts val="1400"/>
              <a:buChar char="○"/>
            </a:pPr>
            <a:r>
              <a:rPr lang="en"/>
              <a:t>When a player is serving, they send the ball towards the other player</a:t>
            </a:r>
            <a:endParaRPr/>
          </a:p>
          <a:p>
            <a:pPr indent="-317500" lvl="1" marL="914400" rtl="0" algn="l">
              <a:spcBef>
                <a:spcPts val="0"/>
              </a:spcBef>
              <a:spcAft>
                <a:spcPts val="0"/>
              </a:spcAft>
              <a:buSzPts val="1400"/>
              <a:buChar char="○"/>
            </a:pPr>
            <a:r>
              <a:rPr lang="en"/>
              <a:t>The player who was last scored on gets to serve (random player at game start)</a:t>
            </a:r>
            <a:endParaRPr/>
          </a:p>
          <a:p>
            <a:pPr indent="-317500" lvl="1" marL="914400" rtl="0" algn="l">
              <a:spcBef>
                <a:spcPts val="0"/>
              </a:spcBef>
              <a:spcAft>
                <a:spcPts val="0"/>
              </a:spcAft>
              <a:buSzPts val="1400"/>
              <a:buChar char="○"/>
            </a:pPr>
            <a:r>
              <a:rPr lang="en"/>
              <a:t>We transition from “play” to “serve” state when scoring</a:t>
            </a:r>
            <a:endParaRPr/>
          </a:p>
          <a:p>
            <a:pPr indent="-317500" lvl="1" marL="914400" rtl="0" algn="l">
              <a:spcBef>
                <a:spcPts val="0"/>
              </a:spcBef>
              <a:spcAft>
                <a:spcPts val="0"/>
              </a:spcAft>
              <a:buSzPts val="1400"/>
              <a:buChar char="○"/>
            </a:pPr>
            <a:r>
              <a:rPr lang="en"/>
              <a:t>And from “serve” state to “play” state when pressing “Enter”</a:t>
            </a:r>
            <a:endParaRPr/>
          </a:p>
          <a:p>
            <a:pPr indent="-317500" lvl="1" marL="914400" rtl="0" algn="l">
              <a:spcBef>
                <a:spcPts val="0"/>
              </a:spcBef>
              <a:spcAft>
                <a:spcPts val="0"/>
              </a:spcAft>
              <a:buSzPts val="1400"/>
              <a:buChar char="○"/>
            </a:pPr>
            <a:r>
              <a:rPr lang="en"/>
              <a:t>The game begins in the “start” state and transitions to the “serve” state by pressing “Enter”</a:t>
            </a:r>
            <a:endParaRPr/>
          </a:p>
          <a:p>
            <a:pPr indent="0" lvl="0" marL="0" rtl="0" algn="l">
              <a:spcBef>
                <a:spcPts val="1200"/>
              </a:spcBef>
              <a:spcAft>
                <a:spcPts val="0"/>
              </a:spcAft>
              <a:buNone/>
            </a:pPr>
            <a:r>
              <a:t/>
            </a:r>
            <a:endParaRPr/>
          </a:p>
          <a:p>
            <a:pPr indent="0" lvl="0" marL="0" rtl="0" algn="l">
              <a:spcBef>
                <a:spcPts val="1200"/>
              </a:spcBef>
              <a:spcAft>
                <a:spcPts val="1200"/>
              </a:spcAft>
              <a:buNone/>
            </a:pPr>
            <a:r>
              <a:t/>
            </a:r>
            <a:endParaRPr/>
          </a:p>
        </p:txBody>
      </p:sp>
      <p:pic>
        <p:nvPicPr>
          <p:cNvPr id="287" name="Google Shape;287;p48"/>
          <p:cNvPicPr preferRelativeResize="0"/>
          <p:nvPr/>
        </p:nvPicPr>
        <p:blipFill>
          <a:blip r:embed="rId3">
            <a:alphaModFix/>
          </a:blip>
          <a:stretch>
            <a:fillRect/>
          </a:stretch>
        </p:blipFill>
        <p:spPr>
          <a:xfrm>
            <a:off x="2721375" y="2738150"/>
            <a:ext cx="3701249" cy="2171099"/>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1" name="Shape 291"/>
        <p:cNvGrpSpPr/>
        <p:nvPr/>
      </p:nvGrpSpPr>
      <p:grpSpPr>
        <a:xfrm>
          <a:off x="0" y="0"/>
          <a:ext cx="0" cy="0"/>
          <a:chOff x="0" y="0"/>
          <a:chExt cx="0" cy="0"/>
        </a:xfrm>
      </p:grpSpPr>
      <p:sp>
        <p:nvSpPr>
          <p:cNvPr id="292" name="Google Shape;292;p4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10: Victory</a:t>
            </a:r>
            <a:endParaRPr>
              <a:solidFill>
                <a:schemeClr val="accent5"/>
              </a:solidFill>
            </a:endParaRPr>
          </a:p>
        </p:txBody>
      </p:sp>
      <p:sp>
        <p:nvSpPr>
          <p:cNvPr id="293" name="Google Shape;293;p4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Allow a player to win the game</a:t>
            </a:r>
            <a:endParaRPr/>
          </a:p>
          <a:p>
            <a:pPr indent="-317500" lvl="1" marL="914400" rtl="0" algn="l">
              <a:spcBef>
                <a:spcPts val="0"/>
              </a:spcBef>
              <a:spcAft>
                <a:spcPts val="0"/>
              </a:spcAft>
              <a:buSzPts val="1400"/>
              <a:buChar char="○"/>
            </a:pPr>
            <a:r>
              <a:rPr lang="en"/>
              <a:t>Introduce a new “done” state when maximum score is reached (e.g. 10)</a:t>
            </a:r>
            <a:endParaRPr/>
          </a:p>
        </p:txBody>
      </p:sp>
      <p:pic>
        <p:nvPicPr>
          <p:cNvPr id="294" name="Google Shape;294;p49"/>
          <p:cNvPicPr preferRelativeResize="0"/>
          <p:nvPr/>
        </p:nvPicPr>
        <p:blipFill>
          <a:blip r:embed="rId3">
            <a:alphaModFix/>
          </a:blip>
          <a:stretch>
            <a:fillRect/>
          </a:stretch>
        </p:blipFill>
        <p:spPr>
          <a:xfrm>
            <a:off x="2027855" y="1877150"/>
            <a:ext cx="5088300" cy="2984726"/>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Sounds</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a:t>
            </a:r>
            <a:r>
              <a:rPr lang="en" u="sng">
                <a:solidFill>
                  <a:schemeClr val="hlink"/>
                </a:solidFill>
                <a:hlinkClick r:id="rId3"/>
              </a:rPr>
              <a:t>SoundEffect</a:t>
            </a:r>
            <a:r>
              <a:rPr lang="en"/>
              <a:t> class handles short audio clips</a:t>
            </a:r>
            <a:endParaRPr/>
          </a:p>
          <a:p>
            <a:pPr indent="-317500" lvl="1" marL="914400" rtl="0" algn="l">
              <a:spcBef>
                <a:spcPts val="0"/>
              </a:spcBef>
              <a:spcAft>
                <a:spcPts val="0"/>
              </a:spcAft>
              <a:buSzPts val="1400"/>
              <a:buChar char="○"/>
            </a:pPr>
            <a:r>
              <a:rPr lang="en"/>
              <a:t>collisions, jumping, shooting, button clicks, footsteps, ambient sounds, etc.</a:t>
            </a:r>
            <a:endParaRPr/>
          </a:p>
          <a:p>
            <a:pPr indent="-330200" lvl="0" marL="457200" rtl="0" algn="l">
              <a:spcBef>
                <a:spcPts val="0"/>
              </a:spcBef>
              <a:spcAft>
                <a:spcPts val="0"/>
              </a:spcAft>
              <a:buSzPts val="1600"/>
              <a:buChar char="●"/>
            </a:pPr>
            <a:r>
              <a:rPr lang="en"/>
              <a:t>The key characteristics of sound effects are</a:t>
            </a:r>
            <a:endParaRPr/>
          </a:p>
          <a:p>
            <a:pPr indent="-317500" lvl="0" marL="914400" rtl="0" algn="l">
              <a:spcBef>
                <a:spcPts val="0"/>
              </a:spcBef>
              <a:spcAft>
                <a:spcPts val="0"/>
              </a:spcAft>
              <a:buClr>
                <a:srgbClr val="6C757D"/>
              </a:buClr>
              <a:buSzPts val="1400"/>
              <a:buChar char="●"/>
            </a:pPr>
            <a:r>
              <a:rPr lang="en" sz="1400">
                <a:solidFill>
                  <a:srgbClr val="6C757D"/>
                </a:solidFill>
              </a:rPr>
              <a:t>Loaded entirely into memory for quick access</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Can play multiple instances simultaneously</a:t>
            </a:r>
            <a:endParaRPr sz="1400">
              <a:solidFill>
                <a:srgbClr val="6C757D"/>
              </a:solidFill>
            </a:endParaRPr>
          </a:p>
          <a:p>
            <a:pPr indent="-317500" lvl="0" marL="914400" rtl="0" algn="l">
              <a:spcBef>
                <a:spcPts val="0"/>
              </a:spcBef>
              <a:spcAft>
                <a:spcPts val="0"/>
              </a:spcAft>
              <a:buClr>
                <a:srgbClr val="6C757D"/>
              </a:buClr>
              <a:buSzPts val="1400"/>
              <a:buChar char="●"/>
            </a:pPr>
            <a:r>
              <a:rPr lang="en" sz="1400">
                <a:solidFill>
                  <a:srgbClr val="6C757D"/>
                </a:solidFill>
              </a:rPr>
              <a:t>Individual volume control per instance</a:t>
            </a:r>
            <a:endParaRPr sz="1400">
              <a:solidFill>
                <a:srgbClr val="6C757D"/>
              </a:solidFill>
            </a:endParaRPr>
          </a:p>
          <a:p>
            <a:pPr indent="0" lvl="0" marL="0" rtl="0" algn="l">
              <a:spcBef>
                <a:spcPts val="1200"/>
              </a:spcBef>
              <a:spcAft>
                <a:spcPts val="1200"/>
              </a:spcAft>
              <a:buNone/>
            </a:pPr>
            <a:r>
              <a:rPr lang="en"/>
              <a:t>For longer playing audio, the </a:t>
            </a:r>
            <a:r>
              <a:rPr lang="en" u="sng">
                <a:solidFill>
                  <a:schemeClr val="hlink"/>
                </a:solidFill>
                <a:hlinkClick r:id="rId4"/>
              </a:rPr>
              <a:t>Song</a:t>
            </a:r>
            <a:r>
              <a:rPr lang="en"/>
              <a:t> class is used (but not today…)</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4" name="Shape 304"/>
        <p:cNvGrpSpPr/>
        <p:nvPr/>
      </p:nvGrpSpPr>
      <p:grpSpPr>
        <a:xfrm>
          <a:off x="0" y="0"/>
          <a:ext cx="0" cy="0"/>
          <a:chOff x="0" y="0"/>
          <a:chExt cx="0" cy="0"/>
        </a:xfrm>
      </p:grpSpPr>
      <p:sp>
        <p:nvSpPr>
          <p:cNvPr id="305" name="Google Shape;305;p5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Creating Sound Effects</a:t>
            </a:r>
            <a:endParaRPr/>
          </a:p>
        </p:txBody>
      </p:sp>
      <p:pic>
        <p:nvPicPr>
          <p:cNvPr id="306" name="Google Shape;306;p51"/>
          <p:cNvPicPr preferRelativeResize="0"/>
          <p:nvPr/>
        </p:nvPicPr>
        <p:blipFill>
          <a:blip r:embed="rId3">
            <a:alphaModFix/>
          </a:blip>
          <a:stretch>
            <a:fillRect/>
          </a:stretch>
        </p:blipFill>
        <p:spPr>
          <a:xfrm>
            <a:off x="3090063" y="1139600"/>
            <a:ext cx="2963875" cy="2864299"/>
          </a:xfrm>
          <a:prstGeom prst="rect">
            <a:avLst/>
          </a:prstGeom>
          <a:noFill/>
          <a:ln>
            <a:noFill/>
          </a:ln>
        </p:spPr>
      </p:pic>
      <p:sp>
        <p:nvSpPr>
          <p:cNvPr id="307" name="Google Shape;307;p51"/>
          <p:cNvSpPr txBox="1"/>
          <p:nvPr/>
        </p:nvSpPr>
        <p:spPr>
          <a:xfrm>
            <a:off x="3710700" y="4122650"/>
            <a:ext cx="1722600" cy="324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300" u="sng">
                <a:solidFill>
                  <a:schemeClr val="hlink"/>
                </a:solidFill>
                <a:latin typeface="Roboto"/>
                <a:ea typeface="Roboto"/>
                <a:cs typeface="Roboto"/>
                <a:sym typeface="Roboto"/>
                <a:hlinkClick r:id="rId4"/>
              </a:rPr>
              <a:t>https://www.bfxr.net</a:t>
            </a:r>
            <a:endParaRPr sz="1300">
              <a:solidFill>
                <a:schemeClr val="dk2"/>
              </a:solidFill>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5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Pong 11: Audio</a:t>
            </a:r>
            <a:endParaRPr>
              <a:solidFill>
                <a:schemeClr val="accent5"/>
              </a:solidFill>
            </a:endParaRPr>
          </a:p>
        </p:txBody>
      </p:sp>
      <p:sp>
        <p:nvSpPr>
          <p:cNvPr id="313" name="Google Shape;313;p5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Add sound effects to the game</a:t>
            </a:r>
            <a:endParaRPr/>
          </a:p>
          <a:p>
            <a:pPr indent="-317500" lvl="1" marL="914400" rtl="0" algn="l">
              <a:spcBef>
                <a:spcPts val="0"/>
              </a:spcBef>
              <a:spcAft>
                <a:spcPts val="0"/>
              </a:spcAft>
              <a:buSzPts val="1400"/>
              <a:buChar char="○"/>
            </a:pPr>
            <a:r>
              <a:rPr lang="en"/>
              <a:t>You must have three distinct sounds: “</a:t>
            </a:r>
            <a:r>
              <a:rPr lang="en" u="sng">
                <a:solidFill>
                  <a:schemeClr val="hlink"/>
                </a:solidFill>
                <a:hlinkClick r:id="rId3"/>
              </a:rPr>
              <a:t>paddle hit</a:t>
            </a:r>
            <a:r>
              <a:rPr lang="en"/>
              <a:t>”, “</a:t>
            </a:r>
            <a:r>
              <a:rPr lang="en" u="sng">
                <a:solidFill>
                  <a:schemeClr val="hlink"/>
                </a:solidFill>
                <a:hlinkClick r:id="rId4"/>
              </a:rPr>
              <a:t>wall hit</a:t>
            </a:r>
            <a:r>
              <a:rPr lang="en"/>
              <a:t>” and “</a:t>
            </a:r>
            <a:r>
              <a:rPr lang="en" u="sng">
                <a:solidFill>
                  <a:schemeClr val="hlink"/>
                </a:solidFill>
                <a:hlinkClick r:id="rId5"/>
              </a:rPr>
              <a:t>score</a:t>
            </a:r>
            <a:r>
              <a:rPr lang="en"/>
              <a: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5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You Made it!</a:t>
            </a:r>
            <a:endParaRPr/>
          </a:p>
        </p:txBody>
      </p:sp>
      <p:sp>
        <p:nvSpPr>
          <p:cNvPr id="319" name="Google Shape;319;p5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Congratulations! You now have your very own working Pong Game made with MonoGame.</a:t>
            </a:r>
            <a:endParaRPr/>
          </a:p>
        </p:txBody>
      </p:sp>
      <p:pic>
        <p:nvPicPr>
          <p:cNvPr id="320" name="Google Shape;320;p53"/>
          <p:cNvPicPr preferRelativeResize="0"/>
          <p:nvPr/>
        </p:nvPicPr>
        <p:blipFill>
          <a:blip r:embed="rId3">
            <a:alphaModFix/>
          </a:blip>
          <a:stretch>
            <a:fillRect/>
          </a:stretch>
        </p:blipFill>
        <p:spPr>
          <a:xfrm>
            <a:off x="1066538" y="2195848"/>
            <a:ext cx="7010925" cy="1403500"/>
          </a:xfrm>
          <a:prstGeom prst="rect">
            <a:avLst/>
          </a:prstGeom>
          <a:noFill/>
          <a:ln>
            <a:noFill/>
          </a:ln>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vs. Draw</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Update changes the state of the world</a:t>
            </a:r>
            <a:endParaRPr/>
          </a:p>
          <a:p>
            <a:pPr indent="-317500" lvl="1" marL="914400" rtl="0" algn="l">
              <a:spcBef>
                <a:spcPts val="0"/>
              </a:spcBef>
              <a:spcAft>
                <a:spcPts val="0"/>
              </a:spcAft>
              <a:buSzPts val="1400"/>
              <a:buChar char="○"/>
            </a:pPr>
            <a:r>
              <a:rPr lang="en"/>
              <a:t>Input, movement, collisions, game rules</a:t>
            </a:r>
            <a:endParaRPr/>
          </a:p>
          <a:p>
            <a:pPr indent="-330200" lvl="0" marL="457200" rtl="0" algn="l">
              <a:spcBef>
                <a:spcPts val="0"/>
              </a:spcBef>
              <a:spcAft>
                <a:spcPts val="0"/>
              </a:spcAft>
              <a:buSzPts val="1600"/>
              <a:buChar char="●"/>
            </a:pPr>
            <a:r>
              <a:rPr lang="en"/>
              <a:t>Draw only reads that state and renders it</a:t>
            </a:r>
            <a:endParaRPr/>
          </a:p>
          <a:p>
            <a:pPr indent="-317500" lvl="1" marL="914400" rtl="0" algn="l">
              <a:spcBef>
                <a:spcPts val="0"/>
              </a:spcBef>
              <a:spcAft>
                <a:spcPts val="0"/>
              </a:spcAft>
              <a:buSzPts val="1400"/>
              <a:buChar char="○"/>
            </a:pPr>
            <a:r>
              <a:rPr lang="en"/>
              <a:t>Never change game state in Draw</a:t>
            </a:r>
            <a:endParaRPr/>
          </a:p>
          <a:p>
            <a:pPr indent="-330200" lvl="0" marL="457200" rtl="0" algn="l">
              <a:spcBef>
                <a:spcPts val="0"/>
              </a:spcBef>
              <a:spcAft>
                <a:spcPts val="0"/>
              </a:spcAft>
              <a:buSzPts val="1600"/>
              <a:buChar char="●"/>
            </a:pPr>
            <a:r>
              <a:rPr lang="en"/>
              <a:t>Keeping them apart lets the simulation and the rendering run at different rates</a:t>
            </a:r>
            <a:endParaRPr/>
          </a:p>
          <a:p>
            <a:pPr indent="-330200" lvl="0" marL="457200" rtl="0" algn="l">
              <a:spcBef>
                <a:spcPts val="0"/>
              </a:spcBef>
              <a:spcAft>
                <a:spcPts val="0"/>
              </a:spcAft>
              <a:buSzPts val="1600"/>
              <a:buChar char="●"/>
            </a:pPr>
            <a:r>
              <a:rPr lang="en"/>
              <a:t>Double buffer</a:t>
            </a:r>
            <a:endParaRPr/>
          </a:p>
          <a:p>
            <a:pPr indent="-317500" lvl="1" marL="914400" rtl="0" algn="l">
              <a:spcBef>
                <a:spcPts val="0"/>
              </a:spcBef>
              <a:spcAft>
                <a:spcPts val="0"/>
              </a:spcAft>
              <a:buSzPts val="1400"/>
              <a:buChar char="○"/>
            </a:pPr>
            <a:r>
              <a:rPr lang="en"/>
              <a:t>We draw into a back buffer that isn't visible</a:t>
            </a:r>
            <a:endParaRPr/>
          </a:p>
          <a:p>
            <a:pPr indent="-317500" lvl="1" marL="914400" rtl="0" algn="l">
              <a:spcBef>
                <a:spcPts val="0"/>
              </a:spcBef>
              <a:spcAft>
                <a:spcPts val="0"/>
              </a:spcAft>
              <a:buSzPts val="1400"/>
              <a:buChar char="○"/>
            </a:pPr>
            <a:r>
              <a:rPr lang="en"/>
              <a:t>At the end of Draw, MonoGame presents it: the player never sees a half-drawn frame</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9" name="Google Shape;299;p5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Fixed vs. Variable Timestep</a:t>
            </a:r>
            <a:endParaRPr/>
          </a:p>
        </p:txBody>
      </p:sp>
      <p:sp>
        <p:nvSpPr>
          <p:cNvPr id="300" name="Google Shape;300;p5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Variable timestep</a:t>
            </a:r>
            <a:endParaRPr/>
          </a:p>
          <a:p>
            <a:pPr indent="-317500" lvl="1" marL="914400" rtl="0" algn="l">
              <a:spcBef>
                <a:spcPts val="0"/>
              </a:spcBef>
              <a:spcAft>
                <a:spcPts val="0"/>
              </a:spcAft>
              <a:buSzPts val="1400"/>
              <a:buChar char="○"/>
            </a:pPr>
            <a:r>
              <a:rPr lang="en"/>
              <a:t>One Update per rendered frame, movement scaled by deltaTime</a:t>
            </a:r>
            <a:endParaRPr/>
          </a:p>
          <a:p>
            <a:pPr indent="-317500" lvl="1" marL="914400" rtl="0" algn="l">
              <a:spcBef>
                <a:spcPts val="0"/>
              </a:spcBef>
              <a:spcAft>
                <a:spcPts val="0"/>
              </a:spcAft>
              <a:buSzPts val="1400"/>
              <a:buChar char="○"/>
            </a:pPr>
            <a:r>
              <a:rPr lang="en"/>
              <a:t>Simple, but the simulation behaves slightly differently at different frame rates</a:t>
            </a:r>
            <a:endParaRPr/>
          </a:p>
          <a:p>
            <a:pPr indent="-330200" lvl="0" marL="457200" rtl="0" algn="l">
              <a:spcBef>
                <a:spcPts val="0"/>
              </a:spcBef>
              <a:spcAft>
                <a:spcPts val="0"/>
              </a:spcAft>
              <a:buSzPts val="1600"/>
              <a:buChar char="●"/>
            </a:pPr>
            <a:r>
              <a:rPr lang="en"/>
              <a:t>Fixed timestep</a:t>
            </a:r>
            <a:endParaRPr/>
          </a:p>
          <a:p>
            <a:pPr indent="-317500" lvl="1" marL="914400" rtl="0" algn="l">
              <a:spcBef>
                <a:spcPts val="0"/>
              </a:spcBef>
              <a:spcAft>
                <a:spcPts val="0"/>
              </a:spcAft>
              <a:buSzPts val="1400"/>
              <a:buChar char="○"/>
            </a:pPr>
            <a:r>
              <a:rPr lang="en"/>
              <a:t>Update in fixed-size steps (e.g. 60 per second): zero, one or several per frame</a:t>
            </a:r>
            <a:endParaRPr/>
          </a:p>
          <a:p>
            <a:pPr indent="-317500" lvl="1" marL="914400" rtl="0" algn="l">
              <a:spcBef>
                <a:spcPts val="0"/>
              </a:spcBef>
              <a:spcAft>
                <a:spcPts val="0"/>
              </a:spcAft>
              <a:buSzPts val="1400"/>
              <a:buChar char="○"/>
            </a:pPr>
            <a:r>
              <a:rPr lang="en"/>
              <a:t>Deterministic and stable, at the cost of some complexity</a:t>
            </a:r>
            <a:endParaRPr/>
          </a:p>
          <a:p>
            <a:pPr indent="-330200" lvl="0" marL="457200" rtl="0" algn="l">
              <a:spcBef>
                <a:spcPts val="0"/>
              </a:spcBef>
              <a:spcAft>
                <a:spcPts val="0"/>
              </a:spcAft>
              <a:buSzPts val="1600"/>
              <a:buChar char="●"/>
            </a:pPr>
            <a:r>
              <a:rPr lang="en"/>
              <a:t>MonoGame uses a fixed timestep by default (IsFixedTimeStep = true)</a:t>
            </a:r>
            <a:endParaRPr/>
          </a:p>
          <a:p>
            <a:pPr indent="-330200" lvl="0" marL="457200" rtl="0" algn="l">
              <a:spcBef>
                <a:spcPts val="0"/>
              </a:spcBef>
              <a:spcAft>
                <a:spcPts val="0"/>
              </a:spcAft>
              <a:buSzPts val="1600"/>
              <a:buChar char="●"/>
            </a:pPr>
            <a:r>
              <a:rPr lang="en"/>
              <a:t>Try it: the game loop demo on the course site</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8" name="Google Shape;258;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Update Method in Pong</a:t>
            </a:r>
            <a:endParaRPr/>
          </a:p>
        </p:txBody>
      </p:sp>
      <p:sp>
        <p:nvSpPr>
          <p:cNvPr id="300" name="Google Shape;300;p50"/>
          <p:cNvSpPr txBox="1"/>
          <p:nvPr>
            <p:ph idx="1" type="body"/>
          </p:nvPr>
        </p:nvSpPr>
        <p:spPr>
          <a:xfrm>
            <a:off x="311700" y="1152475"/>
            <a:ext cx="3900000" cy="34000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Each object simulates one frame of its own behaviour</a:t>
            </a:r>
            <a:endParaRPr/>
          </a:p>
          <a:p>
            <a:pPr indent="-330200" lvl="0" marL="457200" rtl="0" algn="l">
              <a:spcBef>
                <a:spcPts val="0"/>
              </a:spcBef>
              <a:spcAft>
                <a:spcPts val="0"/>
              </a:spcAft>
              <a:buSzPts val="1600"/>
              <a:buChar char="●"/>
            </a:pPr>
            <a:r>
              <a:rPr lang="en"/>
              <a:t>Paddle and Ball each get Update and Draw</a:t>
            </a:r>
            <a:endParaRPr/>
          </a:p>
          <a:p>
            <a:pPr indent="-330200" lvl="0" marL="457200" rtl="0" algn="l">
              <a:spcBef>
                <a:spcPts val="0"/>
              </a:spcBef>
              <a:spcAft>
                <a:spcPts val="0"/>
              </a:spcAft>
              <a:buSzPts val="1600"/>
              <a:buChar char="●"/>
            </a:pPr>
            <a:r>
              <a:rPr lang="en"/>
              <a:t>Game1 just calls them</a:t>
            </a:r>
            <a:endParaRPr/>
          </a:p>
          <a:p>
            <a:pPr indent="-317500" lvl="1" marL="914400" rtl="0" algn="l">
              <a:spcBef>
                <a:spcPts val="0"/>
              </a:spcBef>
              <a:spcAft>
                <a:spcPts val="0"/>
              </a:spcAft>
              <a:buSzPts val="1400"/>
              <a:buChar char="○"/>
            </a:pPr>
            <a:r>
              <a:rPr lang="en"/>
              <a:t>Its Update and Draw stay short as the game grows</a:t>
            </a:r>
            <a:endParaRPr/>
          </a:p>
          <a:p>
            <a:pPr indent="-330200" lvl="0" marL="457200" rtl="0" algn="l">
              <a:spcBef>
                <a:spcPts val="0"/>
              </a:spcBef>
              <a:spcAft>
                <a:spcPts val="0"/>
              </a:spcAft>
              <a:buSzPts val="1600"/>
              <a:buChar char="●"/>
            </a:pPr>
            <a:r>
              <a:rPr lang="en"/>
              <a:t>Step: Pong6</a:t>
            </a:r>
            <a:endParaRPr/>
          </a:p>
        </p:txBody>
      </p:sp>
      <p:sp>
        <p:nvSpPr>
          <p:cNvPr id="259" name="Google Shape;259;p44"/>
          <p:cNvSpPr txBox="1"/>
          <p:nvPr>
            <p:ph idx="2" type="body"/>
          </p:nvPr>
        </p:nvSpPr>
        <p:spPr>
          <a:xfrm>
            <a:off x="4500000" y="1152475"/>
            <a:ext cx="440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Game1</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Update(GameTime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_paddle2.Update(gameTime);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protected override void Draw(GameTime gameTime)</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_spriteBatch.Begin();</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_paddle1.Draw(_spriteBatch);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_paddle2.Draw(_spriteBatch);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_ball.Draw(_spriteBatch);</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_spriteBatch.End();</a:t>
            </a:r>
            <a:endParaRPr sz="1000">
              <a:solidFill>
                <a:srgbClr val="CCCCCC"/>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