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6" r:id="rId65"/>
    <p:sldId id="304" r:id="rId63"/>
    <p:sldId id="305" r:id="rId64"/>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50.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21.xml"/><Relationship Id="rId61" Type="http://schemas.openxmlformats.org/officeDocument/2006/relationships/slide" Target="slides/slide22.xml"/><Relationship Id="rId62" Type="http://schemas.openxmlformats.org/officeDocument/2006/relationships/slide" Target="slides/slide3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The goal of the project is to create a simple 2D game that uses best practices for organizing and architecting a game project. That is, the project must include gameplay systems and design elements solved through patterns and principles taught in the course.</a:t>
            </a:r>
          </a:p>
          <a:p>
            <a:r>
              <a:t>- Details on the course website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Individual oral exam, 20 minutes, without preparation.</a:t>
            </a:r>
          </a:p>
          <a:p>
            <a:r>
              <a:t>- 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p>
          <a:p>
            <a:r>
              <a:t>- Internal assessment.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At its core, MonoGame offers a set of libraries and APIs to handle common game development tasks</a:t>
            </a:r>
          </a:p>
          <a:p>
            <a:r>
              <a:t>- Graphics Rendering</a:t>
            </a:r>
          </a:p>
          <a:p>
            <a:r>
              <a:t>  - 2D and 3D rendering are supported through the graphics API offered by MonoGame</a:t>
            </a:r>
          </a:p>
          <a:p>
            <a:r>
              <a:t>- Input Handling</a:t>
            </a:r>
          </a:p>
          <a:p>
            <a:r>
              <a:t>  - Input from keyboard, mouse, gamepads, and touchscreens is supported</a:t>
            </a:r>
          </a:p>
          <a:p>
            <a:r>
              <a:t>- Audio</a:t>
            </a:r>
          </a:p>
          <a:p>
            <a:r>
              <a:t>  - A comprehensive audio system that can be used to create sound effects as well as play music</a:t>
            </a:r>
          </a:p>
          <a:p>
            <a:r>
              <a:t>- Content Pipeline</a:t>
            </a:r>
          </a:p>
          <a:p>
            <a:r>
              <a:t>  - An out-of-the-box workflow for importing and processing game assets</a:t>
            </a:r>
          </a:p>
          <a:p>
            <a:r>
              <a:t>- Math Library</a:t>
            </a:r>
          </a:p>
          <a:p>
            <a:r>
              <a:t>  - A math library specifically optimized for game development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Add a new Serve state to the game</a:t>
            </a:r>
          </a:p>
          <a:p>
            <a:r>
              <a:t>  - When a player is serving, they send the ball towards the other player</a:t>
            </a:r>
          </a:p>
          <a:p>
            <a:r>
              <a:t>  - The player who was last scored on gets to serve (random player at game start)</a:t>
            </a:r>
          </a:p>
          <a:p>
            <a:r>
              <a:t>  - We transition from “play” to “serve” state when scoring</a:t>
            </a:r>
          </a:p>
          <a:p>
            <a:r>
              <a:t>  - And from “serve” state to “play” state when pressing “Enter”</a:t>
            </a:r>
          </a:p>
          <a:p>
            <a:r>
              <a:t>  - The game begins in the “start” state and transitions to the “serve” state by pressing “Enter”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Talking points:</a:t>
            </a:r>
          </a:p>
          <a:p>
            <a:r>
              <a:t>- The SoundEffect class handles short audio clips</a:t>
            </a:r>
          </a:p>
          <a:p>
            <a:r>
              <a:t>  - collisions, jumping, shooting, button clicks, footsteps, ambient sounds, etc.</a:t>
            </a:r>
          </a:p>
          <a:p>
            <a:r>
              <a:t>- The key characteristics of sound effects are</a:t>
            </a:r>
          </a:p>
          <a:p>
            <a:r>
              <a:t>- Loaded entirely into memory for quick access</a:t>
            </a:r>
          </a:p>
          <a:p>
            <a:r>
              <a:t>- Can play multiple instances simultaneously</a:t>
            </a:r>
          </a:p>
          <a:p>
            <a:r>
              <a:t>- Individual volume control per instance</a:t>
            </a:r>
          </a:p>
          <a:p>
            <a:r>
              <a:t>- For longer playing audio, the Song class is used (but not today…)</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Talking points:</a:t>
            </a:r>
          </a:p>
          <a:p>
            <a:r>
              <a:t>- Update changes the state of the world</a:t>
            </a:r>
          </a:p>
          <a:p>
            <a:r>
              <a:t>  - Input, movement, collisions, game rules</a:t>
            </a:r>
          </a:p>
          <a:p>
            <a:r>
              <a:t>- Draw only reads that state and renders it</a:t>
            </a:r>
          </a:p>
          <a:p>
            <a:r>
              <a:t>  - Never change game state in Draw</a:t>
            </a:r>
          </a:p>
          <a:p>
            <a:r>
              <a:t>- Keeping them apart lets the simulation and the rendering run at different rates</a:t>
            </a:r>
          </a:p>
          <a:p>
            <a:r>
              <a:t>- Double buffer</a:t>
            </a:r>
          </a:p>
          <a:p>
            <a:r>
              <a:t>  - We draw into a back buffer that isn't visible</a:t>
            </a:r>
          </a:p>
          <a:p>
            <a:r>
              <a:t>  - At the end of Draw, MonoGame presents it: the player never sees a half-drawn frame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Talking points:</a:t>
            </a:r>
          </a:p>
          <a:p>
            <a:r>
              <a:t>- Variable timestep</a:t>
            </a:r>
          </a:p>
          <a:p>
            <a:r>
              <a:t>  - One Update per rendered frame, movement scaled by deltaTime</a:t>
            </a:r>
          </a:p>
          <a:p>
            <a:r>
              <a:t>  - Simple, but the simulation behaves slightly differently at different frame rates</a:t>
            </a:r>
          </a:p>
          <a:p>
            <a:r>
              <a:t>- Fixed timestep</a:t>
            </a:r>
          </a:p>
          <a:p>
            <a:r>
              <a:t>  - Update in fixed-size steps (e.g. 60 per second): zero, one or several per frame</a:t>
            </a:r>
          </a:p>
          <a:p>
            <a:r>
              <a:t>  - Deterministic and stable, at the cost of some complexity</a:t>
            </a:r>
          </a:p>
          <a:p>
            <a:r>
              <a:t>- MonoGame uses a fixed timestep by default (IsFixedTimeStep = true)</a:t>
            </a:r>
          </a:p>
          <a:p>
            <a:r>
              <a:t>- Try it: the game loop demo on the course site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let them answer in pairs for a minute, then take a few answers. These are the site’s Check yourself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4" Type="http://schemas.openxmlformats.org/officeDocument/2006/relationships/image" Target="../media/image2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ar-games/tree/main/01-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5"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rP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rP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SzPts val="1600"/>
              <a:buAutoNum type="arabicPeriod"/>
            </a:pPr>
            <a:r>
              <a:rPr lang="en"/>
              <a:t>Sokoban</a:t>
            </a:r>
            <a:endParaRPr>
              <a:solidFill>
                <a:schemeClr val="lt1"/>
              </a:solidFill>
            </a:endParaRPr>
          </a:p>
          <a:p>
            <a:pPr indent="-330200" lvl="0" marL="457200" rtl="0" algn="l">
              <a:spcBef>
                <a:spcPts val="0"/>
              </a:spcBef>
              <a:spcAft>
                <a:spcPts val="0"/>
              </a:spcAft>
              <a:buSzPts val="1600"/>
              <a:buAutoNum type="arabicPeriod"/>
            </a:pPr>
            <a:r>
              <a:rPr lang="en"/>
              <a:t>Pac-Man</a:t>
            </a:r>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Angry Birds</a:t>
            </a:r>
            <a:endParaRPr>
              <a:solidFill>
                <a:schemeClr val="lt1"/>
              </a:solidFill>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SzPts val="1600"/>
              <a:buAutoNum type="arabicPeriod"/>
            </a:pPr>
            <a:r>
              <a:rPr lang="en"/>
              <a:t>Plants vs. Zombies</a:t>
            </a:r>
            <a:endParaRPr/>
          </a:p>
          <a:p>
            <a:pPr indent="-330200" lvl="0" marL="457200" rtl="0" algn="l">
              <a:spcBef>
                <a:spcPts val="0"/>
              </a:spcBef>
              <a:spcAft>
                <a:spcPts val="0"/>
              </a:spcAft>
              <a:buSzPts val="1600"/>
              <a:buAutoNum type="arabicPeriod"/>
            </a:pPr>
            <a:r>
              <a:rPr lang="en"/>
              <a:t>Pokemon</a:t>
            </a:r>
            <a:endParaRPr>
              <a:solidFill>
                <a:schemeClr val="lt1"/>
              </a:solidFill>
            </a:endParaRPr>
          </a:p>
          <a:p>
            <a:pPr indent="-330200" lvl="0" marL="457200" rtl="0" algn="l">
              <a:spcBef>
                <a:spcPts val="0"/>
              </a:spcBef>
              <a:spcAft>
                <a:spcPts val="0"/>
              </a:spcAft>
              <a:buSzPts val="1600"/>
              <a:buAutoNum type="arabicPeriod"/>
            </a:pPr>
            <a:r>
              <a:rPr lang="en"/>
              <a:t>Geometry Wars</a:t>
            </a:r>
            <a:endParaRPr>
              <a:solidFill>
                <a:schemeClr val="lt1"/>
              </a:solidFill>
            </a:endParaRPr>
          </a:p>
          <a:p>
            <a:pPr indent="-330200" lvl="0" marL="457200" rtl="0" algn="l">
              <a:spcBef>
                <a:spcPts val="0"/>
              </a:spcBef>
              <a:spcAft>
                <a:spcPts val="0"/>
              </a:spcAft>
              <a:buSzPts val="1600"/>
              <a:buAutoNum type="arabicPeriod"/>
            </a:pPr>
            <a:r>
              <a:rPr lang="en"/>
              <a:t>Vampire Survivors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Build a simple 2D game, organized with the course’s patterns and principles.</a:t>
            </a:r>
            <a:endParaRPr/>
          </a:p>
          <a:p>
            <a:pPr indent="-330200" lvl="0" marL="457200" rtl="0" algn="l">
              <a:spcBef>
                <a:spcPts val="0"/>
              </a:spcBef>
              <a:spcAft>
                <a:spcPts val="0"/>
              </a:spcAft>
              <a:buSzPts val="1600"/>
              <a:buChar char="●"/>
            </a:pPr>
            <a:r>
              <a:rPr lang="en"/>
              <a:t>Groups, milestones and the requirements: on the course 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Oral exam, 20 minutes: draw a question from a known pool.</a:t>
            </a:r>
            <a:endParaRPr/>
          </a:p>
          <a:p>
            <a:pPr indent="-330200" lvl="0" marL="457200" rtl="0" algn="l">
              <a:spcBef>
                <a:spcPts val="0"/>
              </a:spcBef>
              <a:spcAft>
                <a:spcPts val="0"/>
              </a:spcAft>
              <a:buSzPts val="1600"/>
              <a:buChar char="●"/>
            </a:pPr>
            <a:r>
              <a:rPr lang="en"/>
              <a:t>Answer it with your own project: read, explain and change its code.</a:t>
            </a:r>
            <a:endParaRPr/>
          </a:p>
        </p:txBody>
      </p:sp>
      <p:sp>
        <p:nvSpPr>
          <p:cNvPr id="102" name="Rounded Rectangle 101"/>
          <p:cNvSpPr/>
          <p:nvPr/>
        </p:nvSpPr>
        <p:spPr>
          <a:xfrm>
            <a:off x="411480" y="2011680"/>
            <a:ext cx="1874519" cy="6858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Draw a question</a:t>
            </a:r>
          </a:p>
        </p:txBody>
      </p:sp>
      <p:cxnSp>
        <p:nvCxnSpPr>
          <p:cNvPr id="103" name="Connector 102"/>
          <p:cNvCxnSpPr/>
          <p:nvPr/>
        </p:nvCxnSpPr>
        <p:spPr>
          <a:xfrm>
            <a:off x="2304288"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560320" y="2011680"/>
            <a:ext cx="1874519"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Explain the idea</a:t>
            </a:r>
          </a:p>
        </p:txBody>
      </p:sp>
      <p:cxnSp>
        <p:nvCxnSpPr>
          <p:cNvPr id="105" name="Connector 104"/>
          <p:cNvCxnSpPr/>
          <p:nvPr/>
        </p:nvCxnSpPr>
        <p:spPr>
          <a:xfrm>
            <a:off x="4453127" y="235458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4709159" y="2011680"/>
            <a:ext cx="1874519"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Show it in your project</a:t>
            </a:r>
          </a:p>
        </p:txBody>
      </p:sp>
      <p:cxnSp>
        <p:nvCxnSpPr>
          <p:cNvPr id="107" name="Connector 106"/>
          <p:cNvCxnSpPr/>
          <p:nvPr/>
        </p:nvCxnSpPr>
        <p:spPr>
          <a:xfrm>
            <a:off x="6601967" y="235458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8" name="Rounded Rectangle 107"/>
          <p:cNvSpPr/>
          <p:nvPr/>
        </p:nvSpPr>
        <p:spPr>
          <a:xfrm>
            <a:off x="6857999" y="2011680"/>
            <a:ext cx="1874519"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Change the code live</a:t>
            </a:r>
          </a:p>
        </p:txBody>
      </p:sp>
      <p:sp>
        <p:nvSpPr>
          <p:cNvPr id="109" name="TextBox 108"/>
          <p:cNvSpPr txBox="1"/>
          <p:nvPr/>
        </p:nvSpPr>
        <p:spPr>
          <a:xfrm>
            <a:off x="411480" y="3017520"/>
            <a:ext cx="8321040" cy="457200"/>
          </a:xfrm>
          <a:prstGeom prst="rect">
            <a:avLst/>
          </a:prstGeom>
          <a:noFill/>
        </p:spPr>
        <p:txBody>
          <a:bodyPr wrap="square">
            <a:spAutoFit/>
          </a:bodyPr>
          <a:lstStyle/>
          <a:p>
            <a:pPr algn="ctr"/>
            <a:r>
              <a:rPr sz="1400" b="0" i="0">
                <a:solidFill>
                  <a:srgbClr val="9AA3AB"/>
                </a:solidFill>
              </a:rPr>
              <a:t>The questions are on the course site, from today.</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Picture 107" descr="gif-pong.gif"/>
          <p:cNvPicPr>
            <a:picLocks noChangeAspect="1"/>
          </p:cNvPicPr>
          <p:nvPr/>
        </p:nvPicPr>
        <p:blipFill>
          <a:blip r:embed="rId4"/>
          <a:stretch>
            <a:fillRect/>
          </a:stretch>
        </p:blipFill>
        <p:spPr>
          <a:xfrm>
            <a:off x="1540933" y="1281973"/>
            <a:ext cx="6062133" cy="34099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framework, not an engine: libraries, but no editor, no scenes, no entities.</a:t>
            </a:r>
            <a:endParaRPr/>
          </a:p>
        </p:txBody>
      </p:sp>
      <p:sp>
        <p:nvSpPr>
          <p:cNvPr id="125" name="Rounded Rectangle 124"/>
          <p:cNvSpPr/>
          <p:nvPr/>
        </p:nvSpPr>
        <p:spPr>
          <a:xfrm>
            <a:off x="411480" y="1463040"/>
            <a:ext cx="155448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Graphics</a:t>
            </a:r>
          </a:p>
          <a:p>
            <a:pPr algn="ctr"/>
            <a:r>
              <a:rPr sz="1300" b="0">
                <a:solidFill>
                  <a:srgbClr val="9AA3AB"/>
                </a:solidFill>
              </a:rPr>
              <a:t>2D and 3D drawing</a:t>
            </a:r>
          </a:p>
        </p:txBody>
      </p:sp>
      <p:sp>
        <p:nvSpPr>
          <p:cNvPr id="126" name="Rounded Rectangle 125"/>
          <p:cNvSpPr/>
          <p:nvPr/>
        </p:nvSpPr>
        <p:spPr>
          <a:xfrm>
            <a:off x="2093976" y="1463040"/>
            <a:ext cx="155448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a:t>
            </a:r>
          </a:p>
          <a:p>
            <a:pPr algn="ctr"/>
            <a:r>
              <a:rPr sz="1300" b="0">
                <a:solidFill>
                  <a:srgbClr val="9AA3AB"/>
                </a:solidFill>
              </a:rPr>
              <a:t>keys, mouse, pads, touch</a:t>
            </a:r>
          </a:p>
        </p:txBody>
      </p:sp>
      <p:sp>
        <p:nvSpPr>
          <p:cNvPr id="127" name="Rounded Rectangle 126"/>
          <p:cNvSpPr/>
          <p:nvPr/>
        </p:nvSpPr>
        <p:spPr>
          <a:xfrm>
            <a:off x="3776472" y="1463040"/>
            <a:ext cx="155448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Audio</a:t>
            </a:r>
          </a:p>
          <a:p>
            <a:pPr algn="ctr"/>
            <a:r>
              <a:rPr sz="1300" b="0">
                <a:solidFill>
                  <a:srgbClr val="9AA3AB"/>
                </a:solidFill>
              </a:rPr>
              <a:t>sounds and music</a:t>
            </a:r>
          </a:p>
        </p:txBody>
      </p:sp>
      <p:sp>
        <p:nvSpPr>
          <p:cNvPr id="128" name="Rounded Rectangle 127"/>
          <p:cNvSpPr/>
          <p:nvPr/>
        </p:nvSpPr>
        <p:spPr>
          <a:xfrm>
            <a:off x="5458968" y="1463040"/>
            <a:ext cx="155448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Content</a:t>
            </a:r>
          </a:p>
          <a:p>
            <a:pPr algn="ctr"/>
            <a:r>
              <a:rPr sz="1300" b="0">
                <a:solidFill>
                  <a:srgbClr val="9AA3AB"/>
                </a:solidFill>
              </a:rPr>
              <a:t>importing assets</a:t>
            </a:r>
          </a:p>
        </p:txBody>
      </p:sp>
      <p:sp>
        <p:nvSpPr>
          <p:cNvPr id="129" name="Rounded Rectangle 128"/>
          <p:cNvSpPr/>
          <p:nvPr/>
        </p:nvSpPr>
        <p:spPr>
          <a:xfrm>
            <a:off x="7141464" y="1463040"/>
            <a:ext cx="155448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Math</a:t>
            </a:r>
          </a:p>
          <a:p>
            <a:pPr algn="ctr"/>
            <a:r>
              <a:rPr sz="1300" b="0">
                <a:solidFill>
                  <a:srgbClr val="9AA3AB"/>
                </a:solidFill>
              </a:rPr>
              <a:t>vectors, matrices</a:t>
            </a:r>
          </a:p>
        </p:txBody>
      </p:sp>
      <p:sp>
        <p:nvSpPr>
          <p:cNvPr id="130" name="TextBox 129"/>
          <p:cNvSpPr txBox="1"/>
          <p:nvPr/>
        </p:nvSpPr>
        <p:spPr>
          <a:xfrm>
            <a:off x="457200" y="2743200"/>
            <a:ext cx="8229600" cy="731520"/>
          </a:xfrm>
          <a:prstGeom prst="rect">
            <a:avLst/>
          </a:prstGeom>
          <a:noFill/>
        </p:spPr>
        <p:txBody>
          <a:bodyPr wrap="square">
            <a:spAutoFit/>
          </a:bodyPr>
          <a:lstStyle/>
          <a:p>
            <a:pPr algn="ctr"/>
            <a:r>
              <a:rPr sz="1800" b="1" i="0">
                <a:solidFill>
                  <a:srgbClr val="DEE2E6"/>
                </a:solidFill>
              </a:rPr>
              <a:t>So who writes the game loop, the scenes and the entities?</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games on GitHub: Metamate/gar-games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01-pong)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gar-games and open 01-pong/Pong0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it from the 01-pong folder: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world; Draw only reads it.</a:t>
            </a:r>
            <a:endParaRPr/>
          </a:p>
        </p:txBody>
      </p:sp>
      <p:sp>
        <p:nvSpPr>
          <p:cNvPr id="301" name="Rounded Rectangle 300"/>
          <p:cNvSpPr/>
          <p:nvPr/>
        </p:nvSpPr>
        <p:spPr>
          <a:xfrm>
            <a:off x="731520" y="1554480"/>
            <a:ext cx="237744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Update</a:t>
            </a:r>
          </a:p>
          <a:p>
            <a:pPr algn="ctr"/>
            <a:r>
              <a:rPr sz="1400" b="0">
                <a:solidFill>
                  <a:srgbClr val="9AA3AB"/>
                </a:solidFill>
              </a:rPr>
              <a:t>input, movement, collisions, rules</a:t>
            </a:r>
          </a:p>
        </p:txBody>
      </p:sp>
      <p:sp>
        <p:nvSpPr>
          <p:cNvPr id="302" name="Rounded Rectangle 301"/>
          <p:cNvSpPr/>
          <p:nvPr/>
        </p:nvSpPr>
        <p:spPr>
          <a:xfrm>
            <a:off x="3566160" y="1554480"/>
            <a:ext cx="201168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game state</a:t>
            </a:r>
          </a:p>
          <a:p>
            <a:pPr algn="ctr"/>
            <a:r>
              <a:rPr sz="1400" b="0">
                <a:solidFill>
                  <a:srgbClr val="9AA3AB"/>
                </a:solidFill>
              </a:rPr>
              <a:t>positions, scores, ...</a:t>
            </a:r>
          </a:p>
        </p:txBody>
      </p:sp>
      <p:sp>
        <p:nvSpPr>
          <p:cNvPr id="303" name="Rounded Rectangle 302"/>
          <p:cNvSpPr/>
          <p:nvPr/>
        </p:nvSpPr>
        <p:spPr>
          <a:xfrm>
            <a:off x="6035040" y="1554480"/>
            <a:ext cx="23774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Draw</a:t>
            </a:r>
          </a:p>
          <a:p>
            <a:pPr algn="ctr"/>
            <a:r>
              <a:rPr sz="1400" b="0">
                <a:solidFill>
                  <a:srgbClr val="9AA3AB"/>
                </a:solidFill>
              </a:rPr>
              <a:t>renders what it reads</a:t>
            </a:r>
          </a:p>
        </p:txBody>
      </p:sp>
      <p:cxnSp>
        <p:nvCxnSpPr>
          <p:cNvPr id="304" name="Connector 303"/>
          <p:cNvCxnSpPr/>
          <p:nvPr/>
        </p:nvCxnSpPr>
        <p:spPr>
          <a:xfrm>
            <a:off x="3127248" y="1965960"/>
            <a:ext cx="420624"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944368" y="1673351"/>
            <a:ext cx="786384" cy="274320"/>
          </a:xfrm>
          <a:prstGeom prst="rect">
            <a:avLst/>
          </a:prstGeom>
          <a:noFill/>
        </p:spPr>
        <p:txBody>
          <a:bodyPr wrap="square">
            <a:spAutoFit/>
          </a:bodyPr>
          <a:lstStyle/>
          <a:p>
            <a:pPr algn="ctr"/>
            <a:r>
              <a:rPr sz="1100" b="0" i="0">
                <a:solidFill>
                  <a:srgbClr val="9AA3AB"/>
                </a:solidFill>
              </a:rPr>
              <a:t>writes</a:t>
            </a:r>
          </a:p>
        </p:txBody>
      </p:sp>
      <p:cxnSp>
        <p:nvCxnSpPr>
          <p:cNvPr id="306" name="Connector 305"/>
          <p:cNvCxnSpPr/>
          <p:nvPr/>
        </p:nvCxnSpPr>
        <p:spPr>
          <a:xfrm flipH="1">
            <a:off x="5596128" y="1965960"/>
            <a:ext cx="42062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7" name="TextBox 306"/>
          <p:cNvSpPr txBox="1"/>
          <p:nvPr/>
        </p:nvSpPr>
        <p:spPr>
          <a:xfrm>
            <a:off x="5413248" y="1673351"/>
            <a:ext cx="786384" cy="274320"/>
          </a:xfrm>
          <a:prstGeom prst="rect">
            <a:avLst/>
          </a:prstGeom>
          <a:noFill/>
        </p:spPr>
        <p:txBody>
          <a:bodyPr wrap="square">
            <a:spAutoFit/>
          </a:bodyPr>
          <a:lstStyle/>
          <a:p>
            <a:pPr algn="ctr"/>
            <a:r>
              <a:rPr sz="1100" b="0" i="0">
                <a:solidFill>
                  <a:srgbClr val="9AA3AB"/>
                </a:solidFill>
              </a:rPr>
              <a:t>reads</a:t>
            </a:r>
          </a:p>
        </p:txBody>
      </p:sp>
      <p:sp>
        <p:nvSpPr>
          <p:cNvPr id="308" name="TextBox 307"/>
          <p:cNvSpPr txBox="1"/>
          <p:nvPr/>
        </p:nvSpPr>
        <p:spPr>
          <a:xfrm>
            <a:off x="731520" y="2697480"/>
            <a:ext cx="7680960" cy="822960"/>
          </a:xfrm>
          <a:prstGeom prst="rect">
            <a:avLst/>
          </a:prstGeom>
          <a:noFill/>
        </p:spPr>
        <p:txBody>
          <a:bodyPr wrap="square">
            <a:spAutoFit/>
          </a:bodyPr>
          <a:lstStyle/>
          <a:p>
            <a:pPr algn="ctr"/>
            <a:r>
              <a:rPr sz="1300" b="0" i="0">
                <a:solidFill>
                  <a:srgbClr val="9AA3AB"/>
                </a:solidFill>
              </a:rPr>
              <a:t>Draw goes to a hidden back buffer; MonoGame shows it when Draw is done,</a:t>
            </a:r>
          </a:p>
          <a:p>
            <a:pPr algn="ctr"/>
            <a:r>
              <a:rPr sz="1300" b="0" i="0">
                <a:solidFill>
                  <a:srgbClr val="9AA3AB"/>
                </a:solidFill>
              </a:rPr>
              <a:t>so the player never sees a half-drawn frame.</a:t>
            </a:r>
          </a:p>
        </p:txBody>
      </p:sp>
      <p:sp>
        <p:nvSpPr>
          <p:cNvPr id="309" name="TextBox 308"/>
          <p:cNvSpPr txBox="1"/>
          <p:nvPr/>
        </p:nvSpPr>
        <p:spPr>
          <a:xfrm>
            <a:off x="457200" y="3566160"/>
            <a:ext cx="8229600" cy="731520"/>
          </a:xfrm>
          <a:prstGeom prst="rect">
            <a:avLst/>
          </a:prstGeom>
          <a:noFill/>
        </p:spPr>
        <p:txBody>
          <a:bodyPr wrap="square">
            <a:spAutoFit/>
          </a:bodyPr>
          <a:lstStyle/>
          <a:p>
            <a:pPr algn="ctr"/>
            <a:r>
              <a:rPr sz="1800" b="1" i="0">
                <a:solidFill>
                  <a:srgbClr val="DEE2E6"/>
                </a:solidFill>
              </a:rPr>
              <a:t>What goes wrong if Draw moves the ball?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one update per frame, scaled by delta time. Fixed: always the same step.</a:t>
            </a:r>
            <a:endParaRPr/>
          </a:p>
        </p:txBody>
      </p:sp>
      <p:sp>
        <p:nvSpPr>
          <p:cNvPr id="301" name="Rounded Rectangle 300"/>
          <p:cNvSpPr/>
          <p:nvPr/>
        </p:nvSpPr>
        <p:spPr>
          <a:xfrm>
            <a:off x="548640" y="146304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Variable timestep</a:t>
            </a:r>
          </a:p>
          <a:p>
            <a:pPr algn="ctr"/>
            <a:r>
              <a:rPr sz="1400" b="0">
                <a:solidFill>
                  <a:srgbClr val="9AA3AB"/>
                </a:solidFill>
              </a:rPr>
              <a:t>one Update per frame, × deltaTime</a:t>
            </a:r>
          </a:p>
          <a:p>
            <a:pPr algn="ctr"/>
            <a:r>
              <a:rPr sz="1400" b="0">
                <a:solidFill>
                  <a:srgbClr val="9AA3AB"/>
                </a:solidFill>
              </a:rPr>
              <a:t>simple, but slightly different</a:t>
            </a:r>
          </a:p>
          <a:p>
            <a:pPr algn="ctr"/>
            <a:r>
              <a:rPr sz="1400" b="0">
                <a:solidFill>
                  <a:srgbClr val="9AA3AB"/>
                </a:solidFill>
              </a:rPr>
              <a:t>at every frame rate</a:t>
            </a:r>
          </a:p>
        </p:txBody>
      </p:sp>
      <p:sp>
        <p:nvSpPr>
          <p:cNvPr id="302" name="Rounded Rectangle 301"/>
          <p:cNvSpPr/>
          <p:nvPr/>
        </p:nvSpPr>
        <p:spPr>
          <a:xfrm>
            <a:off x="4846320" y="146304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Fixed timestep</a:t>
            </a:r>
          </a:p>
          <a:p>
            <a:pPr algn="ctr"/>
            <a:r>
              <a:rPr sz="1400" b="0">
                <a:solidFill>
                  <a:srgbClr val="9AA3AB"/>
                </a:solidFill>
              </a:rPr>
              <a:t>0, 1 or more Updates per frame</a:t>
            </a:r>
          </a:p>
          <a:p>
            <a:pPr algn="ctr"/>
            <a:r>
              <a:rPr sz="1400" b="0">
                <a:solidFill>
                  <a:srgbClr val="9AA3AB"/>
                </a:solidFill>
              </a:rPr>
              <a:t>deterministic and stable,</a:t>
            </a:r>
          </a:p>
          <a:p>
            <a:pPr algn="ctr"/>
            <a:r>
              <a:rPr sz="1400" b="0">
                <a:solidFill>
                  <a:srgbClr val="9AA3AB"/>
                </a:solidFill>
              </a:rPr>
              <a:t>a little more complex</a:t>
            </a:r>
          </a:p>
        </p:txBody>
      </p:sp>
      <p:sp>
        <p:nvSpPr>
          <p:cNvPr id="303" name="TextBox 302"/>
          <p:cNvSpPr txBox="1"/>
          <p:nvPr/>
        </p:nvSpPr>
        <p:spPr>
          <a:xfrm>
            <a:off x="548640" y="3108960"/>
            <a:ext cx="8046720" cy="731520"/>
          </a:xfrm>
          <a:prstGeom prst="rect">
            <a:avLst/>
          </a:prstGeom>
          <a:noFill/>
        </p:spPr>
        <p:txBody>
          <a:bodyPr wrap="square">
            <a:spAutoFit/>
          </a:bodyPr>
          <a:lstStyle/>
          <a:p>
            <a:pPr algn="ctr"/>
            <a:r>
              <a:rPr sz="1400" b="0" i="0">
                <a:solidFill>
                  <a:srgbClr val="9AA3AB"/>
                </a:solidFill>
              </a:rPr>
              <a:t>MonoGame is fixed by default: IsFixedTimeStep = true.</a:t>
            </a:r>
          </a:p>
          <a:p>
            <a:pPr algn="ctr"/>
            <a:r>
              <a:rPr sz="1400" b="0" i="0">
                <a:solidFill>
                  <a:srgbClr val="9AA3AB"/>
                </a:solidFill>
              </a:rPr>
              <a:t>Try both in the game-loop demo on the course site.</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rP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Picture 201" descr="pong3.png"/>
          <p:cNvPicPr>
            <a:picLocks noChangeAspect="1"/>
          </p:cNvPicPr>
          <p:nvPr/>
        </p:nvPicPr>
        <p:blipFill>
          <a:blip r:embed="rId5"/>
          <a:stretch>
            <a:fillRect/>
          </a:stretch>
        </p:blipFill>
        <p:spPr>
          <a:xfrm>
            <a:off x="2393662" y="2406160"/>
            <a:ext cx="4356675" cy="245062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rP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rP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Picture 220" descr="pong4.png"/>
          <p:cNvPicPr>
            <a:picLocks noChangeAspect="1"/>
          </p:cNvPicPr>
          <p:nvPr/>
        </p:nvPicPr>
        <p:blipFill>
          <a:blip r:embed="rId4"/>
          <a:stretch>
            <a:fillRect/>
          </a:stretch>
        </p:blipFill>
        <p:spPr>
          <a:xfrm>
            <a:off x="2542227" y="2576865"/>
            <a:ext cx="4059549" cy="22834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rP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Picture 233" descr="pong5.png"/>
          <p:cNvPicPr>
            <a:picLocks noChangeAspect="1"/>
          </p:cNvPicPr>
          <p:nvPr/>
        </p:nvPicPr>
        <p:blipFill>
          <a:blip r:embed="rId4"/>
          <a:stretch>
            <a:fillRect/>
          </a:stretch>
        </p:blipFill>
        <p:spPr>
          <a:xfrm>
            <a:off x="2579537" y="2619736"/>
            <a:ext cx="3984937" cy="2241527"/>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pic>
        <p:nvPicPr>
          <p:cNvPr id="273" name="Picture 273" descr="pong8.png"/>
          <p:cNvPicPr>
            <a:picLocks noChangeAspect="1"/>
          </p:cNvPicPr>
          <p:nvPr/>
        </p:nvPicPr>
        <p:blipFill>
          <a:blip r:embed="rId4"/>
          <a:stretch>
            <a:fillRect/>
          </a:stretch>
        </p:blipFill>
        <p:spPr>
          <a:xfrm>
            <a:off x="2120062" y="2034455"/>
            <a:ext cx="4903894" cy="27584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serve state: the player who was scored on serves.</a:t>
            </a:r>
            <a:endParaRPr/>
          </a:p>
        </p:txBody>
      </p:sp>
      <p:pic>
        <p:nvPicPr>
          <p:cNvPr id="287" name="Picture 287" descr="pong9.png"/>
          <p:cNvPicPr>
            <a:picLocks noChangeAspect="1"/>
          </p:cNvPicPr>
          <p:nvPr/>
        </p:nvPicPr>
        <p:blipFill>
          <a:blip r:embed="rId4"/>
          <a:stretch>
            <a:fillRect/>
          </a:stretch>
        </p:blipFill>
        <p:spPr>
          <a:xfrm>
            <a:off x="5120640" y="2651760"/>
            <a:ext cx="3566160" cy="2005964"/>
          </a:xfrm>
          <a:prstGeom prst="rect">
            <a:avLst/>
          </a:prstGeom>
        </p:spPr>
      </p:pic>
      <p:sp>
        <p:nvSpPr>
          <p:cNvPr id="288" name="Rounded Rectangle 287"/>
          <p:cNvSpPr/>
          <p:nvPr/>
        </p:nvSpPr>
        <p:spPr>
          <a:xfrm>
            <a:off x="457200" y="1508760"/>
            <a:ext cx="109728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start</a:t>
            </a:r>
          </a:p>
        </p:txBody>
      </p:sp>
      <p:sp>
        <p:nvSpPr>
          <p:cNvPr id="289" name="Rounded Rectangle 288"/>
          <p:cNvSpPr/>
          <p:nvPr/>
        </p:nvSpPr>
        <p:spPr>
          <a:xfrm>
            <a:off x="2286000" y="1508760"/>
            <a:ext cx="109728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serve</a:t>
            </a:r>
          </a:p>
        </p:txBody>
      </p:sp>
      <p:sp>
        <p:nvSpPr>
          <p:cNvPr id="290" name="Rounded Rectangle 289"/>
          <p:cNvSpPr/>
          <p:nvPr/>
        </p:nvSpPr>
        <p:spPr>
          <a:xfrm>
            <a:off x="4114800" y="1508760"/>
            <a:ext cx="109728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play</a:t>
            </a:r>
          </a:p>
        </p:txBody>
      </p:sp>
      <p:sp>
        <p:nvSpPr>
          <p:cNvPr id="291" name="Rounded Rectangle 290"/>
          <p:cNvSpPr/>
          <p:nvPr/>
        </p:nvSpPr>
        <p:spPr>
          <a:xfrm>
            <a:off x="5943600" y="1508760"/>
            <a:ext cx="109728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done</a:t>
            </a:r>
          </a:p>
        </p:txBody>
      </p:sp>
      <p:cxnSp>
        <p:nvCxnSpPr>
          <p:cNvPr id="292" name="Connector 291"/>
          <p:cNvCxnSpPr/>
          <p:nvPr/>
        </p:nvCxnSpPr>
        <p:spPr>
          <a:xfrm>
            <a:off x="1572768" y="1783080"/>
            <a:ext cx="6949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3" name="TextBox 292"/>
          <p:cNvSpPr txBox="1"/>
          <p:nvPr/>
        </p:nvSpPr>
        <p:spPr>
          <a:xfrm>
            <a:off x="1389888" y="1490472"/>
            <a:ext cx="1060704" cy="274320"/>
          </a:xfrm>
          <a:prstGeom prst="rect">
            <a:avLst/>
          </a:prstGeom>
          <a:noFill/>
        </p:spPr>
        <p:txBody>
          <a:bodyPr wrap="square">
            <a:spAutoFit/>
          </a:bodyPr>
          <a:lstStyle/>
          <a:p>
            <a:pPr algn="ctr"/>
            <a:r>
              <a:rPr sz="1100" b="0" i="0">
                <a:solidFill>
                  <a:srgbClr val="9AA3AB"/>
                </a:solidFill>
              </a:rPr>
              <a:t>Enter</a:t>
            </a:r>
          </a:p>
        </p:txBody>
      </p:sp>
      <p:cxnSp>
        <p:nvCxnSpPr>
          <p:cNvPr id="294" name="Connector 293"/>
          <p:cNvCxnSpPr/>
          <p:nvPr/>
        </p:nvCxnSpPr>
        <p:spPr>
          <a:xfrm>
            <a:off x="3401568" y="1691640"/>
            <a:ext cx="6949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5" name="TextBox 294"/>
          <p:cNvSpPr txBox="1"/>
          <p:nvPr/>
        </p:nvSpPr>
        <p:spPr>
          <a:xfrm>
            <a:off x="3218688" y="1399032"/>
            <a:ext cx="1060704" cy="274320"/>
          </a:xfrm>
          <a:prstGeom prst="rect">
            <a:avLst/>
          </a:prstGeom>
          <a:noFill/>
        </p:spPr>
        <p:txBody>
          <a:bodyPr wrap="square">
            <a:spAutoFit/>
          </a:bodyPr>
          <a:lstStyle/>
          <a:p>
            <a:pPr algn="ctr"/>
            <a:r>
              <a:rPr sz="1100" b="0" i="0">
                <a:solidFill>
                  <a:srgbClr val="9AA3AB"/>
                </a:solidFill>
              </a:rPr>
              <a:t>Enter</a:t>
            </a:r>
          </a:p>
        </p:txBody>
      </p:sp>
      <p:cxnSp>
        <p:nvCxnSpPr>
          <p:cNvPr id="296" name="Connector 295"/>
          <p:cNvCxnSpPr/>
          <p:nvPr/>
        </p:nvCxnSpPr>
        <p:spPr>
          <a:xfrm flipH="1">
            <a:off x="3401568" y="1920240"/>
            <a:ext cx="6949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TextBox 296"/>
          <p:cNvSpPr txBox="1"/>
          <p:nvPr/>
        </p:nvSpPr>
        <p:spPr>
          <a:xfrm>
            <a:off x="3200400" y="1965960"/>
            <a:ext cx="1097280" cy="274320"/>
          </a:xfrm>
          <a:prstGeom prst="rect">
            <a:avLst/>
          </a:prstGeom>
          <a:noFill/>
        </p:spPr>
        <p:txBody>
          <a:bodyPr wrap="square">
            <a:spAutoFit/>
          </a:bodyPr>
          <a:lstStyle/>
          <a:p>
            <a:pPr algn="ctr"/>
            <a:r>
              <a:rPr sz="1100" b="0" i="0">
                <a:solidFill>
                  <a:srgbClr val="9AA3AB"/>
                </a:solidFill>
              </a:rPr>
              <a:t>a point</a:t>
            </a:r>
          </a:p>
        </p:txBody>
      </p:sp>
      <p:cxnSp>
        <p:nvCxnSpPr>
          <p:cNvPr id="298" name="Connector 297"/>
          <p:cNvCxnSpPr/>
          <p:nvPr/>
        </p:nvCxnSpPr>
        <p:spPr>
          <a:xfrm>
            <a:off x="5230368" y="1783080"/>
            <a:ext cx="6949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TextBox 298"/>
          <p:cNvSpPr txBox="1"/>
          <p:nvPr/>
        </p:nvSpPr>
        <p:spPr>
          <a:xfrm>
            <a:off x="5047488" y="1490472"/>
            <a:ext cx="1060704" cy="274320"/>
          </a:xfrm>
          <a:prstGeom prst="rect">
            <a:avLst/>
          </a:prstGeom>
          <a:noFill/>
        </p:spPr>
        <p:txBody>
          <a:bodyPr wrap="square">
            <a:spAutoFit/>
          </a:bodyPr>
          <a:lstStyle/>
          <a:p>
            <a:pPr algn="ctr"/>
            <a:r>
              <a:rPr sz="1100" b="0" i="0">
                <a:solidFill>
                  <a:srgbClr val="9AA3AB"/>
                </a:solidFill>
              </a:rPr>
              <a:t>10 points</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Picture 294" descr="pong10.png"/>
          <p:cNvPicPr>
            <a:picLocks noChangeAspect="1"/>
          </p:cNvPicPr>
          <p:nvPr/>
        </p:nvPicPr>
        <p:blipFill>
          <a:blip r:embed="rId4"/>
          <a:stretch>
            <a:fillRect/>
          </a:stretch>
        </p:blipFill>
        <p:spPr>
          <a:xfrm>
            <a:off x="2027855" y="1938429"/>
            <a:ext cx="5088300" cy="286216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Two classes for audio: short sounds, and long music.</a:t>
            </a:r>
            <a:endParaRPr/>
          </a:p>
        </p:txBody>
      </p:sp>
      <p:sp>
        <p:nvSpPr>
          <p:cNvPr id="301" name="Rounded Rectangle 300"/>
          <p:cNvSpPr/>
          <p:nvPr/>
        </p:nvSpPr>
        <p:spPr>
          <a:xfrm>
            <a:off x="731520" y="1463040"/>
            <a:ext cx="35661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SoundEffect</a:t>
            </a:r>
          </a:p>
          <a:p>
            <a:pPr algn="ctr"/>
            <a:r>
              <a:rPr sz="1500" b="0">
                <a:solidFill>
                  <a:srgbClr val="9AA3AB"/>
                </a:solidFill>
              </a:rPr>
              <a:t>short clips, loaded into memory,</a:t>
            </a:r>
          </a:p>
          <a:p>
            <a:pPr algn="ctr"/>
            <a:r>
              <a:rPr sz="1500" b="0">
                <a:solidFill>
                  <a:srgbClr val="9AA3AB"/>
                </a:solidFill>
              </a:rPr>
              <a:t>several at once, own volume</a:t>
            </a:r>
          </a:p>
        </p:txBody>
      </p:sp>
      <p:sp>
        <p:nvSpPr>
          <p:cNvPr id="302" name="Rounded Rectangle 301"/>
          <p:cNvSpPr/>
          <p:nvPr/>
        </p:nvSpPr>
        <p:spPr>
          <a:xfrm>
            <a:off x="4846320" y="1463040"/>
            <a:ext cx="35661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Song</a:t>
            </a:r>
          </a:p>
          <a:p>
            <a:pPr algn="ctr"/>
            <a:r>
              <a:rPr sz="1500" b="0">
                <a:solidFill>
                  <a:srgbClr val="9AA3AB"/>
                </a:solidFill>
              </a:rPr>
              <a:t>long music, streamed,</a:t>
            </a:r>
          </a:p>
          <a:p>
            <a:pPr algn="ctr"/>
            <a:r>
              <a:rPr sz="1500" b="0">
                <a:solidFill>
                  <a:srgbClr val="9AA3AB"/>
                </a:solidFill>
              </a:rPr>
              <a:t>one at a time (not today)</a:t>
            </a:r>
          </a:p>
        </p:txBody>
      </p:sp>
      <p:sp>
        <p:nvSpPr>
          <p:cNvPr id="303" name="TextBox 302"/>
          <p:cNvSpPr txBox="1"/>
          <p:nvPr/>
        </p:nvSpPr>
        <p:spPr>
          <a:xfrm>
            <a:off x="457200" y="3017520"/>
            <a:ext cx="8229600" cy="731520"/>
          </a:xfrm>
          <a:prstGeom prst="rect">
            <a:avLst/>
          </a:prstGeom>
          <a:noFill/>
        </p:spPr>
        <p:txBody>
          <a:bodyPr wrap="square">
            <a:spAutoFit/>
          </a:bodyPr>
          <a:lstStyle/>
          <a:p>
            <a:pPr algn="ctr"/>
            <a:r>
              <a:rPr sz="1800" b="1" i="0">
                <a:solidFill>
                  <a:srgbClr val="DEE2E6"/>
                </a:solidFill>
              </a:rPr>
              <a:t>Which one for a hit? And for the background music?</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games would you like to make? Pick two or three candidates</a:t>
            </a:r>
            <a:endParaRPr/>
          </a:p>
          <a:p>
            <a:pPr indent="-330200" lvl="0" marL="457200" rtl="0" algn="l">
              <a:spcBef>
                <a:spcPts val="0"/>
              </a:spcBef>
              <a:spcAft>
                <a:spcPts val="0"/>
              </a:spcAft>
              <a:buSzPts val="1600"/>
              <a:buChar char="●"/>
            </a:pPr>
            <a:r>
              <a:rPr lang="en"/>
              <a:t>For each: what updates every frame, and what is drawn?</a:t>
            </a:r>
            <a:endParaRPr/>
          </a:p>
          <a:p>
            <a:pPr indent="-317500" lvl="1" marL="914400" rtl="0" algn="l">
              <a:spcBef>
                <a:spcPts val="0"/>
              </a:spcBef>
              <a:spcAft>
                <a:spcPts val="0"/>
              </a:spcAft>
              <a:buSzPts val="1400"/>
              <a:buChar char="○"/>
            </a:pPr>
            <a:r>
              <a:rPr lang="en"/>
              <a:t>That’s its game loop</a:t>
            </a:r>
            <a:endParaRPr/>
          </a:p>
          <a:p>
            <a:pPr indent="-330200" lvl="0" marL="457200" rtl="0" algn="l">
              <a:spcBef>
                <a:spcPts val="0"/>
              </a:spcBef>
              <a:spcAft>
                <a:spcPts val="0"/>
              </a:spcAft>
              <a:buSzPts val="1600"/>
              <a:buChar char="●"/>
            </a:pPr>
            <a:r>
              <a:rPr lang="en"/>
              <a:t>Could you build a naive prototype of the core idea first, like this Pong?</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Form groups of 1–3 students</a:t>
            </a:r>
            <a:endParaRPr/>
          </a:p>
          <a:p>
            <a:pPr indent="-330200" lvl="0" marL="457200" rtl="0" algn="l">
              <a:spcBef>
                <a:spcPts val="0"/>
              </a:spcBef>
              <a:spcAft>
                <a:spcPts val="0"/>
              </a:spcAft>
              <a:buSzPts val="1600"/>
              <a:buChar char="●"/>
            </a:pPr>
            <a:r>
              <a:rPr lang="en"/>
              <a:t>Think of a game you want to create</a:t>
            </a:r>
            <a:endParaRPr/>
          </a:p>
          <a:p>
            <a:pPr indent="-317500" lvl="1" marL="914400" rtl="0" algn="l">
              <a:spcBef>
                <a:spcPts val="0"/>
              </a:spcBef>
              <a:spcAft>
                <a:spcPts val="0"/>
              </a:spcAft>
              <a:buSzPts val="1400"/>
              <a:buChar char="○"/>
            </a:pPr>
            <a:r>
              <a:rPr lang="en"/>
              <a:t>Take inspiration from classic games!</a:t>
            </a:r>
            <a:endParaRPr/>
          </a:p>
          <a:p>
            <a:pPr indent="-317500" lvl="1" marL="914400" rtl="0" algn="l">
              <a:spcBef>
                <a:spcPts val="0"/>
              </a:spcBef>
              <a:spcAft>
                <a:spcPts val="0"/>
              </a:spcAft>
              <a:buSzPts val="1400"/>
              <a:buChar char="○"/>
            </a:pPr>
            <a:r>
              <a:rPr lang="en"/>
              <a:t>Be mindful of scope (creep)</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is the difference between a game engine and a game framework?</a:t>
            </a:r>
            <a:endParaRPr/>
          </a:p>
          <a:p>
            <a:pPr indent="-330200" lvl="0" marL="457200" rtl="0" algn="l">
              <a:spcBef>
                <a:spcPts val="0"/>
              </a:spcBef>
              <a:spcAft>
                <a:spcPts val="0"/>
              </a:spcAft>
              <a:buSzPts val="1600"/>
              <a:buChar char="●"/>
            </a:pPr>
            <a:r>
              <a:rPr lang="en"/>
              <a:t>Why do we multiply movement by deltaTime?</a:t>
            </a:r>
            <a:endParaRPr/>
          </a:p>
          <a:p>
            <a:pPr indent="-330200" lvl="0" marL="457200" rtl="0" algn="l">
              <a:spcBef>
                <a:spcPts val="0"/>
              </a:spcBef>
              <a:spcAft>
                <a:spcPts val="0"/>
              </a:spcAft>
              <a:buSzPts val="1600"/>
              <a:buChar char="●"/>
            </a:pPr>
            <a:r>
              <a:rPr lang="en"/>
              <a:t>Why is a string field a fragile way to store game state?</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