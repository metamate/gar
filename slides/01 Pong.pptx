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301" r:id="rId60"/>
    <p:sldId id="302" r:id="rId61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303" r:id="rId62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6" r:id="rId65"/>
    <p:sldId id="304" r:id="rId63"/>
    <p:sldId id="305" r:id="rId64"/>
    <p:sldId id="300" r:id="rId50"/>
  </p:sldIdLst>
  <p:sldSz cy="5143500" cx="9144000"/>
  <p:notesSz cx="6858000" cy="9144000"/>
  <p:embeddedFontLst>
    <p:embeddedFont>
      <p:font typeface="Roboto"/>
      <p:regular r:id="rId51"/>
      <p:bold r:id="rId52"/>
      <p:italic r:id="rId53"/>
      <p:boldItalic r:id="rId54"/>
    </p:embeddedFont>
    <p:embeddedFont>
      <p:font typeface="VT323"/>
      <p:regular r:id="rId55"/>
    </p:embeddedFont>
    <p:embeddedFont>
      <p:font typeface="Roboto Light"/>
      <p:regular r:id="rId56"/>
      <p:bold r:id="rId57"/>
      <p:italic r:id="rId58"/>
      <p:boldItalic r:id="rId5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slide" Target="slides/slide43.xml"/><Relationship Id="rId46" Type="http://schemas.openxmlformats.org/officeDocument/2006/relationships/slide" Target="slides/slide44.xml"/><Relationship Id="rId47" Type="http://schemas.openxmlformats.org/officeDocument/2006/relationships/slide" Target="slides/slide45.xml"/><Relationship Id="rId48" Type="http://schemas.openxmlformats.org/officeDocument/2006/relationships/slide" Target="slides/slide46.xml"/><Relationship Id="rId49" Type="http://schemas.openxmlformats.org/officeDocument/2006/relationships/slide" Target="slides/slide47.xml"/><Relationship Id="rId50" Type="http://schemas.openxmlformats.org/officeDocument/2006/relationships/slide" Target="slides/slide51.xml"/><Relationship Id="rId51" Type="http://schemas.openxmlformats.org/officeDocument/2006/relationships/font" Target="fonts/Roboto-regular.fntdata"/><Relationship Id="rId52" Type="http://schemas.openxmlformats.org/officeDocument/2006/relationships/font" Target="fonts/Roboto-bold.fntdata"/><Relationship Id="rId53" Type="http://schemas.openxmlformats.org/officeDocument/2006/relationships/font" Target="fonts/Roboto-italic.fntdata"/><Relationship Id="rId54" Type="http://schemas.openxmlformats.org/officeDocument/2006/relationships/font" Target="fonts/Roboto-boldItalic.fntdata"/><Relationship Id="rId55" Type="http://schemas.openxmlformats.org/officeDocument/2006/relationships/font" Target="fonts/VT323-regular.fntdata"/><Relationship Id="rId56" Type="http://schemas.openxmlformats.org/officeDocument/2006/relationships/font" Target="fonts/RobotoLight-regular.fntdata"/><Relationship Id="rId57" Type="http://schemas.openxmlformats.org/officeDocument/2006/relationships/font" Target="fonts/RobotoLight-bold.fntdata"/><Relationship Id="rId58" Type="http://schemas.openxmlformats.org/officeDocument/2006/relationships/font" Target="fonts/RobotoLight-italic.fntdata"/><Relationship Id="rId59" Type="http://schemas.openxmlformats.org/officeDocument/2006/relationships/font" Target="fonts/RobotoLight-boldItalic.fntdata"/><Relationship Id="rId60" Type="http://schemas.openxmlformats.org/officeDocument/2006/relationships/slide" Target="slides/slide21.xml"/><Relationship Id="rId61" Type="http://schemas.openxmlformats.org/officeDocument/2006/relationships/slide" Target="slides/slide22.xml"/><Relationship Id="rId62" Type="http://schemas.openxmlformats.org/officeDocument/2006/relationships/slide" Target="slides/slide37.xml"/><Relationship Id="rId63" Type="http://schemas.openxmlformats.org/officeDocument/2006/relationships/slide" Target="slides/slide49.xml"/><Relationship Id="rId64" Type="http://schemas.openxmlformats.org/officeDocument/2006/relationships/slide" Target="slides/slide50.xml"/><Relationship Id="rId65" Type="http://schemas.openxmlformats.org/officeDocument/2006/relationships/slide" Target="slides/slide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 to Game Architecture. First the course: who we are, what you’ll build, how you’re assessed.</a:t>
            </a:r>
          </a:p>
          <a:p>
            <a:r>
              <a:t>Then today’s game: Pong, the whole thing, from an empty window.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20e943c05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20e943c05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short introduction: background, what I work on, how to reach me. Keep it to a minute.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g3932a601320_0_1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" name="Google Shape;51;g3932a601320_0_1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Go round the room: name, study line, a game you’ve played a lot, and whether you’ve made a game before.</a:t>
            </a:r>
          </a:p>
          <a:p>
            <a:r>
              <a:t>Note who has made games before; they make good group anchors.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932a601320_0_1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932a601320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what do you hope to get out of this course? Write answers on the board and keep them for the last session.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932a601320_0_1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932a601320_0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Say: build a lot, and learn from what you build. Come to class, do the exercises, and bring your project along.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9336b1372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9336b1372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official course description. Underline the last sentence: it’s a software engineering course, in a game context.</a:t>
            </a:r>
          </a:p>
          <a:p>
            <a:r>
              <a:t>Games are the vehicle; architecture and patterns are the subject.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9336b13721_0_2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9336b13721_0_2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Point out the patterns: each session has one main topic, and most are a named pattern.</a:t>
            </a:r>
          </a:p>
          <a:p>
            <a:r>
              <a:t>All of it is on the course site; the recap page connects them at the end.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c20e943c05_1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c20e943c05_1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classic game per session, in this order. Each game is small, but introduces one main idea.</a:t>
            </a:r>
          </a:p>
          <a:p>
            <a:r>
              <a:t>The schedule on the site says which topic comes when.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c20e943c05_1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c20e943c05_1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 Programming Patterns by Robert Nystrom, free at gameprogrammingpatterns.com. The main reading for the course.</a:t>
            </a:r>
          </a:p>
          <a:p>
            <a:r>
              <a:t>The site links the relevant chapter under Prepare for each session.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932a601320_0_1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932a601320_0_1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Groups of 1 to 3 make a small 2D game of their own, using the course’s patterns.</a:t>
            </a:r>
          </a:p>
          <a:p>
            <a:r>
              <a:t>Show the project page on the site: milestones, what to hand in, and when.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932a601320_0_1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932a601320_0_1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Walk through the flow on the slide. The question pool is on the site from today.</a:t>
            </a:r>
          </a:p>
          <a:p>
            <a:r>
              <a:t>Say: your project is your exam material. Every session, ask where today’s topic fits in your game.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932a601320_0_1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932a601320_0_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Pong11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c20e943c05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c20e943c05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 today is the game loop; everything else is what the loop needs: drawing, input, collisions, state, sound.</a:t>
            </a:r>
          </a:p>
          <a:p>
            <a:r>
              <a:t>Each has a section on the course site.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20e943c05_1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20e943c05_1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MonoGame: our framework for the whole course. Free, open source, C#.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9343ef94d7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9343ef94d7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Name the five boxes quickly. Then ask the question at the bottom.</a:t>
            </a:r>
          </a:p>
          <a:p>
            <a:r>
              <a:t>Answer: we do. That is the course: we write the loop, the scenes and the entities ourselves, and learn how engines do it.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c20e943c05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c20e943c05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Everyone installs these now, if they haven’t: the .NET 10 SDK, VS Code with the C# Dev Kit, Git.</a:t>
            </a:r>
          </a:p>
          <a:p>
            <a:r>
              <a:t>Check that dotnet --version works before moving on.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c2ab6540c5_0_1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c2ab6540c5_0_1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gar-games/01-pong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c2ab6540c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c2ab6540c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First exercise: clone, open Pong0, run it. The screenshot is what they should see: an empty window.</a:t>
            </a:r>
          </a:p>
          <a:p>
            <a:r>
              <a:t>Walk round and help anyone whose setup fails; don’t continue until most have a window.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9343ef94d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9343ef94d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game is this loop: process input, update the game, render. Many times a second, until the game ends.</a:t>
            </a:r>
          </a:p>
          <a:p>
            <a:r>
              <a:t>Ask: why not wait for input like a normal app? Answer: the game has to keep moving even when nobody presses anything.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932a601320_0_1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932a601320_0_1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loop in MonoGame: Initialize and LoadContent once, then Update and Draw every frame.</a:t>
            </a:r>
          </a:p>
          <a:p>
            <a:r>
              <a:t>Open Game1.cs in Pong0 and find each method.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9336b13721_0_2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9336b13721_0_2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an asset left to right: a file in Content/Assets, a rule in Builder.cs, the builder runs on build, an .xnb file, Content.Load at runtime.</a:t>
            </a:r>
          </a:p>
          <a:p>
            <a:r>
              <a:t>Show Builder.cs briefly; they’ll add rules later.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c2ab6540c5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c2ab6540c5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text centred on a 1280 × 720 window. They need a SpriteFont and MeasureString to centre it.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c2ab6540c5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c2ab6540c5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Point vs. linear filtering: pixel art wants point filtering, or it goes blurry when scaled up.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c2ab6540c5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c2ab6540c5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draw at a fixed small resolution and scale it to the window. The window can resize; the game doesn’t notice.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932a601320_0_1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932a601320_0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 is the top left; y grows downwards. Most first bugs are a sign error here.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c2ab6540c5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c2ab6540c5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No image for a rectangle? Make a 1 × 1 white texture and stretch it. That’s all Pong needs.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c2ab6540c5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c2ab6540c5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two paddles and a ball, a retro font, the background colour. The screenshot shows the result.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9336b13721_0_2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9336b13721_0_2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Keyboard.GetState() every frame, then IsKeyDown. Note the deltaTime in the movement: next slide.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9336b13721_0_2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9336b13721_0_2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why multiply by deltaTime? Answer: the same speed per second at any frame rate.</a:t>
            </a:r>
          </a:p>
          <a:p>
            <a:r>
              <a:t>Velocity: speed with a direction; the ball needs one.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2ab6540c5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2ab6540c5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W/S and the arrow keys move the paddles, the same speed at any frame rate.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c2ab6540c5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3c2ab6540c5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IsKeyDown is true every frame the key is held. For a single press, compare with last frame’s state.</a:t>
            </a:r>
          </a:p>
          <a:p>
            <a:r>
              <a:t>Flappy Bird moves this into GMDCore as WasKeyJustPressed.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c2ab6540c5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c2ab6540c5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Enter launches the ball in a random direction; the paddles stay on screen.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9336b13721_0_1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39336b13721_0_1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Game1 is getting long. Data and the code that uses it belong together: a Paddle, a Ball.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9343ef94d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39343ef94d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object knows how to update itself; the game just calls them all. Read the chapter in Game Programming Patterns.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c2ab6540c5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3c2ab6540c5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refactor into Paddle and Ball. The game must behave exactly as before; that’s the point of a refactor.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932a601320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3932a601320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boxes overlap unless one is entirely to the left, right, above or below the other.</a:t>
            </a:r>
          </a:p>
          <a:p>
            <a:r>
              <a:t>Draw two boxes on the board and check the four conditions together.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2ab6540c5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2ab6540c5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bounce off paddles and walls; each paddle hit speeds the ball up by 10%.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c2ab6540c5_0_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c2ab6540c5_0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keep score, shown in a bigger font.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932a60132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3932a60132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 is now in different modes: start, serve, play, done. So far a string field. Keep that in mind: Flappy Bird will show why it’s fragile.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c2ab6540c5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3c2ab6540c5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the diagram: start, Enter, serve, Enter, play; a point goes back to serve; 10 points ends it.</a:t>
            </a:r>
          </a:p>
          <a:p>
            <a:r>
              <a:t>Exercise: add the serve state.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c2ab6540c5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3c2ab6540c5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a done state at 10 points. The screenshot shows the end screen.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c2ab6540c5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c2ab6540c5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question. Answer: SoundEffect for the hit (short, several at once), Song for music (streamed, one at a time).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932a601320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3932a60132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bfxr.net makes retro sound effects in seconds. Or record your own.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c2ab6540c5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3c2ab6540c5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three sounds: paddle hit, wall hit, score.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9336b13721_0_1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9336b13721_0_1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Wrap up: the loop, drawing, input, collisions, state, sound. Everything later builds on this.</a:t>
            </a:r>
          </a:p>
          <a:p>
            <a:r>
              <a:t>Before next time: read the Flappy Bird page’s Prepare section.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Update writes the game state; Draw only reads it.</a:t>
            </a:r>
          </a:p>
          <a:p>
            <a:r>
              <a:t>Ask the question on the slide. Answer: the ball moves when frames are drawn, not when the game updates: faster on a fast screen, and wrong when Draw is skipped.</a:t>
            </a:r>
          </a:p>
          <a:p>
            <a:r>
              <a:t>The back buffer: the player never sees a half-drawn frame.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Variable: one update per frame, scaled by delta time. Fixed: always the same step, zero or several times a frame.</a:t>
            </a:r>
          </a:p>
          <a:p>
            <a:r>
              <a:t>Open the game-loop demo on the course site and try both at a low frame rate. Snake uses a fixed step on purpose.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is the difference between a game engine and a game framework?</a:t>
            </a:r>
          </a:p>
          <a:p>
            <a:r>
              <a:t>A: An engine is a complete environment: editor, scene and object model, and a loop that calls your scripts. A framework like MonoGame is a set of libraries. You write the game's structure yourself, including the loop's contents.</a:t>
            </a:r>
          </a:p>
          <a:p/>
          <a:p>
            <a:r>
              <a:t>Q: Why do we multiply movement by deltaTime?</a:t>
            </a:r>
          </a:p>
          <a:p>
            <a:r>
              <a:t>A: So that movement per second is the same no matter how many frames are rendered per second.</a:t>
            </a:r>
          </a:p>
          <a:p/>
          <a:p>
            <a:r>
              <a:t>Q: Why is a string field a fragile way to store game state?</a:t>
            </a:r>
          </a:p>
          <a:p>
            <a:r>
              <a:t>A: Typos aren't caught by the compiler, every Update/Draw needs an if-chain over all states, and adding a state means editing all of those chains.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Pong6: Game1.Update is three calls. Ask: what happens when we add a second ball? Answer: one more call, or a list.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groups (or future groups) five minutes: two or three game ideas, and what updates and draws in each.</a:t>
            </a:r>
          </a:p>
          <a:p>
            <a:r>
              <a:t>Ask a few to share. Encourage small, classic games.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Form groups before next time. First milestone by session 04: groups, a concept, a repository.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Relationship Id="rId4" Type="http://schemas.openxmlformats.org/officeDocument/2006/relationships/hyperlink" Target="https://gameprogrammingpatterns.com/contents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4" Type="http://schemas.openxmlformats.org/officeDocument/2006/relationships/image" Target="../media/image26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github.com/Metamate/gar-games/tree/main/01-pong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docs.monogame.net/articles/getting_to_know/howto/graphics/HowTo_Draw_Text.html" TargetMode="External"/><Relationship Id="rId4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rive.google.com/file/d/1WL5c1jFGq4ZBwqACP-6nO2RcUN0IbpRo/view?usp=sharing" TargetMode="External"/><Relationship Id="rId5" Type="http://schemas.openxmlformats.org/officeDocument/2006/relationships/image" Target="../media/image2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4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4" Type="http://schemas.openxmlformats.org/officeDocument/2006/relationships/image" Target="../media/image2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gameprogrammingpatterns.com/update-method.html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4" Type="http://schemas.openxmlformats.org/officeDocument/2006/relationships/image" Target="../media/image3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4" Type="http://schemas.openxmlformats.org/officeDocument/2006/relationships/image" Target="../media/image3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Relationship Id="rId4" Type="http://schemas.openxmlformats.org/officeDocument/2006/relationships/image" Target="../media/image3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docs.monogame.net/api/Microsoft.Xna.Framework.Audio.SoundEffect.html" TargetMode="External"/><Relationship Id="rId4" Type="http://schemas.openxmlformats.org/officeDocument/2006/relationships/hyperlink" Target="https://docs.monogame.net/api/Microsoft.Xna.Framework.Media.Song.html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19.png"/><Relationship Id="rId4" Type="http://schemas.openxmlformats.org/officeDocument/2006/relationships/hyperlink" Target="https://www.bfxr.net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s://drive.google.com/file/d/1CWX_xtry4YbpcdMa1xv_avio8rvjeiE3/view?usp=drive_link" TargetMode="External"/><Relationship Id="rId4" Type="http://schemas.openxmlformats.org/officeDocument/2006/relationships/hyperlink" Target="https://drive.google.com/file/d/1T9egCZ4n9ddwItry0sKYzok5tK_OfEDE/view?usp=drive_link" TargetMode="External"/><Relationship Id="rId5" Type="http://schemas.openxmlformats.org/officeDocument/2006/relationships/hyperlink" Target="https://drive.google.com/file/d/1ZyGhLxdnboI3KhQ3_8yIBvY0qc6jiqMM/view?usp=drive_link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01: Pong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Who am I?</a:t>
            </a:r>
            <a:endParaRPr/>
          </a:p>
        </p:txBody>
      </p:sp>
      <p:sp>
        <p:nvSpPr>
          <p:cNvPr id="46" name="Google Shape;46;p10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Jakob Trigger Knop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Cand.Scient. Comp. Science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E-mail:   jknr@via.dk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Office:   C03.01 (Horsens💀)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7" name="Google Shape;47;p10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48" name="Google Shape;48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08925" y="885950"/>
            <a:ext cx="1563065" cy="1664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Who Are You?</a:t>
            </a:r>
            <a:endParaRPr/>
          </a:p>
        </p:txBody>
      </p:sp>
      <p:pic>
        <p:nvPicPr>
          <p:cNvPr id="54" name="Google Shape;54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85650" y="1563194"/>
            <a:ext cx="4372700" cy="24509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Expectations?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My Expectations</a:t>
            </a:r>
            <a:endParaRPr/>
          </a:p>
        </p:txBody>
      </p:sp>
      <p:sp>
        <p:nvSpPr>
          <p:cNvPr id="65" name="Google Shape;65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/>
              <a:t>Engaged students</a:t>
            </a:r>
            <a:endParaRPr sz="2400"/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400"/>
              <a:t>who build cool stuff</a:t>
            </a:r>
            <a:endParaRPr sz="2400"/>
          </a:p>
          <a:p>
            <a:pPr indent="0" lvl="0" marL="0" rtl="0" algn="ctr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400"/>
              <a:t>and learn at the same time</a:t>
            </a:r>
            <a:endParaRPr sz="24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Purpose</a:t>
            </a:r>
            <a:endParaRPr/>
          </a:p>
        </p:txBody>
      </p:sp>
      <p:sp>
        <p:nvSpPr>
          <p:cNvPr id="71" name="Google Shape;71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>
                <a:solidFill>
                  <a:schemeClr val="lt1"/>
                </a:solidFill>
              </a:rPr>
              <a:t>“The course introduces the student to engine-level game programming using a low-level game framework. The student learns by implementing classic video games, gaining direct control over essential systems like game loop, rendering, asset pipeline and game physics.</a:t>
            </a:r>
            <a:r>
              <a:rPr i="1" lang="en"/>
              <a:t> The purpose is to teach </a:t>
            </a:r>
            <a:r>
              <a:rPr i="1" lang="en">
                <a:solidFill>
                  <a:schemeClr val="accent1"/>
                </a:solidFill>
              </a:rPr>
              <a:t>software engineering in a game context</a:t>
            </a:r>
            <a:r>
              <a:rPr i="1" lang="en"/>
              <a:t>, including </a:t>
            </a:r>
            <a:r>
              <a:rPr i="1" lang="en">
                <a:solidFill>
                  <a:schemeClr val="accent1"/>
                </a:solidFill>
              </a:rPr>
              <a:t>architecture</a:t>
            </a:r>
            <a:r>
              <a:rPr i="1" lang="en"/>
              <a:t>, </a:t>
            </a:r>
            <a:r>
              <a:rPr i="1" lang="en">
                <a:solidFill>
                  <a:schemeClr val="accent1"/>
                </a:solidFill>
              </a:rPr>
              <a:t>design patterns</a:t>
            </a:r>
            <a:r>
              <a:rPr i="1" lang="en"/>
              <a:t>, decoupling, component systems and data-driven design.”</a:t>
            </a:r>
            <a:endParaRPr i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 b="1" i="1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Detailed course description on itslearning</a:t>
            </a:r>
            <a:endParaRPr b="1" i="1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Topics</a:t>
            </a:r>
            <a:endParaRPr/>
          </a:p>
        </p:txBody>
      </p:sp>
      <p:sp>
        <p:nvSpPr>
          <p:cNvPr id="77" name="Google Shape;77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Architecture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Software Design Principles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Patterns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State, Observer, Command, Component, Singleton, Service Locator, Prototype, Object Pool, etc..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Loop &amp; Rendering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 Handling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Asset Pipeline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Physics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Tilemaps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Serialization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Data-Driven Design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Optimization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Plan</a:t>
            </a:r>
            <a:endParaRPr/>
          </a:p>
        </p:txBody>
      </p:sp>
      <p:sp>
        <p:nvSpPr>
          <p:cNvPr id="83" name="Google Shape;83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Pong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Flappy Bird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Snake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Sokoban</a:t>
            </a:r>
            <a:endParaRPr>
              <a:solidFill>
                <a:schemeClr val="lt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Pac-Man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Super Mario Bros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Angry Birds</a:t>
            </a:r>
            <a:endParaRPr>
              <a:solidFill>
                <a:schemeClr val="lt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The Legend of Zelda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Plants vs. 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Pokemon</a:t>
            </a:r>
            <a:endParaRPr>
              <a:solidFill>
                <a:schemeClr val="lt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Geometry Wars</a:t>
            </a:r>
            <a:endParaRPr>
              <a:solidFill>
                <a:schemeClr val="lt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Vampire Survivors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13825" y="533775"/>
            <a:ext cx="3116351" cy="3842575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7"/>
          <p:cNvSpPr txBox="1"/>
          <p:nvPr/>
        </p:nvSpPr>
        <p:spPr>
          <a:xfrm>
            <a:off x="3013800" y="4453575"/>
            <a:ext cx="31164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gameprogrammingpatterns.com</a:t>
            </a:r>
            <a:endParaRPr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Project</a:t>
            </a:r>
            <a:endParaRPr/>
          </a:p>
        </p:txBody>
      </p:sp>
      <p:sp>
        <p:nvSpPr>
          <p:cNvPr id="95" name="Google Shape;95;p18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Build a simple 2D game, organized with the course’s patterns and principles.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Groups, milestones and the requirements: on the course site.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</a:t>
            </a:r>
            <a:endParaRPr/>
          </a:p>
        </p:txBody>
      </p:sp>
      <p:sp>
        <p:nvSpPr>
          <p:cNvPr id="101" name="Google Shape;101;p19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Oral exam, 20 minutes: draw a question from a known pool.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Answer it with your own project: read, explain and change its code.</a:t>
            </a:r>
            <a:endParaRPr/>
          </a:p>
        </p:txBody>
      </p:sp>
      <p:sp>
        <p:nvSpPr>
          <p:cNvPr id="102" name="Rounded Rectangle 101"/>
          <p:cNvSpPr/>
          <p:nvPr/>
        </p:nvSpPr>
        <p:spPr>
          <a:xfrm>
            <a:off x="411480" y="20116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Draw a question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2304288" y="23545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2560320" y="20116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Explain the idea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4453127" y="23545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4709159" y="20116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Show it in your project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601967" y="23545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857999" y="20116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Change the code live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480" y="3017520"/>
            <a:ext cx="8321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questions are on the course site, from today.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107" name="Picture 107" descr="gif-pong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0933" y="1281973"/>
            <a:ext cx="6062133" cy="34099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113" name="Google Shape;113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&amp; Tooling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Content Pipeline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Drawing to the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DeltaTime &amp; Velocity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Encapsulation &amp; the Update Method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Sound Effects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47938" y="2146354"/>
            <a:ext cx="4048125" cy="8507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MonoGame?</a:t>
            </a:r>
            <a:endParaRPr/>
          </a:p>
        </p:txBody>
      </p:sp>
      <p:sp>
        <p:nvSpPr>
          <p:cNvPr id="124" name="Google Shape;124;p23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framework, not an engine: libraries, but no editor, no scenes, no entities.</a:t>
            </a:r>
            <a:endParaRPr/>
          </a:p>
        </p:txBody>
      </p:sp>
      <p:sp>
        <p:nvSpPr>
          <p:cNvPr id="125" name="Rounded Rectangle 124"/>
          <p:cNvSpPr/>
          <p:nvPr/>
        </p:nvSpPr>
        <p:spPr>
          <a:xfrm>
            <a:off x="411480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Graphics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2D and 3D drawing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2093976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Input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keys, mouse, pads, touch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3776472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sounds and music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458968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Content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importing assets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7141464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Math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vectors, matrices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So who writes the game loop, the scenes and the entities?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Tooling</a:t>
            </a:r>
            <a:endParaRPr/>
          </a:p>
        </p:txBody>
      </p:sp>
      <p:sp>
        <p:nvSpPr>
          <p:cNvPr id="130" name="Google Shape;130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.NET 10 SDK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VS Code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C# Dev Kit extension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games on GitHub: Metamate/gar-games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136" name="Google Shape;136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github.com/Metamate/gar-games (folder 01-pong)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exercise is its own project: Pong0 → Pong11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</a:t>
            </a:r>
            <a:r>
              <a:rPr lang="en">
                <a:solidFill>
                  <a:schemeClr val="accent5"/>
                </a:solidFill>
              </a:rPr>
              <a:t> 0: New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2" name="Google Shape;142;p2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Install the tooling from the previous slide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gar-games and open 01-pong/Pong0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An empty MonoGame game, already set up with the content builder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Run it from the 01-pong folder: dotnet run --project Pong0</a:t>
            </a:r>
            <a:endParaRPr/>
          </a:p>
        </p:txBody>
      </p:sp>
      <p:pic>
        <p:nvPicPr>
          <p:cNvPr id="143" name="Google Shape;143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70663" y="2571750"/>
            <a:ext cx="3202675" cy="204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Loop Pattern</a:t>
            </a:r>
            <a:endParaRPr/>
          </a:p>
        </p:txBody>
      </p:sp>
      <p:pic>
        <p:nvPicPr>
          <p:cNvPr id="149" name="Google Shape;14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90388" y="1826262"/>
            <a:ext cx="6363224" cy="208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8925" y="993652"/>
            <a:ext cx="5326150" cy="3591525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MonoGame Game Loop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vs. Draw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Update changes the world; Draw only reads it.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731520" y="155448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Update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input, movement, collisions, rules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3566160" y="155448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The game 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positions, scores, ...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6035040" y="155448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Draw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renders what it reads</a:t>
            </a:r>
          </a:p>
        </p:txBody>
      </p:sp>
      <p:cxnSp>
        <p:nvCxnSpPr>
          <p:cNvPr id="304" name="Connector 303"/>
          <p:cNvCxnSpPr/>
          <p:nvPr/>
        </p:nvCxnSpPr>
        <p:spPr>
          <a:xfrm>
            <a:off x="3127248" y="1965960"/>
            <a:ext cx="420624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TextBox 304"/>
          <p:cNvSpPr txBox="1"/>
          <p:nvPr/>
        </p:nvSpPr>
        <p:spPr>
          <a:xfrm>
            <a:off x="2944368" y="1673351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writes</a:t>
            </a:r>
          </a:p>
        </p:txBody>
      </p:sp>
      <p:cxnSp>
        <p:nvCxnSpPr>
          <p:cNvPr id="306" name="Connector 305"/>
          <p:cNvCxnSpPr/>
          <p:nvPr/>
        </p:nvCxnSpPr>
        <p:spPr>
          <a:xfrm flipH="1">
            <a:off x="5596128" y="1965960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5413248" y="1673351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reads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731520" y="269748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Draw goes to a hidden back buffer; MonoGame shows it when Draw is done,</a:t>
            </a:r>
          </a:p>
          <a:p>
            <a:pPr algn="ctr"/>
            <a:r>
              <a:rPr sz="1300" b="0" i="0">
                <a:solidFill>
                  <a:srgbClr val="9AA3AB"/>
                </a:solidFill>
              </a:rPr>
              <a:t>so the player never sees a half-drawn frame.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goes wrong if Draw moves the ball?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 vs. Variable Timestep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Variable: one update per frame, scaled by delta time. Fixed: always the same step.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548640" y="146304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Variable timestep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one Update per frame, × deltaTime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simple, but slightly different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at every frame rate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4846320" y="146304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Fixed timestep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0, 1 or more Updates per frame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deterministic and stable,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 little more complex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548640" y="31089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MonoGame is fixed by default: IsFixedTimeStep = true.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Try both in the game-loop demo on the course site.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 Pipeline</a:t>
            </a:r>
            <a:endParaRPr/>
          </a:p>
        </p:txBody>
      </p:sp>
      <p:sp>
        <p:nvSpPr>
          <p:cNvPr id="161" name="Rounded Rectangle 160"/>
          <p:cNvSpPr/>
          <p:nvPr/>
        </p:nvSpPr>
        <p:spPr>
          <a:xfrm>
            <a:off x="34290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Raw assets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Content/Assets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4290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Images, fonts, sounds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188823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ounded Rectangle 163"/>
          <p:cNvSpPr/>
          <p:nvPr/>
        </p:nvSpPr>
        <p:spPr>
          <a:xfrm>
            <a:off x="208026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Builder.cs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Rules in C#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08026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Which importer and processor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362559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Rounded Rectangle 166"/>
          <p:cNvSpPr/>
          <p:nvPr/>
        </p:nvSpPr>
        <p:spPr>
          <a:xfrm>
            <a:off x="381762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Content builder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Runs on build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81762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BuildContent.targets</a:t>
            </a:r>
          </a:p>
        </p:txBody>
      </p:sp>
      <p:cxnSp>
        <p:nvCxnSpPr>
          <p:cNvPr id="169" name="Connector 168"/>
          <p:cNvCxnSpPr/>
          <p:nvPr/>
        </p:nvCxnSpPr>
        <p:spPr>
          <a:xfrm>
            <a:off x="536295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Rounded Rectangle 169"/>
          <p:cNvSpPr/>
          <p:nvPr/>
        </p:nvSpPr>
        <p:spPr>
          <a:xfrm>
            <a:off x="555498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.xnb files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bin/…/Content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5498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Built for the platform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710031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ounded Rectangle 172"/>
          <p:cNvSpPr/>
          <p:nvPr/>
        </p:nvSpPr>
        <p:spPr>
          <a:xfrm>
            <a:off x="729234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ContentManager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Content.Load&lt;T&gt;()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29234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At runtime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</a:t>
            </a:r>
            <a:r>
              <a:rPr lang="en">
                <a:solidFill>
                  <a:schemeClr val="accent5"/>
                </a:solidFill>
              </a:rPr>
              <a:t> 1: Hello Pong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7" name="Google Shape;167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Update your Pong game to display “Hello Pong!” exactly in the center of the screen.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White text, black background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will need a SpriteFont asset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How to Draw Text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Set the window resolution to 1280x720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Use PreferredBackBuffer[Width/Height] property on GraphicsDeviceManager</a:t>
            </a:r>
            <a:endParaRPr/>
          </a:p>
        </p:txBody>
      </p:sp>
      <p:pic>
        <p:nvPicPr>
          <p:cNvPr id="168" name="Google Shape;168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03898" y="2755975"/>
            <a:ext cx="3736200" cy="2191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Filtering</a:t>
            </a:r>
            <a:endParaRPr/>
          </a:p>
        </p:txBody>
      </p:sp>
      <p:pic>
        <p:nvPicPr>
          <p:cNvPr id="174" name="Google Shape;174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43884" y="1374759"/>
            <a:ext cx="3656224" cy="3045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2: Virtual Resolution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80" name="Google Shape;180;p3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game resolution </a:t>
            </a:r>
            <a:r>
              <a:rPr lang="en"/>
              <a:t>independent</a:t>
            </a:r>
            <a:r>
              <a:rPr lang="en"/>
              <a:t> of window resolution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game window resizable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Update the game to use Point filtering</a:t>
            </a:r>
            <a:endParaRPr/>
          </a:p>
        </p:txBody>
      </p:sp>
      <p:pic>
        <p:nvPicPr>
          <p:cNvPr id="181" name="Google Shape;181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41213" y="2380100"/>
            <a:ext cx="4061575" cy="23824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2D Coordinate System</a:t>
            </a:r>
            <a:endParaRPr/>
          </a:p>
        </p:txBody>
      </p:sp>
      <p:sp>
        <p:nvSpPr>
          <p:cNvPr id="187" name="Google Shape;187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188" name="Google Shape;188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05075" y="1731955"/>
            <a:ext cx="4133850" cy="217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Drawing to The Screen</a:t>
            </a:r>
            <a:endParaRPr/>
          </a:p>
        </p:txBody>
      </p:sp>
      <p:sp>
        <p:nvSpPr>
          <p:cNvPr id="194" name="Google Shape;194;p3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Normally a texture is needed to draw to the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Pong game doesn’t need explicit texture assets, but we do need to draw rectangles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45720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GraphicsDevice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SetData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([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]);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the texture as an argument to SpriteBatch.Draw()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SpriteBatch.Draw() has a method overload that receives a Rectangle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3: Drawing Rectangles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0" name="Google Shape;200;p3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 the three rectangles present in a Pong game (Paddle, Paddle, Ball)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Choose appropriate starting positions for each entity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Update the font to a custom </a:t>
            </a:r>
            <a:r>
              <a:rPr lang="en" u="sng">
                <a:solidFill>
                  <a:schemeClr val="hlink"/>
                </a:solidFill>
                <a:hlinkClick r:id="rId3"/>
              </a:rPr>
              <a:t>retro font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Update the background color to RGBA value (40, 45, 52, 255)</a:t>
            </a:r>
            <a:endParaRPr/>
          </a:p>
        </p:txBody>
      </p:sp>
      <p:pic>
        <p:nvPicPr>
          <p:cNvPr id="201" name="Picture 201" descr="pong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93662" y="2406160"/>
            <a:ext cx="4356675" cy="2450629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Basic Keyboard Input</a:t>
            </a:r>
            <a:endParaRPr/>
          </a:p>
        </p:txBody>
      </p:sp>
      <p:sp>
        <p:nvSpPr>
          <p:cNvPr id="207" name="Google Shape;207;p3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GetState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_player1Y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PADDLE_SPEED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deltaTime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_player1Y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PADDLE_SPEED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deltaTime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9CDCFE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DeltaTime &amp; Velocity</a:t>
            </a:r>
            <a:endParaRPr/>
          </a:p>
        </p:txBody>
      </p:sp>
      <p:sp>
        <p:nvSpPr>
          <p:cNvPr id="213" name="Google Shape;213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 we care about deltatime?</a:t>
            </a:r>
            <a:endParaRPr/>
          </a:p>
          <a:p>
            <a:pPr indent="0" lvl="0" marL="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ElapsedGameTime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TotalSeconds</a:t>
            </a:r>
            <a:endParaRPr sz="1000">
              <a:solidFill>
                <a:srgbClr val="9CDCFE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we need velocity for?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4: Paddle Movement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19" name="Google Shape;219;p3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interactivity by letting players move the paddles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 and S keys move Paddle 1 up and down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Up and Down arrow keys move Paddle 2 up and down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Ensure that movement is framerate independent</a:t>
            </a:r>
            <a:endParaRPr/>
          </a:p>
        </p:txBody>
      </p:sp>
      <p:pic>
        <p:nvPicPr>
          <p:cNvPr id="220" name="Picture 220" descr="pong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2227" y="2576865"/>
            <a:ext cx="4059549" cy="2283496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“Key Pressed”</a:t>
            </a:r>
            <a:endParaRPr/>
          </a:p>
        </p:txBody>
      </p:sp>
      <p:sp>
        <p:nvSpPr>
          <p:cNvPr id="226" name="Google Shape;226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emulate “GetKeyDown”?</a:t>
            </a:r>
            <a:endParaRPr/>
          </a:p>
          <a:p>
            <a:pPr indent="0" lvl="0" marL="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GetState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oldKeyboardState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oldKeyboardState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5: Ball Movement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32" name="Google Shape;232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motion to the ball upon the user pressing “Enter”.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will need to keep track of the state of the game, e.g. using a simple string field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Use the Random class to ensure the ball starts with different movement vectors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Ensure the Paddles can’t move offscreen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Math.Min() and Math.Max() methods are helpful here</a:t>
            </a:r>
            <a:endParaRPr/>
          </a:p>
        </p:txBody>
      </p:sp>
      <p:pic>
        <p:nvPicPr>
          <p:cNvPr id="233" name="Picture 233" descr="pong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9537" y="2619736"/>
            <a:ext cx="3984937" cy="2241527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Encapsulation</a:t>
            </a:r>
            <a:endParaRPr/>
          </a:p>
        </p:txBody>
      </p:sp>
      <p:sp>
        <p:nvSpPr>
          <p:cNvPr id="239" name="Google Shape;239;p4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240" name="Google Shape;240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85562" y="1488650"/>
            <a:ext cx="3572875" cy="2817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Method Pattern</a:t>
            </a:r>
            <a:endParaRPr/>
          </a:p>
        </p:txBody>
      </p:sp>
      <p:sp>
        <p:nvSpPr>
          <p:cNvPr id="246" name="Google Shape;246;p4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247" name="Google Shape;247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17452" y="1351938"/>
            <a:ext cx="4509099" cy="30913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8" name="Google Shape;25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Method in Pong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1152475"/>
            <a:ext cx="3900000" cy="34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object simulates one frame of its own behaviour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Paddle and Ball each get Update and Draw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Game1 just calls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Its Update and Draw stay short as the game grows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Pong6</a:t>
            </a:r>
            <a:endParaRPr/>
          </a:p>
        </p:txBody>
      </p:sp>
      <p:sp>
        <p:nvSpPr>
          <p:cNvPr id="259" name="Google Shape;259;p44"/>
          <p:cNvSpPr txBox="1"/>
          <p:nvPr>
            <p:ph idx="2" type="body"/>
          </p:nvPr>
        </p:nvSpPr>
        <p:spPr>
          <a:xfrm>
            <a:off x="4500000" y="1152475"/>
            <a:ext cx="440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Game1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 override void Update(GameTime gameTime)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_ball.Update(gameTime);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_paddle1.Update(gameTime);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_paddle2.Update(gameTime);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 override void Draw(GameTime gameTime)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_spriteBatch.Begin();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_paddle1.Draw(_spriteBatch);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_paddle2.Draw(_spriteBatch);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_ball.Draw(_spriteBatch);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_spriteBatch.End();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6: Encapsulation 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3" name="Google Shape;253;p4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Refactor the Pong code by creating two classes, Paddle and Ball, that encapsulates the data and behaviour of the two entities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behaviour of the Pong game will remain identical from the previous iteration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will need to take advantage of </a:t>
            </a:r>
            <a:r>
              <a:rPr lang="en" u="sng">
                <a:solidFill>
                  <a:schemeClr val="hlink"/>
                </a:solidFill>
                <a:hlinkClick r:id="rId3"/>
              </a:rPr>
              <a:t>Update Method</a:t>
            </a:r>
            <a:r>
              <a:rPr lang="en"/>
              <a:t> pattern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 (AABB)</a:t>
            </a:r>
            <a:endParaRPr/>
          </a:p>
        </p:txBody>
      </p:sp>
      <p:sp>
        <p:nvSpPr>
          <p:cNvPr id="259" name="Google Shape;259;p44"/>
          <p:cNvSpPr txBox="1"/>
          <p:nvPr>
            <p:ph idx="2" type="body"/>
          </p:nvPr>
        </p:nvSpPr>
        <p:spPr>
          <a:xfrm>
            <a:off x="4787600" y="1675200"/>
            <a:ext cx="4044600" cy="17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AABB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pic>
        <p:nvPicPr>
          <p:cNvPr id="260" name="Google Shape;260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5656" y="1625188"/>
            <a:ext cx="3365555" cy="1893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7: Collision Detection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6" name="Google Shape;266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Allow for the ball to bounce off the Paddles and window boundaries using AABB collision detection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Implement the Collides(Paddle paddle) method on the Ball to check for collision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Calculate a new random Y velocity of the Ball based on its current Y direction (up/down)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For every bounce on a Paddle, increase Ball X velocity by 10%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8: Scoring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72" name="Google Shape;272;p4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Keep track of scoring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scoring UI must use a bigger font than the text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273" name="Picture 273" descr="pong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0062" y="2034455"/>
            <a:ext cx="4903894" cy="275844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State</a:t>
            </a:r>
            <a:endParaRPr/>
          </a:p>
        </p:txBody>
      </p:sp>
      <p:pic>
        <p:nvPicPr>
          <p:cNvPr id="279" name="Google Shape;279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26587" y="1041776"/>
            <a:ext cx="5290826" cy="3393251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47"/>
          <p:cNvSpPr txBox="1"/>
          <p:nvPr/>
        </p:nvSpPr>
        <p:spPr>
          <a:xfrm>
            <a:off x="3038400" y="4514350"/>
            <a:ext cx="3067200" cy="3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https://gameprogrammingpatterns.com/state.html</a:t>
            </a:r>
            <a:endParaRPr sz="10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9: Serve State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6" name="Google Shape;286;p4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serve state: the player who was scored on serves.</a:t>
            </a:r>
            <a:endParaRPr/>
          </a:p>
        </p:txBody>
      </p:sp>
      <p:pic>
        <p:nvPicPr>
          <p:cNvPr id="287" name="Picture 287" descr="pong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651760"/>
            <a:ext cx="3566160" cy="2005964"/>
          </a:xfrm>
          <a:prstGeom prst="rect">
            <a:avLst/>
          </a:prstGeom>
        </p:spPr>
      </p:pic>
      <p:sp>
        <p:nvSpPr>
          <p:cNvPr id="288" name="Rounded Rectangle 287"/>
          <p:cNvSpPr/>
          <p:nvPr/>
        </p:nvSpPr>
        <p:spPr>
          <a:xfrm>
            <a:off x="4572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start</a:t>
            </a:r>
          </a:p>
        </p:txBody>
      </p:sp>
      <p:sp>
        <p:nvSpPr>
          <p:cNvPr id="289" name="Rounded Rectangle 288"/>
          <p:cNvSpPr/>
          <p:nvPr/>
        </p:nvSpPr>
        <p:spPr>
          <a:xfrm>
            <a:off x="22860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serve</a:t>
            </a:r>
          </a:p>
        </p:txBody>
      </p:sp>
      <p:sp>
        <p:nvSpPr>
          <p:cNvPr id="290" name="Rounded Rectangle 289"/>
          <p:cNvSpPr/>
          <p:nvPr/>
        </p:nvSpPr>
        <p:spPr>
          <a:xfrm>
            <a:off x="41148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play</a:t>
            </a:r>
          </a:p>
        </p:txBody>
      </p:sp>
      <p:sp>
        <p:nvSpPr>
          <p:cNvPr id="291" name="Rounded Rectangle 290"/>
          <p:cNvSpPr/>
          <p:nvPr/>
        </p:nvSpPr>
        <p:spPr>
          <a:xfrm>
            <a:off x="59436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done</a:t>
            </a:r>
          </a:p>
        </p:txBody>
      </p:sp>
      <p:cxnSp>
        <p:nvCxnSpPr>
          <p:cNvPr id="292" name="Connector 291"/>
          <p:cNvCxnSpPr/>
          <p:nvPr/>
        </p:nvCxnSpPr>
        <p:spPr>
          <a:xfrm>
            <a:off x="1572768" y="178308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1389888" y="149047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Enter</a:t>
            </a:r>
          </a:p>
        </p:txBody>
      </p:sp>
      <p:cxnSp>
        <p:nvCxnSpPr>
          <p:cNvPr id="294" name="Connector 293"/>
          <p:cNvCxnSpPr/>
          <p:nvPr/>
        </p:nvCxnSpPr>
        <p:spPr>
          <a:xfrm>
            <a:off x="3401568" y="169164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5" name="TextBox 294"/>
          <p:cNvSpPr txBox="1"/>
          <p:nvPr/>
        </p:nvSpPr>
        <p:spPr>
          <a:xfrm>
            <a:off x="3218688" y="139903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Enter</a:t>
            </a:r>
          </a:p>
        </p:txBody>
      </p:sp>
      <p:cxnSp>
        <p:nvCxnSpPr>
          <p:cNvPr id="296" name="Connector 295"/>
          <p:cNvCxnSpPr/>
          <p:nvPr/>
        </p:nvCxnSpPr>
        <p:spPr>
          <a:xfrm flipH="1">
            <a:off x="3401568" y="192024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TextBox 296"/>
          <p:cNvSpPr txBox="1"/>
          <p:nvPr/>
        </p:nvSpPr>
        <p:spPr>
          <a:xfrm>
            <a:off x="3200400" y="1965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 point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5230368" y="178308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TextBox 298"/>
          <p:cNvSpPr txBox="1"/>
          <p:nvPr/>
        </p:nvSpPr>
        <p:spPr>
          <a:xfrm>
            <a:off x="5047488" y="149047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10 points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10: Victory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3" name="Google Shape;293;p4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Allow a player to win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Introduce a new “done” state when maximum score is reached (e.g. 10)</a:t>
            </a:r>
            <a:endParaRPr/>
          </a:p>
        </p:txBody>
      </p:sp>
      <p:pic>
        <p:nvPicPr>
          <p:cNvPr id="294" name="Picture 294" descr="pong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27855" y="1938429"/>
            <a:ext cx="5088300" cy="2862168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Sounds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classes for audio: short sounds, and long music.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731520" y="146304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SoundEffect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short clips, loaded into memory,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several at once, own volume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4846320" y="146304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Song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long music, streamed,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one at a time (not today)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Which one for a hit? And for the background music?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Creating Sound Effects</a:t>
            </a:r>
            <a:endParaRPr/>
          </a:p>
        </p:txBody>
      </p:sp>
      <p:pic>
        <p:nvPicPr>
          <p:cNvPr id="306" name="Google Shape;306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90063" y="1139600"/>
            <a:ext cx="2963875" cy="2864299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51"/>
          <p:cNvSpPr txBox="1"/>
          <p:nvPr/>
        </p:nvSpPr>
        <p:spPr>
          <a:xfrm>
            <a:off x="3710700" y="4122650"/>
            <a:ext cx="17226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4"/>
              </a:rPr>
              <a:t>https://www.bfxr.net</a:t>
            </a: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11: Audio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313" name="Google Shape;313;p5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sound effects to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must have three distinct sounds: “</a:t>
            </a:r>
            <a:r>
              <a:rPr lang="en" u="sng">
                <a:solidFill>
                  <a:schemeClr val="hlink"/>
                </a:solidFill>
                <a:hlinkClick r:id="rId3"/>
              </a:rPr>
              <a:t>paddle hit</a:t>
            </a:r>
            <a:r>
              <a:rPr lang="en"/>
              <a:t>”, “</a:t>
            </a:r>
            <a:r>
              <a:rPr lang="en" u="sng">
                <a:solidFill>
                  <a:schemeClr val="hlink"/>
                </a:solidFill>
                <a:hlinkClick r:id="rId4"/>
              </a:rPr>
              <a:t>wall hit</a:t>
            </a:r>
            <a:r>
              <a:rPr lang="en"/>
              <a:t>” and “</a:t>
            </a:r>
            <a:r>
              <a:rPr lang="en" u="sng">
                <a:solidFill>
                  <a:schemeClr val="hlink"/>
                </a:solidFill>
                <a:hlinkClick r:id="rId5"/>
              </a:rPr>
              <a:t>score</a:t>
            </a:r>
            <a:r>
              <a:rPr lang="en"/>
              <a:t>”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33502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a game engine and a game framework?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 we multiply movement by deltaTime?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a string field a fragile way to store game state?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980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Google Shape;76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77" name="Google Shape;77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games would you like to make? Pick two or three candidates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 each: what updates every frame, and what is drawn?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its 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Could you build a naive prototype of the core idea first, like this Pong?</a:t>
            </a:r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Google Shape;76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77" name="Google Shape;77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Form groups of 1–3 students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Think of a game you want to create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Take inspiration from classic games!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Be mindful of scope (creep)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First milestone, by session 04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Groups formed, game concept written, repository created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Made it!</a:t>
            </a:r>
            <a:endParaRPr/>
          </a:p>
        </p:txBody>
      </p:sp>
      <p:sp>
        <p:nvSpPr>
          <p:cNvPr id="319" name="Google Shape;319;p5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Congratulations! You now have your very own working Pong Game made with MonoGame.</a:t>
            </a:r>
            <a:endParaRPr/>
          </a:p>
        </p:txBody>
      </p:sp>
      <p:pic>
        <p:nvPicPr>
          <p:cNvPr id="320" name="Google Shape;320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6538" y="2195848"/>
            <a:ext cx="7010925" cy="140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