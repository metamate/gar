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6" r:id="rId65"/>
    <p:sldId id="304" r:id="rId63"/>
    <p:sldId id="305" r:id="rId64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52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22.xml"/><Relationship Id="rId61" Type="http://schemas.openxmlformats.org/officeDocument/2006/relationships/slide" Target="slides/slide23.xml"/><Relationship Id="rId62" Type="http://schemas.openxmlformats.org/officeDocument/2006/relationships/slide" Target="slides/slide38.xml"/><Relationship Id="rId63" Type="http://schemas.openxmlformats.org/officeDocument/2006/relationships/slide" Target="slides/slide50.xml"/><Relationship Id="rId64" Type="http://schemas.openxmlformats.org/officeDocument/2006/relationships/slide" Target="slides/slide51.xml"/><Relationship Id="rId65" Type="http://schemas.openxmlformats.org/officeDocument/2006/relationships/slide" Target="slides/slide49.xml"/><Relationship Id="rId66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 to Game Architecture. First the course: who we are, what you’ll build, how you’re assessed.</a:t>
            </a:r>
          </a:p>
          <a:p>
            <a:r>
              <a:t>Then today’s game: Pong, the whole thing, from an empty window.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20e943c0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20e943c0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short introduction: background, what I work on, how to reach me. Keep it to a minute.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932a601320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Google Shape;51;g3932a601320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Go round the room: name, study line, a game you’ve played a lot, and whether you’ve made a game before.</a:t>
            </a:r>
          </a:p>
          <a:p>
            <a:r>
              <a:t>Note who has made games before; they make good group anchors.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932a601320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932a601320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what do you hope to get out of this course? Write answers on the board and keep them for the last session.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932a601320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932a601320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Say: build a lot, and learn from what you build. Come to class, do the exercises, and bring your project along.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9336b137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9336b137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official course description. Underline the last sentence: it’s a software engineering course, in a game context.</a:t>
            </a:r>
          </a:p>
          <a:p>
            <a:r>
              <a:t>Games are the vehicle; architecture and patterns are the subject.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9336b13721_0_2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9336b13721_0_2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out the patterns: each session has one main topic, and most are a named pattern.</a:t>
            </a:r>
          </a:p>
          <a:p>
            <a:r>
              <a:t>All of it is on the course site; the recap page connects them at the end.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c20e943c05_1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c20e943c05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classic game per session, in this order. Each game is small, but introduces one main idea.</a:t>
            </a:r>
          </a:p>
          <a:p>
            <a:r>
              <a:t>The schedule on the site says which topic comes when.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c20e943c05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c20e943c05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 Programming Patterns by Robert Nystrom, free at gameprogrammingpatterns.com. The main reading for the course.</a:t>
            </a:r>
          </a:p>
          <a:p>
            <a:r>
              <a:t>The site links the relevant chapter under Prepare for each session.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932a601320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932a601320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Groups of 1 to 3 make a small 2D game of their own, using the course’s patterns.</a:t>
            </a:r>
          </a:p>
          <a:p>
            <a:r>
              <a:t>Show the project page on the site: milestones, what to hand in, and when.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932a601320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932a601320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through the flow on the slide. The question pool is on the site from today.</a:t>
            </a:r>
          </a:p>
          <a:p>
            <a:r>
              <a:t>Say: your project is your exam material. Every session, ask where today’s topic fits in your game.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That is the course: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draw at a fixed small resolution and scale it to the window. The window can resize; the game doesn’t notice.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GMDCore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exactly as before; that’s the point of a refactor.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skill, not luck.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c2ab6540c5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c2ab6540c5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keep score, shown in a bigger font.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diagram: start, Enter, serve, Enter, play; a point goes back to serve; 10 points ends it.</a:t>
            </a:r>
          </a:p>
          <a:p>
            <a:r>
              <a:t>Exercise: add the serve mode; the player who was scored on serves.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c2ab6540c5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c2ab6540c5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done mode at 10 points. The screenshot shows the end screen.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three sounds: paddle hit, wall hit, score.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moves when frames are drawn, not when the game updates: faster on a fast screen, and wrong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Open the game-loop demo on the course site and try both at a low frame rate. 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Form groups before next time. First milestone by session 04: groups, a concept, a repository.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hyperlink" Target="https://gameprogrammingpatterns.com/contents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4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9.png"/><Relationship Id="rId4" Type="http://schemas.openxmlformats.org/officeDocument/2006/relationships/hyperlink" Target="https://www.bfxr.net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am I?</a:t>
            </a:r>
            <a:endParaRPr/>
          </a:p>
        </p:txBody>
      </p:sp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Jakob Trigger Knop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Cand.Scient. Comp.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E-mail:   jknr@via.dk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Office:   C03.01 (Horsens💀)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7" name="Google Shape;47;p10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48" name="Google Shape;48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8925" y="885950"/>
            <a:ext cx="1563065" cy="166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Are You?</a:t>
            </a:r>
            <a:endParaRPr/>
          </a:p>
        </p:txBody>
      </p:sp>
      <p:pic>
        <p:nvPicPr>
          <p:cNvPr id="54" name="Google Shape;54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85650" y="1563194"/>
            <a:ext cx="4372700" cy="2450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Expectations?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My Expectations</a:t>
            </a:r>
            <a:endParaRPr/>
          </a:p>
        </p:txBody>
      </p:sp>
      <p:sp>
        <p:nvSpPr>
          <p:cNvPr id="65" name="Google Shape;65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Engaged students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400"/>
              <a:t>who build cool stuff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400"/>
              <a:t>and learn at the same time</a:t>
            </a:r>
            <a:endParaRPr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Purpose</a:t>
            </a:r>
            <a:endParaRPr/>
          </a:p>
        </p:txBody>
      </p:sp>
      <p:sp>
        <p:nvSpPr>
          <p:cNvPr id="71" name="Google Shape;71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lt1"/>
                </a:solidFill>
              </a:rPr>
              <a:t>“The course introduces the student to engine-level game programming using a low-level game framework. The student learns by implementing classic video games, gaining direct control over essential systems like game loop, rendering, asset pipeline and game physics.</a:t>
            </a:r>
            <a:r>
              <a:rPr i="1" lang="en"/>
              <a:t> The purpose is to teach </a:t>
            </a:r>
            <a:r>
              <a:rPr i="1" lang="en">
                <a:solidFill>
                  <a:schemeClr val="accent1"/>
                </a:solidFill>
              </a:rPr>
              <a:t>software engineering in a game context</a:t>
            </a:r>
            <a:r>
              <a:rPr i="1" lang="en"/>
              <a:t>, including </a:t>
            </a:r>
            <a:r>
              <a:rPr i="1" lang="en">
                <a:solidFill>
                  <a:schemeClr val="accent1"/>
                </a:solidFill>
              </a:rPr>
              <a:t>architecture</a:t>
            </a:r>
            <a:r>
              <a:rPr i="1" lang="en"/>
              <a:t>, </a:t>
            </a:r>
            <a:r>
              <a:rPr i="1" lang="en">
                <a:solidFill>
                  <a:schemeClr val="accent1"/>
                </a:solidFill>
              </a:rPr>
              <a:t>design patterns</a:t>
            </a:r>
            <a:r>
              <a:rPr i="1" lang="en"/>
              <a:t>, decoupling, component systems and data-driven design.”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 b="1" i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Detailed course description on itslearning</a:t>
            </a:r>
            <a:endParaRPr b="1" i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Topics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Architecture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Software Design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Patterns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State, Observer, Command, Component, Singleton, Service Locator, Prototype, Object Pool, etc..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 &amp; Rendering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Handling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Physics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Serialization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Optimization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Plan</a:t>
            </a:r>
            <a:endParaRPr/>
          </a:p>
        </p:txBody>
      </p:sp>
      <p:sp>
        <p:nvSpPr>
          <p:cNvPr id="83" name="Google Shape;8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Sokoban</a:t>
            </a:r>
            <a:endParaRPr>
              <a:solidFill>
                <a:schemeClr val="lt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Super Mario Bros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Angry Birds</a:t>
            </a:r>
            <a:endParaRPr>
              <a:solidFill>
                <a:schemeClr val="lt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The Legend of 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Pokemon</a:t>
            </a:r>
            <a:endParaRPr>
              <a:solidFill>
                <a:schemeClr val="lt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Geometry Wars</a:t>
            </a:r>
            <a:endParaRPr>
              <a:solidFill>
                <a:schemeClr val="lt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Vampire Survivors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3825" y="533775"/>
            <a:ext cx="3116351" cy="3842575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/>
          <p:nvPr/>
        </p:nvSpPr>
        <p:spPr>
          <a:xfrm>
            <a:off x="3013800" y="4453575"/>
            <a:ext cx="3116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gameprogrammingpatterns.com</a:t>
            </a:r>
            <a:endParaRPr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95" name="Google Shape;95;p1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Build a simple 2D game, organized with the course’s patterns and principles.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Groups, milestones and the requirements: on the course site.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</a:t>
            </a:r>
            <a:endParaRPr/>
          </a:p>
        </p:txBody>
      </p:sp>
      <p:sp>
        <p:nvSpPr>
          <p:cNvPr id="101" name="Google Shape;101;p19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Oral exam, 20 minutes: draw a question from a known pool.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Answer it with your own project: read, explain and change its code.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41148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Draw a question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2304288" y="23545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256032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Explain the idea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45312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70915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Show it in your project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60196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85799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Change the code live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301752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questions are on the course site, from today.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gif-pong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0933" y="1281973"/>
            <a:ext cx="6062133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framework: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So who writes the game loop, the scenes and the entities?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01-pong)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exercise is its own project: Pong0 → Pong11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Google Shape;14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0388" y="1826262"/>
            <a:ext cx="6363224" cy="20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925" y="993652"/>
            <a:ext cx="5326150" cy="359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frame, scaled by delta time. Fixed: always the same step.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54864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Variable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one Update per frame, × deltaTime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simple, but slightly different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at every frame rate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Fixed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0, 1 or more Updates per frame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deterministic and stable,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little more complex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1089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is fixed by default: IsFixedTimeStep = true.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Try both in the game-loop demo on the course site.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Google Shape;17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884" y="1374759"/>
            <a:ext cx="3656224" cy="30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2: Virtual Resolution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draw at a small fixed resolution, scaled to a resizable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point filtering, so the pixels stay sharp.</a:t>
            </a:r>
            <a:endParaRPr/>
          </a:p>
        </p:txBody>
      </p:sp>
      <p:pic>
        <p:nvPicPr>
          <p:cNvPr id="181" name="Picture 181" descr="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213" y="2429008"/>
            <a:ext cx="4061575" cy="228463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Google Shape;18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5075" y="1731955"/>
            <a:ext cx="41338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care about deltatime?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ElapsedGameTime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TotalSeconds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we need velocity for?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emulate “GetKeyDown”?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sp>
        <p:nvSpPr>
          <p:cNvPr id="239" name="Google Shape;239;p4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0" name="Google Shape;24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5562" y="1488650"/>
            <a:ext cx="3572875" cy="281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sp>
        <p:nvSpPr>
          <p:cNvPr id="246" name="Google Shape;246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7" name="Google Shape;24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7452" y="1351938"/>
            <a:ext cx="4509099" cy="3091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exactly as before.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787600" y="1675200"/>
            <a:ext cx="404460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pic>
        <p:nvPicPr>
          <p:cNvPr id="260" name="Google Shape;26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656" y="1625188"/>
            <a:ext cx="3365555" cy="189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150;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8: Scoring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72" name="Google Shape;272;p4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keep the score, and show it in a bigger font.</a:t>
            </a:r>
            <a:endParaRPr/>
          </a:p>
        </p:txBody>
      </p:sp>
      <p:pic>
        <p:nvPicPr>
          <p:cNvPr id="273" name="Picture 273" descr="p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062" y="2034455"/>
            <a:ext cx="4903893" cy="275844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Google Shape;27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6587" y="1041776"/>
            <a:ext cx="5290826" cy="33932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7"/>
          <p:cNvSpPr txBox="1"/>
          <p:nvPr/>
        </p:nvSpPr>
        <p:spPr>
          <a:xfrm>
            <a:off x="3038400" y="4514350"/>
            <a:ext cx="30672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https://gameprogrammingpatterns.com/state.html</a:t>
            </a:r>
            <a:endParaRPr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9: A Serve Mode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serve state: the player who was scored on serves.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10: A Winner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3" name="Google Shape;293;p4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a done mode when a player reaches 10 points.</a:t>
            </a:r>
            <a:endParaRPr/>
          </a:p>
        </p:txBody>
      </p:sp>
      <p:pic>
        <p:nvPicPr>
          <p:cNvPr id="294" name="Picture 294" descr="p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856" y="1938429"/>
            <a:ext cx="5088298" cy="286216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(not today)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pic>
        <p:nvPicPr>
          <p:cNvPr id="306" name="Google Shape;30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0063" y="1139600"/>
            <a:ext cx="2963875" cy="286429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51"/>
          <p:cNvSpPr txBox="1"/>
          <p:nvPr/>
        </p:nvSpPr>
        <p:spPr>
          <a:xfrm>
            <a:off x="3710700" y="412265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11: Sound Effects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three sounds: a paddle hit, a wall hit, and a score.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First milestone, by session 04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Groups formed, game concept written, repository created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  <p:pic>
        <p:nvPicPr>
          <p:cNvPr id="320" name="Google Shape;32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538" y="2195848"/>
            <a:ext cx="7010925" cy="140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