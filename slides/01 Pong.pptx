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7" r:id="rId6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310" r:id="rId46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311" r:id="rId43"/>
    <p:sldId id="312" r:id="rId41"/>
    <p:sldId id="292" r:id="rId42"/>
    <p:sldId id="294" r:id="rId44"/>
    <p:sldId id="295" r:id="rId45"/>
    <p:sldId id="308" r:id="rId16"/>
    <p:sldId id="297" r:id="rId47"/>
    <p:sldId id="298" r:id="rId48"/>
    <p:sldId id="299" r:id="rId49"/>
    <p:sldId id="309" r:id="rId15"/>
    <p:sldId id="306" r:id="rId65"/>
    <p:sldId id="304" r:id="rId63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5" Type="http://schemas.openxmlformats.org/officeDocument/2006/relationships/slide" Target="slides/slide39.xml"/><Relationship Id="rId16" Type="http://schemas.openxmlformats.org/officeDocument/2006/relationships/slide" Target="slides/slide35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30.xml"/><Relationship Id="rId41" Type="http://schemas.openxmlformats.org/officeDocument/2006/relationships/slide" Target="slides/slide43.xml"/><Relationship Id="rId42" Type="http://schemas.openxmlformats.org/officeDocument/2006/relationships/slide" Target="slides/slide32.xml"/><Relationship Id="rId43" Type="http://schemas.openxmlformats.org/officeDocument/2006/relationships/slide" Target="slides/slide31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18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42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29.xml"/><Relationship Id="rId63" Type="http://schemas.openxmlformats.org/officeDocument/2006/relationships/slide" Target="slides/slide41.xml"/><Relationship Id="rId65" Type="http://schemas.openxmlformats.org/officeDocument/2006/relationships/slide" Target="slides/slide40.xml"/><Relationship Id="rId6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game: Pong, the whole thing, from an empty window. The main topic: the game loop.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rectangles overlap only if they overlap on both axes. On the right they overlap on x only, so there is no collision.</a:t>
            </a:r>
          </a:p>
          <a:p>
            <a:r>
              <a:t>The code is the picture: the first line is the bars under the boxes, the second the bars beside them.</a:t>
            </a:r>
          </a:p>
          <a:p>
            <a:r>
              <a:t>Draw two boxes on the board and check the four comparisons together.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Bars at the sides when the window is wide, above and below when it is tall.</a:t>
            </a:r>
          </a:p>
          <a:p>
            <a:r>
              <a:t>LinearClamp blurs the text. At 640 × 360 the text is half as big on screen: the scale is now 2.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In this course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Pong1 and Pong2 side by side, then run Pong2 and resize the window.</a:t>
            </a:r>
          </a:p>
          <a:p>
            <a:r>
              <a:t>- the transform matrix passed to Begin</a:t>
            </a:r>
          </a:p>
          <a:p>
            <a:r>
              <a:t>- the scale is the smaller of the two ratios, so nothing stretches</a:t>
            </a:r>
          </a:p>
          <a:p>
            <a:r>
              <a:t>- the viewport centres the picture; black bars fill the rest</a:t>
            </a:r>
          </a:p>
          <a:p>
            <a:r>
              <a:t>The game code only ever sees 320 × 180. The next exercise starts from Pong2.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GARCore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as it did before, since a refactor changes only the structure.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middle of the paddle sends the ball straight back; the further from the middle, the steeper.</a:t>
            </a:r>
          </a:p>
          <a:p>
            <a:r>
              <a:t>Ask: why is this better than a random angle? Answer: the player controls the angle, so hitting becomes a skill.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_winningScore in Game1. The pause needs a new if in Update (skip the play logic) and in Draw (show Paused), and a key check. Every mode touches every method, and Flappy Bird fixes this with a state machine.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Pong7 and Pong10 side by side, then run Pong10.</a:t>
            </a:r>
          </a:p>
          <a:p>
            <a:r>
              <a:t>- Pong8: the score, in font-big</a:t>
            </a:r>
          </a:p>
          <a:p>
            <a:r>
              <a:t>- Pong9: serve, and the player who was scored on serves</a:t>
            </a:r>
          </a:p>
          <a:p>
            <a:r>
              <a:t>- Pong10: done at 10 points</a:t>
            </a:r>
          </a:p>
          <a:p>
            <a:r>
              <a:t>Point at the ifs on the mode string in Update and in Draw.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Play(volume, pitch, pan): pitch runs from -1 to 1. For example Math.Clamp(speed / maxSpeed - 0.5f, -1, 1) at the paddle hit.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Pong11, and show the three Play calls: paddle hit, wall hit, point.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would move once per drawn frame, so it goes faster on a fast screen, and stops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Pong.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gif"/><Relationship Id="rId3" Type="http://schemas.openxmlformats.org/officeDocument/2006/relationships/notesSlide" Target="../notesSlides/notesSlide5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0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4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4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4" Type="http://schemas.openxmlformats.org/officeDocument/2006/relationships/image" Target="../media/image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4" Type="http://schemas.openxmlformats.org/officeDocument/2006/relationships/hyperlink" Target="https://www.bfxr.net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Pong</a:t>
            </a:r>
            <a:endParaRPr/>
          </a:p>
        </p:txBody>
      </p:sp>
      <p:pic>
        <p:nvPicPr>
          <p:cNvPr id="3" name="Picture 2" descr="po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32" y="960120"/>
            <a:ext cx="4485735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Pong (Atari, 1972). Image: pong74ls, derivative work by WikiJunkie,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pong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934" y="1281973"/>
            <a:ext cx="6062131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3977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 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 gives you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Who writes the game loop, the scenes and the entities?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01-pong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(Pong0 to Pong11),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Picture 148" descr="game-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  <p:pic>
        <p:nvPicPr>
          <p:cNvPr id="156" name="Picture 155" descr="life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709" y="1051560"/>
            <a:ext cx="7536581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frame. Fixed: equal steps (MonoGame’s default).</a:t>
            </a:r>
            <a:endParaRPr/>
          </a:p>
        </p:txBody>
      </p:sp>
      <p:pic>
        <p:nvPicPr>
          <p:cNvPr id="304" name="Picture 303" descr="timest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7863840" cy="3713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Picture 173" descr="filte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Virtual Resolution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 → Pong2: drawn at 320 × 180, scaled to a resizable window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Point filtering keeps the pixels sharp; black bars keep the shape.</a:t>
            </a:r>
            <a:endParaRPr/>
          </a:p>
        </p:txBody>
      </p:sp>
      <p:pic>
        <p:nvPicPr>
          <p:cNvPr id="181" name="Picture 180" descr="virtual-res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691640"/>
            <a:ext cx="676656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Resize the Window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In Pong2: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Drag the window wide, then tall. Where do the bars go?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Swap PointClamp for LinearClamp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Set the virtual size to 640 × 360. What happens to the text?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Picture 187" descr="coordina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1097280"/>
            <a:ext cx="6766560" cy="38531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 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548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multiply movement by delta time?</a:t>
            </a:r>
            <a:endParaRPr/>
          </a:p>
        </p:txBody>
      </p:sp>
      <p:pic>
        <p:nvPicPr>
          <p:cNvPr id="214" name="Picture 213" descr="delta-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417320"/>
            <a:ext cx="7498079" cy="358241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we tell that a key was just pressed?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pic>
        <p:nvPicPr>
          <p:cNvPr id="239" name="Picture 238" descr="encapsu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pic>
        <p:nvPicPr>
          <p:cNvPr id="246" name="Picture 245" descr="update-metho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89763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as it did before.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79" y="914400"/>
            <a:ext cx="6035040" cy="30175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4069080"/>
            <a:ext cx="7315200" cy="8229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return boxA.Left &lt; boxB.Right &amp;&amp; boxA.Right &gt; boxB.Left      // overlap on x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    &amp;&amp; boxA.Top &lt; boxB.Bottom &amp;&amp; boxA.Bottom &gt; boxB.Top;     // overlap on 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110;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Picture 278" descr="mod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Pong7 → Pong10: score, serve and done modes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Three Points and a Pause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End a game at 3 points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paused mode that P toggles during play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methods did you have to change?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(Flappy Bird)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sp>
        <p:nvSpPr>
          <p:cNvPr id="307" name="Google Shape;307;p51"/>
          <p:cNvSpPr txBox="1"/>
          <p:nvPr/>
        </p:nvSpPr>
        <p:spPr>
          <a:xfrm>
            <a:off x="3710700" y="265176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8" name="TextBox 307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Retro sound effects in seconds, or record your own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Sound Effects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Pong11: a sound for a paddle hit, a wall hit and a point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Pitch With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 takes a volume, a pitch and a pan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paddle sound’s pitch as the ball speeds up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the Ball Hits Sets the Angle</a:t>
            </a:r>
            <a:endParaRPr/>
          </a:p>
        </p:txBody>
      </p:sp>
      <p:pic>
        <p:nvPicPr>
          <p:cNvPr id="3" name="Picture 2" descr="bou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