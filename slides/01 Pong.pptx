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md2-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SzPts val="1600"/>
              <a:buAutoNum type="arabicPeriod"/>
            </a:pPr>
            <a:r>
              <a:rPr lang="en"/>
              <a:t>Sokoban</a:t>
            </a:r>
            <a:endParaRPr>
              <a:solidFill>
                <a:schemeClr val="lt1"/>
              </a:solidFill>
            </a:endParaRPr>
          </a:p>
          <a:p>
            <a:pPr indent="-330200" lvl="0" marL="457200" rtl="0" algn="l">
              <a:spcBef>
                <a:spcPts val="0"/>
              </a:spcBef>
              <a:spcAft>
                <a:spcPts val="0"/>
              </a:spcAft>
              <a:buSzPts val="1600"/>
              <a:buAutoNum type="arabicPeriod"/>
            </a:pPr>
            <a:r>
              <a:rPr lang="en"/>
              <a:t>Pac-Man</a:t>
            </a:r>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Angry Birds</a:t>
            </a:r>
            <a:endParaRPr>
              <a:solidFill>
                <a:schemeClr val="lt1"/>
              </a:solidFill>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SzPts val="1600"/>
              <a:buAutoNum type="arabicPeriod"/>
            </a:pPr>
            <a:r>
              <a:rPr lang="en"/>
              <a:t>Plants vs. Zombies</a:t>
            </a:r>
            <a:endParaRPr/>
          </a:p>
          <a:p>
            <a:pPr indent="-330200" lvl="0" marL="457200" rtl="0" algn="l">
              <a:spcBef>
                <a:spcPts val="0"/>
              </a:spcBef>
              <a:spcAft>
                <a:spcPts val="0"/>
              </a:spcAft>
              <a:buSzPts val="1600"/>
              <a:buAutoNum type="arabicPeriod"/>
            </a:pPr>
            <a:r>
              <a:rPr lang="en"/>
              <a:t>Pokemon</a:t>
            </a:r>
            <a:endParaRPr>
              <a:solidFill>
                <a:schemeClr val="lt1"/>
              </a:solidFill>
            </a:endParaRPr>
          </a:p>
          <a:p>
            <a:pPr indent="-330200" lvl="0" marL="457200" rtl="0" algn="l">
              <a:spcBef>
                <a:spcPts val="0"/>
              </a:spcBef>
              <a:spcAft>
                <a:spcPts val="0"/>
              </a:spcAft>
              <a:buSzPts val="1600"/>
              <a:buAutoNum type="arabicPeriod"/>
            </a:pPr>
            <a:r>
              <a:rPr lang="en"/>
              <a:t>Geometry Wars</a:t>
            </a:r>
            <a:endParaRPr>
              <a:solidFill>
                <a:schemeClr val="lt1"/>
              </a:solidFill>
            </a:endParaRPr>
          </a:p>
          <a:p>
            <a:pPr indent="-330200" lvl="0" marL="457200" rtl="0" algn="l">
              <a:spcBef>
                <a:spcPts val="0"/>
              </a:spcBef>
              <a:spcAft>
                <a:spcPts val="0"/>
              </a:spcAft>
              <a:buSzPts val="1600"/>
              <a:buAutoNum type="arabicPeriod"/>
            </a:pPr>
            <a:r>
              <a:rPr lang="en"/>
              <a:t>Vampire Survivors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repositories on GitHub (Metamate/gmd2-*)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the course repository and open 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the game: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state of the world</a:t>
            </a:r>
            <a:endParaRPr/>
          </a:p>
          <a:p>
            <a:pPr indent="-317500" lvl="1" marL="914400" rtl="0" algn="l">
              <a:spcBef>
                <a:spcPts val="0"/>
              </a:spcBef>
              <a:spcAft>
                <a:spcPts val="0"/>
              </a:spcAft>
              <a:buSzPts val="1400"/>
              <a:buChar char="○"/>
            </a:pPr>
            <a:r>
              <a:rPr lang="en"/>
              <a:t>Input, movement, collisions, game rules</a:t>
            </a:r>
            <a:endParaRPr/>
          </a:p>
          <a:p>
            <a:pPr indent="-330200" lvl="0" marL="457200" rtl="0" algn="l">
              <a:spcBef>
                <a:spcPts val="0"/>
              </a:spcBef>
              <a:spcAft>
                <a:spcPts val="0"/>
              </a:spcAft>
              <a:buSzPts val="1600"/>
              <a:buChar char="●"/>
            </a:pPr>
            <a:r>
              <a:rPr lang="en"/>
              <a:t>Draw only reads that state and renders it</a:t>
            </a:r>
            <a:endParaRPr/>
          </a:p>
          <a:p>
            <a:pPr indent="-317500" lvl="1" marL="914400" rtl="0" algn="l">
              <a:spcBef>
                <a:spcPts val="0"/>
              </a:spcBef>
              <a:spcAft>
                <a:spcPts val="0"/>
              </a:spcAft>
              <a:buSzPts val="1400"/>
              <a:buChar char="○"/>
            </a:pPr>
            <a:r>
              <a:rPr lang="en"/>
              <a:t>Never change game state in Draw</a:t>
            </a:r>
            <a:endParaRPr/>
          </a:p>
          <a:p>
            <a:pPr indent="-330200" lvl="0" marL="457200" rtl="0" algn="l">
              <a:spcBef>
                <a:spcPts val="0"/>
              </a:spcBef>
              <a:spcAft>
                <a:spcPts val="0"/>
              </a:spcAft>
              <a:buSzPts val="1600"/>
              <a:buChar char="●"/>
            </a:pPr>
            <a:r>
              <a:rPr lang="en"/>
              <a:t>Keeping them apart lets the simulation and the rendering run at different rates</a:t>
            </a:r>
            <a:endParaRPr/>
          </a:p>
          <a:p>
            <a:pPr indent="-330200" lvl="0" marL="457200" rtl="0" algn="l">
              <a:spcBef>
                <a:spcPts val="0"/>
              </a:spcBef>
              <a:spcAft>
                <a:spcPts val="0"/>
              </a:spcAft>
              <a:buSzPts val="1600"/>
              <a:buChar char="●"/>
            </a:pPr>
            <a:r>
              <a:rPr lang="en"/>
              <a:t>Double buffer</a:t>
            </a:r>
            <a:endParaRPr/>
          </a:p>
          <a:p>
            <a:pPr indent="-317500" lvl="1" marL="914400" rtl="0" algn="l">
              <a:spcBef>
                <a:spcPts val="0"/>
              </a:spcBef>
              <a:spcAft>
                <a:spcPts val="0"/>
              </a:spcAft>
              <a:buSzPts val="1400"/>
              <a:buChar char="○"/>
            </a:pPr>
            <a:r>
              <a:rPr lang="en"/>
              <a:t>We draw into a back buffer that isn't visible</a:t>
            </a:r>
            <a:endParaRPr/>
          </a:p>
          <a:p>
            <a:pPr indent="-317500" lvl="1" marL="914400" rtl="0" algn="l">
              <a:spcBef>
                <a:spcPts val="0"/>
              </a:spcBef>
              <a:spcAft>
                <a:spcPts val="0"/>
              </a:spcAft>
              <a:buSzPts val="1400"/>
              <a:buChar char="○"/>
            </a:pPr>
            <a:r>
              <a:rPr lang="en"/>
              <a:t>At the end of Draw, MonoGame presents it: the player never sees a half-drawn frame</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timestep</a:t>
            </a:r>
            <a:endParaRPr/>
          </a:p>
          <a:p>
            <a:pPr indent="-317500" lvl="1" marL="914400" rtl="0" algn="l">
              <a:spcBef>
                <a:spcPts val="0"/>
              </a:spcBef>
              <a:spcAft>
                <a:spcPts val="0"/>
              </a:spcAft>
              <a:buSzPts val="1400"/>
              <a:buChar char="○"/>
            </a:pPr>
            <a:r>
              <a:rPr lang="en"/>
              <a:t>One Update per rendered frame, movement scaled by deltaTime</a:t>
            </a:r>
            <a:endParaRPr/>
          </a:p>
          <a:p>
            <a:pPr indent="-317500" lvl="1" marL="914400" rtl="0" algn="l">
              <a:spcBef>
                <a:spcPts val="0"/>
              </a:spcBef>
              <a:spcAft>
                <a:spcPts val="0"/>
              </a:spcAft>
              <a:buSzPts val="1400"/>
              <a:buChar char="○"/>
            </a:pPr>
            <a:r>
              <a:rPr lang="en"/>
              <a:t>Simple, but the simulation behaves slightly differently at different frame rates</a:t>
            </a:r>
            <a:endParaRPr/>
          </a:p>
          <a:p>
            <a:pPr indent="-330200" lvl="0" marL="457200" rtl="0" algn="l">
              <a:spcBef>
                <a:spcPts val="0"/>
              </a:spcBef>
              <a:spcAft>
                <a:spcPts val="0"/>
              </a:spcAft>
              <a:buSzPts val="1600"/>
              <a:buChar char="●"/>
            </a:pPr>
            <a:r>
              <a:rPr lang="en"/>
              <a:t>Fixed timestep</a:t>
            </a:r>
            <a:endParaRPr/>
          </a:p>
          <a:p>
            <a:pPr indent="-317500" lvl="1" marL="914400" rtl="0" algn="l">
              <a:spcBef>
                <a:spcPts val="0"/>
              </a:spcBef>
              <a:spcAft>
                <a:spcPts val="0"/>
              </a:spcAft>
              <a:buSzPts val="1400"/>
              <a:buChar char="○"/>
            </a:pPr>
            <a:r>
              <a:rPr lang="en"/>
              <a:t>Update in fixed-size steps (e.g. 60 per second): zero, one or several per frame</a:t>
            </a:r>
            <a:endParaRPr/>
          </a:p>
          <a:p>
            <a:pPr indent="-317500" lvl="1" marL="914400" rtl="0" algn="l">
              <a:spcBef>
                <a:spcPts val="0"/>
              </a:spcBef>
              <a:spcAft>
                <a:spcPts val="0"/>
              </a:spcAft>
              <a:buSzPts val="1400"/>
              <a:buChar char="○"/>
            </a:pPr>
            <a:r>
              <a:rPr lang="en"/>
              <a:t>Deterministic and stable, at the cost of some complexity</a:t>
            </a:r>
            <a:endParaRPr/>
          </a:p>
          <a:p>
            <a:pPr indent="-330200" lvl="0" marL="457200" rtl="0" algn="l">
              <a:spcBef>
                <a:spcPts val="0"/>
              </a:spcBef>
              <a:spcAft>
                <a:spcPts val="0"/>
              </a:spcAft>
              <a:buSzPts val="1600"/>
              <a:buChar char="●"/>
            </a:pPr>
            <a:r>
              <a:rPr lang="en"/>
              <a:t>MonoGame uses a fixed timestep by default (IsFixedTimeStep = true)</a:t>
            </a:r>
            <a:endParaRPr/>
          </a:p>
          <a:p>
            <a:pPr indent="-330200" lvl="0" marL="457200" rtl="0" algn="l">
              <a:spcBef>
                <a:spcPts val="0"/>
              </a:spcBef>
              <a:spcAft>
                <a:spcPts val="0"/>
              </a:spcAft>
              <a:buSzPts val="1600"/>
              <a:buChar char="●"/>
            </a:pPr>
            <a:r>
              <a:rPr lang="en"/>
              <a:t>Try it: the game loop demo on the course site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