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07" r:id="rId6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301" r:id="rId60"/>
    <p:sldId id="302" r:id="rId61"/>
    <p:sldId id="276" r:id="rId26"/>
    <p:sldId id="277" r:id="rId27"/>
    <p:sldId id="278" r:id="rId28"/>
    <p:sldId id="279" r:id="rId29"/>
    <p:sldId id="310" r:id="rId46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303" r:id="rId62"/>
    <p:sldId id="290" r:id="rId40"/>
    <p:sldId id="291" r:id="rId41"/>
    <p:sldId id="292" r:id="rId42"/>
    <p:sldId id="294" r:id="rId44"/>
    <p:sldId id="295" r:id="rId45"/>
    <p:sldId id="308" r:id="rId16"/>
    <p:sldId id="297" r:id="rId47"/>
    <p:sldId id="298" r:id="rId48"/>
    <p:sldId id="299" r:id="rId49"/>
    <p:sldId id="309" r:id="rId15"/>
    <p:sldId id="306" r:id="rId65"/>
    <p:sldId id="304" r:id="rId63"/>
    <p:sldId id="300" r:id="rId50"/>
  </p:sldIdLst>
  <p:sldSz cy="5143500" cx="9144000"/>
  <p:notesSz cx="6858000" cy="9144000"/>
  <p:embeddedFontLst>
    <p:embeddedFont>
      <p:font typeface="Roboto"/>
      <p:regular r:id="rId51"/>
      <p:bold r:id="rId52"/>
      <p:italic r:id="rId53"/>
      <p:boldItalic r:id="rId54"/>
    </p:embeddedFont>
    <p:embeddedFont>
      <p:font typeface="VT323"/>
      <p:regular r:id="rId55"/>
    </p:embeddedFont>
    <p:embeddedFont>
      <p:font typeface="Roboto Light"/>
      <p:regular r:id="rId56"/>
      <p:bold r:id="rId57"/>
      <p:italic r:id="rId58"/>
      <p:boldItalic r:id="rId5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5" Type="http://schemas.openxmlformats.org/officeDocument/2006/relationships/slide" Target="slides/slide39.xml"/><Relationship Id="rId16" Type="http://schemas.openxmlformats.org/officeDocument/2006/relationships/slide" Target="slides/slide35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Relationship Id="rId37" Type="http://schemas.openxmlformats.org/officeDocument/2006/relationships/slide" Target="slides/slide26.xml"/><Relationship Id="rId38" Type="http://schemas.openxmlformats.org/officeDocument/2006/relationships/slide" Target="slides/slide27.xml"/><Relationship Id="rId39" Type="http://schemas.openxmlformats.org/officeDocument/2006/relationships/slide" Target="slides/slide28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4" Type="http://schemas.openxmlformats.org/officeDocument/2006/relationships/slide" Target="slides/slide33.xml"/><Relationship Id="rId45" Type="http://schemas.openxmlformats.org/officeDocument/2006/relationships/slide" Target="slides/slide34.xml"/><Relationship Id="rId46" Type="http://schemas.openxmlformats.org/officeDocument/2006/relationships/slide" Target="slides/slide18.xml"/><Relationship Id="rId47" Type="http://schemas.openxmlformats.org/officeDocument/2006/relationships/slide" Target="slides/slide36.xml"/><Relationship Id="rId48" Type="http://schemas.openxmlformats.org/officeDocument/2006/relationships/slide" Target="slides/slide37.xml"/><Relationship Id="rId49" Type="http://schemas.openxmlformats.org/officeDocument/2006/relationships/slide" Target="slides/slide38.xml"/><Relationship Id="rId50" Type="http://schemas.openxmlformats.org/officeDocument/2006/relationships/slide" Target="slides/slide42.xml"/><Relationship Id="rId51" Type="http://schemas.openxmlformats.org/officeDocument/2006/relationships/font" Target="fonts/Roboto-regular.fntdata"/><Relationship Id="rId52" Type="http://schemas.openxmlformats.org/officeDocument/2006/relationships/font" Target="fonts/Roboto-bold.fntdata"/><Relationship Id="rId53" Type="http://schemas.openxmlformats.org/officeDocument/2006/relationships/font" Target="fonts/Roboto-italic.fntdata"/><Relationship Id="rId54" Type="http://schemas.openxmlformats.org/officeDocument/2006/relationships/font" Target="fonts/Roboto-boldItalic.fntdata"/><Relationship Id="rId55" Type="http://schemas.openxmlformats.org/officeDocument/2006/relationships/font" Target="fonts/VT323-regular.fntdata"/><Relationship Id="rId56" Type="http://schemas.openxmlformats.org/officeDocument/2006/relationships/font" Target="fonts/RobotoLight-regular.fntdata"/><Relationship Id="rId57" Type="http://schemas.openxmlformats.org/officeDocument/2006/relationships/font" Target="fonts/RobotoLight-bold.fntdata"/><Relationship Id="rId58" Type="http://schemas.openxmlformats.org/officeDocument/2006/relationships/font" Target="fonts/RobotoLight-italic.fntdata"/><Relationship Id="rId59" Type="http://schemas.openxmlformats.org/officeDocument/2006/relationships/font" Target="fonts/RobotoLight-boldItalic.fntdata"/><Relationship Id="rId60" Type="http://schemas.openxmlformats.org/officeDocument/2006/relationships/slide" Target="slides/slide12.xml"/><Relationship Id="rId61" Type="http://schemas.openxmlformats.org/officeDocument/2006/relationships/slide" Target="slides/slide13.xml"/><Relationship Id="rId62" Type="http://schemas.openxmlformats.org/officeDocument/2006/relationships/slide" Target="slides/slide29.xml"/><Relationship Id="rId63" Type="http://schemas.openxmlformats.org/officeDocument/2006/relationships/slide" Target="slides/slide41.xml"/><Relationship Id="rId65" Type="http://schemas.openxmlformats.org/officeDocument/2006/relationships/slide" Target="slides/slide40.xml"/><Relationship Id="rId66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game: Pong, the whole thing, from an empty window. The main topic: the game loop.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Bars at the sides when the window is wide, above and below when it is tall.</a:t>
            </a:r>
          </a:p>
          <a:p>
            <a:r>
              <a:t>LinearClamp blurs the text. At 640 × 360 the text is half as big on screen: the scale is now 2.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932a601320_0_1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932a601320_0_1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Pong11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c20e943c05_1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c20e943c05_1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 today is the game loop; everything else is what the loop needs: drawing, input, collisions, state, sound.</a:t>
            </a:r>
          </a:p>
          <a:p>
            <a:r>
              <a:t>Each has a section on the course site.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c20e943c05_1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c20e943c05_1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MonoGame: our framework for the whole course. Free, open source, C#.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9343ef94d7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9343ef94d7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Name the five boxes quickly. Then ask the question at the bottom.</a:t>
            </a:r>
          </a:p>
          <a:p>
            <a:r>
              <a:t>Answer: we do. In this course we write the loop, the scenes and the entities ourselves, and learn how engines do it.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c20e943c05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c20e943c05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Everyone installs these now, if they haven’t: the .NET 10 SDK, VS Code with the C# Dev Kit, Git.</a:t>
            </a:r>
          </a:p>
          <a:p>
            <a:r>
              <a:t>Check that dotnet --version works before moving on.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c2ab6540c5_0_1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c2ab6540c5_0_1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gar-games/01-pong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c2ab6540c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c2ab6540c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First exercise: clone, open Pong0, run it. The screenshot is what they should see: an empty window.</a:t>
            </a:r>
          </a:p>
          <a:p>
            <a:r>
              <a:t>Walk round and help anyone whose setup fails; don’t continue until most have a window.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9343ef94d7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9343ef94d7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game is this loop: process input, update the game, render. Many times a second, until the game ends.</a:t>
            </a:r>
          </a:p>
          <a:p>
            <a:r>
              <a:t>Ask: why not wait for input like a normal app? Answer: the game has to keep moving even when nobody presses anything.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932a601320_0_1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932a601320_0_1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loop in MonoGame: Initialize and LoadContent once, then Update and Draw every frame.</a:t>
            </a:r>
          </a:p>
          <a:p>
            <a:r>
              <a:t>Open Game1.cs in Pong0 and find each method.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9336b13721_0_2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9336b13721_0_2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an asset left to right: a file in Content/Assets, a rule in Builder.cs, the builder runs on build, an .xnb file, Content.Load at runtime.</a:t>
            </a:r>
          </a:p>
          <a:p>
            <a:r>
              <a:t>Show Builder.cs briefly; they’ll add rules later.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c2ab6540c5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c2ab6540c5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“Hello, MonoGame!” centred on a 1280 × 720 window. They need a SpriteFont and MeasureString to centre it.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c2ab6540c5_0_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c2ab6540c5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Point vs. linear filtering: pixel art wants point filtering, or it goes blurry when scaled up.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c2ab6540c5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c2ab6540c5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Pong1 and Pong2 side by side, then run Pong2 and resize the window.</a:t>
            </a:r>
          </a:p>
          <a:p>
            <a:r>
              <a:t>- the transform matrix passed to Begin</a:t>
            </a:r>
          </a:p>
          <a:p>
            <a:r>
              <a:t>- the scale is the smaller of the two ratios, so nothing stretches</a:t>
            </a:r>
          </a:p>
          <a:p>
            <a:r>
              <a:t>- the viewport centres the picture; black bars fill the rest</a:t>
            </a:r>
          </a:p>
          <a:p>
            <a:r>
              <a:t>The game code only ever sees 320 × 180. The next exercise starts from Pong2.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932a601320_0_1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932a601320_0_1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 is the top left; y grows downwards. Most first bugs are a sign error here.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c2ab6540c5_0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c2ab6540c5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No image for a rectangle? Make a 1 × 1 white texture and stretch it. That’s all Pong needs.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c2ab6540c5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c2ab6540c5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two paddles and a ball, a retro font, the background colour. The screenshot shows the result.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9336b13721_0_2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9336b13721_0_2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Keyboard.GetState() every frame, then IsKeyDown. Note the deltaTime in the movement: next slide.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9336b13721_0_2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9336b13721_0_2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Ask: why multiply by deltaTime? Answer: the same speed per second at any frame rate.</a:t>
            </a:r>
          </a:p>
          <a:p>
            <a:r>
              <a:t>Velocity: speed with a direction; the ball needs one.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c2ab6540c5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c2ab6540c5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W/S and the arrow keys move the paddles, the same speed at any frame rate.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c2ab6540c5_0_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3c2ab6540c5_0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IsKeyDown is true every frame the key is held. For a single press, compare with last frame’s state.</a:t>
            </a:r>
          </a:p>
          <a:p>
            <a:r>
              <a:t>Flappy Bird moves this into GARCore as WasKeyJustPressed.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c2ab6540c5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" name="Google Shape;229;g3c2ab6540c5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Enter launches the ball in a random direction; the paddles stay on screen.</a:t>
            </a:r>
          </a:p>
          <a:p>
            <a:r>
              <a:t>A string field remembers the mode: the first, simple version of game state.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9336b13721_0_1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39336b13721_0_1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Game1 is getting long. Data and the code that uses it belong together: a Paddle, a Ball.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9343ef94d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39343ef94d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object knows how to update itself; the game just calls them all. Read the chapter in Game Programming Patterns.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c2ab6540c5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3c2ab6540c5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refactor into Paddle and Ball. The game must behave as it did before, since a refactor changes only the structure.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3932a601320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3932a601320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Two boxes overlap unless one is entirely to the left, right, above or below the other.</a:t>
            </a:r>
          </a:p>
          <a:p>
            <a:r>
              <a:t>Draw two boxes on the board and check the four conditions together.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2ab6540c5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2ab6540c5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bounce off paddles and walls; each paddle hit speeds the ball up by 10%.</a:t>
            </a:r>
          </a:p>
          <a:p>
            <a:r>
              <a:t>Our rule: where the ball hits the paddle sets the angle. Show the three lines on the slide.</a:t>
            </a:r>
          </a:p>
          <a:p>
            <a:r>
              <a:t>Ask the question. Answer: the player controls the angle, so hitting becomes a skill.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_winningScore in Game1. The pause needs a new if in Update (skip the play logic) and in Draw (show Paused), and a key check. Every mode touches every method, and Flappy Bird fixes this with a state machine.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932a601320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3932a60132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game is now in different modes: start, serve, play, done. So far a string field. Keep that in mind: Flappy Bird will show why it’s fragile.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c2ab6540c5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3c2ab6540c5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Pong7 and Pong10 side by side, then run Pong10.</a:t>
            </a:r>
          </a:p>
          <a:p>
            <a:r>
              <a:t>- Pong8: the score, in font-big</a:t>
            </a:r>
          </a:p>
          <a:p>
            <a:r>
              <a:t>- Pong9: serve, and the player who was scored on serves</a:t>
            </a:r>
          </a:p>
          <a:p>
            <a:r>
              <a:t>- Pong10: done at 10 points</a:t>
            </a:r>
          </a:p>
          <a:p>
            <a:r>
              <a:t>Point at the ifs on the mode string in Update and in Draw.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Play(volume, pitch, pan): pitch runs from -1 to 1. For example Math.Clamp(speed / maxSpeed - 0.5f, -1, 1) at the paddle hit.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c2ab6540c5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c2ab6540c5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question. Answer: SoundEffect for the hit (short, several at once), Song for music (streamed, one at a time).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932a601320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3932a601320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bfxr.net makes retro sound effects in seconds. Or record your own.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c2ab6540c5_0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" name="Google Shape;310;g3c2ab6540c5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Pong11, and show the three Play calls: paddle hit, wall hit, point.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9336b13721_0_1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39336b13721_0_1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Wrap up: the loop, drawing, input, collisions, state, sound. Everything later builds on this.</a:t>
            </a:r>
          </a:p>
          <a:p>
            <a:r>
              <a:t>Before next time: read the Flappy Bird page’s Prepare section.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Update writes the game state; Draw only reads it.</a:t>
            </a:r>
          </a:p>
          <a:p>
            <a:r>
              <a:t>Ask the question on the slide. Answer: the ball would move once per drawn frame, so it goes faster on a fast screen, and stops when Draw is skipped.</a:t>
            </a:r>
          </a:p>
          <a:p>
            <a:r>
              <a:t>The back buffer: the player never sees a half-drawn frame.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Variable: one update per frame, scaled by delta time. Fixed: always the same step, zero or several times a frame.</a:t>
            </a:r>
          </a:p>
          <a:p>
            <a:r>
              <a:t>Snake uses a fixed step on purpose.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What is the difference between a game engine and a game framework?</a:t>
            </a:r>
          </a:p>
          <a:p>
            <a:r>
              <a:t>A: An engine is a complete environment: editor, scene and object model, and a loop that calls your scripts. A framework like MonoGame is a set of libraries. You write the game's structure yourself, including the loop's contents.</a:t>
            </a:r>
          </a:p>
          <a:p/>
          <a:p>
            <a:r>
              <a:t>Q: Why do we multiply movement by deltaTime?</a:t>
            </a:r>
          </a:p>
          <a:p>
            <a:r>
              <a:t>A: So that movement per second is the same no matter how many frames are rendered per second.</a:t>
            </a:r>
          </a:p>
          <a:p/>
          <a:p>
            <a:r>
              <a:t>Q: Why is a string field a fragile way to store game state?</a:t>
            </a:r>
          </a:p>
          <a:p>
            <a:r>
              <a:t>A: Typos aren't caught by the compiler, every Update/Draw needs an if-chain over all states, and adding a state means editing all of those chains.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Pong6: Game1.Update is three calls. Ask: what happens when we add a second ball? Answer: one more call, or a list.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groups (or future groups) five minutes: two or three game ideas, and what updates and draws in each.</a:t>
            </a:r>
          </a:p>
          <a:p>
            <a:r>
              <a:t>Ask a few to share. Encourage small, classic games.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Pong. Ask who has played it, and what they remember of how it plays.</a:t>
            </a:r>
          </a:p>
          <a:p>
            <a:r>
              <a:t>Today we build the parts that matter for the architecture.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4.gif"/><Relationship Id="rId3" Type="http://schemas.openxmlformats.org/officeDocument/2006/relationships/notesSlide" Target="../notesSlides/notesSlide5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4" Type="http://schemas.openxmlformats.org/officeDocument/2006/relationships/image" Target="../media/image10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github.com/Metamate/gar-games/tree/main/01-pong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4" Type="http://schemas.openxmlformats.org/officeDocument/2006/relationships/image" Target="../media/image2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4" Type="http://schemas.openxmlformats.org/officeDocument/2006/relationships/image" Target="../media/image2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docs.monogame.net/articles/getting_to_know/howto/graphics/HowTo_Draw_Text.html" TargetMode="External"/><Relationship Id="rId5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4" Type="http://schemas.openxmlformats.org/officeDocument/2006/relationships/image" Target="../media/image2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4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rive.google.com/file/d/1WL5c1jFGq4ZBwqACP-6nO2RcUN0IbpRo/view?usp=sharing" TargetMode="External"/><Relationship Id="rId4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4" Type="http://schemas.openxmlformats.org/officeDocument/2006/relationships/image" Target="../media/image1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4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gameprogrammingpatterns.com/update-method.html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Relationship Id="rId4" Type="http://schemas.openxmlformats.org/officeDocument/2006/relationships/image" Target="../media/image2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Relationship Id="rId4" Type="http://schemas.openxmlformats.org/officeDocument/2006/relationships/image" Target="../media/image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2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s://docs.monogame.net/api/Microsoft.Xna.Framework.Audio.SoundEffect.html" TargetMode="External"/><Relationship Id="rId4" Type="http://schemas.openxmlformats.org/officeDocument/2006/relationships/hyperlink" Target="https://docs.monogame.net/api/Microsoft.Xna.Framework.Media.Song.html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Relationship Id="rId4" Type="http://schemas.openxmlformats.org/officeDocument/2006/relationships/hyperlink" Target="https://www.bfxr.net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Relationship Id="rId3" Type="http://schemas.openxmlformats.org/officeDocument/2006/relationships/hyperlink" Target="https://drive.google.com/file/d/1CWX_xtry4YbpcdMa1xv_avio8rvjeiE3/view?usp=drive_link" TargetMode="External"/><Relationship Id="rId4" Type="http://schemas.openxmlformats.org/officeDocument/2006/relationships/hyperlink" Target="https://drive.google.com/file/d/1T9egCZ4n9ddwItry0sKYzok5tK_OfEDE/view?usp=drive_link" TargetMode="External"/><Relationship Id="rId5" Type="http://schemas.openxmlformats.org/officeDocument/2006/relationships/hyperlink" Target="https://drive.google.com/file/d/1ZyGhLxdnboI3KhQ3_8yIBvY0qc6jiqMM/view?usp=drive_link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01: Pong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Pong</a:t>
            </a:r>
            <a:endParaRPr/>
          </a:p>
        </p:txBody>
      </p:sp>
      <p:pic>
        <p:nvPicPr>
          <p:cNvPr id="3" name="Picture 2" descr="pong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9132" y="960120"/>
            <a:ext cx="4485735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Pong (Atari, 1972). Image: pong74ls, derivative work by WikiJunkie, CC BY 3.0, via Wikimedia Commons.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107" name="Picture 107" descr="pong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0934" y="1281973"/>
            <a:ext cx="6062131" cy="340994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113" name="Google Shape;113;p21"/>
          <p:cNvSpPr txBox="1"/>
          <p:nvPr>
            <p:ph idx="1" type="body"/>
          </p:nvPr>
        </p:nvSpPr>
        <p:spPr>
          <a:xfrm>
            <a:off x="311700" y="885950"/>
            <a:ext cx="8520600" cy="397764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The 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&amp; Tooling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Content Pipeline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Drawing to the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Delta Time &amp; Velocity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Encapsulation &amp; the Update Method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Sound Effects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Google Shape;11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47938" y="2146354"/>
            <a:ext cx="4048125" cy="8507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MonoGame?</a:t>
            </a:r>
            <a:endParaRPr/>
          </a:p>
        </p:txBody>
      </p:sp>
      <p:sp>
        <p:nvSpPr>
          <p:cNvPr id="124" name="Google Shape;124;p23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framework gives you libraries for the basics, without an editor, scenes or entities.</a:t>
            </a:r>
            <a:endParaRPr/>
          </a:p>
        </p:txBody>
      </p:sp>
      <p:sp>
        <p:nvSpPr>
          <p:cNvPr id="125" name="Rounded Rectangle 124"/>
          <p:cNvSpPr/>
          <p:nvPr/>
        </p:nvSpPr>
        <p:spPr>
          <a:xfrm>
            <a:off x="411480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Graphics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2D and 3D drawing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2093976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Input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keys, mouse, pads, touch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3776472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Audio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sounds and music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458968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Content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importing assets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7141464" y="1463040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Math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vectors, matrices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Who writes the game loop, the scenes and the entities?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Tooling</a:t>
            </a:r>
            <a:endParaRPr/>
          </a:p>
        </p:txBody>
      </p:sp>
      <p:sp>
        <p:nvSpPr>
          <p:cNvPr id="130" name="Google Shape;130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.NET 10 SDK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VS Code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C# Dev Kit extension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games on GitHub: Metamate/gar-games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136" name="Google Shape;136;p25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01-pong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(Pong0 to Pong11),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0: An Empty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2" name="Google Shape;142;p26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clone gar-games, open 01-pong/Pong0, and run it.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From the 01-pong folder: dotnet run --project Pong0</a:t>
            </a:r>
            <a:endParaRPr/>
          </a:p>
        </p:txBody>
      </p:sp>
      <p:pic>
        <p:nvPicPr>
          <p:cNvPr id="143" name="Google Shape;143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70663" y="2571750"/>
            <a:ext cx="3202675" cy="204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Loop Pattern</a:t>
            </a:r>
            <a:endParaRPr/>
          </a:p>
        </p:txBody>
      </p:sp>
      <p:pic>
        <p:nvPicPr>
          <p:cNvPr id="149" name="Picture 148" descr="game-lo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1051560"/>
            <a:ext cx="8503920" cy="29527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MonoGame Game Loop</a:t>
            </a:r>
            <a:endParaRPr/>
          </a:p>
        </p:txBody>
      </p:sp>
      <p:pic>
        <p:nvPicPr>
          <p:cNvPr id="156" name="Picture 155" descr="lifecy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709" y="1051560"/>
            <a:ext cx="7536581" cy="39776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vs. Draw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Update changes the world; Draw only reads it.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731520" y="155448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Update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input, movement, collisions, rules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3566160" y="155448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The game state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positions, scores, ...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6035040" y="1554480"/>
            <a:ext cx="237744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Draw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renders what it reads</a:t>
            </a:r>
          </a:p>
        </p:txBody>
      </p:sp>
      <p:cxnSp>
        <p:nvCxnSpPr>
          <p:cNvPr id="304" name="Connector 303"/>
          <p:cNvCxnSpPr/>
          <p:nvPr/>
        </p:nvCxnSpPr>
        <p:spPr>
          <a:xfrm>
            <a:off x="3127248" y="1965960"/>
            <a:ext cx="420624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5" name="TextBox 304"/>
          <p:cNvSpPr txBox="1"/>
          <p:nvPr/>
        </p:nvSpPr>
        <p:spPr>
          <a:xfrm>
            <a:off x="2944368" y="1673351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writes</a:t>
            </a:r>
          </a:p>
        </p:txBody>
      </p:sp>
      <p:cxnSp>
        <p:nvCxnSpPr>
          <p:cNvPr id="306" name="Connector 305"/>
          <p:cNvCxnSpPr/>
          <p:nvPr/>
        </p:nvCxnSpPr>
        <p:spPr>
          <a:xfrm flipH="1">
            <a:off x="5596128" y="1965960"/>
            <a:ext cx="42062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TextBox 306"/>
          <p:cNvSpPr txBox="1"/>
          <p:nvPr/>
        </p:nvSpPr>
        <p:spPr>
          <a:xfrm>
            <a:off x="5413248" y="1673351"/>
            <a:ext cx="7863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reads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731520" y="269748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Draw goes to a hidden back buffer; MonoGame shows it when Draw is done,</a:t>
            </a:r>
          </a:p>
          <a:p>
            <a:pPr algn="ctr"/>
            <a:r>
              <a:rPr sz="1300" b="0" i="0">
                <a:solidFill>
                  <a:srgbClr val="9AA3AB"/>
                </a:solidFill>
              </a:rPr>
              <a:t>so the player never sees a half-drawn frame.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457200" y="3566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What goes wrong if Draw moves the ball?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Fixed vs. Variable Timestep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Variable: one update per frame. Fixed: equal steps (MonoGame’s default).</a:t>
            </a:r>
            <a:endParaRPr/>
          </a:p>
        </p:txBody>
      </p:sp>
      <p:pic>
        <p:nvPicPr>
          <p:cNvPr id="304" name="Picture 303" descr="timest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7863840" cy="37134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Content Pipeline</a:t>
            </a:r>
            <a:endParaRPr/>
          </a:p>
        </p:txBody>
      </p:sp>
      <p:sp>
        <p:nvSpPr>
          <p:cNvPr id="161" name="Rounded Rectangle 160"/>
          <p:cNvSpPr/>
          <p:nvPr/>
        </p:nvSpPr>
        <p:spPr>
          <a:xfrm>
            <a:off x="34290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Raw assets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Content/Assets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4290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Images, fonts, sounds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188823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ounded Rectangle 163"/>
          <p:cNvSpPr/>
          <p:nvPr/>
        </p:nvSpPr>
        <p:spPr>
          <a:xfrm>
            <a:off x="208026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Builder.cs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Rules in C#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08026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Which importer and processor</a:t>
            </a:r>
          </a:p>
        </p:txBody>
      </p:sp>
      <p:cxnSp>
        <p:nvCxnSpPr>
          <p:cNvPr id="166" name="Connector 165"/>
          <p:cNvCxnSpPr/>
          <p:nvPr/>
        </p:nvCxnSpPr>
        <p:spPr>
          <a:xfrm>
            <a:off x="362559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Rounded Rectangle 166"/>
          <p:cNvSpPr/>
          <p:nvPr/>
        </p:nvSpPr>
        <p:spPr>
          <a:xfrm>
            <a:off x="381762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Content builder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Runs on build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81762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BuildContent.targets</a:t>
            </a:r>
          </a:p>
        </p:txBody>
      </p:sp>
      <p:cxnSp>
        <p:nvCxnSpPr>
          <p:cNvPr id="169" name="Connector 168"/>
          <p:cNvCxnSpPr/>
          <p:nvPr/>
        </p:nvCxnSpPr>
        <p:spPr>
          <a:xfrm>
            <a:off x="536295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Rounded Rectangle 169"/>
          <p:cNvSpPr/>
          <p:nvPr/>
        </p:nvSpPr>
        <p:spPr>
          <a:xfrm>
            <a:off x="555498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.xnb files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bin/…/Content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55498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Built for the platform</a:t>
            </a:r>
          </a:p>
        </p:txBody>
      </p:sp>
      <p:cxnSp>
        <p:nvCxnSpPr>
          <p:cNvPr id="172" name="Connector 171"/>
          <p:cNvCxnSpPr/>
          <p:nvPr/>
        </p:nvCxnSpPr>
        <p:spPr>
          <a:xfrm>
            <a:off x="7100316" y="2194560"/>
            <a:ext cx="155448" cy="0"/>
          </a:xfrm>
          <a:prstGeom prst="line">
            <a:avLst/>
          </a:prstGeom>
          <a:ln w="1905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ounded Rectangle 172"/>
          <p:cNvSpPr/>
          <p:nvPr/>
        </p:nvSpPr>
        <p:spPr>
          <a:xfrm>
            <a:off x="7292340" y="1737360"/>
            <a:ext cx="1508760" cy="914400"/>
          </a:xfrm>
          <a:prstGeom prst="roundRect">
            <a:avLst/>
          </a:prstGeom>
          <a:solidFill>
            <a:srgbClr val="E73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ContentManager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Content.Load&lt;T&gt;()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292340" y="2743200"/>
            <a:ext cx="1508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818387"/>
                </a:solidFill>
              </a:rPr>
              <a:t>At runtime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1: Text on Screen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7" name="Google Shape;167;p3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“Hello, MonoGame!” centred on a black 1280 × 720 window.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 need a SpriteFont, and MeasureString to centre it.</a:t>
            </a:r>
            <a:endParaRPr/>
          </a:p>
        </p:txBody>
      </p:sp>
      <p:pic>
        <p:nvPicPr>
          <p:cNvPr id="168" name="Picture 168" descr="p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3898" y="2800969"/>
            <a:ext cx="3736200" cy="210161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Filtering</a:t>
            </a:r>
            <a:endParaRPr/>
          </a:p>
        </p:txBody>
      </p:sp>
      <p:pic>
        <p:nvPicPr>
          <p:cNvPr id="174" name="Picture 173" descr="filte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1051560"/>
            <a:ext cx="8503920" cy="37795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Virtual Resolution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80" name="Google Shape;180;p32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Pong1 → Pong2: drawn at 320 × 180, scaled to a resizable window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Point filtering keeps the pixels sharp; black bars keep the shape.</a:t>
            </a:r>
            <a:endParaRPr/>
          </a:p>
        </p:txBody>
      </p:sp>
      <p:pic>
        <p:nvPicPr>
          <p:cNvPr id="181" name="Picture 180" descr="virtual-res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1691640"/>
            <a:ext cx="6766560" cy="33832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Resize the Window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In Pong2: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Drag the window wide, then tall. Where do the bars go?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Swap PointClamp for LinearClamp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Set the virtual size to 640 × 360. What happens to the text?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2D Coordinate System</a:t>
            </a:r>
            <a:endParaRPr/>
          </a:p>
        </p:txBody>
      </p:sp>
      <p:sp>
        <p:nvSpPr>
          <p:cNvPr id="187" name="Google Shape;187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188" name="Picture 187" descr="coordinat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8720" y="1097280"/>
            <a:ext cx="6766560" cy="38531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Drawing to The Screen</a:t>
            </a:r>
            <a:endParaRPr/>
          </a:p>
        </p:txBody>
      </p:sp>
      <p:sp>
        <p:nvSpPr>
          <p:cNvPr id="194" name="Google Shape;194;p3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Normally a texture is needed to draw to the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Pong game doesn’t need explicit texture assets, but we do need to draw rectangles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45720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Texture2D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…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GraphicsDevice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_texture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SetData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([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White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]);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Use the texture as an argument to SpriteBatch.Draw()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SpriteBatch.Draw() has a method overload that receives a Rectangle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3: Rectangles From a Pixel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0" name="Google Shape;200;p35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two paddles and a ball, stretched from one white pixel.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retro font, and the background colour (40, 45, 52).</a:t>
            </a:r>
            <a:endParaRPr/>
          </a:p>
        </p:txBody>
      </p:sp>
      <p:pic>
        <p:nvPicPr>
          <p:cNvPr id="201" name="Picture 201" descr="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3663" y="2406160"/>
            <a:ext cx="4356673" cy="2450629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Basic Keyboard Input</a:t>
            </a:r>
            <a:endParaRPr/>
          </a:p>
        </p:txBody>
      </p:sp>
      <p:sp>
        <p:nvSpPr>
          <p:cNvPr id="207" name="Google Shape;207;p3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GetState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_player1Y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PADDLE_SPEED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deltaTime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_player1Y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PADDLE_SPEED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deltaTime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9CDCFE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Delta Time &amp; Velocity</a:t>
            </a:r>
            <a:endParaRPr/>
          </a:p>
        </p:txBody>
      </p:sp>
      <p:sp>
        <p:nvSpPr>
          <p:cNvPr id="213" name="Google Shape;213;p37"/>
          <p:cNvSpPr txBox="1"/>
          <p:nvPr>
            <p:ph idx="1" type="body"/>
          </p:nvPr>
        </p:nvSpPr>
        <p:spPr>
          <a:xfrm>
            <a:off x="311700" y="885950"/>
            <a:ext cx="8520600" cy="54864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multiply movement by delta time?</a:t>
            </a:r>
            <a:endParaRPr/>
          </a:p>
        </p:txBody>
      </p:sp>
      <p:pic>
        <p:nvPicPr>
          <p:cNvPr id="214" name="Picture 213" descr="delta-ti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417320"/>
            <a:ext cx="7498079" cy="358241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4: Input and Delta Time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19" name="Google Shape;219;p38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W/S and Up/Down move the paddles.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speed at any frame rate.</a:t>
            </a:r>
            <a:endParaRPr/>
          </a:p>
        </p:txBody>
      </p:sp>
      <p:pic>
        <p:nvPicPr>
          <p:cNvPr id="220" name="Picture 220" descr="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2227" y="2576865"/>
            <a:ext cx="4059548" cy="228349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“Key Pressed”</a:t>
            </a:r>
            <a:endParaRPr/>
          </a:p>
        </p:txBody>
      </p:sp>
      <p:sp>
        <p:nvSpPr>
          <p:cNvPr id="226" name="Google Shape;226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do we tell that a key was just pressed?</a:t>
            </a:r>
            <a:endParaRPr/>
          </a:p>
          <a:p>
            <a:pPr indent="0" lvl="0" marL="0" rtl="0" algn="l">
              <a:lnSpc>
                <a:spcPct val="1575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GetState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oldKeyboardState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IsKeyDown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Keys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Enter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oldKeyboardState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keyboardState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5: A Moving Ball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32" name="Google Shape;232;p40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Enter launches the ball in a random direction.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string field remembers the mode; the paddles stay on screen.</a:t>
            </a:r>
            <a:endParaRPr/>
          </a:p>
        </p:txBody>
      </p:sp>
      <p:pic>
        <p:nvPicPr>
          <p:cNvPr id="233" name="Picture 233" descr="p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9537" y="2619736"/>
            <a:ext cx="3984936" cy="2241527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Encapsulation</a:t>
            </a:r>
            <a:endParaRPr/>
          </a:p>
        </p:txBody>
      </p:sp>
      <p:pic>
        <p:nvPicPr>
          <p:cNvPr id="239" name="Picture 238" descr="encapsul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381" y="1051560"/>
            <a:ext cx="8423237" cy="397764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Method Pattern</a:t>
            </a:r>
            <a:endParaRPr/>
          </a:p>
        </p:txBody>
      </p:sp>
      <p:pic>
        <p:nvPicPr>
          <p:cNvPr id="246" name="Picture 245" descr="update-metho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1051560"/>
            <a:ext cx="8503920" cy="389763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58" name="Google Shape;258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Update Method in Pong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1152475"/>
            <a:ext cx="3900000" cy="34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object simulates one frame of its own behaviour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Paddle and Ball each get Update and Draw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Game1 just calls them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Its Update and Draw stay short as the game grows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Pong6</a:t>
            </a:r>
            <a:endParaRPr/>
          </a:p>
        </p:txBody>
      </p:sp>
      <p:sp>
        <p:nvSpPr>
          <p:cNvPr id="259" name="Google Shape;259;p44"/>
          <p:cNvSpPr txBox="1"/>
          <p:nvPr>
            <p:ph idx="2" type="body"/>
          </p:nvPr>
        </p:nvSpPr>
        <p:spPr>
          <a:xfrm>
            <a:off x="4500000" y="1152475"/>
            <a:ext cx="440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Game1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 override void Update(GameTime gameTime)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_ball.Update(gameTime);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_paddle1.Update(gameTime);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_paddle2.Update(gameTime);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 override void Draw(GameTime gameTime)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_spriteBatch.Begin();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_paddle1.Draw(_spriteBatch);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_paddle2.Draw(_spriteBatch);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_ball.Draw(_spriteBatch);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_spriteBatch.End();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6: The Update Method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3" name="Google Shape;253;p43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Paddle and Ball classes, each with its own Update and Draw.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must behave as it did before.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 (AABB)</a:t>
            </a:r>
            <a:endParaRPr/>
          </a:p>
        </p:txBody>
      </p:sp>
      <p:sp>
        <p:nvSpPr>
          <p:cNvPr id="259" name="Google Shape;259;p44"/>
          <p:cNvSpPr txBox="1"/>
          <p:nvPr>
            <p:ph idx="2" type="body"/>
          </p:nvPr>
        </p:nvSpPr>
        <p:spPr>
          <a:xfrm>
            <a:off x="4754880" y="1675200"/>
            <a:ext cx="4297680" cy="17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AABB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boxB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pic>
        <p:nvPicPr>
          <p:cNvPr id="260" name="Picture 259" descr="aab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" y="1463040"/>
            <a:ext cx="4480560" cy="224028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Pong 7: Collisions and the Bounce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6" name="Google Shape;266;p45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Goal: bounce off the paddles and the walls, with AABB.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the ball hits the paddle sets the angle; each hit is 10% faster.</a:t>
            </a:r>
            <a:endParaRPr/>
          </a:p>
        </p:txBody>
      </p:sp>
      <p:sp>
        <p:nvSpPr>
          <p:cNvPr id="267" name="Rectangle 266"/>
          <p:cNvSpPr/>
          <p:nvPr/>
        </p:nvSpPr>
        <p:spPr>
          <a:xfrm>
            <a:off x="731520" y="1600200"/>
            <a:ext cx="7680960" cy="14173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400">
                <a:solidFill>
                  <a:srgbClr val="9AA3AB"/>
                </a:solidFill>
                <a:latin typeface="Consolas"/>
              </a:rPr>
              <a:t>// the middle sends it straight back, the ends steeply</a:t>
            </a:r>
          </a:p>
          <a:p>
            <a:pPr algn="l"/>
            <a:r>
              <a:rPr sz="1400">
                <a:solidFill>
                  <a:srgbClr val="DEE2E6"/>
                </a:solidFill>
                <a:latin typeface="Consolas"/>
              </a:rPr>
              <a:t>float offset = ballCentreY - paddleCentreY;</a:t>
            </a:r>
          </a:p>
          <a:p>
            <a:pPr algn="l"/>
            <a:r>
              <a:rPr sz="1400">
                <a:solidFill>
                  <a:srgbClr val="DEE2E6"/>
                </a:solidFill>
                <a:latin typeface="Consolas"/>
              </a:rPr>
              <a:t>float newY = offset / (paddle.Height / 2f) * 110;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457200" y="32918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is this better than a random angle?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State</a:t>
            </a:r>
            <a:endParaRPr/>
          </a:p>
        </p:txBody>
      </p:sp>
      <p:pic>
        <p:nvPicPr>
          <p:cNvPr id="279" name="Picture 278" descr="mod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39" y="1051560"/>
            <a:ext cx="8503920" cy="295275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Game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6" name="Google Shape;286;p4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Pong7 → Pong10: score, serve and done modes</a:t>
            </a:r>
            <a:endParaRPr/>
          </a:p>
        </p:txBody>
      </p:sp>
      <p:pic>
        <p:nvPicPr>
          <p:cNvPr id="287" name="Picture 299" descr="p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1" y="2651760"/>
            <a:ext cx="3566158" cy="2005964"/>
          </a:xfrm>
          <a:prstGeom prst="rect">
            <a:avLst/>
          </a:prstGeom>
        </p:spPr>
      </p:pic>
      <p:sp>
        <p:nvSpPr>
          <p:cNvPr id="288" name="Rounded Rectangle 287"/>
          <p:cNvSpPr/>
          <p:nvPr/>
        </p:nvSpPr>
        <p:spPr>
          <a:xfrm>
            <a:off x="4572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start</a:t>
            </a:r>
          </a:p>
        </p:txBody>
      </p:sp>
      <p:sp>
        <p:nvSpPr>
          <p:cNvPr id="289" name="Rounded Rectangle 288"/>
          <p:cNvSpPr/>
          <p:nvPr/>
        </p:nvSpPr>
        <p:spPr>
          <a:xfrm>
            <a:off x="22860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serve</a:t>
            </a:r>
          </a:p>
        </p:txBody>
      </p:sp>
      <p:sp>
        <p:nvSpPr>
          <p:cNvPr id="290" name="Rounded Rectangle 289"/>
          <p:cNvSpPr/>
          <p:nvPr/>
        </p:nvSpPr>
        <p:spPr>
          <a:xfrm>
            <a:off x="41148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play</a:t>
            </a:r>
          </a:p>
        </p:txBody>
      </p:sp>
      <p:sp>
        <p:nvSpPr>
          <p:cNvPr id="291" name="Rounded Rectangle 290"/>
          <p:cNvSpPr/>
          <p:nvPr/>
        </p:nvSpPr>
        <p:spPr>
          <a:xfrm>
            <a:off x="5943600" y="1508760"/>
            <a:ext cx="109728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done</a:t>
            </a:r>
          </a:p>
        </p:txBody>
      </p:sp>
      <p:cxnSp>
        <p:nvCxnSpPr>
          <p:cNvPr id="292" name="Connector 291"/>
          <p:cNvCxnSpPr/>
          <p:nvPr/>
        </p:nvCxnSpPr>
        <p:spPr>
          <a:xfrm>
            <a:off x="1572768" y="178308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1389888" y="149047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Enter</a:t>
            </a:r>
          </a:p>
        </p:txBody>
      </p:sp>
      <p:cxnSp>
        <p:nvCxnSpPr>
          <p:cNvPr id="294" name="Connector 293"/>
          <p:cNvCxnSpPr/>
          <p:nvPr/>
        </p:nvCxnSpPr>
        <p:spPr>
          <a:xfrm>
            <a:off x="3401568" y="169164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5" name="TextBox 294"/>
          <p:cNvSpPr txBox="1"/>
          <p:nvPr/>
        </p:nvSpPr>
        <p:spPr>
          <a:xfrm>
            <a:off x="3218688" y="139903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Enter</a:t>
            </a:r>
          </a:p>
        </p:txBody>
      </p:sp>
      <p:cxnSp>
        <p:nvCxnSpPr>
          <p:cNvPr id="296" name="Connector 295"/>
          <p:cNvCxnSpPr/>
          <p:nvPr/>
        </p:nvCxnSpPr>
        <p:spPr>
          <a:xfrm flipH="1">
            <a:off x="3401568" y="192024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7" name="TextBox 296"/>
          <p:cNvSpPr txBox="1"/>
          <p:nvPr/>
        </p:nvSpPr>
        <p:spPr>
          <a:xfrm>
            <a:off x="3200400" y="19659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a point</a:t>
            </a:r>
          </a:p>
        </p:txBody>
      </p:sp>
      <p:cxnSp>
        <p:nvCxnSpPr>
          <p:cNvPr id="298" name="Connector 297"/>
          <p:cNvCxnSpPr/>
          <p:nvPr/>
        </p:nvCxnSpPr>
        <p:spPr>
          <a:xfrm>
            <a:off x="5230368" y="1783080"/>
            <a:ext cx="6949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TextBox 298"/>
          <p:cNvSpPr txBox="1"/>
          <p:nvPr/>
        </p:nvSpPr>
        <p:spPr>
          <a:xfrm>
            <a:off x="5047488" y="1490472"/>
            <a:ext cx="10607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10 points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Three Points and a Pause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Pong10: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End a game at 3 points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paused mode that P toggles during play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methods did you have to change?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5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Sounds</a:t>
            </a:r>
            <a:endParaRPr/>
          </a:p>
        </p:txBody>
      </p:sp>
      <p:sp>
        <p:nvSpPr>
          <p:cNvPr id="300" name="Google Shape;300;p5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classes for audio: short sounds, and long music.</a:t>
            </a:r>
            <a:endParaRPr/>
          </a:p>
        </p:txBody>
      </p:sp>
      <p:sp>
        <p:nvSpPr>
          <p:cNvPr id="301" name="Rounded Rectangle 300"/>
          <p:cNvSpPr/>
          <p:nvPr/>
        </p:nvSpPr>
        <p:spPr>
          <a:xfrm>
            <a:off x="731520" y="1463040"/>
            <a:ext cx="35661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SoundEffect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short clips, loaded into memory,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several at once, own volume</a:t>
            </a:r>
          </a:p>
        </p:txBody>
      </p:sp>
      <p:sp>
        <p:nvSpPr>
          <p:cNvPr id="302" name="Rounded Rectangle 301"/>
          <p:cNvSpPr/>
          <p:nvPr/>
        </p:nvSpPr>
        <p:spPr>
          <a:xfrm>
            <a:off x="4846320" y="1463040"/>
            <a:ext cx="35661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Song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long music, streamed,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one at a time (Flappy Bird)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Which one for a hit? And for the background music?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Creating Sound Effects</a:t>
            </a:r>
            <a:endParaRPr/>
          </a:p>
        </p:txBody>
      </p:sp>
      <p:sp>
        <p:nvSpPr>
          <p:cNvPr id="307" name="Google Shape;307;p51"/>
          <p:cNvSpPr txBox="1"/>
          <p:nvPr/>
        </p:nvSpPr>
        <p:spPr>
          <a:xfrm>
            <a:off x="3710700" y="2651760"/>
            <a:ext cx="17226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4"/>
              </a:rPr>
              <a:t>https://www.bfxr.net</a:t>
            </a:r>
            <a:endParaRPr sz="13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8" name="TextBox 307"/>
          <p:cNvSpPr txBox="1"/>
          <p:nvPr/>
        </p:nvSpPr>
        <p:spPr>
          <a:xfrm>
            <a:off x="457200" y="2011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DEE2E6"/>
                </a:solidFill>
              </a:rPr>
              <a:t>Retro sound effects in seconds, or record your own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Sound Effects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313" name="Google Shape;313;p5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Demo: Pong11: a sound for a paddle hit, a wall hit and a point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Pitch With Speed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Pong11: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 takes a volume, a pitch and a pan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Raise the paddle sound’s pitch as the ball speeds up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33502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a game engine and a game framework?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 we multiply movement by deltaTime?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a string field a fragile way to store game state?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9806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6" name="Google Shape;76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77" name="Google Shape;77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games would you like to make? Pick two or three candidates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For each: what updates every frame, and what is drawn?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That’s its game loop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Could you build a naive prototype of the core idea first, like this Pong?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Made it!</a:t>
            </a:r>
            <a:endParaRPr/>
          </a:p>
        </p:txBody>
      </p:sp>
      <p:sp>
        <p:nvSpPr>
          <p:cNvPr id="319" name="Google Shape;319;p5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Congratulations! You now have your very own working Pong Game made with MonoGame.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