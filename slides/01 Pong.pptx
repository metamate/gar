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md2-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4"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Clr>
                <a:schemeClr val="lt1"/>
              </a:buClr>
              <a:buSzPts val="1600"/>
              <a:buAutoNum type="arabicPeriod"/>
            </a:pPr>
            <a:r>
              <a:rPr lang="en">
                <a:solidFill>
                  <a:schemeClr val="lt1"/>
                </a:solidFill>
              </a:rPr>
              <a:t>Project Kick-Off</a:t>
            </a:r>
            <a:endParaRPr>
              <a:solidFill>
                <a:schemeClr val="lt1"/>
              </a:solidFill>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Clr>
                <a:schemeClr val="lt1"/>
              </a:buClr>
              <a:buSzPts val="1600"/>
              <a:buAutoNum type="arabicPeriod"/>
            </a:pPr>
            <a:r>
              <a:rPr lang="en">
                <a:solidFill>
                  <a:schemeClr val="lt1"/>
                </a:solidFill>
              </a:rPr>
              <a:t>Project Checkpoint</a:t>
            </a:r>
            <a:endParaRPr>
              <a:solidFill>
                <a:schemeClr val="lt1"/>
              </a:solidFill>
            </a:endParaRPr>
          </a:p>
          <a:p>
            <a:pPr indent="-330200" lvl="0" marL="457200" rtl="0" algn="l">
              <a:spcBef>
                <a:spcPts val="0"/>
              </a:spcBef>
              <a:spcAft>
                <a:spcPts val="0"/>
              </a:spcAft>
              <a:buSzPts val="1600"/>
              <a:buAutoNum type="arabicPeriod"/>
            </a:pPr>
            <a:r>
              <a:rPr lang="en"/>
              <a:t>Pokemon</a:t>
            </a:r>
            <a:endParaRPr/>
          </a:p>
          <a:p>
            <a:pPr indent="-330200" lvl="0" marL="457200" rtl="0" algn="l">
              <a:spcBef>
                <a:spcPts val="0"/>
              </a:spcBef>
              <a:spcAft>
                <a:spcPts val="0"/>
              </a:spcAft>
              <a:buSzPts val="1600"/>
              <a:buAutoNum type="arabicPeriod"/>
            </a:pPr>
            <a:r>
              <a:rPr lang="en"/>
              <a:t>Geometry Wars</a:t>
            </a:r>
            <a:endParaRPr/>
          </a:p>
          <a:p>
            <a:pPr indent="-330200" lvl="0" marL="457200" rtl="0" algn="l">
              <a:spcBef>
                <a:spcPts val="0"/>
              </a:spcBef>
              <a:spcAft>
                <a:spcPts val="0"/>
              </a:spcAft>
              <a:buClr>
                <a:schemeClr val="lt1"/>
              </a:buClr>
              <a:buSzPts val="1600"/>
              <a:buAutoNum type="arabicPeriod"/>
            </a:pPr>
            <a:r>
              <a:rPr lang="en">
                <a:solidFill>
                  <a:schemeClr val="lt1"/>
                </a:solidFill>
              </a:rPr>
              <a:t>Release</a:t>
            </a:r>
            <a:endParaRPr>
              <a:solidFill>
                <a:schemeClr val="lt1"/>
              </a:solidFill>
            </a:endParaRPr>
          </a:p>
          <a:p>
            <a:pPr indent="-330200" lvl="0" marL="457200" rtl="0" algn="l">
              <a:spcBef>
                <a:spcPts val="0"/>
              </a:spcBef>
              <a:spcAft>
                <a:spcPts val="0"/>
              </a:spcAft>
              <a:buClr>
                <a:schemeClr val="lt1"/>
              </a:buClr>
              <a:buSzPts val="1600"/>
              <a:buAutoNum type="arabicPeriod"/>
            </a:pPr>
            <a:r>
              <a:rPr lang="en">
                <a:solidFill>
                  <a:schemeClr val="lt1"/>
                </a:solidFill>
              </a:rPr>
              <a:t>Architecture Review</a:t>
            </a:r>
            <a:endParaRPr>
              <a:solidFill>
                <a:schemeClr val="lt1"/>
              </a:solidFill>
            </a:endParaRPr>
          </a:p>
          <a:p>
            <a:pPr indent="-330200" lvl="0" marL="457200" rtl="0" algn="l">
              <a:spcBef>
                <a:spcPts val="0"/>
              </a:spcBef>
              <a:spcAft>
                <a:spcPts val="0"/>
              </a:spcAft>
              <a:buSzPts val="1600"/>
              <a:buAutoNum type="arabicPeriod"/>
            </a:pPr>
            <a:r>
              <a:rPr lang="en"/>
              <a:t>Wrapping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goal of the project is to create a simple 2D game that uses best practices for organizing and architecting a game project. That is, the project must include gameplay systems and design elements solved through patterns and principles taught in the course.</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Details on the course website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Individual oral exam, 20 minutes, without preparation.</a:t>
            </a:r>
            <a:endParaRPr/>
          </a:p>
          <a:p>
            <a:pPr indent="0" lvl="0" marL="0" rtl="0" algn="l">
              <a:spcBef>
                <a:spcPts val="1200"/>
              </a:spcBef>
              <a:spcAft>
                <a:spcPts val="0"/>
              </a:spcAft>
              <a:buNone/>
            </a:pPr>
            <a:r>
              <a:rPr lang="en"/>
              <a:t>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endParaRPr/>
          </a:p>
          <a:p>
            <a:pPr indent="0" lvl="0" marL="0" rtl="0" algn="l">
              <a:spcBef>
                <a:spcPts val="1200"/>
              </a:spcBef>
              <a:spcAft>
                <a:spcPts val="1200"/>
              </a:spcAft>
              <a:buNone/>
            </a:pPr>
            <a:r>
              <a:rPr lang="en"/>
              <a:t>Internal assessment.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Google Shape;107;p20" title="pong.gif"/>
          <p:cNvPicPr preferRelativeResize="0"/>
          <p:nvPr/>
        </p:nvPicPr>
        <p:blipFill>
          <a:blip r:embed="rId3">
            <a:alphaModFix/>
          </a:blip>
          <a:stretch>
            <a:fillRect/>
          </a:stretch>
        </p:blipFill>
        <p:spPr>
          <a:xfrm>
            <a:off x="1533525" y="1281973"/>
            <a:ext cx="6076950" cy="3409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At its core, MonoGame offers a set of libraries and APIs to handle common game development tasks</a:t>
            </a:r>
            <a:endParaRPr/>
          </a:p>
          <a:p>
            <a:pPr indent="-330200" lvl="0" marL="457200" rtl="0" algn="l">
              <a:spcBef>
                <a:spcPts val="1200"/>
              </a:spcBef>
              <a:spcAft>
                <a:spcPts val="0"/>
              </a:spcAft>
              <a:buSzPts val="1600"/>
              <a:buChar char="●"/>
            </a:pPr>
            <a:r>
              <a:rPr lang="en"/>
              <a:t>Graphics Rendering</a:t>
            </a:r>
            <a:endParaRPr/>
          </a:p>
          <a:p>
            <a:pPr indent="-317500" lvl="1" marL="914400" rtl="0" algn="l">
              <a:spcBef>
                <a:spcPts val="0"/>
              </a:spcBef>
              <a:spcAft>
                <a:spcPts val="0"/>
              </a:spcAft>
              <a:buSzPts val="1400"/>
              <a:buChar char="○"/>
            </a:pPr>
            <a:r>
              <a:rPr lang="en"/>
              <a:t>2D and 3D rendering are supported through the graphics API offered by MonoGame</a:t>
            </a:r>
            <a:endParaRPr/>
          </a:p>
          <a:p>
            <a:pPr indent="-330200" lvl="0" marL="457200" rtl="0" algn="l">
              <a:spcBef>
                <a:spcPts val="0"/>
              </a:spcBef>
              <a:spcAft>
                <a:spcPts val="0"/>
              </a:spcAft>
              <a:buSzPts val="1600"/>
              <a:buChar char="●"/>
            </a:pPr>
            <a:r>
              <a:rPr lang="en"/>
              <a:t>Input Handling</a:t>
            </a:r>
            <a:endParaRPr/>
          </a:p>
          <a:p>
            <a:pPr indent="-317500" lvl="1" marL="914400" rtl="0" algn="l">
              <a:spcBef>
                <a:spcPts val="0"/>
              </a:spcBef>
              <a:spcAft>
                <a:spcPts val="0"/>
              </a:spcAft>
              <a:buSzPts val="1400"/>
              <a:buChar char="○"/>
            </a:pPr>
            <a:r>
              <a:rPr lang="en"/>
              <a:t>Input from keyboard, mouse, gamepads, and touchscreens is supported</a:t>
            </a:r>
            <a:endParaRPr/>
          </a:p>
          <a:p>
            <a:pPr indent="-330200" lvl="0" marL="457200" rtl="0" algn="l">
              <a:spcBef>
                <a:spcPts val="0"/>
              </a:spcBef>
              <a:spcAft>
                <a:spcPts val="0"/>
              </a:spcAft>
              <a:buSzPts val="1600"/>
              <a:buChar char="●"/>
            </a:pPr>
            <a:r>
              <a:rPr lang="en"/>
              <a:t>Audio</a:t>
            </a:r>
            <a:endParaRPr/>
          </a:p>
          <a:p>
            <a:pPr indent="-317500" lvl="1" marL="914400" rtl="0" algn="l">
              <a:spcBef>
                <a:spcPts val="0"/>
              </a:spcBef>
              <a:spcAft>
                <a:spcPts val="0"/>
              </a:spcAft>
              <a:buSzPts val="1400"/>
              <a:buChar char="○"/>
            </a:pPr>
            <a:r>
              <a:rPr lang="en"/>
              <a:t>A comprehensive audio system that can be used to create sound effects as well as play music</a:t>
            </a:r>
            <a:endParaRPr/>
          </a:p>
          <a:p>
            <a:pPr indent="-330200" lvl="0" marL="457200" rtl="0" algn="l">
              <a:spcBef>
                <a:spcPts val="0"/>
              </a:spcBef>
              <a:spcAft>
                <a:spcPts val="0"/>
              </a:spcAft>
              <a:buSzPts val="1600"/>
              <a:buChar char="●"/>
            </a:pPr>
            <a:r>
              <a:rPr lang="en"/>
              <a:t>Content Pipeline</a:t>
            </a:r>
            <a:endParaRPr/>
          </a:p>
          <a:p>
            <a:pPr indent="-317500" lvl="1" marL="914400" rtl="0" algn="l">
              <a:spcBef>
                <a:spcPts val="0"/>
              </a:spcBef>
              <a:spcAft>
                <a:spcPts val="0"/>
              </a:spcAft>
              <a:buSzPts val="1400"/>
              <a:buChar char="○"/>
            </a:pPr>
            <a:r>
              <a:rPr lang="en"/>
              <a:t>An out-of-the-box workflow for importing and processing game assets</a:t>
            </a:r>
            <a:endParaRPr/>
          </a:p>
          <a:p>
            <a:pPr indent="-330200" lvl="0" marL="457200" rtl="0" algn="l">
              <a:spcBef>
                <a:spcPts val="0"/>
              </a:spcBef>
              <a:spcAft>
                <a:spcPts val="0"/>
              </a:spcAft>
              <a:buSzPts val="1600"/>
              <a:buChar char="●"/>
            </a:pPr>
            <a:r>
              <a:rPr lang="en"/>
              <a:t>Math Library</a:t>
            </a:r>
            <a:endParaRPr/>
          </a:p>
          <a:p>
            <a:pPr indent="-317500" lvl="1" marL="914400" rtl="0" algn="l">
              <a:spcBef>
                <a:spcPts val="0"/>
              </a:spcBef>
              <a:spcAft>
                <a:spcPts val="0"/>
              </a:spcAft>
              <a:buSzPts val="1400"/>
              <a:buChar char="○"/>
            </a:pPr>
            <a:r>
              <a:rPr lang="en"/>
              <a:t>A math library specifically optimized for game development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repositories on GitHub (Metamate/gmd2-*)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the course repository and open 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the game: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Google Shape;201;p35"/>
          <p:cNvPicPr preferRelativeResize="0"/>
          <p:nvPr/>
        </p:nvPicPr>
        <p:blipFill>
          <a:blip r:embed="rId4">
            <a:alphaModFix/>
          </a:blip>
          <a:stretch>
            <a:fillRect/>
          </a:stretch>
        </p:blipFill>
        <p:spPr>
          <a:xfrm>
            <a:off x="2393662" y="2353700"/>
            <a:ext cx="4356675" cy="25555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Google Shape;220;p38"/>
          <p:cNvPicPr preferRelativeResize="0"/>
          <p:nvPr/>
        </p:nvPicPr>
        <p:blipFill>
          <a:blip r:embed="rId3">
            <a:alphaModFix/>
          </a:blip>
          <a:stretch>
            <a:fillRect/>
          </a:stretch>
        </p:blipFill>
        <p:spPr>
          <a:xfrm>
            <a:off x="2542227" y="2527975"/>
            <a:ext cx="4059549" cy="2381276"/>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Google Shape;233;p40"/>
          <p:cNvPicPr preferRelativeResize="0"/>
          <p:nvPr/>
        </p:nvPicPr>
        <p:blipFill>
          <a:blip r:embed="rId3">
            <a:alphaModFix/>
          </a:blip>
          <a:stretch>
            <a:fillRect/>
          </a:stretch>
        </p:blipFill>
        <p:spPr>
          <a:xfrm>
            <a:off x="2579537" y="2571750"/>
            <a:ext cx="3984937" cy="2337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273" name="Google Shape;273;p46"/>
          <p:cNvPicPr preferRelativeResize="0"/>
          <p:nvPr/>
        </p:nvPicPr>
        <p:blipFill>
          <a:blip r:embed="rId3">
            <a:alphaModFix/>
          </a:blip>
          <a:stretch>
            <a:fillRect/>
          </a:stretch>
        </p:blipFill>
        <p:spPr>
          <a:xfrm>
            <a:off x="2120062" y="1975400"/>
            <a:ext cx="4903894" cy="28765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new Serve state to the game</a:t>
            </a:r>
            <a:endParaRPr/>
          </a:p>
          <a:p>
            <a:pPr indent="-317500" lvl="1" marL="914400" rtl="0" algn="l">
              <a:spcBef>
                <a:spcPts val="0"/>
              </a:spcBef>
              <a:spcAft>
                <a:spcPts val="0"/>
              </a:spcAft>
              <a:buSzPts val="1400"/>
              <a:buChar char="○"/>
            </a:pPr>
            <a:r>
              <a:rPr lang="en"/>
              <a:t>When a player is serving, they send the ball towards the other player</a:t>
            </a:r>
            <a:endParaRPr/>
          </a:p>
          <a:p>
            <a:pPr indent="-317500" lvl="1" marL="914400" rtl="0" algn="l">
              <a:spcBef>
                <a:spcPts val="0"/>
              </a:spcBef>
              <a:spcAft>
                <a:spcPts val="0"/>
              </a:spcAft>
              <a:buSzPts val="1400"/>
              <a:buChar char="○"/>
            </a:pPr>
            <a:r>
              <a:rPr lang="en"/>
              <a:t>The player who was last scored on gets to serve (random player at game start)</a:t>
            </a:r>
            <a:endParaRPr/>
          </a:p>
          <a:p>
            <a:pPr indent="-317500" lvl="1" marL="914400" rtl="0" algn="l">
              <a:spcBef>
                <a:spcPts val="0"/>
              </a:spcBef>
              <a:spcAft>
                <a:spcPts val="0"/>
              </a:spcAft>
              <a:buSzPts val="1400"/>
              <a:buChar char="○"/>
            </a:pPr>
            <a:r>
              <a:rPr lang="en"/>
              <a:t>We transition from “play” to “serve” state when scoring</a:t>
            </a:r>
            <a:endParaRPr/>
          </a:p>
          <a:p>
            <a:pPr indent="-317500" lvl="1" marL="914400" rtl="0" algn="l">
              <a:spcBef>
                <a:spcPts val="0"/>
              </a:spcBef>
              <a:spcAft>
                <a:spcPts val="0"/>
              </a:spcAft>
              <a:buSzPts val="1400"/>
              <a:buChar char="○"/>
            </a:pPr>
            <a:r>
              <a:rPr lang="en"/>
              <a:t>And from “serve” state to “play” state when pressing “Enter”</a:t>
            </a:r>
            <a:endParaRPr/>
          </a:p>
          <a:p>
            <a:pPr indent="-317500" lvl="1" marL="914400" rtl="0" algn="l">
              <a:spcBef>
                <a:spcPts val="0"/>
              </a:spcBef>
              <a:spcAft>
                <a:spcPts val="0"/>
              </a:spcAft>
              <a:buSzPts val="1400"/>
              <a:buChar char="○"/>
            </a:pPr>
            <a:r>
              <a:rPr lang="en"/>
              <a:t>The game begins in the “start” state and transitions to the “serve” state by pressing “Enter”</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287" name="Google Shape;287;p48"/>
          <p:cNvPicPr preferRelativeResize="0"/>
          <p:nvPr/>
        </p:nvPicPr>
        <p:blipFill>
          <a:blip r:embed="rId3">
            <a:alphaModFix/>
          </a:blip>
          <a:stretch>
            <a:fillRect/>
          </a:stretch>
        </p:blipFill>
        <p:spPr>
          <a:xfrm>
            <a:off x="2721375" y="2738150"/>
            <a:ext cx="3701249" cy="217109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Google Shape;294;p49"/>
          <p:cNvPicPr preferRelativeResize="0"/>
          <p:nvPr/>
        </p:nvPicPr>
        <p:blipFill>
          <a:blip r:embed="rId3">
            <a:alphaModFix/>
          </a:blip>
          <a:stretch>
            <a:fillRect/>
          </a:stretch>
        </p:blipFill>
        <p:spPr>
          <a:xfrm>
            <a:off x="2027855" y="1877150"/>
            <a:ext cx="5088300" cy="2984726"/>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a:t>
            </a:r>
            <a:r>
              <a:rPr lang="en" u="sng">
                <a:solidFill>
                  <a:schemeClr val="hlink"/>
                </a:solidFill>
                <a:hlinkClick r:id="rId3"/>
              </a:rPr>
              <a:t>SoundEffect</a:t>
            </a:r>
            <a:r>
              <a:rPr lang="en"/>
              <a:t> class handles short audio clips</a:t>
            </a:r>
            <a:endParaRPr/>
          </a:p>
          <a:p>
            <a:pPr indent="-317500" lvl="1" marL="914400" rtl="0" algn="l">
              <a:spcBef>
                <a:spcPts val="0"/>
              </a:spcBef>
              <a:spcAft>
                <a:spcPts val="0"/>
              </a:spcAft>
              <a:buSzPts val="1400"/>
              <a:buChar char="○"/>
            </a:pPr>
            <a:r>
              <a:rPr lang="en"/>
              <a:t>collisions, jumping, shooting, button clicks, footsteps, ambient sounds, etc.</a:t>
            </a:r>
            <a:endParaRPr/>
          </a:p>
          <a:p>
            <a:pPr indent="-330200" lvl="0" marL="457200" rtl="0" algn="l">
              <a:spcBef>
                <a:spcPts val="0"/>
              </a:spcBef>
              <a:spcAft>
                <a:spcPts val="0"/>
              </a:spcAft>
              <a:buSzPts val="1600"/>
              <a:buChar char="●"/>
            </a:pPr>
            <a:r>
              <a:rPr lang="en"/>
              <a:t>The key characteristics of sound effects are</a:t>
            </a:r>
            <a:endParaRPr/>
          </a:p>
          <a:p>
            <a:pPr indent="-317500" lvl="0" marL="914400" rtl="0" algn="l">
              <a:spcBef>
                <a:spcPts val="0"/>
              </a:spcBef>
              <a:spcAft>
                <a:spcPts val="0"/>
              </a:spcAft>
              <a:buClr>
                <a:srgbClr val="6C757D"/>
              </a:buClr>
              <a:buSzPts val="1400"/>
              <a:buChar char="●"/>
            </a:pPr>
            <a:r>
              <a:rPr lang="en" sz="1400">
                <a:solidFill>
                  <a:srgbClr val="6C757D"/>
                </a:solidFill>
              </a:rPr>
              <a:t>Loaded entirely into memory for quick access</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Can play multiple instances simultaneously</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Individual volume control per instance</a:t>
            </a:r>
            <a:endParaRPr sz="1400">
              <a:solidFill>
                <a:srgbClr val="6C757D"/>
              </a:solidFill>
            </a:endParaRPr>
          </a:p>
          <a:p>
            <a:pPr indent="0" lvl="0" marL="0" rtl="0" algn="l">
              <a:spcBef>
                <a:spcPts val="1200"/>
              </a:spcBef>
              <a:spcAft>
                <a:spcPts val="1200"/>
              </a:spcAft>
              <a:buNone/>
            </a:pPr>
            <a:r>
              <a:rPr lang="en"/>
              <a:t>For longer playing audio, the </a:t>
            </a:r>
            <a:r>
              <a:rPr lang="en" u="sng">
                <a:solidFill>
                  <a:schemeClr val="hlink"/>
                </a:solidFill>
                <a:hlinkClick r:id="rId4"/>
              </a:rPr>
              <a:t>Song</a:t>
            </a:r>
            <a:r>
              <a:rPr lang="en"/>
              <a:t> class is used (but not today…)</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