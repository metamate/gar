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307" r:id="rId6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01" r:id="rId60"/>
    <p:sldId id="302" r:id="rId61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303" r:id="rId62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6" r:id="rId65"/>
    <p:sldId id="304" r:id="rId63"/>
    <p:sldId id="300" r:id="rId50"/>
  </p:sldIdLst>
  <p:sldSz cy="51435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  <p:embeddedFont>
      <p:font typeface="VT323"/>
      <p:regular r:id="rId55"/>
    </p:embeddedFont>
    <p:embeddedFont>
      <p:font typeface="Roboto Ligh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41.xml"/><Relationship Id="rId51" Type="http://schemas.openxmlformats.org/officeDocument/2006/relationships/font" Target="fonts/Roboto-regular.fntdata"/><Relationship Id="rId52" Type="http://schemas.openxmlformats.org/officeDocument/2006/relationships/font" Target="fonts/Roboto-bold.fntdata"/><Relationship Id="rId53" Type="http://schemas.openxmlformats.org/officeDocument/2006/relationships/font" Target="fonts/Roboto-italic.fntdata"/><Relationship Id="rId54" Type="http://schemas.openxmlformats.org/officeDocument/2006/relationships/font" Target="fonts/Roboto-boldItalic.fntdata"/><Relationship Id="rId55" Type="http://schemas.openxmlformats.org/officeDocument/2006/relationships/font" Target="fonts/VT323-regular.fntdata"/><Relationship Id="rId56" Type="http://schemas.openxmlformats.org/officeDocument/2006/relationships/font" Target="fonts/RobotoLight-regular.fntdata"/><Relationship Id="rId57" Type="http://schemas.openxmlformats.org/officeDocument/2006/relationships/font" Target="fonts/RobotoLight-bold.fntdata"/><Relationship Id="rId58" Type="http://schemas.openxmlformats.org/officeDocument/2006/relationships/font" Target="fonts/RobotoLight-italic.fntdata"/><Relationship Id="rId59" Type="http://schemas.openxmlformats.org/officeDocument/2006/relationships/font" Target="fonts/RobotoLight-boldItalic.fntdata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28.xml"/><Relationship Id="rId63" Type="http://schemas.openxmlformats.org/officeDocument/2006/relationships/slide" Target="slides/slide40.xml"/><Relationship Id="rId65" Type="http://schemas.openxmlformats.org/officeDocument/2006/relationships/slide" Target="slides/slide39.xml"/><Relationship Id="rId6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Today’s game: Pong, the whole thing, from an empty window. The main topic: the game loop.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32a60132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32a60132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Run Pong11 and play it for a minute.</a:t>
            </a:r>
          </a:p>
          <a:p>
            <a:r>
              <a:t>Ask: what would you need to build this? Collect answers on the board, and come back to them at the end.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20e943c0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20e943c0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main topic today is the game loop; everything else is what the loop needs: drawing, input, collisions, state, sound.</a:t>
            </a:r>
          </a:p>
          <a:p>
            <a:r>
              <a:t>Each has a section on the course site.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20e943c05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20e943c0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MonoGame: our framework for the whole course. Free, open source, C#.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343ef94d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343ef94d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Name the five boxes quickly. Then ask the question at the bottom.</a:t>
            </a:r>
          </a:p>
          <a:p>
            <a:r>
              <a:t>Answer: we do. That is the course: we write the loop, the scenes and the entities ourselves, and learn how engines do it.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20e943c05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20e943c05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Everyone installs these now, if they haven’t: the .NET 10 SDK, VS Code with the C# Dev Kit, Git.</a:t>
            </a:r>
          </a:p>
          <a:p>
            <a:r>
              <a:t>Check that dotnet --version works before moving 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2ab6540c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2ab6540c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gar-games/01-pong live. Show the README: the step table, the code map, how to run a step.</a:t>
            </a:r>
          </a:p>
          <a:p>
            <a:r>
              <a:t>Say: the site explains the ideas, the README helps you find them in the code, the slides are for today.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2ab6540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2ab6540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First exercise: clone, open Pong0, run it. The screenshot is what they should see: an empty window.</a:t>
            </a:r>
          </a:p>
          <a:p>
            <a:r>
              <a:t>Walk round and help anyone whose setup fails; don’t continue until most have a window.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343ef9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343ef9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 game is this loop: process input, update the game, render. Many times a second, until the game ends.</a:t>
            </a:r>
          </a:p>
          <a:p>
            <a:r>
              <a:t>Ask: why not wait for input like a normal app? Answer: the game has to keep moving even when nobody presses anything.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2a60132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32a60132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same loop in MonoGame: Initialize and LoadContent once, then Update and Draw every frame.</a:t>
            </a:r>
          </a:p>
          <a:p>
            <a:r>
              <a:t>Open Game1.cs in Pong0 and find each method.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336b13721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336b13721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Follow an asset left to right: a file in Content/Assets, a rule in Builder.cs, the builder runs on build, an .xnb file, Content.Load at runtime.</a:t>
            </a:r>
          </a:p>
          <a:p>
            <a:r>
              <a:t>Show Builder.cs briefly; they’ll add rules later.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2ab6540c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2ab6540c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“Hello, MonoGame!” centred on a 1280 × 720 window. They need a SpriteFont and MeasureString to centre it.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2ab6540c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2ab6540c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Point vs. linear filtering: pixel art wants point filtering, or it goes blurry when scaled up.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2ab6540c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2ab6540c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draw at a fixed small resolution and scale it to the window. The window can resize; the game doesn’t notice.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32a60132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32a60132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origin is the top left; y grows downwards. Most first bugs are a sign error here.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2ab6540c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2ab6540c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No image for a rectangle? Make a 1 × 1 white texture and stretch it. That’s all Pong needs.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ab6540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2ab6540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two paddles and a ball, a retro font, the background colour. The screenshot shows the result.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336b13721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336b13721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Keyboard.GetState() every frame, then IsKeyDown. Note the deltaTime in the movement: next slide.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336b1372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336b1372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Ask: why multiply by deltaTime? Answer: the same speed per second at any frame rate.</a:t>
            </a:r>
          </a:p>
          <a:p>
            <a:r>
              <a:t>Velocity: speed with a direction; the ball needs one.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2ab6540c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2ab6540c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W/S and the arrow keys move the paddles, the same speed at any frame rate.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2ab6540c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2ab6540c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IsKeyDown is true every frame the key is held. For a single press, compare with last frame’s state.</a:t>
            </a:r>
          </a:p>
          <a:p>
            <a:r>
              <a:t>Flappy Bird moves this into GMDCore as WasKeyJustPressed.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2ab6540c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2ab6540c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Enter launches the ball in a random direction; the paddles stay on screen.</a:t>
            </a:r>
          </a:p>
          <a:p>
            <a:r>
              <a:t>A string field remembers the mode: the first, simple version of game state.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336b1372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9336b1372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Game1 is getting long. Data and the code that uses it belong together: a Paddle, a Ball.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343ef94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9343ef94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Each object knows how to update itself; the game just calls them all. Read the chapter in Game Programming Patterns.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2ab6540c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2ab6540c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refactor into Paddle and Ball. The game must behave exactly as before; that’s the point of a refactor.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32a60132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32a60132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Two boxes overlap unless one is entirely to the left, right, above or below the other.</a:t>
            </a:r>
          </a:p>
          <a:p>
            <a:r>
              <a:t>Draw two boxes on the board and check the four conditions together.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2ab6540c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c2ab6540c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bounce off paddles and walls; each paddle hit speeds the ball up by 10%.</a:t>
            </a:r>
          </a:p>
          <a:p>
            <a:r>
              <a:t>Our rule: where the ball hits the paddle sets the angle. Show the three lines on the slide.</a:t>
            </a:r>
          </a:p>
          <a:p>
            <a:r>
              <a:t>Ask the question. Answer: the player controls the angle, so hitting becomes a skill, not luck.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2ab6540c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2ab6540c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keep score, shown in a bigger font.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32a60132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32a60132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game is now in different modes: start, serve, play, done. So far a string field. Keep that in mind: Flappy Bird will show why it’s fragile.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2ab6540c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2ab6540c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Follow the diagram: start, Enter, serve, Enter, play; a point goes back to serve; 10 points ends it.</a:t>
            </a:r>
          </a:p>
          <a:p>
            <a:r>
              <a:t>Exercise: add the serve mode; the player who was scored on serves.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2ab6540c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2ab6540c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a done mode at 10 points. The screenshot shows the end screen.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2ab6540c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2ab6540c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 the question. Answer: SoundEffect for the hit (short, several at once), Song for music (streamed, one at a time).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32a6013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32a6013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bfxr.net makes retro sound effects in seconds. Or record your own.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2ab6540c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2ab6540c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three sounds: paddle hit, wall hit, score.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336b1372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336b1372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Wrap up: the loop, drawing, input, collisions, state, sound. Everything later builds on this.</a:t>
            </a:r>
          </a:p>
          <a:p>
            <a:r>
              <a:t>Before next time: read the Flappy Bird page’s Prepare section.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writes the game state; Draw only reads it.</a:t>
            </a:r>
          </a:p>
          <a:p>
            <a:r>
              <a:t>Ask the question on the slide. Answer: the ball moves when frames are drawn, not when the game updates: faster on a fast screen, and wrong when Draw is skipped.</a:t>
            </a:r>
          </a:p>
          <a:p>
            <a:r>
              <a:t>The back buffer: the player never sees a half-drawn frame.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Variable: one update per frame, scaled by delta time. Fixed: always the same step, zero or several times a frame.</a:t>
            </a:r>
          </a:p>
          <a:p>
            <a:r>
              <a:t>Open the game-loop demo on the course site and try both at a low frame rate. Snake uses a fixed step on purpose.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one question at a time. Pairs discuss for a minute, then take two or three answers.</a:t>
            </a:r>
          </a:p>
          <a:p>
            <a:r>
              <a:t>Expected answers (from the course site):</a:t>
            </a:r>
          </a:p>
          <a:p/>
          <a:p>
            <a:r>
              <a:t>Q: What is the difference between a game engine and a game framework?</a:t>
            </a:r>
          </a:p>
          <a:p>
            <a:r>
              <a:t>A: An engine is a complete environment: editor, scene and object model, and a loop that calls your scripts. A framework like MonoGame is a set of libraries. You write the game's structure yourself, including the loop's contents.</a:t>
            </a:r>
          </a:p>
          <a:p/>
          <a:p>
            <a:r>
              <a:t>Q: Why do we multiply movement by deltaTime?</a:t>
            </a:r>
          </a:p>
          <a:p>
            <a:r>
              <a:t>A: So that movement per second is the same no matter how many frames are rendered per second.</a:t>
            </a:r>
          </a:p>
          <a:p/>
          <a:p>
            <a:r>
              <a:t>Q: Why is a string field a fragile way to store game state?</a:t>
            </a:r>
          </a:p>
          <a:p>
            <a:r>
              <a:t>A: Typos aren't caught by the compiler, every Update/Draw needs an if-chain over all states, and adding a state means editing all of those chains.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Pong6: Game1.Update is three calls. Ask: what happens when we add a second ball? Answer: one more call, or a list.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groups (or future groups) five minutes: two or three game ideas, and what updates and draws in each.</a:t>
            </a:r>
          </a:p>
          <a:p>
            <a:r>
              <a:t>Ask a few to share. Encourage small, classic games.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original: Pong. Ask who has played it, and what they remember of how it plays.</a:t>
            </a:r>
          </a:p>
          <a:p>
            <a:r>
              <a:t>Today we build the parts that matter for the architecture, not the whole game.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gif"/><Relationship Id="rId3" Type="http://schemas.openxmlformats.org/officeDocument/2006/relationships/notesSlide" Target="../notesSlides/notesSlide5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Metamate/gar-games/tree/main/01-pon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monogame.net/articles/getting_to_know/howto/graphics/HowTo_Draw_Text.html" TargetMode="External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rive.google.com/file/d/1WL5c1jFGq4ZBwqACP-6nO2RcUN0IbpRo/view?usp=sharing" TargetMode="External"/><Relationship Id="rId4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ameprogrammingpatterns.com/update-method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ocs.monogame.net/api/Microsoft.Xna.Framework.Audio.SoundEffect.html" TargetMode="External"/><Relationship Id="rId4" Type="http://schemas.openxmlformats.org/officeDocument/2006/relationships/hyperlink" Target="https://docs.monogame.net/api/Microsoft.Xna.Framework.Media.Song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Relationship Id="rId4" Type="http://schemas.openxmlformats.org/officeDocument/2006/relationships/hyperlink" Target="https://www.bfxr.net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drive.google.com/file/d/1CWX_xtry4YbpcdMa1xv_avio8rvjeiE3/view?usp=drive_link" TargetMode="External"/><Relationship Id="rId4" Type="http://schemas.openxmlformats.org/officeDocument/2006/relationships/hyperlink" Target="https://drive.google.com/file/d/1T9egCZ4n9ddwItry0sKYzok5tK_OfEDE/view?usp=drive_link" TargetMode="External"/><Relationship Id="rId5" Type="http://schemas.openxmlformats.org/officeDocument/2006/relationships/hyperlink" Target="https://drive.google.com/file/d/1ZyGhLxdnboI3KhQ3_8yIBvY0qc6jiqMM/view?usp=drive_link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01: Pong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5615"/>
            <a:ext cx="8520600" cy="572700"/>
          </a:xfrm>
        </p:spPr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Pong</a:t>
            </a:r>
            <a:endParaRPr/>
          </a:p>
        </p:txBody>
      </p:sp>
      <p:pic>
        <p:nvPicPr>
          <p:cNvPr id="3" name="Picture 2" descr="pon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132" y="960120"/>
            <a:ext cx="4485735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A3AB"/>
                </a:solidFill>
              </a:rPr>
              <a:t>Pong (Atari, 1972). Image: pong74ls, derivative work by WikiJunkie, CC BY 3.0, via Wikimedia Commons.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107" name="Picture 107" descr="gif-po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33" y="1281973"/>
            <a:ext cx="6062133" cy="34099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MonoGame &amp; Tooling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 Loop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Content Pipeline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Drawing to the Screen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Delta Time &amp; Velocity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 State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Encapsulation &amp; the Update Method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Collision Detection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Sound Effects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2146354"/>
            <a:ext cx="4048125" cy="850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MonoGame?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framework: libraries for the basics, without an editor, scenes or entities.</a:t>
            </a:r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411480" y="1463040"/>
            <a:ext cx="155448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Graphics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2D and 3D drawing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093976" y="1463040"/>
            <a:ext cx="155448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Input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keys, mouse, pads, touch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776472" y="1463040"/>
            <a:ext cx="155448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Audio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sounds and music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58968" y="1463040"/>
            <a:ext cx="155448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Content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importing assets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141464" y="1463040"/>
            <a:ext cx="155448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Math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vectors, matrices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EE2E6"/>
                </a:solidFill>
              </a:rPr>
              <a:t>So who writes the game loop, the scenes and the entities?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Tooling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.NET 10 SDK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VS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C# Dev Kit extension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games on GitHub: Metamate/gar-games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885950"/>
            <a:ext cx="8520600" cy="12893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github.com/Metamate/gar-games, folder 01-pong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Its README: the steps (Pong0 to Pong11), where things are in the code, how to run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site: today’s concepts in full, the exercises, and questions to check yourself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0: An Empty Game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clone gar-games, open 01-pong/Pong0, and run it.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From the 01-pong folder: dotnet run --project Pong0</a:t>
            </a: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0663" y="2571750"/>
            <a:ext cx="3202675" cy="20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Loop Pattern</a:t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388" y="1826262"/>
            <a:ext cx="6363224" cy="20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925" y="993652"/>
            <a:ext cx="5326150" cy="359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MonoGame Game Loop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5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vs. Draw</a:t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Update changes the world; Draw only reads it.</a:t>
            </a:r>
            <a:endParaRPr/>
          </a:p>
        </p:txBody>
      </p:sp>
      <p:sp>
        <p:nvSpPr>
          <p:cNvPr id="301" name="Rounded Rectangle 300"/>
          <p:cNvSpPr/>
          <p:nvPr/>
        </p:nvSpPr>
        <p:spPr>
          <a:xfrm>
            <a:off x="731520" y="155448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Update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input, movement, collisions, rules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3566160" y="155448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The game state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positions, scores, ...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6035040" y="155448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Draw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renders what it reads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3127248" y="1965960"/>
            <a:ext cx="420624" cy="0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2944368" y="1673351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writes</a:t>
            </a:r>
          </a:p>
        </p:txBody>
      </p:sp>
      <p:cxnSp>
        <p:nvCxnSpPr>
          <p:cNvPr id="306" name="Connector 305"/>
          <p:cNvCxnSpPr/>
          <p:nvPr/>
        </p:nvCxnSpPr>
        <p:spPr>
          <a:xfrm flipH="1">
            <a:off x="5596128" y="1965960"/>
            <a:ext cx="42062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TextBox 306"/>
          <p:cNvSpPr txBox="1"/>
          <p:nvPr/>
        </p:nvSpPr>
        <p:spPr>
          <a:xfrm>
            <a:off x="5413248" y="1673351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reads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731520" y="269748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3AB"/>
                </a:solidFill>
              </a:rPr>
              <a:t>Draw goes to a hidden back buffer; MonoGame shows it when Draw is done,</a:t>
            </a:r>
          </a:p>
          <a:p>
            <a:pPr algn="ctr"/>
            <a:r>
              <a:rPr sz="1300" b="0" i="0">
                <a:solidFill>
                  <a:srgbClr val="9AA3AB"/>
                </a:solidFill>
              </a:rPr>
              <a:t>so the player never sees a half-drawn frame.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EE2E6"/>
                </a:solidFill>
              </a:rPr>
              <a:t>What goes wrong if Draw moves the ball?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5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vs. Variable Timestep</a:t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Variable: one update per frame, scaled by delta time. Fixed: always the same step.</a:t>
            </a:r>
            <a:endParaRPr/>
          </a:p>
        </p:txBody>
      </p:sp>
      <p:sp>
        <p:nvSpPr>
          <p:cNvPr id="301" name="Rounded Rectangle 300"/>
          <p:cNvSpPr/>
          <p:nvPr/>
        </p:nvSpPr>
        <p:spPr>
          <a:xfrm>
            <a:off x="548640" y="1463040"/>
            <a:ext cx="3749039" cy="14630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Variable timestep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one Update per frame, × deltaTime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simple, but slightly different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at every frame rate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4846320" y="1463040"/>
            <a:ext cx="3749039" cy="14630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Fixed timestep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0, 1 or more Updates per frame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deterministic and stable,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a little more complex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MonoGame is fixed by default: IsFixedTimeStep = true.</a:t>
            </a:r>
          </a:p>
          <a:p>
            <a:pPr algn="ctr"/>
            <a:r>
              <a:rPr sz="1400" b="0" i="0">
                <a:solidFill>
                  <a:srgbClr val="9AA3AB"/>
                </a:solidFill>
              </a:rPr>
              <a:t>Try both in the game-loop demo on the course site.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Pipeline</a:t>
            </a:r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342900" y="1737360"/>
            <a:ext cx="1508760" cy="914400"/>
          </a:xfrm>
          <a:prstGeom prst="roundRect">
            <a:avLst/>
          </a:prstGeom>
          <a:solidFill>
            <a:srgbClr val="E7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Raw assets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Content/Assets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2900" y="2743200"/>
            <a:ext cx="1508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818387"/>
                </a:solidFill>
              </a:rPr>
              <a:t>Images, fonts, sounds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888236" y="2194560"/>
            <a:ext cx="155448" cy="0"/>
          </a:xfrm>
          <a:prstGeom prst="line">
            <a:avLst/>
          </a:prstGeom>
          <a:ln w="190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2080260" y="1737360"/>
            <a:ext cx="1508760" cy="914400"/>
          </a:xfrm>
          <a:prstGeom prst="roundRect">
            <a:avLst/>
          </a:prstGeom>
          <a:solidFill>
            <a:srgbClr val="E7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Builder.cs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Rules in C#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080260" y="2743200"/>
            <a:ext cx="1508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818387"/>
                </a:solidFill>
              </a:rPr>
              <a:t>Which importer and processor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3625596" y="2194560"/>
            <a:ext cx="155448" cy="0"/>
          </a:xfrm>
          <a:prstGeom prst="line">
            <a:avLst/>
          </a:prstGeom>
          <a:ln w="190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ounded Rectangle 166"/>
          <p:cNvSpPr/>
          <p:nvPr/>
        </p:nvSpPr>
        <p:spPr>
          <a:xfrm>
            <a:off x="3817620" y="1737360"/>
            <a:ext cx="1508760" cy="914400"/>
          </a:xfrm>
          <a:prstGeom prst="roundRect">
            <a:avLst/>
          </a:prstGeom>
          <a:solidFill>
            <a:srgbClr val="E7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Content builder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Runs on build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817620" y="2743200"/>
            <a:ext cx="1508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818387"/>
                </a:solidFill>
              </a:rPr>
              <a:t>BuildContent.targets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5362956" y="2194560"/>
            <a:ext cx="155448" cy="0"/>
          </a:xfrm>
          <a:prstGeom prst="line">
            <a:avLst/>
          </a:prstGeom>
          <a:ln w="190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ounded Rectangle 169"/>
          <p:cNvSpPr/>
          <p:nvPr/>
        </p:nvSpPr>
        <p:spPr>
          <a:xfrm>
            <a:off x="5554980" y="1737360"/>
            <a:ext cx="1508760" cy="914400"/>
          </a:xfrm>
          <a:prstGeom prst="roundRect">
            <a:avLst/>
          </a:prstGeom>
          <a:solidFill>
            <a:srgbClr val="E7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.xnb files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bin/…/Content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554980" y="2743200"/>
            <a:ext cx="1508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818387"/>
                </a:solidFill>
              </a:rPr>
              <a:t>Built for the platform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7100316" y="2194560"/>
            <a:ext cx="155448" cy="0"/>
          </a:xfrm>
          <a:prstGeom prst="line">
            <a:avLst/>
          </a:prstGeom>
          <a:ln w="190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ounded Rectangle 172"/>
          <p:cNvSpPr/>
          <p:nvPr/>
        </p:nvSpPr>
        <p:spPr>
          <a:xfrm>
            <a:off x="7292340" y="1737360"/>
            <a:ext cx="1508760" cy="914400"/>
          </a:xfrm>
          <a:prstGeom prst="roundRect">
            <a:avLst/>
          </a:prstGeom>
          <a:solidFill>
            <a:srgbClr val="E7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ContentManager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Content.Load&lt;T&gt;()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292340" y="2743200"/>
            <a:ext cx="1508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818387"/>
                </a:solidFill>
              </a:rPr>
              <a:t>At runtime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1: Text on Screen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“Hello, MonoGame!” centred on a black 1280 × 720 window.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need a SpriteFont, and MeasureString to centre it.</a:t>
            </a:r>
            <a:endParaRPr/>
          </a:p>
        </p:txBody>
      </p:sp>
      <p:pic>
        <p:nvPicPr>
          <p:cNvPr id="168" name="Picture 168" descr="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3898" y="2800969"/>
            <a:ext cx="3736200" cy="21016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Texture Filtering</a:t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884" y="1374759"/>
            <a:ext cx="3656224" cy="30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2: Virtual Resolution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draw at a small fixed resolution, scaled to a resizable window.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point filtering, so the pixels stay sharp.</a:t>
            </a:r>
            <a:endParaRPr/>
          </a:p>
        </p:txBody>
      </p:sp>
      <p:pic>
        <p:nvPicPr>
          <p:cNvPr id="181" name="Picture 181" descr="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213" y="2429008"/>
            <a:ext cx="4061575" cy="22846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 Coordinate System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5075" y="1731955"/>
            <a:ext cx="41338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Drawing to The Screen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Normally a texture is needed to draw to the screen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Pong game doesn’t need explicit texture assets, but we do need to draw rectangles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  <a:p>
            <a:pPr indent="0" lvl="0" marL="457200" rtl="0" algn="l">
              <a:lnSpc>
                <a:spcPct val="157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Texture2D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_texture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_texture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GraphicsDevice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_texture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SetData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White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the texture as an argument to SpriteBatch.Draw()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SpriteBatch.Draw() has a method overload that receives a Rectangle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3: Rectangles From a Pixel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two paddles and a ball, stretched from one white pixel.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retro font, and the background colour (40, 45, 52).</a:t>
            </a:r>
            <a:endParaRPr/>
          </a:p>
        </p:txBody>
      </p:sp>
      <p:pic>
        <p:nvPicPr>
          <p:cNvPr id="201" name="Picture 201" descr="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663" y="2406160"/>
            <a:ext cx="4356673" cy="24506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Keyboard Input</a:t>
            </a:r>
            <a:endParaRPr/>
          </a:p>
        </p:txBody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C9B0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KeyboardState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keyboardState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Keyboard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GetState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keyboardState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IsKeyDown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_player1Y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PADDLE_SPEED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deltaTime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keyboardState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IsKeyDown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_player1Y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PADDLE_SPEED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deltaTime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586C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586C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586C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586C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586C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9CDCFE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Delta Time &amp; Velocity</a:t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do we care about deltatime?</a:t>
            </a:r>
            <a:endParaRPr/>
          </a:p>
          <a:p>
            <a:pPr indent="0" lvl="0" marL="0" rtl="0" algn="l">
              <a:lnSpc>
                <a:spcPct val="157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ElapsedGameTime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TotalSeconds</a:t>
            </a:r>
            <a:endParaRPr sz="100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do we need velocity for?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4: Input and Delta Time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19" name="Google Shape;219;p38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W/S and Up/Down move the paddles.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same speed at any frame rate.</a:t>
            </a:r>
            <a:endParaRPr/>
          </a:p>
        </p:txBody>
      </p:sp>
      <p:pic>
        <p:nvPicPr>
          <p:cNvPr id="220" name="Picture 220" descr="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227" y="2576865"/>
            <a:ext cx="4059548" cy="22834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“Key Pressed”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emulate “GetKeyDown”?</a:t>
            </a:r>
            <a:endParaRPr/>
          </a:p>
          <a:p>
            <a:pPr indent="0" lvl="0" marL="0" rtl="0" algn="l">
              <a:lnSpc>
                <a:spcPct val="157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C9B0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KeyboardState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keyboardState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Keyboard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GetState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keyboardState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IsKeyDown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4FC1FF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Enter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" sz="1000">
                <a:solidFill>
                  <a:srgbClr val="9CDCFE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oldKeyboardState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IsKeyDown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4FC1FF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Enter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oldKeyboardState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keyboardState</a:t>
            </a:r>
            <a:r>
              <a:rPr lang="en" sz="1000">
                <a:solidFill>
                  <a:srgbClr val="CCCCCC"/>
                </a:solidFill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5: A Moving Ball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Enter launches the ball in a random direction.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string field remembers the mode; the paddles stay on screen.</a:t>
            </a:r>
            <a:endParaRPr/>
          </a:p>
        </p:txBody>
      </p:sp>
      <p:pic>
        <p:nvPicPr>
          <p:cNvPr id="233" name="Picture 233" descr="p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537" y="2619736"/>
            <a:ext cx="3984936" cy="224152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</a:t>
            </a:r>
            <a:endParaRPr/>
          </a:p>
        </p:txBody>
      </p:sp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id="240" name="Google Shape;24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562" y="1488650"/>
            <a:ext cx="3572875" cy="28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Method Pattern</a:t>
            </a:r>
            <a:endParaRPr/>
          </a:p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id="247" name="Google Shape;24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452" y="1351938"/>
            <a:ext cx="4509099" cy="309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8" name="Google Shape;258;p4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Method in Pong</a:t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311700" y="1152475"/>
            <a:ext cx="3900000" cy="34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Each object simulates one frame of its own behaviour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Paddle and Ball each get Update and Draw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Game1 just calls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Its Update and Draw stay short as the game grows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Step: Pong6</a:t>
            </a:r>
            <a:endParaRPr/>
          </a:p>
        </p:txBody>
      </p:sp>
      <p:sp>
        <p:nvSpPr>
          <p:cNvPr id="259" name="Google Shape;259;p44"/>
          <p:cNvSpPr txBox="1"/>
          <p:nvPr>
            <p:ph idx="2" type="body"/>
          </p:nvPr>
        </p:nvSpPr>
        <p:spPr>
          <a:xfrm>
            <a:off x="4500000" y="1152475"/>
            <a:ext cx="440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Game1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protected override void Update(GameTime gameTime)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_ball.Update(gameTime);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_paddle1.Update(gameTime);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_paddle2.Update(gameTime);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protected override void Draw(GameTime gameTime)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_spriteBatch.Begin();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_paddle1.Draw(_spriteBatch);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_paddle2.Draw(_spriteBatch);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_ball.Draw(_spriteBatch);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_spriteBatch.End();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6: The Update Method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3" name="Google Shape;253;p43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Paddle and Ball classes, each with its own Update and Draw.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game must behave exactly as before.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Detection (AABB)</a:t>
            </a:r>
            <a:endParaRPr/>
          </a:p>
        </p:txBody>
      </p:sp>
      <p:sp>
        <p:nvSpPr>
          <p:cNvPr id="259" name="Google Shape;259;p44"/>
          <p:cNvSpPr txBox="1"/>
          <p:nvPr>
            <p:ph idx="2" type="body"/>
          </p:nvPr>
        </p:nvSpPr>
        <p:spPr>
          <a:xfrm>
            <a:off x="4787600" y="1675200"/>
            <a:ext cx="4044600" cy="17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AABB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Rectangle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boxA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Rectangle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boxB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boxA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boxB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endParaRPr sz="1000">
              <a:solidFill>
                <a:srgbClr val="D4D4D4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boxA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boxB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endParaRPr sz="1000">
              <a:solidFill>
                <a:srgbClr val="D4D4D4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boxA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Top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boxB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Bottom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endParaRPr sz="1000">
              <a:solidFill>
                <a:srgbClr val="D4D4D4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boxA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Bottom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boxB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Top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pic>
        <p:nvPicPr>
          <p:cNvPr id="260" name="Google Shape;26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656" y="1625188"/>
            <a:ext cx="3365555" cy="18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7: Collisions and the Bounce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bounce off the paddles and the walls, with AABB.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the ball hits the paddle sets the angle; each hit is 10% faster.</a:t>
            </a:r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731520" y="1600200"/>
            <a:ext cx="7680960" cy="141732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400">
                <a:solidFill>
                  <a:srgbClr val="9AA3AB"/>
                </a:solidFill>
                <a:latin typeface="Consolas"/>
              </a:rPr>
              <a:t>// the middle sends it straight back, the ends steeply</a:t>
            </a:r>
          </a:p>
          <a:p>
            <a:pPr algn="l"/>
            <a:r>
              <a:rPr sz="1400">
                <a:solidFill>
                  <a:srgbClr val="DEE2E6"/>
                </a:solidFill>
                <a:latin typeface="Consolas"/>
              </a:rPr>
              <a:t>float offset = ballCentreY - paddleCentreY;</a:t>
            </a:r>
          </a:p>
          <a:p>
            <a:pPr algn="l"/>
            <a:r>
              <a:rPr sz="1400">
                <a:solidFill>
                  <a:srgbClr val="DEE2E6"/>
                </a:solidFill>
                <a:latin typeface="Consolas"/>
              </a:rPr>
              <a:t>float newY = offset / (paddle.Height / 2f) * 150;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EE2E6"/>
                </a:solidFill>
              </a:rPr>
              <a:t>Why is this better than a random angle?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8: Scoring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72" name="Google Shape;272;p46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keep the score, and show it in a bigger font.</a:t>
            </a:r>
            <a:endParaRPr/>
          </a:p>
        </p:txBody>
      </p:sp>
      <p:pic>
        <p:nvPicPr>
          <p:cNvPr id="273" name="Picture 273" descr="p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062" y="2034455"/>
            <a:ext cx="4903893" cy="27584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State</a:t>
            </a:r>
            <a:endParaRPr/>
          </a:p>
        </p:txBody>
      </p:sp>
      <p:pic>
        <p:nvPicPr>
          <p:cNvPr id="279" name="Google Shape;27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587" y="1041776"/>
            <a:ext cx="5290826" cy="33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7"/>
          <p:cNvSpPr txBox="1"/>
          <p:nvPr/>
        </p:nvSpPr>
        <p:spPr>
          <a:xfrm>
            <a:off x="3038400" y="4514350"/>
            <a:ext cx="3067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https://gameprogrammingpatterns.com/state.html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9: A Serve Mode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86" name="Google Shape;286;p48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 a serve state: the player who was scored on serves.</a:t>
            </a:r>
            <a:endParaRPr/>
          </a:p>
        </p:txBody>
      </p:sp>
      <p:pic>
        <p:nvPicPr>
          <p:cNvPr id="287" name="Picture 299" descr="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1" y="2651760"/>
            <a:ext cx="3566158" cy="2005964"/>
          </a:xfrm>
          <a:prstGeom prst="rect">
            <a:avLst/>
          </a:prstGeom>
        </p:spPr>
      </p:pic>
      <p:sp>
        <p:nvSpPr>
          <p:cNvPr id="288" name="Rounded Rectangle 287"/>
          <p:cNvSpPr/>
          <p:nvPr/>
        </p:nvSpPr>
        <p:spPr>
          <a:xfrm>
            <a:off x="457200" y="150876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start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2286000" y="150876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serve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4114800" y="150876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play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5943600" y="150876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done</a:t>
            </a:r>
          </a:p>
        </p:txBody>
      </p:sp>
      <p:cxnSp>
        <p:nvCxnSpPr>
          <p:cNvPr id="292" name="Connector 291"/>
          <p:cNvCxnSpPr/>
          <p:nvPr/>
        </p:nvCxnSpPr>
        <p:spPr>
          <a:xfrm>
            <a:off x="1572768" y="1783080"/>
            <a:ext cx="6949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/>
          <p:cNvSpPr txBox="1"/>
          <p:nvPr/>
        </p:nvSpPr>
        <p:spPr>
          <a:xfrm>
            <a:off x="1389888" y="149047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Enter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3401568" y="1691640"/>
            <a:ext cx="6949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/>
          <p:cNvSpPr txBox="1"/>
          <p:nvPr/>
        </p:nvSpPr>
        <p:spPr>
          <a:xfrm>
            <a:off x="3218688" y="139903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Enter</a:t>
            </a:r>
          </a:p>
        </p:txBody>
      </p:sp>
      <p:cxnSp>
        <p:nvCxnSpPr>
          <p:cNvPr id="296" name="Connector 295"/>
          <p:cNvCxnSpPr/>
          <p:nvPr/>
        </p:nvCxnSpPr>
        <p:spPr>
          <a:xfrm flipH="1">
            <a:off x="3401568" y="1920240"/>
            <a:ext cx="6949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320040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a point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5230368" y="1783080"/>
            <a:ext cx="6949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/>
          <p:cNvSpPr txBox="1"/>
          <p:nvPr/>
        </p:nvSpPr>
        <p:spPr>
          <a:xfrm>
            <a:off x="5047488" y="149047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10 points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10: A Winner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a done mode when a player reaches 10 points.</a:t>
            </a:r>
            <a:endParaRPr/>
          </a:p>
        </p:txBody>
      </p:sp>
      <p:pic>
        <p:nvPicPr>
          <p:cNvPr id="294" name="Picture 294" descr="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856" y="1938429"/>
            <a:ext cx="5088298" cy="28621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Sounds</a:t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Two classes for audio: short sounds, and long music.</a:t>
            </a:r>
            <a:endParaRPr/>
          </a:p>
        </p:txBody>
      </p:sp>
      <p:sp>
        <p:nvSpPr>
          <p:cNvPr id="301" name="Rounded Rectangle 300"/>
          <p:cNvSpPr/>
          <p:nvPr/>
        </p:nvSpPr>
        <p:spPr>
          <a:xfrm>
            <a:off x="731520" y="146304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DEE2E6"/>
                </a:solidFill>
              </a:rPr>
              <a:t>SoundEffect</a:t>
            </a:r>
          </a:p>
          <a:p>
            <a:pPr algn="ctr"/>
            <a:r>
              <a:rPr sz="1500" b="0">
                <a:solidFill>
                  <a:srgbClr val="9AA3AB"/>
                </a:solidFill>
              </a:rPr>
              <a:t>short clips, loaded into memory,</a:t>
            </a:r>
          </a:p>
          <a:p>
            <a:pPr algn="ctr"/>
            <a:r>
              <a:rPr sz="1500" b="0">
                <a:solidFill>
                  <a:srgbClr val="9AA3AB"/>
                </a:solidFill>
              </a:rPr>
              <a:t>several at once, own volume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4846320" y="146304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DEE2E6"/>
                </a:solidFill>
              </a:rPr>
              <a:t>Song</a:t>
            </a:r>
          </a:p>
          <a:p>
            <a:pPr algn="ctr"/>
            <a:r>
              <a:rPr sz="1500" b="0">
                <a:solidFill>
                  <a:srgbClr val="9AA3AB"/>
                </a:solidFill>
              </a:rPr>
              <a:t>long music, streamed,</a:t>
            </a:r>
          </a:p>
          <a:p>
            <a:pPr algn="ctr"/>
            <a:r>
              <a:rPr sz="1500" b="0">
                <a:solidFill>
                  <a:srgbClr val="9AA3AB"/>
                </a:solidFill>
              </a:rPr>
              <a:t>one at a time (not today)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EE2E6"/>
                </a:solidFill>
              </a:rPr>
              <a:t>Which one for a hit? And for the background music?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Sound Effects</a:t>
            </a:r>
            <a:endParaRPr/>
          </a:p>
        </p:txBody>
      </p:sp>
      <p:pic>
        <p:nvPicPr>
          <p:cNvPr id="306" name="Google Shape;3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063" y="1139600"/>
            <a:ext cx="2963875" cy="286429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1"/>
          <p:cNvSpPr txBox="1"/>
          <p:nvPr/>
        </p:nvSpPr>
        <p:spPr>
          <a:xfrm>
            <a:off x="3710700" y="4122650"/>
            <a:ext cx="1722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https://www.bfxr.net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Pong 11: Sound Effects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13" name="Google Shape;313;p52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three sounds: a paddle hit, a wall hit, and a score.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Yourself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33502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is the difference between a game engine and a game framework?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do we multiply movement by deltaTime?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is a string field a fragile way to store game state?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980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answers, and more questions, are on the course site.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It to Your Project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games would you like to make? Pick two or three candidates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For each: what updates every frame, and what is drawn?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That’s its game loop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Could you build a naive prototype of the core idea first, like this Pong?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Made it!</a:t>
            </a:r>
            <a:endParaRPr/>
          </a:p>
        </p:txBody>
      </p:sp>
      <p:sp>
        <p:nvSpPr>
          <p:cNvPr id="319" name="Google Shape;319;p5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Congratulations! You now have your very own working Pong Game made with MonoGame.</a:t>
            </a:r>
            <a:endParaRPr/>
          </a:p>
        </p:txBody>
      </p:sp>
      <p:pic>
        <p:nvPicPr>
          <p:cNvPr id="320" name="Google Shape;32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538" y="2195848"/>
            <a:ext cx="7010925" cy="14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