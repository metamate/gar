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oboto"/>
      <p:regular r:id="rId44"/>
      <p:bold r:id="rId45"/>
      <p:italic r:id="rId46"/>
      <p:boldItalic r:id="rId47"/>
    </p:embeddedFont>
    <p:embeddedFont>
      <p:font typeface="VT323"/>
      <p:regular r:id="rId48"/>
    </p:embeddedFont>
    <p:embeddedFont>
      <p:font typeface="Roboto Light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4" Type="http://schemas.openxmlformats.org/officeDocument/2006/relationships/font" Target="fonts/Roboto-regular.fntdata"/><Relationship Id="rId45" Type="http://schemas.openxmlformats.org/officeDocument/2006/relationships/font" Target="fonts/Roboto-bold.fntdata"/><Relationship Id="rId46" Type="http://schemas.openxmlformats.org/officeDocument/2006/relationships/font" Target="fonts/Roboto-italic.fntdata"/><Relationship Id="rId47" Type="http://schemas.openxmlformats.org/officeDocument/2006/relationships/font" Target="fonts/Roboto-boldItalic.fntdata"/><Relationship Id="rId48" Type="http://schemas.openxmlformats.org/officeDocument/2006/relationships/font" Target="fonts/VT323-regular.fntdata"/><Relationship Id="rId49" Type="http://schemas.openxmlformats.org/officeDocument/2006/relationships/font" Target="fonts/RobotoLight-regular.fntdata"/><Relationship Id="rId50" Type="http://schemas.openxmlformats.org/officeDocument/2006/relationships/font" Target="fonts/RobotoLight-bold.fntdata"/><Relationship Id="rId51" Type="http://schemas.openxmlformats.org/officeDocument/2006/relationships/font" Target="fonts/RobotoLight-italic.fntdata"/><Relationship Id="rId52" Type="http://schemas.openxmlformats.org/officeDocument/2006/relationships/font" Target="fonts/RobotoLigh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c8f6ac40e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c8f6ac40e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8f6ac40e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c8f6ac40e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cce57fd8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cce57fd8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cda89e0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cda89e0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de4c02cc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de4c02cc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cfb4281e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cfb4281e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cfb4281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cfb4281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de4c02cc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de4c02cc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de4c02cc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de4c02cc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cfb4281e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cfb4281e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df1bf87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df1bf87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deac4f9f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deac4f9f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deac4f9fd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deac4f9f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deac4f9f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deac4f9f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state machines, stack-based state machines, pushdown automata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de4c02cc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de4c02cc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de4c02cc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de4c02cc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cfb4281e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cfb4281e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de4c02cc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de4c02cc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Notice new Play() method of AnimatedSprite for swapping animation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Duplicate collision detection logic between snail and player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Any ideas on how we could fix this?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component design pattern!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cfb4281e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cfb4281e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cfb4281e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cfb4281e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cfb4281e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cfb4281e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d8a4d586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d8a4d586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d8a4d586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d8a4d586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checks (per direction)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inset to allow jumping/falling next to solid tiles (otherwise could be problematic due to floating point precision)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d8a4d586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cd8a4d586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nset to avoid getting stuck in the ground and tiles right above the player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deac4f9f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deac4f9f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d8a4d586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d8a4d586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de4c02c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de4c02c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d8a4d586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d8a4d586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d8a4d58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d8a4d58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df6a5cc1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cdf6a5cc1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a46b0a9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ca46b0a9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Entities may</a:t>
            </a:r>
            <a:r>
              <a:rPr lang="en"/>
              <a:t> have different widths/heights or their positions are offset by a different amount than TileSize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deac4f9f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deac4f9f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d8a4d586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d8a4d586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d8a4d586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cd8a4d586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de4c02cc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cde4c02cc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(code)">
  <p:cSld name="TITLE_AND_TWO_COLUMNS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252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VT323"/>
              <a:buNone/>
              <a:defRPr sz="3300">
                <a:solidFill>
                  <a:schemeClr val="accent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Roboto Light"/>
              <a:buChar char="○"/>
              <a:defRPr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Metamate/gmd2-platformer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gif"/><Relationship Id="rId4" Type="http://schemas.openxmlformats.org/officeDocument/2006/relationships/image" Target="../media/image29.gif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18.png"/><Relationship Id="rId8" Type="http://schemas.openxmlformats.org/officeDocument/2006/relationships/image" Target="../media/image8.png"/><Relationship Id="rId9" Type="http://schemas.openxmlformats.org/officeDocument/2006/relationships/image" Target="../media/image11.png"/><Relationship Id="rId10" Type="http://schemas.openxmlformats.org/officeDocument/2006/relationships/image" Target="../media/image15.png"/><Relationship Id="rId11" Type="http://schemas.openxmlformats.org/officeDocument/2006/relationships/image" Target="../media/image21.png"/><Relationship Id="rId12" Type="http://schemas.openxmlformats.org/officeDocument/2006/relationships/image" Target="../media/image25.png"/><Relationship Id="rId13" Type="http://schemas.openxmlformats.org/officeDocument/2006/relationships/image" Target="../media/image6.png"/><Relationship Id="rId14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rive.google.com/drive/folders/1kLxyRifVY0676F_rVBo7TbG2AB3S1cJg?usp=sharing" TargetMode="Externa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</a:t>
            </a:r>
            <a:endParaRPr/>
          </a:p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05: Super Mario Bros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Goal</a:t>
            </a:r>
            <a:endParaRPr/>
          </a:p>
        </p:txBody>
      </p:sp>
      <p:pic>
        <p:nvPicPr>
          <p:cNvPr id="46" name="Google Shape;46;p10" title="platform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7091" y="1688925"/>
            <a:ext cx="5169824" cy="28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Topics</a:t>
            </a:r>
            <a:endParaRPr/>
          </a:p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Procedural Level Generation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State Pattern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Camera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Platformer Physics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Basic AI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Powerups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</a:t>
            </a:r>
            <a:endParaRPr/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All Source code for today’s game can be found here: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https://github.com/Metamate/gmd2-platformer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game is built up in steps: Platformer0 → Platformer8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step is a separate project that adds one concept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 neighbouring steps to see exactly what changed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Platformer8 is the finished game, and the starting point for the exercises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Generation</a:t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6733688" y="2246150"/>
            <a:ext cx="1183800" cy="13029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03</a:t>
            </a:r>
            <a:endParaRPr sz="1000">
              <a:solidFill>
                <a:srgbClr val="B5CEA8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04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05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06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05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07</a:t>
            </a:r>
            <a:endParaRPr sz="1000">
              <a:solidFill>
                <a:srgbClr val="B5CEA8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08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09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09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11</a:t>
            </a:r>
            <a:endParaRPr sz="1000">
              <a:solidFill>
                <a:srgbClr val="B5CEA8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04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09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09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09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07</a:t>
            </a:r>
            <a:endParaRPr sz="1000">
              <a:solidFill>
                <a:srgbClr val="B5CEA8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14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600">
              <a:solidFill>
                <a:srgbClr val="DEE2E6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572425" y="1767800"/>
            <a:ext cx="5330700" cy="225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0808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Tilemap</a:t>
            </a:r>
            <a:r>
              <a:rPr lang="en" sz="1000">
                <a:solidFill>
                  <a:srgbClr val="80808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80808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80808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Tileset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region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"0 40 80 80"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tileWidth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"20"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tileHeight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"20"</a:t>
            </a:r>
            <a:r>
              <a:rPr lang="en" sz="1000">
                <a:solidFill>
                  <a:srgbClr val="80808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images/atlas</a:t>
            </a:r>
            <a:r>
              <a:rPr lang="en" sz="1000">
                <a:solidFill>
                  <a:srgbClr val="80808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Tileset</a:t>
            </a:r>
            <a:r>
              <a:rPr lang="en" sz="1000">
                <a:solidFill>
                  <a:srgbClr val="80808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80808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80808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Tiles</a:t>
            </a:r>
            <a:r>
              <a:rPr lang="en" sz="1000">
                <a:solidFill>
                  <a:srgbClr val="80808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80808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00 01 02 01 03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04 05 06 05 07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08 09 10 09 11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04 09 09 09 07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12 13 14 13 15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80808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Tiles</a:t>
            </a:r>
            <a:r>
              <a:rPr lang="en" sz="1000">
                <a:solidFill>
                  <a:srgbClr val="80808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80808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0808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Tilemap</a:t>
            </a:r>
            <a:r>
              <a:rPr lang="en" sz="1000">
                <a:solidFill>
                  <a:srgbClr val="80808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B5CEA8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6" name="Google Shape;66;p13"/>
          <p:cNvCxnSpPr>
            <a:stCxn id="65" idx="3"/>
            <a:endCxn id="64" idx="1"/>
          </p:cNvCxnSpPr>
          <p:nvPr/>
        </p:nvCxnSpPr>
        <p:spPr>
          <a:xfrm>
            <a:off x="5903125" y="2897600"/>
            <a:ext cx="8307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Procedural Level Generation</a:t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7124788" y="2246150"/>
            <a:ext cx="1183800" cy="13029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endParaRPr sz="1000">
              <a:solidFill>
                <a:srgbClr val="B5CEA8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endParaRPr sz="1000">
              <a:solidFill>
                <a:srgbClr val="B5CEA8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00</a:t>
            </a:r>
            <a:endParaRPr sz="1000">
              <a:solidFill>
                <a:srgbClr val="B5CEA8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01</a:t>
            </a:r>
            <a:endParaRPr sz="1000">
              <a:solidFill>
                <a:srgbClr val="B5CEA8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01</a:t>
            </a:r>
            <a:endParaRPr sz="1600">
              <a:solidFill>
                <a:srgbClr val="DEE2E6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572425" y="1102375"/>
            <a:ext cx="5330700" cy="3570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Tilemap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columns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rows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tilemap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Tileset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columns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rows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groundHeight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columns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Tilemap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Rows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Tilemap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Rows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groundHeight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Tilemap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SetTile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tilemap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586C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B5CEA8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4" name="Google Shape;74;p14"/>
          <p:cNvCxnSpPr>
            <a:stCxn id="73" idx="3"/>
            <a:endCxn id="72" idx="1"/>
          </p:cNvCxnSpPr>
          <p:nvPr/>
        </p:nvCxnSpPr>
        <p:spPr>
          <a:xfrm>
            <a:off x="5903125" y="2887675"/>
            <a:ext cx="1221600" cy="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Tilemap Update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Tilemap up until now have been an array of integer ids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pointing to an index in the Tileset (i.e. TextureRegion)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Now it is an array of Tiles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Our tilemap is getting smarter!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need to store more information than just the tile graphic!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Tile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885950"/>
            <a:ext cx="8520600" cy="34734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readonly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graphicId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topperId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isSolid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readonly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GraphicId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}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graphicId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TopperId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}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topperId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IsSolid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}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isSolid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HasTopper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TopperId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 :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{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graphicId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isSolid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: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graphicId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isSolid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{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627425" y="1887850"/>
            <a:ext cx="3459000" cy="7461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Tilesets</a:t>
            </a:r>
            <a:endParaRPr/>
          </a:p>
        </p:txBody>
      </p:sp>
      <p:pic>
        <p:nvPicPr>
          <p:cNvPr id="93" name="Google Shape;93;p17" title="ti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525" y="920715"/>
            <a:ext cx="3052789" cy="4070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tile_top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5450" y="920725"/>
            <a:ext cx="1696000" cy="407037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/>
          <p:nvPr/>
        </p:nvSpPr>
        <p:spPr>
          <a:xfrm>
            <a:off x="1702525" y="920725"/>
            <a:ext cx="507600" cy="413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2210125" y="920725"/>
            <a:ext cx="507600" cy="413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2717725" y="920725"/>
            <a:ext cx="507600" cy="413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5399798" y="920725"/>
            <a:ext cx="286200" cy="226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5685998" y="920725"/>
            <a:ext cx="286200" cy="226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5972198" y="920725"/>
            <a:ext cx="286200" cy="226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GameLevel</a:t>
            </a:r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488" y="877465"/>
            <a:ext cx="6861025" cy="4070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LevelMaker</a:t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LevelMakerBase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SimpleLevelMaker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FlatLevelMaker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PillarLevelMaker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PitlevelMaker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ComplexLevelMaker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This is essentially the strategy design pattern)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8099" y="885950"/>
            <a:ext cx="4718424" cy="265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LevelMaker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Platformer0 → Platformer1: tilemaps from code and level makers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 State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885950"/>
            <a:ext cx="1859700" cy="4023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Heroine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handleInput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PRESS_B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isJumping_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isDucking_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// Jump...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PRESS_DOWN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isJumping_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isDucking_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setGraphics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IMAGE_DUCK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000">
              <a:solidFill>
                <a:srgbClr val="C586C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isJumping_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setGraphics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IMAGE_DIVE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RELEASE_DOWN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isDucking_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// Stand...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2333950" y="885950"/>
            <a:ext cx="6424200" cy="4023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is the problem with this code?</a:t>
            </a:r>
            <a:endParaRPr/>
          </a:p>
          <a:p>
            <a:pPr indent="-317500" lvl="1" marL="9144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way state is encoded, you can end up in illegal states!</a:t>
            </a:r>
            <a:endParaRPr/>
          </a:p>
          <a:p>
            <a:pPr indent="-330200" lvl="0" marL="4572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Can you spot the bug?</a:t>
            </a:r>
            <a:endParaRPr/>
          </a:p>
          <a:p>
            <a:pPr indent="-317500" lvl="1" marL="9144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check that you can’t air jump while jumping, but not while diving</a:t>
            </a:r>
            <a:endParaRPr/>
          </a:p>
          <a:p>
            <a:pPr indent="-304800" lvl="2" marL="13716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Yet another field… (isDiving)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 State - Enum Solution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885950"/>
            <a:ext cx="1859700" cy="4023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Heroine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handleInput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state_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STATE_STANDING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PRESS_B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state_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STATE_JUMPING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yVelocity_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JUMP_VELOCITY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setGraphics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IMAGE_JUMP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PRESS_DOWN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state_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STATE_DUCKING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setGraphics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IMAGE_DUCK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STATE_JUMPING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PRESS_DOWN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state_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STATE_DIVING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setGraphics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IMAGE_DIVE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STATE_DUCKING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RELEASE_DOWN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state_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STATE_STANDING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setGraphics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IMAGE_STAND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2333950" y="885950"/>
            <a:ext cx="4854900" cy="4023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Why is this better?</a:t>
            </a:r>
            <a:endParaRPr/>
          </a:p>
          <a:p>
            <a:pPr indent="-317500" lvl="1" marL="9144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can’t encode invalid state!</a:t>
            </a:r>
            <a:endParaRPr/>
          </a:p>
          <a:p>
            <a:pPr indent="-330200" lvl="0" marL="4572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Why is it still (potentially) problematic?</a:t>
            </a:r>
            <a:endParaRPr/>
          </a:p>
          <a:p>
            <a:pPr indent="-317500" lvl="1" marL="9144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if states have state?</a:t>
            </a:r>
            <a:endParaRPr/>
          </a:p>
          <a:p>
            <a:pPr indent="-304800" lvl="2" marL="13716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E.g. a charge attack while ducking!</a:t>
            </a:r>
            <a:endParaRPr/>
          </a:p>
          <a:p>
            <a:pPr indent="-317500" lvl="1" marL="9144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Doesn’t scale well…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Allows an object to change its behaviour based on an internal state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State-specific behavior is defined independently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Adding new states does not impact the behavior of existing states</a:t>
            </a:r>
            <a:endParaRPr/>
          </a:p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Pattern</a:t>
            </a:r>
            <a:endParaRPr/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2502" y="1999823"/>
            <a:ext cx="4538999" cy="291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Player State </a:t>
            </a:r>
            <a:r>
              <a:rPr lang="en">
                <a:solidFill>
                  <a:schemeClr val="accent5"/>
                </a:solidFill>
              </a:rPr>
              <a:t>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Platformer2 → Platformer3: from an enum to the State pattern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Game State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Platformer5: title and play states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Snail States (Aka Basic AI)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Handles collision detection and resolution, gravity, ground detection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Idle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Starting state, plays idle animation (duration)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Moves around, reverses at edge or when velocity.x = 0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Chase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Moves towards player on x.axis</a:t>
            </a:r>
            <a:endParaRPr/>
          </a:p>
        </p:txBody>
      </p:sp>
      <p:pic>
        <p:nvPicPr>
          <p:cNvPr id="159" name="Google Shape;159;p26" title="creatures.png"/>
          <p:cNvPicPr preferRelativeResize="0"/>
          <p:nvPr/>
        </p:nvPicPr>
        <p:blipFill rotWithShape="1">
          <a:blip r:embed="rId3">
            <a:alphaModFix/>
          </a:blip>
          <a:srcRect b="0" l="0" r="51305" t="87913"/>
          <a:stretch/>
        </p:blipFill>
        <p:spPr>
          <a:xfrm>
            <a:off x="3908400" y="3990450"/>
            <a:ext cx="1327200" cy="28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Snail State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Platformer7: snail AI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Camera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Why do we need a camera now and not for the previous games?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Performs two matrix translations based on target pos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Shift world + Center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this game we only need tracking on the x-axis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Gets clamped playerX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Based on tilemap dimensions</a:t>
            </a:r>
            <a:endParaRPr/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5675" y="3332600"/>
            <a:ext cx="1132651" cy="113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Camera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Platformer4: camera and a wide level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We now have a GameController class that abstracts away hardcoded keys for “actions”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This is NOT the Command Pattern!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why not?</a:t>
            </a:r>
            <a:endParaRPr/>
          </a:p>
        </p:txBody>
      </p:sp>
      <p:pic>
        <p:nvPicPr>
          <p:cNvPr id="185" name="Google Shape;1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2216" y="3223775"/>
            <a:ext cx="1739575" cy="116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Hitbox</a:t>
            </a:r>
            <a:endParaRPr/>
          </a:p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Player is same width as tiles, this makes it hard to fall down pits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player can run across a pit without falling down!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We shrink the hitbox/collider with 2px on each side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Now you gotta jump those pits!</a:t>
            </a:r>
            <a:endParaRPr/>
          </a:p>
        </p:txBody>
      </p:sp>
      <p:pic>
        <p:nvPicPr>
          <p:cNvPr id="192" name="Google Shape;19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4275" y="2229213"/>
            <a:ext cx="1695450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Tile Collision (up/down)</a:t>
            </a:r>
            <a:endParaRPr/>
          </a:p>
        </p:txBody>
      </p:sp>
      <p:pic>
        <p:nvPicPr>
          <p:cNvPr id="198" name="Google Shape;1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3650" y="1135137"/>
            <a:ext cx="2114725" cy="24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2"/>
          <p:cNvSpPr/>
          <p:nvPr/>
        </p:nvSpPr>
        <p:spPr>
          <a:xfrm>
            <a:off x="4024837" y="2227330"/>
            <a:ext cx="98700" cy="98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0" name="Google Shape;200;p32"/>
          <p:cNvSpPr/>
          <p:nvPr/>
        </p:nvSpPr>
        <p:spPr>
          <a:xfrm>
            <a:off x="4950405" y="2227330"/>
            <a:ext cx="98700" cy="98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5613" y="3553338"/>
            <a:ext cx="2114725" cy="112863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2"/>
          <p:cNvSpPr/>
          <p:nvPr/>
        </p:nvSpPr>
        <p:spPr>
          <a:xfrm>
            <a:off x="4019354" y="3479705"/>
            <a:ext cx="98700" cy="98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3" name="Google Shape;203;p32"/>
          <p:cNvSpPr/>
          <p:nvPr/>
        </p:nvSpPr>
        <p:spPr>
          <a:xfrm>
            <a:off x="4950405" y="3479705"/>
            <a:ext cx="98700" cy="98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Tile Collision (left/right)</a:t>
            </a:r>
            <a:endParaRPr/>
          </a:p>
        </p:txBody>
      </p:sp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6588" y="1603300"/>
            <a:ext cx="3410825" cy="240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3"/>
          <p:cNvSpPr/>
          <p:nvPr/>
        </p:nvSpPr>
        <p:spPr>
          <a:xfrm>
            <a:off x="3955225" y="2187908"/>
            <a:ext cx="98700" cy="98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1" name="Google Shape;211;p33"/>
          <p:cNvSpPr/>
          <p:nvPr/>
        </p:nvSpPr>
        <p:spPr>
          <a:xfrm>
            <a:off x="5072700" y="2187908"/>
            <a:ext cx="98700" cy="98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2" name="Google Shape;212;p33"/>
          <p:cNvSpPr/>
          <p:nvPr/>
        </p:nvSpPr>
        <p:spPr>
          <a:xfrm>
            <a:off x="3955225" y="3413927"/>
            <a:ext cx="98700" cy="98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3" name="Google Shape;213;p33"/>
          <p:cNvSpPr/>
          <p:nvPr/>
        </p:nvSpPr>
        <p:spPr>
          <a:xfrm>
            <a:off x="5072700" y="3413927"/>
            <a:ext cx="98700" cy="98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Collision Response</a:t>
            </a:r>
            <a:endParaRPr/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1722900" y="885950"/>
            <a:ext cx="5698200" cy="4023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SnapToRight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Sprite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HitboxInset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Velocity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Velocity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SnapToLeft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HitboxInset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Velocity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Velocity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SnapToBottom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Sprite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Velocity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Velocity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SnapToTop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Velocity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Velocity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IsOnGround</a:t>
            </a:r>
            <a:endParaRPr/>
          </a:p>
        </p:txBody>
      </p:sp>
      <p:sp>
        <p:nvSpPr>
          <p:cNvPr id="225" name="Google Shape;225;p35"/>
          <p:cNvSpPr txBox="1"/>
          <p:nvPr>
            <p:ph idx="1" type="body"/>
          </p:nvPr>
        </p:nvSpPr>
        <p:spPr>
          <a:xfrm>
            <a:off x="311700" y="885950"/>
            <a:ext cx="8520600" cy="34845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protected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IsOnGround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Rectangle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hitbox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Bounds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// Check Tilemap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onTile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Tilemap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IsSolidAt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hitbox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CollisionInset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hitbox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Bottom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||</a:t>
            </a:r>
            <a:endParaRPr sz="1000">
              <a:solidFill>
                <a:srgbClr val="D4D4D4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Tilemap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IsSolidAt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hitbox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FC1FF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CollisionInset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hitbox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Bottom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onTile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// Check solid Entities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Rectangle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sensor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ExpandDirectional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hitbox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Player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Entities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Any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Active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IsSolid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Collidable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sensor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Intersects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Bounds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Tilemap Additions</a:t>
            </a:r>
            <a:endParaRPr/>
          </a:p>
        </p:txBody>
      </p:sp>
      <p:sp>
        <p:nvSpPr>
          <p:cNvPr id="231" name="Google Shape;231;p36"/>
          <p:cNvSpPr txBox="1"/>
          <p:nvPr>
            <p:ph idx="1" type="body"/>
          </p:nvPr>
        </p:nvSpPr>
        <p:spPr>
          <a:xfrm>
            <a:off x="2751000" y="1862025"/>
            <a:ext cx="3642000" cy="20751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PointToTile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TileToPoint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row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IsSolidAt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GetTileLeft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GetTileRight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GetTileTop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GetTileBottom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?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GetTileAt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Coyote Time</a:t>
            </a:r>
            <a:endParaRPr/>
          </a:p>
        </p:txBody>
      </p:sp>
      <p:pic>
        <p:nvPicPr>
          <p:cNvPr id="237" name="Google Shape;237;p37" title="Celeste-Coyote-Tim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675" y="1679747"/>
            <a:ext cx="4120325" cy="231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7" title="coyote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5575" y="1971802"/>
            <a:ext cx="3048000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Platformer Physics Performance</a:t>
            </a:r>
            <a:endParaRPr/>
          </a:p>
        </p:txBody>
      </p:sp>
      <p:sp>
        <p:nvSpPr>
          <p:cNvPr id="244" name="Google Shape;244;p38"/>
          <p:cNvSpPr txBox="1"/>
          <p:nvPr>
            <p:ph idx="1" type="body"/>
          </p:nvPr>
        </p:nvSpPr>
        <p:spPr>
          <a:xfrm>
            <a:off x="311700" y="885950"/>
            <a:ext cx="8520600" cy="11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Do we need collision checks between the player and every single tile?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No! The grid is static!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a simple “lookup” - it takes the same time in a level of 10 or 10.000 tiles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O(n) → O(1)</a:t>
            </a:r>
            <a:endParaRPr/>
          </a:p>
        </p:txBody>
      </p:sp>
      <p:sp>
        <p:nvSpPr>
          <p:cNvPr id="245" name="Google Shape;245;p38"/>
          <p:cNvSpPr txBox="1"/>
          <p:nvPr>
            <p:ph idx="1" type="body"/>
          </p:nvPr>
        </p:nvSpPr>
        <p:spPr>
          <a:xfrm>
            <a:off x="481350" y="2179125"/>
            <a:ext cx="3477300" cy="10902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IsSolidAt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GetTileAt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?.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IsSolid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??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46" name="Google Shape;246;p38"/>
          <p:cNvSpPr txBox="1"/>
          <p:nvPr>
            <p:ph idx="1" type="body"/>
          </p:nvPr>
        </p:nvSpPr>
        <p:spPr>
          <a:xfrm>
            <a:off x="311700" y="3316200"/>
            <a:ext cx="8520600" cy="12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our game we are only checking collisions between the player and other entities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O(n)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If we naively checked collisions between all entities in our game we risk O(n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 * (n - 1) / 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Platformer Physics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Platformer2: gravity, tile collision and coyote time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Entitites</a:t>
            </a:r>
            <a:endParaRPr/>
          </a:p>
        </p:txBody>
      </p:sp>
      <p:sp>
        <p:nvSpPr>
          <p:cNvPr id="258" name="Google Shape;258;p40"/>
          <p:cNvSpPr txBox="1"/>
          <p:nvPr>
            <p:ph idx="1" type="body"/>
          </p:nvPr>
        </p:nvSpPr>
        <p:spPr>
          <a:xfrm>
            <a:off x="311700" y="885950"/>
            <a:ext cx="5754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Represent any “thing” in our game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Player, Snail, Boxes, Powerups, etc.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Separate from the tiles in our map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Entities may not align perfectly with the tilemap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Can contain states just like the game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States can affect input handling (e.g. player) or decision-making (e.g. snail)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Some engines may adopt an Entity-Component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Everything is an Entity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Entities are containers of components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Components ultimately drive behavior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Component Design Pattern!</a:t>
            </a:r>
            <a:endParaRPr/>
          </a:p>
        </p:txBody>
      </p:sp>
      <p:pic>
        <p:nvPicPr>
          <p:cNvPr id="259" name="Google Shape;259;p40" title="ladders_and_sig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0000" y="4179475"/>
            <a:ext cx="10668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0" title="fla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9700" y="1346288"/>
            <a:ext cx="1371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0" title="crates_and_block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6275" y="2343150"/>
            <a:ext cx="6096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0" title="gem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96200" y="3397600"/>
            <a:ext cx="609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0" title="fireball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99700" y="2298275"/>
            <a:ext cx="6096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0" title="keys_and_locks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81950" y="3603763"/>
            <a:ext cx="609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0" title="buttons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30400" y="41147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0" title="doors_and_windows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752100" y="4299650"/>
            <a:ext cx="12192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0" title="coins_and_bombs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599700" y="611563"/>
            <a:ext cx="4572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0" title="jump_blocks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62400" y="195625"/>
            <a:ext cx="914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0" title="creature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223513" y="2772813"/>
            <a:ext cx="12192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0" title="mushrooms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614800" y="1225875"/>
            <a:ext cx="7620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Entity</a:t>
            </a:r>
            <a:endParaRPr/>
          </a:p>
        </p:txBody>
      </p:sp>
      <p:sp>
        <p:nvSpPr>
          <p:cNvPr id="276" name="Google Shape;276;p41"/>
          <p:cNvSpPr txBox="1"/>
          <p:nvPr>
            <p:ph idx="1" type="body"/>
          </p:nvPr>
        </p:nvSpPr>
        <p:spPr>
          <a:xfrm>
            <a:off x="311700" y="885950"/>
            <a:ext cx="3164700" cy="3042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IEntity</a:t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Rectangle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Bounds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Collidable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IsSolid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Active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GameTime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gameTime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Draw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SpriteBatch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spriteBatch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Collides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IEntity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other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77" name="Google Shape;277;p41"/>
          <p:cNvSpPr txBox="1"/>
          <p:nvPr>
            <p:ph idx="2" type="body"/>
          </p:nvPr>
        </p:nvSpPr>
        <p:spPr>
          <a:xfrm>
            <a:off x="3662950" y="886075"/>
            <a:ext cx="5169300" cy="4023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</a:t>
            </a:r>
            <a:r>
              <a:rPr lang="en"/>
              <a:t>e iterate over all entities in</a:t>
            </a:r>
            <a:r>
              <a:rPr lang="en"/>
              <a:t> the world </a:t>
            </a:r>
            <a:r>
              <a:rPr lang="en"/>
              <a:t>at the same time</a:t>
            </a:r>
            <a:endParaRPr/>
          </a:p>
          <a:p>
            <a:pPr indent="-304800" lvl="1" marL="9144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Made possible by the update method pattern!</a:t>
            </a:r>
            <a:endParaRPr/>
          </a:p>
          <a:p>
            <a:pPr indent="-317500" lvl="0" marL="4572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Collisions can be done entity-to-entity</a:t>
            </a:r>
            <a:endParaRPr/>
          </a:p>
          <a:p>
            <a:pPr indent="-304800" lvl="1" marL="9144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Each entity decides how to handle collisions</a:t>
            </a:r>
            <a:endParaRPr/>
          </a:p>
          <a:p>
            <a:pPr indent="-304800" lvl="1" marL="91440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Since entities often move, we cannot do an instant lookup check like for tilemap collisions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Add a Custom Level Maker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83" name="Google Shape;283;p42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Varying ground level and pillar/pit width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Platforms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Multiple types of enemies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goal flag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the player touches the flag at the end of the level, they proceed to the next 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the levels are </a:t>
            </a:r>
            <a:r>
              <a:rPr lang="en"/>
              <a:t>procedural</a:t>
            </a:r>
            <a:r>
              <a:rPr lang="en"/>
              <a:t>, they can progressively get longer and harder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 random keys and locks (same color) that spawn in each level; when the player gets the key, they can unlock the lock, which should spawn the goal flag.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Add </a:t>
            </a:r>
            <a:r>
              <a:rPr lang="en">
                <a:solidFill>
                  <a:schemeClr val="accent5"/>
                </a:solidFill>
              </a:rPr>
              <a:t>Powerups</a:t>
            </a:r>
            <a:r>
              <a:rPr lang="en">
                <a:solidFill>
                  <a:schemeClr val="accent5"/>
                </a:solidFill>
              </a:rPr>
              <a:t> to the Game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89" name="Google Shape;289;p43"/>
          <p:cNvSpPr txBox="1"/>
          <p:nvPr>
            <p:ph idx="1" type="body"/>
          </p:nvPr>
        </p:nvSpPr>
        <p:spPr>
          <a:xfrm>
            <a:off x="311700" y="885950"/>
            <a:ext cx="8520600" cy="15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Effectively an Entity that changes some state or trait of the player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star may flip an “invincible” flag on the player and begin an “invincibleDuration” timer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mushroom may trigger a “huge” flag on the player that alters their </a:t>
            </a:r>
            <a:r>
              <a:rPr lang="en"/>
              <a:t>x, y, width, and height and then scales their sprite</a:t>
            </a:r>
            <a:endParaRPr/>
          </a:p>
        </p:txBody>
      </p:sp>
      <p:pic>
        <p:nvPicPr>
          <p:cNvPr id="290" name="Google Shape;29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7738" y="2571750"/>
            <a:ext cx="3408525" cy="230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 Assets</a:t>
            </a:r>
            <a:endParaRPr/>
          </a:p>
        </p:txBody>
      </p:sp>
      <p:sp>
        <p:nvSpPr>
          <p:cNvPr id="296" name="Google Shape;296;p4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All assets</a:t>
            </a:r>
            <a:r>
              <a:rPr lang="en"/>
              <a:t> (sounds/images) available for the platformer</a:t>
            </a:r>
            <a:endParaRPr/>
          </a:p>
        </p:txBody>
      </p:sp>
      <p:pic>
        <p:nvPicPr>
          <p:cNvPr id="297" name="Google Shape;297;p44" title="full_shee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1348" y="1464575"/>
            <a:ext cx="2041300" cy="3444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MD">
  <a:themeElements>
    <a:clrScheme name="Simple Light">
      <a:dk1>
        <a:srgbClr val="DEE2E6"/>
      </a:dk1>
      <a:lt1>
        <a:srgbClr val="818387"/>
      </a:lt1>
      <a:dk2>
        <a:srgbClr val="1F1F1F"/>
      </a:dk2>
      <a:lt2>
        <a:srgbClr val="DEE2E6"/>
      </a:lt2>
      <a:accent1>
        <a:srgbClr val="D45D35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